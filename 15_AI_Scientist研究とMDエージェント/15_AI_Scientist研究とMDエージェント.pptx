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reuse1.svg" ContentType="image/svg+xml"/>
  <Override PartName="/ppt/media/reuse10.svg" ContentType="image/svg+xml"/>
  <Override PartName="/ppt/media/reuse11.svg" ContentType="image/svg+xml"/>
  <Override PartName="/ppt/media/reuse12.svg" ContentType="image/svg+xml"/>
  <Override PartName="/ppt/media/reuse13.svg" ContentType="image/svg+xml"/>
  <Override PartName="/ppt/media/reuse14.svg" ContentType="image/svg+xml"/>
  <Override PartName="/ppt/media/reuse15.svg" ContentType="image/svg+xml"/>
  <Override PartName="/ppt/media/reuse16.svg" ContentType="image/svg+xml"/>
  <Override PartName="/ppt/media/reuse17.svg" ContentType="image/svg+xml"/>
  <Override PartName="/ppt/media/reuse18.svg" ContentType="image/svg+xml"/>
  <Override PartName="/ppt/media/reuse19.svg" ContentType="image/svg+xml"/>
  <Override PartName="/ppt/media/reuse2.svg" ContentType="image/svg+xml"/>
  <Override PartName="/ppt/media/reuse20.svg" ContentType="image/svg+xml"/>
  <Override PartName="/ppt/media/reuse21.svg" ContentType="image/svg+xml"/>
  <Override PartName="/ppt/media/reuse22.svg" ContentType="image/svg+xml"/>
  <Override PartName="/ppt/media/reuse23.svg" ContentType="image/svg+xml"/>
  <Override PartName="/ppt/media/reuse24.svg" ContentType="image/svg+xml"/>
  <Override PartName="/ppt/media/reuse25.svg" ContentType="image/svg+xml"/>
  <Override PartName="/ppt/media/reuse26.svg" ContentType="image/svg+xml"/>
  <Override PartName="/ppt/media/reuse27.svg" ContentType="image/svg+xml"/>
  <Override PartName="/ppt/media/reuse28.svg" ContentType="image/svg+xml"/>
  <Override PartName="/ppt/media/reuse29.svg" ContentType="image/svg+xml"/>
  <Override PartName="/ppt/media/reuse3.svg" ContentType="image/svg+xml"/>
  <Override PartName="/ppt/media/reuse30.svg" ContentType="image/svg+xml"/>
  <Override PartName="/ppt/media/reuse31.svg" ContentType="image/svg+xml"/>
  <Override PartName="/ppt/media/reuse32.svg" ContentType="image/svg+xml"/>
  <Override PartName="/ppt/media/reuse33.svg" ContentType="image/svg+xml"/>
  <Override PartName="/ppt/media/reuse34.svg" ContentType="image/svg+xml"/>
  <Override PartName="/ppt/media/reuse35.svg" ContentType="image/svg+xml"/>
  <Override PartName="/ppt/media/reuse36.svg" ContentType="image/svg+xml"/>
  <Override PartName="/ppt/media/reuse37.svg" ContentType="image/svg+xml"/>
  <Override PartName="/ppt/media/reuse38.svg" ContentType="image/svg+xml"/>
  <Override PartName="/ppt/media/reuse39.svg" ContentType="image/svg+xml"/>
  <Override PartName="/ppt/media/reuse4.svg" ContentType="image/svg+xml"/>
  <Override PartName="/ppt/media/reuse40.svg" ContentType="image/svg+xml"/>
  <Override PartName="/ppt/media/reuse41.svg" ContentType="image/svg+xml"/>
  <Override PartName="/ppt/media/reuse42.svg" ContentType="image/svg+xml"/>
  <Override PartName="/ppt/media/reuse43.svg" ContentType="image/svg+xml"/>
  <Override PartName="/ppt/media/reuse44.svg" ContentType="image/svg+xml"/>
  <Override PartName="/ppt/media/reuse45.svg" ContentType="image/svg+xml"/>
  <Override PartName="/ppt/media/reuse46.svg" ContentType="image/svg+xml"/>
  <Override PartName="/ppt/media/reuse5.svg" ContentType="image/svg+xml"/>
  <Override PartName="/ppt/media/reuse6.svg" ContentType="image/svg+xml"/>
  <Override PartName="/ppt/media/reuse7.svg" ContentType="image/svg+xml"/>
  <Override PartName="/ppt/media/reuse8.svg" ContentType="image/svg+xml"/>
  <Override PartName="/ppt/media/reus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生命情報工学特論、第15回です。埼玉大学と理化学研究所の松永です。今回はAI Scientist研究と</a:t>
            </a:r>
          </a:p>
          <a:p>
            <a:r>
              <a:rPr lang="ja-JP" altLang="en-US">
                <a:ea typeface="Noto Sans JP"/>
              </a:rPr>
              <a:t>MDエージェントを扱います。研究の手順を記録し、</a:t>
            </a:r>
          </a:p>
          <a:p>
            <a:r>
              <a:rPr lang="ja-JP" altLang="en-US">
                <a:ea typeface="Noto Sans JP"/>
              </a:rPr>
              <a:t>計算と評価を繰り返す。右の概念図がこの回の全体像です。前の回で学んだ方法と今回の方法がどこでつながるかを意識して進めます。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研究の手順を記録し、計算と評価を繰り返すについて説明します。研究の手順を記録し、。計算と評価を繰り返す。。自然言語の仮説を計算手順へ落とし、出力を検証して次の計算へ進む。。データの量だけでなく、条件の統一・多様性・失敗の記録が研究の質を決め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研究の自動化をデータと検証から考えるについて説明します。1　AI Scientistの提案と外部の検証。2　自動データ取得と計算条件の統一。3　転移学習とデータ量・多様性。4　MDClawのskills・CLI・計算履歴。5　教員デモ：入力から証拠までをたどる。ここでは図の軸や矢印を本文の量と対応させて読みます。得られるものと、追加の情報が必要なものを区別してください。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文献探索・仮説生成・コード作成を支援する系でも、実験・計算・専門家による評価が必要。2026年5月の原著3報。。この図は元の研究・教材の条件で得られた結果です。軸、色、比較対象を順に確認し、今回のテーマとの対応を見てください。</a:t>
            </a:r>
          </a:p>
          <a:p>
            <a:r>
              <a:rPr lang="ja-JP"/>
              <a:t>三つの研究では外部の評価の方法が違います。表の右列を見比べてください。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Robinは文献探索と実験データ解析を組み合わせる。実験系での検証を経て仮説を更新する。Ghareeb et al., Nature (2026)。。この図は元の研究・教材の条件で得られた結果です。軸、色、比較対象を順に確認し、今回のテーマとの対応を見てください。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もっともらしい説明を、検証できる仮説へ変えるについて説明します。例：「変異で安定になる」を、そのまま計算の入力にはできない。。何を安定性と呼ぶか、何と比べるか、温度や溶媒は何かを決める。。仮説から観測量・比較条件・判定方法へ落とす段階で、研究者の判断が必要になる。。計算が成功したことと、仮説が支持されたことを分け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実験で試しにくい条件を計算で調べ、仮説と観測可能な量を結ぶ。計算モデル自体の検証も必要。。この図は元の研究・教材の条件で得られた結果です。軸、色、比較対象を順に確認し、今回のテーマとの対応を見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分子動力学は、原子の相互作用から構造の動きを計算する方法です。実験で直接見えにくい原子レベルの過程を調べる手掛かりになります。エージェントを用いても、この物理モデル自体が自動的に正しくなるわけではありません。入力、力場、時間刻み、探索の長さを検証する仕事は残り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MDの自動化では、化学状態・モデル・入力ファイルの選択を一貫して記録することが重要。。この図は元の研究・教材の条件で得られた結果です。軸、色、比較対象を順に確認し、今回のテーマとの対応を見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計算データを増やすには、条件も同時に揃えるについて説明します。異なる構造を同じ規則で準備し、同じ観測量を取り出す。。構造ID、配列、プロトン化状態、力場、水モデル、温度、乱数、計算長を保存する。。成功したものだけを残すと、難しい系が消えた偏ったデータ集合になる。失敗理由も残す。。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網羅的なMDで計算ラベルを作るという利用例。依頼文だけでなく対象一覧と条件・完了基準を定める。。この図は元の研究・教材の条件で得られた結果です。軸、色、比較対象を順に確認し、今回のテーマとの対応を見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転移学習では、計算データも使って共通の表現を学ぶについて説明します。タンパク質言語モデルが配列の表現を作る。。少数の実験Tmと、計算による安定性の補助ラベルを別の出力で学習する。。計算値を実験値と同一視するのではなく、共通の表現を介して実験予測を助ける。。最終評価には学習に使っていない実験配列を使う。。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村上さんの研究：ナノボディの融解温度を予測するについて説明します。Tmは熱変性の中点に対応する温度。FEPのΔΔGやMDの天然接触の保持率とは別の量。。実験Tm：学習57配列、モデル選択114配列、最終評価396配列。。計算ラベルを補助タスクとして、共有したESM2表現を学習する。。Murakami et al., bioRxiv (2026), DOI:10.64898/2026.07.30.741744。。ここでは図の軸や矢印を本文の量と対応させて読みます。得られるものと、追加の情報が必要なものを区別してください。</a:t>
            </a:r>
          </a:p>
          <a:p>
            <a:r>
              <a:rPr lang="ja-JP"/>
              <a:t>ESM2は配列を数値表現に変える言語モデルです。FEPは自由エネルギー摂動法です。Tmとは異なる計算量なので、補助ラベルとして区別します。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同じラベル数でも、どの配列を計算するかが効くについて説明します。同じMD由来のラベルでも、少数構造の変異走査と、多様なナノボディ集合を比較する。。多様な集合では、ラベル数20→320で微調整モデルの平均絶対誤差（MAE）が7.16→6.76℃へ下がった。。変異走査では単調な改善にならなかった。量だけでなく、覆う配列の広さが重要。。原稿Fig. 2の条件。右の再描画は本文の数値に基づく。。ここでは図の軸や矢印を本文の量と対応させて読みます。得られるものと、追加の情報が必要なものを区別してください。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原著Fig. 2：データ設計によって増量の効果が違うについて説明します。左・中央：ラベル数と、凍結／微調整したモデルの誤差。。右：同じラベル数320で、それぞれのTmのみの基準からの変化。。誤差が低いほどよい。異なる学習条件の基準値を混ぜない。。この範囲の結果から、無限に増やせば改善すると外挿しない。。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原著Fig. 3：何を計算するかも予測に影響するについて説明します。同じ変異配列に対し、FEP・MD接触率・Rosetta・FoldXの補助ラベルを比較。。この比較ではFEP補助の微調整モデルのMAEが6.35℃。Tmのみは6.72℃。。「この予測に有用だった」ことと、「実験ΔΔGを最も正確に再現した」ことは別。。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スケーリングの議論では、量・質・評価を分けるについて説明します。データ数Nを増やすと誤差が減る経験的な関係は、対象・範囲・学習条件に依存する。。重複や偏りの強いデータを増やしても、未知の配列への誤差は減らないことがある。。類縁配列や条件が訓練とテストをまたぐ影響も点検する。。自動化は、比較可能なデータを狙って増やすために使う。。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エムディークロウは、上流の仮説や構造候補と、下流の分子動力学計算をつなぐ基盤です。入力の問いを計画に変え、準備、計算、解析の成果物を記録します。得られた根拠を上流へ返し、必要なら次の計算を考えます。ここでは万能な研究者ではなく、計算と記録の役割を明確にした仕組みとして見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MDClawはskills・CLI・DAGを組み合わせる研究基盤。紹介図は2026年6月発表、役割分担は10月11日のREADMEでも確認。。この図は元の研究・教材の条件で得られた結果です。軸、色、比較対象を順に確認し、今回のテーマとの対応を見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skillが手順と判断基準を与え、CLIが操作を実行し、記録を残す。自然言語の説明と機械が読む出力を対応させる。。この図は元の研究・教材の条件で得られた結果です。軸、色、比較対象を順に確認し、今回のテーマとの対応を見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エージェントは手順書を読み、引数を指定してツールを呼ぶ。戻り値を読んで、次の操作や失敗への対応を判断する。。この図は元の研究・教材の条件で得られた結果です。軸、色、比較対象を順に確認し、今回のテーマとの対応を見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入力構造から準備・水和・トポロジー・最小化・平衡化・本計算・解析へ、成果物を受け渡す。。この図は元の研究・教材の条件で得られた結果です。軸、色、比較対象を順に確認し、今回のテーマとの対応を見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同じ条件の再試行は同じノードの別Attemptとして残す。条件を変える場合は新しいノードや分岐にする。。この図は元の研究・教材の条件で得られた結果です。軸、色、比較対象を順に確認し、今回のテーマとの対応を見てください。</a:t>
            </a:r>
          </a:p>
          <a:p>
            <a:r>
              <a:rPr lang="ja-JP"/>
              <a:t>同じ条件での再試行は同じノードの別のAttemptです。条件を変える場合は新しいノードや分岐になります。図の上下は試行の違いとして読んでください。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乱数、温度、変異などを変えた比較は別の分岐として保存する。共通の入力と変更した条件を区別する。。この図は元の研究・教材の条件で得られた結果です。軸、色、比較対象を順に確認し、今回のテーマとの対応を見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再実行では、完了済みの根拠を使って続きへ進むについて説明します。inspect_jobで状態と成果物を読む。explain_nodeで次の段階の入力条件を確認する。。trace_failureで失敗した段階と理由を追う。。ファイルが存在するだけで完了とせず、正しい入力に対応した出力かを検査する。。2026年10月11日のローカルREADMEにある操作の役割。。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化学的な不整合と、ワークフローの運用規約を区別します。この例ではff19SBとOPCを標準としており、別の水モデルを指定すると構造化したエラーを返します。これは当該ワークフローの規約であり、その組合せが物理的に一律不可能だという主張ではありません。何が実際の値で、何を期待し、なぜ止めたのかが読めることが重要です。</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準備の評価では、再読込・エネルギー再計算・要求された化学状態の保持を点検する。最小化成功だけでは不十分。。この図は元の研究・教材の条件で得られた結果です。軸、色、比較対象を順に確認し、今回のテーマとの対応を見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生成された構造は数値評価だけでなく、成分・配置・欠損・意図しない変化を目で点検する。。この図は元の研究・教材の条件で得られた結果です。軸、色、比較対象を順に確認し、今回のテーマとの対応を見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2026年6月発表時の25課題による比較。現在の版・別の課題集合の性能とは区別する。。この図は元の研究・教材の条件で得られた結果です。軸、色、比較対象を順に確認し、今回のテーマとの対応を見てください。</a:t>
            </a:r>
          </a:p>
          <a:p>
            <a:r>
              <a:rPr lang="ja-JP"/>
              <a:t>得点差は、この二十五課題とモデル・実行条件の比較に限って読みます。CLI一般やSkills一般の価値を一律に決める結果ではありません。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ベンチマーク結果は、条件と失敗例まで読むについて説明します。課題集合、入力、モデル版、制限時間、計算環境、採点基準を揃える。。途中で停止した実行や、提出物がない実行を完了した評価と混ぜない。。成功率に加え、どの化学状態や段階で失敗するかを調べる。。過去の25課題の点数から、現在の任意の系の成功率は予測できない。。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折り畳み温度を探す利用例。温度・状態の定義、反復計算、収束の確認が必要で、一度の短い軌跡では決まらない。。この図は元の研究・教材の条件で得られた結果です。軸、色、比較対象を順に確認し、今回のテーマとの対応を見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教員デモ：計算の入力から根拠までをたどるについて説明します。題材は第11回と同じ水中ペプチドの短い計算。。最初に条件・出力を指定した依頼文を読み、どの段階に対応するかを確認する。。次に保存された構造・温度・エネルギー・実行条件を開く。。新しい大規模計算ではなく、既存の短い実行の記録とMDClawのDAGの読み方を示す。。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デモで見るもの：説明と成果物が一致するかについて説明します。「300 Kで動かした」という説明なら、積分器の設定と温度ログを見る。。「5 ps」という説明なら、2 fs×2500ステップとの一致を見る。。「構造が安定」という説明には、計算長・反復・観測量の根拠が必要。。下は第11回Notebookの実行例。5 psでは昇温途中であり、平衡分布の例ではない。。ここでは図の軸や矢印を本文の量と対応させて読みます。得られるものと、追加の情報が必要なものを区別してください。</a:t>
            </a:r>
          </a:p>
          <a:p>
            <a:r>
              <a:rPr lang="ja-JP"/>
              <a:t>この五ピコ秒の例は昇温途中です。平衡温度分布や構造分布の推定例ではありません。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次の計算は、残っている不確実性から決めるについて説明します。温度は合うが構造が動かない：単に短い可能性がある。。反復ごとの割合が違う：探索や緩和が足りない可能性がある。。モデル間で結果が違う：力場や観測モデルの仮定を点検する。。追加するデータが、どの不確実性を減らすかを先に決め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授業全体：配列・構造・分布・観測・判断を結ぶについて説明します。配列から構造を予測し、目的の構造に合う配列を設計する。。相互作用から構造の分布と動きを計算する。。実験の観測を通じてモデルを評価・補正する。。エージェントはこれらの計算と記録をつなぐ。判断の根拠は、条件のそろったデータと検証に置く。。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まとめ：自動化するほど、根拠を追える記録が要るについて説明します。AI Scientistは仮説や手順を広げる。計算・実験が検証の手掛かりを与える。。転移学習ではデータ数に加え、配列の多様性とラベルの意味が重要。。MDClawでは計画・操作・成果物・失敗をつなぎ、同じ条件で比較できる形に残す。。実行成功を、そのまま科学的結論へ置き換えない。。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付録：導出と補足資料について説明します。ここからは本編の補足です。。導出の途中式、計算条件、研究例の詳細を示します。。本編の各手法の前提と対応させて読んでください。。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付録では、分子系の準備を評価する課題の内訳を示しています。単純なタンパク質だけでなく、リガンド、金属、変異、修飾など、化学的な判断が必要な入力が含まれます。全体の成功率だけを読む前に、何が課題として含まれているかを確かめます。</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後半の課題には、核酸、膜、水モデル、末端の処理などが含まれます。条件が変わると必要な準備も変わります。これらを一つの固定手順へ押し込むのではなく、入力に応じた判断と、その判断の記録を評価するための例です。</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課題の依頼文と提出物の例です。何を準備するかに加え、完了と判断するための構造や実行条件、評価結果を指定しています。エージェントの文章による完了報告だけでなく、別のプログラムが読み直せる成果物を残すことが重要です。</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失敗から再試行した例です。最初の試行を消して成功した結果だけを残すと、なぜ修正が必要だったか分からなくなります。失敗の原因と条件変更を別の試行として記録することで、後から人が判断の経緯を追えます。自己修復という言葉も、この具体的な記録を根拠に評価します。</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よくある利用の形を並べています。直接の計算依頼、問いからの計画、野生型と変異体の比較などで、必要な操作は違います。一方、入力、計画、実行、成果物をつなぐ記録の構造は共通にできます。個別の例と基盤の役割を分けて見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複雑な系や大きな計算では、分岐と途中からの再開が重要になります。修飾状態や膜系などの違いを別の分岐にし、共通部分を参照できます。計算資源を移す場合にも、どの入力と条件を引き継いだかが分からなければ再現できません。</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科学的な問いを、比較できる計算へ落とす流れです。変異が動的な結合を変えるかという問いなら、野生型と変異体の条件をそろえ、評価する観測量を先に定めます。最後の答えは、生成された文章だけでなく、保存された構造、軌跡、解析結果に結び付いている必要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ノードを作成して実行すると、実行中という状態になります。そこから、成功したら完了、失敗したら失敗へ分かれます。完了の次に失敗するという直列の流れではありません。完了した出力は根拠として保管し、後からの所見は追記します。同じ条件でのやり直しは新しい試行、条件を変更する場合は新しいノードや分岐です。</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研究の問いと、具体的な実行の単位を分けています。一つの研究に複数の計算があり、一つの計算に準備や本計算などの段階があり、各段階に再試行があり得ます。この階層を区別すると、どの条件のどの失敗を直したのかを明確にできます。</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今後の利用として、代理モデルと分子動力学を組み合わせる考え方があります。速い予測で候補を絞り、必要なところを詳しい計算で確かめます。これは将来の使い方の提案であり、この図だけで高速化や精度向上を実証したわけではありません。評価するデータを分けて比較する必要があります。</a:t>
            </a:r>
          </a:p>
          <a:p>
            <a:r>
              <a:rPr lang="ja-JP"/>
              <a:t>ここは今後の構想であり、図全体の自動実行を検証済みとはしていません。</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サンプリング方法や力場の条件を変えた計算も、別の分岐に記録できます。同じ入力から何を変えたかが明確なら、結果の差を解釈しやすくなります。一方、条件探索を何度も行うと評価データに合わせ過ぎる可能性があるため、最終評価を分ける必要があります。</a:t>
            </a:r>
          </a:p>
          <a:p>
            <a:r>
              <a:rPr lang="ja-JP"/>
              <a:t>ここも今後の構想です。記録できることと、自動で最適な条件を見つけられることは区別します。</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下では既存の分子計算ソフトウェアを使います。エージェントが物理計算を言語だけで代替するのではなく、実績のある計算エンジンを呼び出して組み合わせます。各ソフトウェアの版と設定を記録することが、再現性の基礎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化学的な不整合と、ワークフローの運用規約を区別します。この例ではff19SBとOPCを標準としており、別の水モデルを指定すると構造化したエラーを返します。これは当該ワークフローの規約であり、その組合せが物理的に一律不可能だという主張ではありません。何が実際の値で、何を期待し、なぜ止めたのかが読めることが重要です。</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計画から準備、計算、解析へ成果物が渡る全体図です。矢印は、次の操作がどの出力に依存するかを表します。問題が見つかったときは、依存関係をたどって、どこまで結果を使えるかを判断します。</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条件を変える場合は、共通の入力から新しい分岐を作ります。野生型と変異体などを別々に記録すれば、比較の条件を確認できます。同じ名前のファイルを上書きして区別する方法では、後から追跡することが難しく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同じ段階の再試行を示しています。最初の試行は数値エラーで失敗し、次の試行が完了したという例です。成功した事実だけでなく、何を変えて再試行したかを確認します。原因が不明なまま偶然動いた結果を、検証済みの結果と同一視しません。</a:t>
            </a:r>
          </a:p>
          <a:p>
            <a:r>
              <a:rPr lang="ja-JP"/>
              <a:t>この図では、同じ条件での再試行と、乱数や設定を変更する分岐を区別しています。非数が生じた際は保存状態だけでなく停止点とエラーを確認します。再開に成功しても原因が特定できたとは限りません。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原著・原資料と日付について説明します。AI Scientist：Robin DOI:10.1038/s41586-026-10652-y／Co-Scientist DOI:10.1038/s41586-026-10644-y／ERA DOI:10.1038/s41586-026-10658-6。。転移学習：Murakami et al. DOI:10.64898/2026.07.30.741744。図は投稿原稿Fig. 1–3。。MDClaw：github.com/matsunagalab/mdclaw。6月9日理研・6月17日蛋白質科学会の発表を再利用。。現在の役割分担は2026年10月11日のローカル実装・READMEと照合。。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3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reuse1.svg"/><Relationship Id="rId4" Type="http://schemas.openxmlformats.org/officeDocument/2006/relationships/image" Target="../media/reuse2.svg"/><Relationship Id="rId5" Type="http://schemas.openxmlformats.org/officeDocument/2006/relationships/image" Target="../media/reuse3.svg"/><Relationship Id="rId6" Type="http://schemas.openxmlformats.org/officeDocument/2006/relationships/image" Target="../media/reuse4.svg"/><Relationship Id="rId7" Type="http://schemas.openxmlformats.org/officeDocument/2006/relationships/image" Target="../media/reuse5.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39.png"/><Relationship Id="rId7" Type="http://schemas.openxmlformats.org/officeDocument/2006/relationships/image" Target="../media/image4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8.jpg"/><Relationship Id="rId4" Type="http://schemas.openxmlformats.org/officeDocument/2006/relationships/image" Target="../media/image4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42.png"/><Relationship Id="rId6" Type="http://schemas.openxmlformats.org/officeDocument/2006/relationships/image" Target="../media/image4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3.png"/><Relationship Id="rId4" Type="http://schemas.openxmlformats.org/officeDocument/2006/relationships/image" Target="../media/image4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4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hyperlink" Target="https://github.com/matsunagalab/mdclaw"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reuse6.svg"/><Relationship Id="rId4" Type="http://schemas.openxmlformats.org/officeDocument/2006/relationships/image" Target="../media/reuse7.svg"/><Relationship Id="rId5" Type="http://schemas.openxmlformats.org/officeDocument/2006/relationships/image" Target="../media/reuse8.svg"/><Relationship Id="rId6" Type="http://schemas.openxmlformats.org/officeDocument/2006/relationships/image" Target="../media/reuse9.svg"/><Relationship Id="rId7" Type="http://schemas.openxmlformats.org/officeDocument/2006/relationships/image" Target="../media/reuse10.svg"/><Relationship Id="rId8" Type="http://schemas.openxmlformats.org/officeDocument/2006/relationships/image" Target="../media/reuse11.sv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9.png"/><Relationship Id="rId4" Type="http://schemas.openxmlformats.org/officeDocument/2006/relationships/image" Target="../media/reuse12.svg"/><Relationship Id="rId5" Type="http://schemas.openxmlformats.org/officeDocument/2006/relationships/hyperlink" Target="https://github.com/matsunagalab/mdclaw/blob/main/skills/md-prepare/SKILL.md" TargetMode="External"/><Relationship Id="rId6" Type="http://schemas.openxmlformats.org/officeDocument/2006/relationships/image" Target="../media/image4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0.png"/><Relationship Id="rId4" Type="http://schemas.openxmlformats.org/officeDocument/2006/relationships/image" Target="../media/image8.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0.png"/><Relationship Id="rId4" Type="http://schemas.openxmlformats.org/officeDocument/2006/relationships/image" Target="../media/image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5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3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reuse13.svg"/><Relationship Id="rId4" Type="http://schemas.openxmlformats.org/officeDocument/2006/relationships/image" Target="../media/reuse14.svg"/><Relationship Id="rId5" Type="http://schemas.openxmlformats.org/officeDocument/2006/relationships/image" Target="../media/reuse15.svg"/><Relationship Id="rId6" Type="http://schemas.openxmlformats.org/officeDocument/2006/relationships/image" Target="../media/reuse16.svg"/><Relationship Id="rId7" Type="http://schemas.openxmlformats.org/officeDocument/2006/relationships/image" Target="../media/reuse17.sv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reuse18.svg"/><Relationship Id="rId4" Type="http://schemas.openxmlformats.org/officeDocument/2006/relationships/image" Target="../media/reuse19.svg"/><Relationship Id="rId5" Type="http://schemas.openxmlformats.org/officeDocument/2006/relationships/image" Target="../media/reuse20.svg"/><Relationship Id="rId6" Type="http://schemas.openxmlformats.org/officeDocument/2006/relationships/image" Target="../media/reuse21.svg"/><Relationship Id="rId7" Type="http://schemas.openxmlformats.org/officeDocument/2006/relationships/image" Target="../media/reuse22.sv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reuse23.svg"/><Relationship Id="rId4" Type="http://schemas.openxmlformats.org/officeDocument/2006/relationships/image" Target="../media/reuse24.svg"/><Relationship Id="rId5" Type="http://schemas.openxmlformats.org/officeDocument/2006/relationships/image" Target="../media/reuse25.svg"/><Relationship Id="rId6" Type="http://schemas.openxmlformats.org/officeDocument/2006/relationships/image" Target="../media/reuse26.svg"/><Relationship Id="rId7" Type="http://schemas.openxmlformats.org/officeDocument/2006/relationships/image" Target="../media/reuse27.svg"/><Relationship Id="rId8" Type="http://schemas.openxmlformats.org/officeDocument/2006/relationships/image" Target="../media/reuse28.svg"/><Relationship Id="rId9" Type="http://schemas.openxmlformats.org/officeDocument/2006/relationships/image" Target="../media/reuse29.svg"/><Relationship Id="rId10" Type="http://schemas.openxmlformats.org/officeDocument/2006/relationships/image" Target="../media/reuse30.svg"/><Relationship Id="rId11" Type="http://schemas.openxmlformats.org/officeDocument/2006/relationships/image" Target="../media/reuse31.sv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reuse32.svg"/><Relationship Id="rId4" Type="http://schemas.openxmlformats.org/officeDocument/2006/relationships/image" Target="../media/reuse33.svg"/><Relationship Id="rId5" Type="http://schemas.openxmlformats.org/officeDocument/2006/relationships/image" Target="../media/reuse34.svg"/><Relationship Id="rId6" Type="http://schemas.openxmlformats.org/officeDocument/2006/relationships/image" Target="../media/reuse35.svg"/><Relationship Id="rId7" Type="http://schemas.openxmlformats.org/officeDocument/2006/relationships/image" Target="../media/reuse36.sv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reuse37.sv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reuse38.svg"/><Relationship Id="rId4" Type="http://schemas.openxmlformats.org/officeDocument/2006/relationships/image" Target="../media/reuse39.svg"/><Relationship Id="rId5" Type="http://schemas.openxmlformats.org/officeDocument/2006/relationships/image" Target="../media/reuse40.svg"/><Relationship Id="rId6" Type="http://schemas.openxmlformats.org/officeDocument/2006/relationships/image" Target="../media/reuse41.svg"/><Relationship Id="rId7" Type="http://schemas.openxmlformats.org/officeDocument/2006/relationships/image" Target="../media/reuse42.sv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reuse43.svg"/><Relationship Id="rId4" Type="http://schemas.openxmlformats.org/officeDocument/2006/relationships/image" Target="../media/reuse44.svg"/><Relationship Id="rId5" Type="http://schemas.openxmlformats.org/officeDocument/2006/relationships/image" Target="../media/reuse45.svg"/><Relationship Id="rId6" Type="http://schemas.openxmlformats.org/officeDocument/2006/relationships/image" Target="../media/reuse46.sv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3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34.png"/><Relationship Id="rId4" Type="http://schemas.openxmlformats.org/officeDocument/2006/relationships/image" Target="../media/image5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35.png"/><Relationship Id="rId4" Type="http://schemas.openxmlformats.org/officeDocument/2006/relationships/image" Target="../media/image20.png"/><Relationship Id="rId5" Type="http://schemas.openxmlformats.org/officeDocument/2006/relationships/image" Target="../media/image36.png"/><Relationship Id="rId6" Type="http://schemas.openxmlformats.org/officeDocument/2006/relationships/image" Target="../media/image5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46888"/>
            <a:ext cx="10972800" cy="274320"/>
          </a:xfrm>
          <a:prstGeom prst="rect">
            <a:avLst/>
          </a:prstGeom>
          <a:noFill/>
        </p:spPr>
        <p:txBody>
          <a:bodyPr wrap="square" lIns="0" rIns="0" tIns="0" bIns="0" anchor="t">
            <a:spAutoFit/>
          </a:bodyPr>
          <a:lstStyle/>
          <a:p>
            <a:pPr>
              <a:lnSpc>
                <a:spcPts val="1875"/>
              </a:lnSpc>
              <a:spcBef>
                <a:spcPts val="0"/>
              </a:spcBef>
              <a:spcAft>
                <a:spcPts val="600"/>
              </a:spcAft>
            </a:pPr>
            <a:r>
              <a:rPr sz="1500" b="1" i="0" lang="ja-JP">
                <a:solidFill>
                  <a:srgbClr val="123EAB"/>
                </a:solidFill>
                <a:latin typeface="Noto Sans JP"/>
              </a:rPr>
              <a:t>生命情報工学特論　第15回</a:t>
            </a:r>
          </a:p>
        </p:txBody>
      </p:sp>
      <p:sp>
        <p:nvSpPr>
          <p:cNvPr id="3" name="TextBox 2"/>
          <p:cNvSpPr txBox="1"/>
          <p:nvPr/>
        </p:nvSpPr>
        <p:spPr>
          <a:xfrm>
            <a:off x="594360" y="667512"/>
            <a:ext cx="10972800" cy="658368"/>
          </a:xfrm>
          <a:prstGeom prst="rect">
            <a:avLst/>
          </a:prstGeom>
          <a:noFill/>
        </p:spPr>
        <p:txBody>
          <a:bodyPr wrap="square" lIns="0" rIns="0" tIns="0" bIns="0" anchor="t">
            <a:spAutoFit/>
          </a:bodyPr>
          <a:lstStyle/>
          <a:p>
            <a:pPr>
              <a:lnSpc>
                <a:spcPts val="3625"/>
              </a:lnSpc>
              <a:spcBef>
                <a:spcPts val="0"/>
              </a:spcBef>
              <a:spcAft>
                <a:spcPts val="0"/>
              </a:spcAft>
            </a:pPr>
            <a:r>
              <a:rPr sz="2900" b="1" i="0" lang="ja-JP">
                <a:solidFill>
                  <a:srgbClr val="171717"/>
                </a:solidFill>
                <a:latin typeface="Noto Sans JP"/>
              </a:rPr>
              <a:t>AI Scientist研究とMDエージェント</a:t>
            </a:r>
          </a:p>
        </p:txBody>
      </p:sp>
      <p:sp>
        <p:nvSpPr>
          <p:cNvPr id="4" name="TextBox 3"/>
          <p:cNvSpPr txBox="1"/>
          <p:nvPr/>
        </p:nvSpPr>
        <p:spPr>
          <a:xfrm>
            <a:off x="11247120" y="6519672"/>
            <a:ext cx="502920" cy="228600"/>
          </a:xfrm>
          <a:prstGeom prst="rect">
            <a:avLst/>
          </a:prstGeom>
          <a:noFill/>
        </p:spPr>
        <p:txBody>
          <a:bodyPr wrap="square" lIns="0" rIns="0" tIns="0" bIns="0" anchor="t">
            <a:spAutoFit/>
          </a:bodyPr>
          <a:lstStyle/>
          <a:p>
            <a:pPr>
              <a:lnSpc>
                <a:spcPts val="1375"/>
              </a:lnSpc>
              <a:spcBef>
                <a:spcPts val="0"/>
              </a:spcBef>
              <a:spcAft>
                <a:spcPts val="0"/>
              </a:spcAft>
            </a:pPr>
            <a:r>
              <a:rPr sz="1100" b="0" i="0" lang="ja-JP">
                <a:solidFill>
                  <a:srgbClr val="171717"/>
                </a:solidFill>
                <a:latin typeface="Noto Sans JP"/>
              </a:rPr>
              <a:t>1</a:t>
            </a:r>
          </a:p>
        </p:txBody>
      </p:sp>
      <p:sp>
        <p:nvSpPr>
          <p:cNvPr id="5" name="TextBox 4"/>
          <p:cNvSpPr txBox="1"/>
          <p:nvPr/>
        </p:nvSpPr>
        <p:spPr>
          <a:xfrm>
            <a:off x="640080" y="1417320"/>
            <a:ext cx="5212080" cy="731520"/>
          </a:xfrm>
          <a:prstGeom prst="rect">
            <a:avLst/>
          </a:prstGeom>
          <a:noFill/>
        </p:spPr>
        <p:txBody>
          <a:bodyPr wrap="square" lIns="0" rIns="0" tIns="0" bIns="0" anchor="t">
            <a:spAutoFit/>
          </a:bodyPr>
          <a:lstStyle/>
          <a:p>
            <a:pPr>
              <a:lnSpc>
                <a:spcPts val="2990"/>
              </a:lnSpc>
              <a:spcBef>
                <a:spcPts val="0"/>
              </a:spcBef>
              <a:spcAft>
                <a:spcPts val="0"/>
              </a:spcAft>
            </a:pPr>
            <a:r>
              <a:rPr sz="2300" b="0" i="0" lang="ja-JP">
                <a:solidFill>
                  <a:srgbClr val="171717"/>
                </a:solidFill>
                <a:latin typeface="Noto Sans JP"/>
              </a:rPr>
              <a:t>研究の手順を記録し、</a:t>
            </a:r>
          </a:p>
          <a:p>
            <a:pPr>
              <a:lnSpc>
                <a:spcPts val="2990"/>
              </a:lnSpc>
              <a:spcBef>
                <a:spcPts val="0"/>
              </a:spcBef>
              <a:spcAft>
                <a:spcPts val="0"/>
              </a:spcAft>
            </a:pPr>
            <a:r>
              <a:rPr sz="2300" b="0" i="0" lang="ja-JP">
                <a:solidFill>
                  <a:srgbClr val="171717"/>
                </a:solidFill>
                <a:latin typeface="Noto Sans JP"/>
              </a:rPr>
              <a:t>計算と評価を繰り返す</a:t>
            </a:r>
          </a:p>
        </p:txBody>
      </p:sp>
      <p:sp>
        <p:nvSpPr>
          <p:cNvPr id="6" name="TextBox 5"/>
          <p:cNvSpPr txBox="1"/>
          <p:nvPr/>
        </p:nvSpPr>
        <p:spPr>
          <a:xfrm>
            <a:off x="6400800" y="1371600"/>
            <a:ext cx="5120640" cy="365760"/>
          </a:xfrm>
          <a:prstGeom prst="rect">
            <a:avLst/>
          </a:prstGeom>
          <a:noFill/>
        </p:spPr>
        <p:txBody>
          <a:bodyPr wrap="square" lIns="0" rIns="0" tIns="0" bIns="0" anchor="t">
            <a:spAutoFit/>
          </a:bodyPr>
          <a:lstStyle/>
          <a:p>
            <a:pPr>
              <a:lnSpc>
                <a:spcPts val="2750"/>
              </a:lnSpc>
              <a:spcBef>
                <a:spcPts val="0"/>
              </a:spcBef>
              <a:spcAft>
                <a:spcPts val="0"/>
              </a:spcAft>
            </a:pPr>
            <a:r>
              <a:rPr sz="2200" b="1" i="0" lang="ja-JP">
                <a:solidFill>
                  <a:srgbClr val="171717"/>
                </a:solidFill>
                <a:latin typeface="Noto Sans JP"/>
              </a:rPr>
              <a:t>松永 康佑</a:t>
            </a:r>
          </a:p>
        </p:txBody>
      </p:sp>
      <p:sp>
        <p:nvSpPr>
          <p:cNvPr id="7" name="TextBox 6"/>
          <p:cNvSpPr txBox="1"/>
          <p:nvPr/>
        </p:nvSpPr>
        <p:spPr>
          <a:xfrm>
            <a:off x="6400800" y="1801368"/>
            <a:ext cx="5120640" cy="594360"/>
          </a:xfrm>
          <a:prstGeom prst="rect">
            <a:avLst/>
          </a:prstGeom>
          <a:noFill/>
        </p:spPr>
        <p:txBody>
          <a:bodyPr wrap="square" lIns="0" rIns="0" tIns="0" bIns="0" anchor="t">
            <a:spAutoFit/>
          </a:bodyPr>
          <a:lstStyle/>
          <a:p>
            <a:pPr>
              <a:lnSpc>
                <a:spcPts val="1875"/>
              </a:lnSpc>
              <a:spcBef>
                <a:spcPts val="0"/>
              </a:spcBef>
              <a:spcAft>
                <a:spcPts val="0"/>
              </a:spcAft>
            </a:pPr>
            <a:r>
              <a:rPr sz="1500" b="0" i="0" lang="ja-JP">
                <a:solidFill>
                  <a:srgbClr val="171717"/>
                </a:solidFill>
                <a:latin typeface="Noto Sans JP"/>
              </a:rPr>
              <a:t>埼玉大学 大学院理工学研究科</a:t>
            </a:r>
          </a:p>
          <a:p>
            <a:pPr>
              <a:lnSpc>
                <a:spcPts val="1875"/>
              </a:lnSpc>
              <a:spcBef>
                <a:spcPts val="0"/>
              </a:spcBef>
              <a:spcAft>
                <a:spcPts val="0"/>
              </a:spcAft>
            </a:pPr>
            <a:r>
              <a:rPr sz="1500" b="0" i="0" lang="ja-JP">
                <a:solidFill>
                  <a:srgbClr val="171717"/>
                </a:solidFill>
                <a:latin typeface="Noto Sans JP"/>
              </a:rPr>
              <a:t>理化学研究所 計算科学研究センター</a:t>
            </a:r>
          </a:p>
        </p:txBody>
      </p:sp>
      <p:pic>
        <p:nvPicPr>
          <p:cNvPr id="8" name="Picture 7" descr="cover-wide.png"/>
          <p:cNvPicPr>
            <a:picLocks noChangeAspect="1"/>
          </p:cNvPicPr>
          <p:nvPr/>
        </p:nvPicPr>
        <p:blipFill>
          <a:blip r:embed="rId4"/>
          <a:stretch>
            <a:fillRect/>
          </a:stretch>
        </p:blipFill>
        <p:spPr>
          <a:xfrm>
            <a:off x="1297754" y="2542032"/>
            <a:ext cx="9566010" cy="3703320"/>
          </a:xfrm>
          <a:prstGeom prst="rect">
            <a:avLst/>
          </a:prstGeom>
        </p:spPr>
      </p:pic>
      <p:sp>
        <p:nvSpPr>
          <p:cNvPr id="9" name="TextBox 8"/>
          <p:cNvSpPr txBox="1"/>
          <p:nvPr/>
        </p:nvSpPr>
        <p:spPr>
          <a:xfrm>
            <a:off x="640080" y="6519672"/>
            <a:ext cx="4572000" cy="228600"/>
          </a:xfrm>
          <a:prstGeom prst="rect">
            <a:avLst/>
          </a:prstGeom>
          <a:noFill/>
        </p:spPr>
        <p:txBody>
          <a:bodyPr wrap="square" lIns="0" rIns="0" tIns="0" bIns="0" anchor="t">
            <a:spAutoFit/>
          </a:bodyPr>
          <a:lstStyle/>
          <a:p>
            <a:pPr>
              <a:lnSpc>
                <a:spcPts val="1375"/>
              </a:lnSpc>
              <a:spcBef>
                <a:spcPts val="0"/>
              </a:spcBef>
              <a:spcAft>
                <a:spcPts val="0"/>
              </a:spcAft>
            </a:pPr>
            <a:r>
              <a:rPr sz="1100" b="0" i="0" lang="ja-JP">
                <a:solidFill>
                  <a:srgbClr val="171717"/>
                </a:solidFill>
                <a:latin typeface="Noto Sans JP"/>
              </a:rPr>
              <a:t>2027年1月18日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研究の手順を記録し、計算と評価を繰り返す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cover15.png"/>
          <p:cNvPicPr>
            <a:picLocks noChangeAspect="1"/>
          </p:cNvPicPr>
          <p:nvPr/>
        </p:nvPicPr>
        <p:blipFill>
          <a:blip r:embed="rId3"/>
          <a:stretch>
            <a:fillRect/>
          </a:stretch>
        </p:blipFill>
        <p:spPr>
          <a:xfrm>
            <a:off x="7953247" y="1508760"/>
            <a:ext cx="2701545" cy="4251960"/>
          </a:xfrm>
          <a:prstGeom prst="rect">
            <a:avLst/>
          </a:prstGeom>
        </p:spPr>
      </p:pic>
      <p:sp>
        <p:nvSpPr>
          <p:cNvPr id="7" name="TextBox 6"/>
          <p:cNvSpPr txBox="1"/>
          <p:nvPr/>
        </p:nvSpPr>
        <p:spPr>
          <a:xfrm>
            <a:off x="594360" y="1444752"/>
            <a:ext cx="6172200" cy="4663440"/>
          </a:xfrm>
          <a:prstGeom prst="rect">
            <a:avLst/>
          </a:prstGeom>
          <a:noFill/>
        </p:spPr>
        <p:txBody>
          <a:bodyPr wrap="square" lIns="0" rIns="0" tIns="0" bIns="0" anchor="t">
            <a:noAutofit/>
          </a:bodyPr>
          <a:lstStyle/>
          <a:p>
            <a:pPr algn="l">
              <a:lnSpc>
                <a:spcPts val="3036"/>
              </a:lnSpc>
              <a:spcBef>
                <a:spcPts val="0"/>
              </a:spcBef>
              <a:spcAft>
                <a:spcPts val="1500"/>
              </a:spcAft>
            </a:pPr>
            <a:r>
              <a:rPr sz="2200" b="0" lang="ja-JP" altLang="en-US" i="0">
                <a:solidFill>
                  <a:srgbClr val="171717"/>
                </a:solidFill>
                <a:latin typeface="Noto Sans JP"/>
                <a:ea typeface="Noto Sans JP"/>
              </a:rPr>
              <a:t>研究の手順を記録し、</a:t>
            </a:r>
          </a:p>
          <a:p>
            <a:pPr algn="l">
              <a:lnSpc>
                <a:spcPts val="3036"/>
              </a:lnSpc>
              <a:spcBef>
                <a:spcPts val="0"/>
              </a:spcBef>
              <a:spcAft>
                <a:spcPts val="1500"/>
              </a:spcAft>
            </a:pPr>
            <a:r>
              <a:rPr sz="2200" b="0" lang="ja-JP" altLang="en-US" i="0">
                <a:solidFill>
                  <a:srgbClr val="171717"/>
                </a:solidFill>
                <a:latin typeface="Noto Sans JP"/>
                <a:ea typeface="Noto Sans JP"/>
              </a:rPr>
              <a:t>計算と評価を繰り返す。</a:t>
            </a:r>
          </a:p>
          <a:p>
            <a:pPr algn="l">
              <a:lnSpc>
                <a:spcPts val="3036"/>
              </a:lnSpc>
              <a:spcBef>
                <a:spcPts val="0"/>
              </a:spcBef>
              <a:spcAft>
                <a:spcPts val="1500"/>
              </a:spcAft>
            </a:pPr>
            <a:r>
              <a:rPr sz="2200" b="0" lang="ja-JP" altLang="en-US" i="0">
                <a:solidFill>
                  <a:srgbClr val="171717"/>
                </a:solidFill>
                <a:latin typeface="Noto Sans JP"/>
                <a:ea typeface="Noto Sans JP"/>
              </a:rPr>
              <a:t>自然言語の仮説を計算手順へ落とし、出力を検証して次の計算へ進む。</a:t>
            </a:r>
          </a:p>
          <a:p>
            <a:pPr algn="l">
              <a:lnSpc>
                <a:spcPts val="3036"/>
              </a:lnSpc>
              <a:spcBef>
                <a:spcPts val="0"/>
              </a:spcBef>
              <a:spcAft>
                <a:spcPts val="1500"/>
              </a:spcAft>
            </a:pPr>
            <a:r>
              <a:rPr sz="2200" b="0" lang="ja-JP" altLang="en-US" i="0">
                <a:solidFill>
                  <a:srgbClr val="171717"/>
                </a:solidFill>
                <a:latin typeface="Noto Sans JP"/>
                <a:ea typeface="Noto Sans JP"/>
              </a:rPr>
              <a:t>データの量だけでなく、条件の統一・多様性・失敗の記録が研究の質を決める。</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研究の自動化をデータと検証から考える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cover15.png"/>
          <p:cNvPicPr>
            <a:picLocks noChangeAspect="1"/>
          </p:cNvPicPr>
          <p:nvPr/>
        </p:nvPicPr>
        <p:blipFill>
          <a:blip r:embed="rId3"/>
          <a:stretch>
            <a:fillRect/>
          </a:stretch>
        </p:blipFill>
        <p:spPr>
          <a:xfrm>
            <a:off x="7953247" y="1508760"/>
            <a:ext cx="2701545" cy="4251960"/>
          </a:xfrm>
          <a:prstGeom prst="rect">
            <a:avLst/>
          </a:prstGeom>
        </p:spPr>
      </p:pic>
      <p:sp>
        <p:nvSpPr>
          <p:cNvPr id="7" name="TextBox 6"/>
          <p:cNvSpPr txBox="1"/>
          <p:nvPr/>
        </p:nvSpPr>
        <p:spPr>
          <a:xfrm>
            <a:off x="594360" y="1444752"/>
            <a:ext cx="6172200" cy="4663440"/>
          </a:xfrm>
          <a:prstGeom prst="rect">
            <a:avLst/>
          </a:prstGeom>
          <a:noFill/>
        </p:spPr>
        <p:txBody>
          <a:bodyPr wrap="square" lIns="0" rIns="0" tIns="0" bIns="0" anchor="t">
            <a:noAutofit/>
          </a:bodyPr>
          <a:lstStyle/>
          <a:p>
            <a:pPr algn="l">
              <a:lnSpc>
                <a:spcPts val="3036"/>
              </a:lnSpc>
              <a:spcBef>
                <a:spcPts val="0"/>
              </a:spcBef>
              <a:spcAft>
                <a:spcPts val="1500"/>
              </a:spcAft>
            </a:pPr>
            <a:r>
              <a:rPr sz="2200" b="0" lang="ja-JP" altLang="en-US" i="0">
                <a:solidFill>
                  <a:srgbClr val="171717"/>
                </a:solidFill>
                <a:latin typeface="Noto Sans JP"/>
                <a:ea typeface="Noto Sans JP"/>
              </a:rPr>
              <a:t>1　AI Scientistの提案と外部の検証</a:t>
            </a:r>
          </a:p>
          <a:p>
            <a:pPr algn="l">
              <a:lnSpc>
                <a:spcPts val="3036"/>
              </a:lnSpc>
              <a:spcBef>
                <a:spcPts val="0"/>
              </a:spcBef>
              <a:spcAft>
                <a:spcPts val="1500"/>
              </a:spcAft>
            </a:pPr>
            <a:r>
              <a:rPr sz="2200" b="0" lang="ja-JP" altLang="en-US" i="0">
                <a:solidFill>
                  <a:srgbClr val="171717"/>
                </a:solidFill>
                <a:latin typeface="Noto Sans JP"/>
                <a:ea typeface="Noto Sans JP"/>
              </a:rPr>
              <a:t>2　自動データ取得と計算条件の統一</a:t>
            </a:r>
          </a:p>
          <a:p>
            <a:pPr algn="l">
              <a:lnSpc>
                <a:spcPts val="3036"/>
              </a:lnSpc>
              <a:spcBef>
                <a:spcPts val="0"/>
              </a:spcBef>
              <a:spcAft>
                <a:spcPts val="1500"/>
              </a:spcAft>
            </a:pPr>
            <a:r>
              <a:rPr sz="2200" b="0" lang="ja-JP" altLang="en-US" i="0">
                <a:solidFill>
                  <a:srgbClr val="171717"/>
                </a:solidFill>
                <a:latin typeface="Noto Sans JP"/>
                <a:ea typeface="Noto Sans JP"/>
              </a:rPr>
              <a:t>3　転移学習とデータ量・多様性</a:t>
            </a:r>
          </a:p>
          <a:p>
            <a:pPr algn="l">
              <a:lnSpc>
                <a:spcPts val="3036"/>
              </a:lnSpc>
              <a:spcBef>
                <a:spcPts val="0"/>
              </a:spcBef>
              <a:spcAft>
                <a:spcPts val="1500"/>
              </a:spcAft>
            </a:pPr>
            <a:r>
              <a:rPr sz="2200" b="0" lang="ja-JP" altLang="en-US" i="0">
                <a:solidFill>
                  <a:srgbClr val="171717"/>
                </a:solidFill>
                <a:latin typeface="Noto Sans JP"/>
                <a:ea typeface="Noto Sans JP"/>
              </a:rPr>
              <a:t>4　MDClawのskills・CLI・計算履歴</a:t>
            </a:r>
          </a:p>
          <a:p>
            <a:pPr algn="l">
              <a:lnSpc>
                <a:spcPts val="3036"/>
              </a:lnSpc>
              <a:spcBef>
                <a:spcPts val="0"/>
              </a:spcBef>
              <a:spcAft>
                <a:spcPts val="1500"/>
              </a:spcAft>
            </a:pPr>
            <a:r>
              <a:rPr sz="2200" b="0" lang="ja-JP" altLang="en-US" i="0">
                <a:solidFill>
                  <a:srgbClr val="171717"/>
                </a:solidFill>
                <a:latin typeface="Noto Sans JP"/>
                <a:ea typeface="Noto Sans JP"/>
              </a:rPr>
              <a:t>5　教員デモ：入力から証拠までをたどる</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
        <p:nvSpPr>
          <p:cNvPr id="3" name="TextBox 2"/>
          <p:cNvSpPr txBox="1"/>
          <p:nvPr/>
        </p:nvSpPr>
        <p:spPr>
          <a:xfrm>
            <a:off x="594360" y="667512"/>
            <a:ext cx="10972800" cy="658368"/>
          </a:xfrm>
          <a:prstGeom prst="rect">
            <a:avLst/>
          </a:prstGeom>
          <a:noFill/>
        </p:spPr>
        <p:txBody>
          <a:bodyPr wrap="square" lIns="0" rIns="0" tIns="0" bIns="0" anchor="t">
            <a:spAutoFit/>
          </a:bodyPr>
          <a:lstStyle/>
          <a:p>
            <a:pPr>
              <a:lnSpc>
                <a:spcPts val="3625"/>
              </a:lnSpc>
              <a:spcBef>
                <a:spcPts val="0"/>
              </a:spcBef>
              <a:spcAft>
                <a:spcPts val="0"/>
              </a:spcAft>
            </a:pPr>
            <a:r>
              <a:rPr sz="2900" b="1" i="0" lang="ja-JP">
                <a:solidFill>
                  <a:srgbClr val="171717"/>
                </a:solidFill>
                <a:latin typeface="Noto Sans JP"/>
              </a:rPr>
              <a:t>AI Scientistの提案は、外部の評価と組み合わせる</a:t>
            </a:r>
          </a:p>
        </p:txBody>
      </p:sp>
      <p:sp>
        <p:nvSpPr>
          <p:cNvPr id="4" name="TextBox 3"/>
          <p:cNvSpPr txBox="1"/>
          <p:nvPr/>
        </p:nvSpPr>
        <p:spPr>
          <a:xfrm>
            <a:off x="11247120" y="6519672"/>
            <a:ext cx="502920" cy="228600"/>
          </a:xfrm>
          <a:prstGeom prst="rect">
            <a:avLst/>
          </a:prstGeom>
          <a:noFill/>
        </p:spPr>
        <p:txBody>
          <a:bodyPr wrap="square" lIns="0" rIns="0" tIns="0" bIns="0" anchor="t">
            <a:spAutoFit/>
          </a:bodyPr>
          <a:lstStyle/>
          <a:p>
            <a:pPr>
              <a:lnSpc>
                <a:spcPts val="1375"/>
              </a:lnSpc>
              <a:spcBef>
                <a:spcPts val="0"/>
              </a:spcBef>
              <a:spcAft>
                <a:spcPts val="0"/>
              </a:spcAft>
            </a:pPr>
            <a:r>
              <a:rPr sz="1100" b="0" i="0" lang="ja-JP">
                <a:solidFill>
                  <a:srgbClr val="171717"/>
                </a:solidFill>
                <a:latin typeface="Noto Sans JP"/>
              </a:rPr>
              <a:t>4</a:t>
            </a:r>
          </a:p>
        </p:txBody>
      </p:sp>
      <p:sp>
        <p:nvSpPr>
          <p:cNvPr id="5" name="TextBox 4"/>
          <p:cNvSpPr txBox="1"/>
          <p:nvPr/>
        </p:nvSpPr>
        <p:spPr>
          <a:xfrm>
            <a:off x="685800" y="1417320"/>
            <a:ext cx="1828800" cy="365760"/>
          </a:xfrm>
          <a:prstGeom prst="rect">
            <a:avLst/>
          </a:prstGeom>
          <a:noFill/>
        </p:spPr>
        <p:txBody>
          <a:bodyPr wrap="square" lIns="0" rIns="0" tIns="0" bIns="0" anchor="t">
            <a:spAutoFit/>
          </a:bodyPr>
          <a:lstStyle/>
          <a:p>
            <a:pPr>
              <a:lnSpc>
                <a:spcPts val="2750"/>
              </a:lnSpc>
              <a:spcBef>
                <a:spcPts val="0"/>
              </a:spcBef>
              <a:spcAft>
                <a:spcPts val="0"/>
              </a:spcAft>
            </a:pPr>
            <a:r>
              <a:rPr sz="2200" b="1" i="0" lang="ja-JP">
                <a:solidFill>
                  <a:srgbClr val="123EAB"/>
                </a:solidFill>
                <a:latin typeface="Noto Sans JP"/>
              </a:rPr>
              <a:t>研究</a:t>
            </a:r>
          </a:p>
        </p:txBody>
      </p:sp>
      <p:sp>
        <p:nvSpPr>
          <p:cNvPr id="6" name="TextBox 5"/>
          <p:cNvSpPr txBox="1"/>
          <p:nvPr/>
        </p:nvSpPr>
        <p:spPr>
          <a:xfrm>
            <a:off x="2651760" y="1417320"/>
            <a:ext cx="4023360" cy="365760"/>
          </a:xfrm>
          <a:prstGeom prst="rect">
            <a:avLst/>
          </a:prstGeom>
          <a:noFill/>
        </p:spPr>
        <p:txBody>
          <a:bodyPr wrap="square" lIns="0" rIns="0" tIns="0" bIns="0" anchor="t">
            <a:spAutoFit/>
          </a:bodyPr>
          <a:lstStyle/>
          <a:p>
            <a:pPr>
              <a:lnSpc>
                <a:spcPts val="2750"/>
              </a:lnSpc>
              <a:spcBef>
                <a:spcPts val="0"/>
              </a:spcBef>
              <a:spcAft>
                <a:spcPts val="0"/>
              </a:spcAft>
            </a:pPr>
            <a:r>
              <a:rPr sz="2200" b="1" i="0" lang="ja-JP">
                <a:solidFill>
                  <a:srgbClr val="123EAB"/>
                </a:solidFill>
                <a:latin typeface="Noto Sans JP"/>
              </a:rPr>
              <a:t>AIが担う作業</a:t>
            </a:r>
          </a:p>
        </p:txBody>
      </p:sp>
      <p:sp>
        <p:nvSpPr>
          <p:cNvPr id="7" name="TextBox 6"/>
          <p:cNvSpPr txBox="1"/>
          <p:nvPr/>
        </p:nvSpPr>
        <p:spPr>
          <a:xfrm>
            <a:off x="6858000" y="1417320"/>
            <a:ext cx="4663440" cy="365760"/>
          </a:xfrm>
          <a:prstGeom prst="rect">
            <a:avLst/>
          </a:prstGeom>
          <a:noFill/>
        </p:spPr>
        <p:txBody>
          <a:bodyPr wrap="square" lIns="0" rIns="0" tIns="0" bIns="0" anchor="t">
            <a:spAutoFit/>
          </a:bodyPr>
          <a:lstStyle/>
          <a:p>
            <a:pPr>
              <a:lnSpc>
                <a:spcPts val="2750"/>
              </a:lnSpc>
              <a:spcBef>
                <a:spcPts val="0"/>
              </a:spcBef>
              <a:spcAft>
                <a:spcPts val="0"/>
              </a:spcAft>
            </a:pPr>
            <a:r>
              <a:rPr sz="2200" b="1" i="0" lang="ja-JP">
                <a:solidFill>
                  <a:srgbClr val="123EAB"/>
                </a:solidFill>
                <a:latin typeface="Noto Sans JP"/>
              </a:rPr>
              <a:t>検証の進め方</a:t>
            </a:r>
          </a:p>
        </p:txBody>
      </p:sp>
      <p:sp>
        <p:nvSpPr>
          <p:cNvPr id="8" name="TextBox 7"/>
          <p:cNvSpPr txBox="1"/>
          <p:nvPr/>
        </p:nvSpPr>
        <p:spPr>
          <a:xfrm>
            <a:off x="685800" y="1965960"/>
            <a:ext cx="1828800" cy="411480"/>
          </a:xfrm>
          <a:prstGeom prst="rect">
            <a:avLst/>
          </a:prstGeom>
          <a:noFill/>
        </p:spPr>
        <p:txBody>
          <a:bodyPr wrap="square" lIns="0" rIns="0" tIns="0" bIns="0" anchor="t">
            <a:spAutoFit/>
          </a:bodyPr>
          <a:lstStyle/>
          <a:p>
            <a:pPr>
              <a:lnSpc>
                <a:spcPts val="3000"/>
              </a:lnSpc>
              <a:spcBef>
                <a:spcPts val="0"/>
              </a:spcBef>
              <a:spcAft>
                <a:spcPts val="0"/>
              </a:spcAft>
            </a:pPr>
            <a:r>
              <a:rPr sz="2400" b="1" i="0" lang="ja-JP">
                <a:solidFill>
                  <a:srgbClr val="171717"/>
                </a:solidFill>
                <a:latin typeface="Noto Sans JP"/>
              </a:rPr>
              <a:t>Robin</a:t>
            </a:r>
          </a:p>
        </p:txBody>
      </p:sp>
      <p:sp>
        <p:nvSpPr>
          <p:cNvPr id="9" name="TextBox 8"/>
          <p:cNvSpPr txBox="1"/>
          <p:nvPr/>
        </p:nvSpPr>
        <p:spPr>
          <a:xfrm>
            <a:off x="2651760" y="1965960"/>
            <a:ext cx="4023360" cy="850392"/>
          </a:xfrm>
          <a:prstGeom prst="rect">
            <a:avLst/>
          </a:prstGeom>
          <a:noFill/>
        </p:spPr>
        <p:txBody>
          <a:bodyPr wrap="square" lIns="0" rIns="0" tIns="0" bIns="0" anchor="t">
            <a:spAutoFit/>
          </a:bodyPr>
          <a:lstStyle/>
          <a:p>
            <a:pPr>
              <a:lnSpc>
                <a:spcPts val="2625"/>
              </a:lnSpc>
              <a:spcBef>
                <a:spcPts val="0"/>
              </a:spcBef>
              <a:spcAft>
                <a:spcPts val="0"/>
              </a:spcAft>
            </a:pPr>
            <a:r>
              <a:rPr sz="2100" b="0" i="0" lang="ja-JP">
                <a:solidFill>
                  <a:srgbClr val="171717"/>
                </a:solidFill>
                <a:latin typeface="Noto Sans JP"/>
              </a:rPr>
              <a:t>文献探索とデータ解析から、仮説と実験候補を提案する。</a:t>
            </a:r>
          </a:p>
        </p:txBody>
      </p:sp>
      <p:sp>
        <p:nvSpPr>
          <p:cNvPr id="10" name="TextBox 9"/>
          <p:cNvSpPr txBox="1"/>
          <p:nvPr/>
        </p:nvSpPr>
        <p:spPr>
          <a:xfrm>
            <a:off x="6858000" y="1965960"/>
            <a:ext cx="4663440" cy="850392"/>
          </a:xfrm>
          <a:prstGeom prst="rect">
            <a:avLst/>
          </a:prstGeom>
          <a:noFill/>
        </p:spPr>
        <p:txBody>
          <a:bodyPr wrap="square" lIns="0" rIns="0" tIns="0" bIns="0" anchor="t">
            <a:spAutoFit/>
          </a:bodyPr>
          <a:lstStyle/>
          <a:p>
            <a:pPr>
              <a:lnSpc>
                <a:spcPts val="2625"/>
              </a:lnSpc>
              <a:spcBef>
                <a:spcPts val="0"/>
              </a:spcBef>
              <a:spcAft>
                <a:spcPts val="0"/>
              </a:spcAft>
            </a:pPr>
            <a:r>
              <a:rPr sz="2100" b="0" i="0" lang="ja-JP">
                <a:solidFill>
                  <a:srgbClr val="171717"/>
                </a:solidFill>
                <a:latin typeface="Noto Sans JP"/>
              </a:rPr>
              <a:t>人が候補を検討し、実験結果を次の仮説へ戻す。</a:t>
            </a:r>
          </a:p>
        </p:txBody>
      </p:sp>
      <p:sp>
        <p:nvSpPr>
          <p:cNvPr id="11" name="TextBox 10"/>
          <p:cNvSpPr txBox="1"/>
          <p:nvPr/>
        </p:nvSpPr>
        <p:spPr>
          <a:xfrm>
            <a:off x="2651760" y="2898648"/>
            <a:ext cx="8778240" cy="274320"/>
          </a:xfrm>
          <a:prstGeom prst="rect">
            <a:avLst/>
          </a:prstGeom>
          <a:noFill/>
        </p:spPr>
        <p:txBody>
          <a:bodyPr wrap="square" lIns="0" rIns="0" tIns="0" bIns="0" anchor="t">
            <a:spAutoFit/>
          </a:bodyPr>
          <a:lstStyle/>
          <a:p>
            <a:pPr>
              <a:lnSpc>
                <a:spcPts val="1500"/>
              </a:lnSpc>
              <a:spcBef>
                <a:spcPts val="0"/>
              </a:spcBef>
              <a:spcAft>
                <a:spcPts val="0"/>
              </a:spcAft>
            </a:pPr>
            <a:r>
              <a:rPr sz="1200" b="0" i="0" lang="ja-JP">
                <a:solidFill>
                  <a:srgbClr val="171717"/>
                </a:solidFill>
                <a:latin typeface="Noto Sans JP"/>
              </a:rPr>
              <a:t>Ghareeb et al., Nature (2026). DOI:10.1038/s41586-026-10652-y</a:t>
            </a:r>
          </a:p>
        </p:txBody>
      </p:sp>
      <p:sp>
        <p:nvSpPr>
          <p:cNvPr id="12" name="TextBox 11"/>
          <p:cNvSpPr txBox="1"/>
          <p:nvPr/>
        </p:nvSpPr>
        <p:spPr>
          <a:xfrm>
            <a:off x="685800" y="3264408"/>
            <a:ext cx="1828800" cy="411480"/>
          </a:xfrm>
          <a:prstGeom prst="rect">
            <a:avLst/>
          </a:prstGeom>
          <a:noFill/>
        </p:spPr>
        <p:txBody>
          <a:bodyPr wrap="square" lIns="0" rIns="0" tIns="0" bIns="0" anchor="t">
            <a:spAutoFit/>
          </a:bodyPr>
          <a:lstStyle/>
          <a:p>
            <a:pPr>
              <a:lnSpc>
                <a:spcPts val="3000"/>
              </a:lnSpc>
              <a:spcBef>
                <a:spcPts val="0"/>
              </a:spcBef>
              <a:spcAft>
                <a:spcPts val="0"/>
              </a:spcAft>
            </a:pPr>
            <a:r>
              <a:rPr sz="2400" b="1" i="0" lang="ja-JP">
                <a:solidFill>
                  <a:srgbClr val="171717"/>
                </a:solidFill>
                <a:latin typeface="Noto Sans JP"/>
              </a:rPr>
              <a:t>Co-Scientist</a:t>
            </a:r>
          </a:p>
        </p:txBody>
      </p:sp>
      <p:sp>
        <p:nvSpPr>
          <p:cNvPr id="13" name="TextBox 12"/>
          <p:cNvSpPr txBox="1"/>
          <p:nvPr/>
        </p:nvSpPr>
        <p:spPr>
          <a:xfrm>
            <a:off x="2651760" y="3264408"/>
            <a:ext cx="4023360" cy="850392"/>
          </a:xfrm>
          <a:prstGeom prst="rect">
            <a:avLst/>
          </a:prstGeom>
          <a:noFill/>
        </p:spPr>
        <p:txBody>
          <a:bodyPr wrap="square" lIns="0" rIns="0" tIns="0" bIns="0" anchor="t">
            <a:spAutoFit/>
          </a:bodyPr>
          <a:lstStyle/>
          <a:p>
            <a:pPr>
              <a:lnSpc>
                <a:spcPts val="2625"/>
              </a:lnSpc>
              <a:spcBef>
                <a:spcPts val="0"/>
              </a:spcBef>
              <a:spcAft>
                <a:spcPts val="0"/>
              </a:spcAft>
            </a:pPr>
            <a:r>
              <a:rPr sz="2100" b="0" i="0" lang="ja-JP">
                <a:solidFill>
                  <a:srgbClr val="171717"/>
                </a:solidFill>
                <a:latin typeface="Noto Sans JP"/>
              </a:rPr>
              <a:t>複数のエージェントで仮説を生成・批判・順位付け・改良する。</a:t>
            </a:r>
          </a:p>
        </p:txBody>
      </p:sp>
      <p:sp>
        <p:nvSpPr>
          <p:cNvPr id="14" name="TextBox 13"/>
          <p:cNvSpPr txBox="1"/>
          <p:nvPr/>
        </p:nvSpPr>
        <p:spPr>
          <a:xfrm>
            <a:off x="6858000" y="3264408"/>
            <a:ext cx="4663440" cy="850392"/>
          </a:xfrm>
          <a:prstGeom prst="rect">
            <a:avLst/>
          </a:prstGeom>
          <a:noFill/>
        </p:spPr>
        <p:txBody>
          <a:bodyPr wrap="square" lIns="0" rIns="0" tIns="0" bIns="0" anchor="t">
            <a:spAutoFit/>
          </a:bodyPr>
          <a:lstStyle/>
          <a:p>
            <a:pPr>
              <a:lnSpc>
                <a:spcPts val="2625"/>
              </a:lnSpc>
              <a:spcBef>
                <a:spcPts val="0"/>
              </a:spcBef>
              <a:spcAft>
                <a:spcPts val="0"/>
              </a:spcAft>
            </a:pPr>
            <a:r>
              <a:rPr sz="2100" b="0" i="0" lang="ja-JP">
                <a:solidFill>
                  <a:srgbClr val="171717"/>
                </a:solidFill>
                <a:latin typeface="Noto Sans JP"/>
              </a:rPr>
              <a:t>研究者が目標と候補を選び、実験で確かめる。</a:t>
            </a:r>
          </a:p>
        </p:txBody>
      </p:sp>
      <p:sp>
        <p:nvSpPr>
          <p:cNvPr id="15" name="TextBox 14"/>
          <p:cNvSpPr txBox="1"/>
          <p:nvPr/>
        </p:nvSpPr>
        <p:spPr>
          <a:xfrm>
            <a:off x="2651760" y="4197096"/>
            <a:ext cx="8778240" cy="274320"/>
          </a:xfrm>
          <a:prstGeom prst="rect">
            <a:avLst/>
          </a:prstGeom>
          <a:noFill/>
        </p:spPr>
        <p:txBody>
          <a:bodyPr wrap="square" lIns="0" rIns="0" tIns="0" bIns="0" anchor="t">
            <a:spAutoFit/>
          </a:bodyPr>
          <a:lstStyle/>
          <a:p>
            <a:pPr>
              <a:lnSpc>
                <a:spcPts val="1500"/>
              </a:lnSpc>
              <a:spcBef>
                <a:spcPts val="0"/>
              </a:spcBef>
              <a:spcAft>
                <a:spcPts val="0"/>
              </a:spcAft>
            </a:pPr>
            <a:r>
              <a:rPr sz="1200" b="0" i="0" lang="ja-JP">
                <a:solidFill>
                  <a:srgbClr val="171717"/>
                </a:solidFill>
                <a:latin typeface="Noto Sans JP"/>
              </a:rPr>
              <a:t>Gottweis et al., Nature (2026). DOI:10.1038/s41586-026-10644-y</a:t>
            </a:r>
          </a:p>
        </p:txBody>
      </p:sp>
      <p:sp>
        <p:nvSpPr>
          <p:cNvPr id="16" name="TextBox 15"/>
          <p:cNvSpPr txBox="1"/>
          <p:nvPr/>
        </p:nvSpPr>
        <p:spPr>
          <a:xfrm>
            <a:off x="685800" y="4562856"/>
            <a:ext cx="1828800" cy="411480"/>
          </a:xfrm>
          <a:prstGeom prst="rect">
            <a:avLst/>
          </a:prstGeom>
          <a:noFill/>
        </p:spPr>
        <p:txBody>
          <a:bodyPr wrap="square" lIns="0" rIns="0" tIns="0" bIns="0" anchor="t">
            <a:spAutoFit/>
          </a:bodyPr>
          <a:lstStyle/>
          <a:p>
            <a:pPr>
              <a:lnSpc>
                <a:spcPts val="3000"/>
              </a:lnSpc>
              <a:spcBef>
                <a:spcPts val="0"/>
              </a:spcBef>
              <a:spcAft>
                <a:spcPts val="0"/>
              </a:spcAft>
            </a:pPr>
            <a:r>
              <a:rPr sz="2400" b="1" i="0" lang="ja-JP">
                <a:solidFill>
                  <a:srgbClr val="171717"/>
                </a:solidFill>
                <a:latin typeface="Noto Sans JP"/>
              </a:rPr>
              <a:t>ERA</a:t>
            </a:r>
          </a:p>
        </p:txBody>
      </p:sp>
      <p:sp>
        <p:nvSpPr>
          <p:cNvPr id="17" name="TextBox 16"/>
          <p:cNvSpPr txBox="1"/>
          <p:nvPr/>
        </p:nvSpPr>
        <p:spPr>
          <a:xfrm>
            <a:off x="2651760" y="4562856"/>
            <a:ext cx="4023360" cy="850392"/>
          </a:xfrm>
          <a:prstGeom prst="rect">
            <a:avLst/>
          </a:prstGeom>
          <a:noFill/>
        </p:spPr>
        <p:txBody>
          <a:bodyPr wrap="square" lIns="0" rIns="0" tIns="0" bIns="0" anchor="t">
            <a:spAutoFit/>
          </a:bodyPr>
          <a:lstStyle/>
          <a:p>
            <a:pPr>
              <a:lnSpc>
                <a:spcPts val="2625"/>
              </a:lnSpc>
              <a:spcBef>
                <a:spcPts val="0"/>
              </a:spcBef>
              <a:spcAft>
                <a:spcPts val="0"/>
              </a:spcAft>
            </a:pPr>
            <a:r>
              <a:rPr sz="2100" b="0" i="0" lang="ja-JP">
                <a:solidFill>
                  <a:srgbClr val="171717"/>
                </a:solidFill>
                <a:latin typeface="Noto Sans JP"/>
              </a:rPr>
              <a:t>定量的な評価値を使い、探索しながら科学計算コードを作る。</a:t>
            </a:r>
          </a:p>
        </p:txBody>
      </p:sp>
      <p:sp>
        <p:nvSpPr>
          <p:cNvPr id="18" name="TextBox 17"/>
          <p:cNvSpPr txBox="1"/>
          <p:nvPr/>
        </p:nvSpPr>
        <p:spPr>
          <a:xfrm>
            <a:off x="6858000" y="4562856"/>
            <a:ext cx="4663440" cy="850392"/>
          </a:xfrm>
          <a:prstGeom prst="rect">
            <a:avLst/>
          </a:prstGeom>
          <a:noFill/>
        </p:spPr>
        <p:txBody>
          <a:bodyPr wrap="square" lIns="0" rIns="0" tIns="0" bIns="0" anchor="t">
            <a:spAutoFit/>
          </a:bodyPr>
          <a:lstStyle/>
          <a:p>
            <a:pPr>
              <a:lnSpc>
                <a:spcPts val="2625"/>
              </a:lnSpc>
              <a:spcBef>
                <a:spcPts val="0"/>
              </a:spcBef>
              <a:spcAft>
                <a:spcPts val="0"/>
              </a:spcAft>
            </a:pPr>
            <a:r>
              <a:rPr sz="2100" b="0" i="0" lang="ja-JP">
                <a:solidFill>
                  <a:srgbClr val="171717"/>
                </a:solidFill>
                <a:latin typeface="Noto Sans JP"/>
              </a:rPr>
              <a:t>データと計算による評価を、コードの改良へ戻す。</a:t>
            </a:r>
          </a:p>
        </p:txBody>
      </p:sp>
      <p:sp>
        <p:nvSpPr>
          <p:cNvPr id="19" name="TextBox 18"/>
          <p:cNvSpPr txBox="1"/>
          <p:nvPr/>
        </p:nvSpPr>
        <p:spPr>
          <a:xfrm>
            <a:off x="2651760" y="5495544"/>
            <a:ext cx="8778240" cy="274320"/>
          </a:xfrm>
          <a:prstGeom prst="rect">
            <a:avLst/>
          </a:prstGeom>
          <a:noFill/>
        </p:spPr>
        <p:txBody>
          <a:bodyPr wrap="square" lIns="0" rIns="0" tIns="0" bIns="0" anchor="t">
            <a:spAutoFit/>
          </a:bodyPr>
          <a:lstStyle/>
          <a:p>
            <a:pPr>
              <a:lnSpc>
                <a:spcPts val="1500"/>
              </a:lnSpc>
              <a:spcBef>
                <a:spcPts val="0"/>
              </a:spcBef>
              <a:spcAft>
                <a:spcPts val="0"/>
              </a:spcAft>
            </a:pPr>
            <a:r>
              <a:rPr sz="1200" b="0" i="0" lang="ja-JP">
                <a:solidFill>
                  <a:srgbClr val="171717"/>
                </a:solidFill>
                <a:latin typeface="Noto Sans JP"/>
              </a:rPr>
              <a:t>Aygun et al., Nature (2026). DOI:10.1038/s41586-026-10658-6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
        <p:nvSpPr>
          <p:cNvPr id="3" name="TextBox 2"/>
          <p:cNvSpPr txBox="1"/>
          <p:nvPr/>
        </p:nvSpPr>
        <p:spPr>
          <a:xfrm>
            <a:off x="594360" y="667512"/>
            <a:ext cx="10972800" cy="658368"/>
          </a:xfrm>
          <a:prstGeom prst="rect">
            <a:avLst/>
          </a:prstGeom>
          <a:noFill/>
        </p:spPr>
        <p:txBody>
          <a:bodyPr wrap="square" lIns="0" rIns="0" tIns="0" bIns="0" anchor="t">
            <a:spAutoFit/>
          </a:bodyPr>
          <a:lstStyle/>
          <a:p>
            <a:pPr>
              <a:lnSpc>
                <a:spcPts val="3625"/>
              </a:lnSpc>
              <a:spcBef>
                <a:spcPts val="0"/>
              </a:spcBef>
              <a:spcAft>
                <a:spcPts val="0"/>
              </a:spcAft>
            </a:pPr>
            <a:r>
              <a:rPr sz="2900" b="1" i="0" lang="ja-JP">
                <a:solidFill>
                  <a:srgbClr val="171717"/>
                </a:solidFill>
                <a:latin typeface="Noto Sans JP"/>
              </a:rPr>
              <a:t>Robin：文献と実験データから、仮説を更新する</a:t>
            </a:r>
          </a:p>
        </p:txBody>
      </p:sp>
      <p:sp>
        <p:nvSpPr>
          <p:cNvPr id="4" name="TextBox 3"/>
          <p:cNvSpPr txBox="1"/>
          <p:nvPr/>
        </p:nvSpPr>
        <p:spPr>
          <a:xfrm>
            <a:off x="11247120" y="6519672"/>
            <a:ext cx="502920" cy="228600"/>
          </a:xfrm>
          <a:prstGeom prst="rect">
            <a:avLst/>
          </a:prstGeom>
          <a:noFill/>
        </p:spPr>
        <p:txBody>
          <a:bodyPr wrap="square" lIns="0" rIns="0" tIns="0" bIns="0" anchor="t">
            <a:spAutoFit/>
          </a:bodyPr>
          <a:lstStyle/>
          <a:p>
            <a:pPr>
              <a:lnSpc>
                <a:spcPts val="1375"/>
              </a:lnSpc>
              <a:spcBef>
                <a:spcPts val="0"/>
              </a:spcBef>
              <a:spcAft>
                <a:spcPts val="0"/>
              </a:spcAft>
            </a:pPr>
            <a:r>
              <a:rPr sz="1100" b="0" i="0" lang="ja-JP">
                <a:solidFill>
                  <a:srgbClr val="171717"/>
                </a:solidFill>
                <a:latin typeface="Noto Sans JP"/>
              </a:rPr>
              <a:t>5</a:t>
            </a:r>
          </a:p>
        </p:txBody>
      </p:sp>
      <p:sp>
        <p:nvSpPr>
          <p:cNvPr id="5" name="TextBox 4"/>
          <p:cNvSpPr txBox="1"/>
          <p:nvPr/>
        </p:nvSpPr>
        <p:spPr>
          <a:xfrm>
            <a:off x="640080" y="1508760"/>
            <a:ext cx="3886200" cy="4480560"/>
          </a:xfrm>
          <a:prstGeom prst="rect">
            <a:avLst/>
          </a:prstGeom>
          <a:noFill/>
        </p:spPr>
        <p:txBody>
          <a:bodyPr wrap="square" lIns="0" rIns="0" tIns="0" bIns="0" anchor="t">
            <a:spAutoFit/>
          </a:bodyPr>
          <a:lstStyle/>
          <a:p>
            <a:pPr>
              <a:lnSpc>
                <a:spcPts val="3036"/>
              </a:lnSpc>
              <a:spcBef>
                <a:spcPts val="0"/>
              </a:spcBef>
              <a:spcAft>
                <a:spcPts val="1800"/>
              </a:spcAft>
            </a:pPr>
            <a:r>
              <a:rPr sz="2200" b="0" i="0" lang="ja-JP">
                <a:solidFill>
                  <a:srgbClr val="171717"/>
                </a:solidFill>
                <a:latin typeface="Noto Sans JP"/>
              </a:rPr>
              <a:t>CrowとFalconが文献を探索し、Finchが実験データと関連情報を解析する。</a:t>
            </a:r>
          </a:p>
          <a:p>
            <a:pPr>
              <a:lnSpc>
                <a:spcPts val="3036"/>
              </a:lnSpc>
              <a:spcBef>
                <a:spcPts val="0"/>
              </a:spcBef>
              <a:spcAft>
                <a:spcPts val="1800"/>
              </a:spcAft>
            </a:pPr>
            <a:r>
              <a:rPr sz="2200" b="0" i="0" lang="ja-JP">
                <a:solidFill>
                  <a:srgbClr val="171717"/>
                </a:solidFill>
                <a:latin typeface="Noto Sans JP"/>
              </a:rPr>
              <a:t>候補を実験で確かめ、その結果を次の仮説に戻す。</a:t>
            </a:r>
          </a:p>
          <a:p>
            <a:pPr>
              <a:lnSpc>
                <a:spcPts val="3036"/>
              </a:lnSpc>
              <a:spcBef>
                <a:spcPts val="0"/>
              </a:spcBef>
              <a:spcAft>
                <a:spcPts val="1800"/>
              </a:spcAft>
            </a:pPr>
            <a:r>
              <a:rPr sz="2200" b="0" i="0" lang="ja-JP">
                <a:solidFill>
                  <a:srgbClr val="171717"/>
                </a:solidFill>
                <a:latin typeface="Noto Sans JP"/>
              </a:rPr>
              <a:t>AIの提案だけで研究を閉じず、研究者や実験系による評価を入れる。</a:t>
            </a:r>
          </a:p>
        </p:txBody>
      </p:sp>
      <p:pic>
        <p:nvPicPr>
          <p:cNvPr id="6" name="Picture 5" descr="robin.png"/>
          <p:cNvPicPr>
            <a:picLocks noChangeAspect="1"/>
          </p:cNvPicPr>
          <p:nvPr/>
        </p:nvPicPr>
        <p:blipFill>
          <a:blip r:embed="rId4"/>
          <a:stretch>
            <a:fillRect/>
          </a:stretch>
        </p:blipFill>
        <p:spPr>
          <a:xfrm>
            <a:off x="5459933" y="1325880"/>
            <a:ext cx="5530188" cy="4864608"/>
          </a:xfrm>
          <a:prstGeom prst="rect">
            <a:avLst/>
          </a:prstGeom>
        </p:spPr>
      </p:pic>
      <p:sp>
        <p:nvSpPr>
          <p:cNvPr id="7" name="TextBox 6"/>
          <p:cNvSpPr txBox="1"/>
          <p:nvPr/>
        </p:nvSpPr>
        <p:spPr>
          <a:xfrm>
            <a:off x="640080" y="6382512"/>
            <a:ext cx="10698480" cy="237744"/>
          </a:xfrm>
          <a:prstGeom prst="rect">
            <a:avLst/>
          </a:prstGeom>
          <a:noFill/>
        </p:spPr>
        <p:txBody>
          <a:bodyPr wrap="square" lIns="0" rIns="0" tIns="0" bIns="0" anchor="t">
            <a:spAutoFit/>
          </a:bodyPr>
          <a:lstStyle/>
          <a:p>
            <a:pPr>
              <a:lnSpc>
                <a:spcPts val="1500"/>
              </a:lnSpc>
              <a:spcBef>
                <a:spcPts val="0"/>
              </a:spcBef>
              <a:spcAft>
                <a:spcPts val="0"/>
              </a:spcAft>
            </a:pPr>
            <a:r>
              <a:rPr sz="1200" b="0" i="0" lang="ja-JP">
                <a:solidFill>
                  <a:srgbClr val="171717"/>
                </a:solidFill>
                <a:latin typeface="Noto Sans JP"/>
              </a:rPr>
              <a:t>Ghareeb et al., Nature (2026). DOI:10.1038/s41586-026-10652-y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もっともらしい説明を、検証できる仮説へ変える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cover15.png"/>
          <p:cNvPicPr>
            <a:picLocks noChangeAspect="1"/>
          </p:cNvPicPr>
          <p:nvPr/>
        </p:nvPicPr>
        <p:blipFill>
          <a:blip r:embed="rId3"/>
          <a:stretch>
            <a:fillRect/>
          </a:stretch>
        </p:blipFill>
        <p:spPr>
          <a:xfrm>
            <a:off x="7953247" y="1508760"/>
            <a:ext cx="2701545" cy="4251960"/>
          </a:xfrm>
          <a:prstGeom prst="rect">
            <a:avLst/>
          </a:prstGeom>
        </p:spPr>
      </p:pic>
      <p:sp>
        <p:nvSpPr>
          <p:cNvPr id="7" name="TextBox 6"/>
          <p:cNvSpPr txBox="1"/>
          <p:nvPr/>
        </p:nvSpPr>
        <p:spPr>
          <a:xfrm>
            <a:off x="594360" y="1444752"/>
            <a:ext cx="6172200" cy="4663440"/>
          </a:xfrm>
          <a:prstGeom prst="rect">
            <a:avLst/>
          </a:prstGeom>
          <a:noFill/>
        </p:spPr>
        <p:txBody>
          <a:bodyPr wrap="square" lIns="0" rIns="0" tIns="0" bIns="0" anchor="t">
            <a:noAutofit/>
          </a:bodyPr>
          <a:lstStyle/>
          <a:p>
            <a:pPr algn="l">
              <a:lnSpc>
                <a:spcPts val="3036"/>
              </a:lnSpc>
              <a:spcBef>
                <a:spcPts val="0"/>
              </a:spcBef>
              <a:spcAft>
                <a:spcPts val="1500"/>
              </a:spcAft>
            </a:pPr>
            <a:r>
              <a:rPr sz="2200" b="0" lang="ja-JP" altLang="en-US" i="0">
                <a:solidFill>
                  <a:srgbClr val="171717"/>
                </a:solidFill>
                <a:latin typeface="Noto Sans JP"/>
                <a:ea typeface="Noto Sans JP"/>
              </a:rPr>
              <a:t>例：「変異で安定になる」を、そのまま計算の入力にはできない。</a:t>
            </a:r>
          </a:p>
          <a:p>
            <a:pPr algn="l">
              <a:lnSpc>
                <a:spcPts val="3036"/>
              </a:lnSpc>
              <a:spcBef>
                <a:spcPts val="0"/>
              </a:spcBef>
              <a:spcAft>
                <a:spcPts val="1500"/>
              </a:spcAft>
            </a:pPr>
            <a:r>
              <a:rPr sz="2200" b="0" lang="ja-JP" altLang="en-US" i="0">
                <a:solidFill>
                  <a:srgbClr val="171717"/>
                </a:solidFill>
                <a:latin typeface="Noto Sans JP"/>
                <a:ea typeface="Noto Sans JP"/>
              </a:rPr>
              <a:t>何を安定性と呼ぶか、何と比べるか、温度や溶媒は何かを決める。</a:t>
            </a:r>
          </a:p>
          <a:p>
            <a:pPr algn="l">
              <a:lnSpc>
                <a:spcPts val="3036"/>
              </a:lnSpc>
              <a:spcBef>
                <a:spcPts val="0"/>
              </a:spcBef>
              <a:spcAft>
                <a:spcPts val="1500"/>
              </a:spcAft>
            </a:pPr>
            <a:r>
              <a:rPr sz="2200" b="0" lang="ja-JP" altLang="en-US" i="0">
                <a:solidFill>
                  <a:srgbClr val="171717"/>
                </a:solidFill>
                <a:latin typeface="Noto Sans JP"/>
                <a:ea typeface="Noto Sans JP"/>
              </a:rPr>
              <a:t>仮説から観測量・比較条件・判定方法へ落とす段階で、研究者の判断が必要になる。</a:t>
            </a:r>
          </a:p>
          <a:p>
            <a:pPr algn="l">
              <a:lnSpc>
                <a:spcPts val="3036"/>
              </a:lnSpc>
              <a:spcBef>
                <a:spcPts val="0"/>
              </a:spcBef>
              <a:spcAft>
                <a:spcPts val="1500"/>
              </a:spcAft>
            </a:pPr>
            <a:r>
              <a:rPr sz="2200" b="0" lang="ja-JP" altLang="en-US" i="0">
                <a:solidFill>
                  <a:srgbClr val="171717"/>
                </a:solidFill>
                <a:latin typeface="Noto Sans JP"/>
                <a:ea typeface="Noto Sans JP"/>
              </a:rPr>
              <a:t>計算が成功したことと、仮説が支持されたことを分ける。</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
        <p:nvSpPr>
          <p:cNvPr id="3" name="TextBox 2"/>
          <p:cNvSpPr txBox="1"/>
          <p:nvPr/>
        </p:nvSpPr>
        <p:spPr>
          <a:xfrm>
            <a:off x="594360" y="667512"/>
            <a:ext cx="10972800" cy="658368"/>
          </a:xfrm>
          <a:prstGeom prst="rect">
            <a:avLst/>
          </a:prstGeom>
          <a:noFill/>
        </p:spPr>
        <p:txBody>
          <a:bodyPr wrap="square" lIns="0" rIns="0" tIns="0" bIns="0" anchor="t">
            <a:spAutoFit/>
          </a:bodyPr>
          <a:lstStyle/>
          <a:p>
            <a:pPr>
              <a:lnSpc>
                <a:spcPts val="3625"/>
              </a:lnSpc>
              <a:spcBef>
                <a:spcPts val="0"/>
              </a:spcBef>
              <a:spcAft>
                <a:spcPts val="0"/>
              </a:spcAft>
            </a:pPr>
            <a:r>
              <a:rPr sz="2900" b="1" i="0" lang="ja-JP">
                <a:solidFill>
                  <a:srgbClr val="171717"/>
                </a:solidFill>
                <a:latin typeface="Noto Sans JP"/>
              </a:rPr>
              <a:t>実験で見えにくい過程を、計算で調べる</a:t>
            </a:r>
          </a:p>
        </p:txBody>
      </p:sp>
      <p:sp>
        <p:nvSpPr>
          <p:cNvPr id="4" name="TextBox 3"/>
          <p:cNvSpPr txBox="1"/>
          <p:nvPr/>
        </p:nvSpPr>
        <p:spPr>
          <a:xfrm>
            <a:off x="11247120" y="6519672"/>
            <a:ext cx="502920" cy="228600"/>
          </a:xfrm>
          <a:prstGeom prst="rect">
            <a:avLst/>
          </a:prstGeom>
          <a:noFill/>
        </p:spPr>
        <p:txBody>
          <a:bodyPr wrap="square" lIns="0" rIns="0" tIns="0" bIns="0" anchor="t">
            <a:spAutoFit/>
          </a:bodyPr>
          <a:lstStyle/>
          <a:p>
            <a:pPr>
              <a:lnSpc>
                <a:spcPts val="1375"/>
              </a:lnSpc>
              <a:spcBef>
                <a:spcPts val="0"/>
              </a:spcBef>
              <a:spcAft>
                <a:spcPts val="0"/>
              </a:spcAft>
            </a:pPr>
            <a:r>
              <a:rPr sz="1100" b="0" i="0" lang="ja-JP">
                <a:solidFill>
                  <a:srgbClr val="171717"/>
                </a:solidFill>
                <a:latin typeface="Noto Sans JP"/>
              </a:rPr>
              <a:t>7</a:t>
            </a:r>
          </a:p>
        </p:txBody>
      </p:sp>
      <p:sp>
        <p:nvSpPr>
          <p:cNvPr id="5" name="Rounded Rectangle 4"/>
          <p:cNvSpPr/>
          <p:nvPr/>
        </p:nvSpPr>
        <p:spPr>
          <a:xfrm>
            <a:off x="640080" y="1828800"/>
            <a:ext cx="2514600" cy="256032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730"/>
              </a:lnSpc>
              <a:spcBef>
                <a:spcPts val="0"/>
              </a:spcBef>
              <a:spcAft>
                <a:spcPts val="800"/>
              </a:spcAft>
            </a:pPr>
            <a:r>
              <a:rPr sz="2100" b="0" i="0" lang="ja-JP">
                <a:solidFill>
                  <a:srgbClr val="171717"/>
                </a:solidFill>
                <a:latin typeface="Noto Sans JP"/>
              </a:rPr>
              <a:t>AIの提案</a:t>
            </a:r>
          </a:p>
          <a:p>
            <a:pPr>
              <a:lnSpc>
                <a:spcPts val="2730"/>
              </a:lnSpc>
              <a:spcBef>
                <a:spcPts val="0"/>
              </a:spcBef>
              <a:spcAft>
                <a:spcPts val="800"/>
              </a:spcAft>
            </a:pPr>
            <a:r>
              <a:rPr sz="2100" b="0" i="0" lang="ja-JP">
                <a:solidFill>
                  <a:srgbClr val="171717"/>
                </a:solidFill>
                <a:latin typeface="Noto Sans JP"/>
              </a:rPr>
              <a:t>文献を調べる</a:t>
            </a:r>
          </a:p>
          <a:p>
            <a:pPr>
              <a:lnSpc>
                <a:spcPts val="2730"/>
              </a:lnSpc>
              <a:spcBef>
                <a:spcPts val="0"/>
              </a:spcBef>
              <a:spcAft>
                <a:spcPts val="800"/>
              </a:spcAft>
            </a:pPr>
            <a:r>
              <a:rPr sz="2100" b="0" i="0" lang="ja-JP">
                <a:solidFill>
                  <a:srgbClr val="171717"/>
                </a:solidFill>
                <a:latin typeface="Noto Sans JP"/>
              </a:rPr>
              <a:t>仮説と計画</a:t>
            </a:r>
          </a:p>
        </p:txBody>
      </p:sp>
      <p:sp>
        <p:nvSpPr>
          <p:cNvPr id="6" name="TextBox 5"/>
          <p:cNvSpPr txBox="1"/>
          <p:nvPr/>
        </p:nvSpPr>
        <p:spPr>
          <a:xfrm>
            <a:off x="3154680" y="2926079"/>
            <a:ext cx="274320" cy="457200"/>
          </a:xfrm>
          <a:prstGeom prst="rect">
            <a:avLst/>
          </a:prstGeom>
          <a:noFill/>
        </p:spPr>
        <p:txBody>
          <a:bodyPr wrap="square" lIns="0" rIns="0" tIns="0" bIns="0" anchor="t">
            <a:spAutoFit/>
          </a:bodyPr>
          <a:lstStyle/>
          <a:p>
            <a:pPr>
              <a:lnSpc>
                <a:spcPts val="3125"/>
              </a:lnSpc>
              <a:spcBef>
                <a:spcPts val="0"/>
              </a:spcBef>
              <a:spcAft>
                <a:spcPts val="0"/>
              </a:spcAft>
            </a:pPr>
            <a:r>
              <a:rPr sz="2500" b="1" i="0" lang="ja-JP">
                <a:solidFill>
                  <a:srgbClr val="171717"/>
                </a:solidFill>
                <a:latin typeface="Noto Sans JP"/>
              </a:rPr>
              <a:t>→</a:t>
            </a:r>
          </a:p>
        </p:txBody>
      </p:sp>
      <p:sp>
        <p:nvSpPr>
          <p:cNvPr id="7" name="Rounded Rectangle 6"/>
          <p:cNvSpPr/>
          <p:nvPr/>
        </p:nvSpPr>
        <p:spPr>
          <a:xfrm>
            <a:off x="3429000" y="1828800"/>
            <a:ext cx="2514600" cy="256032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730"/>
              </a:lnSpc>
              <a:spcBef>
                <a:spcPts val="0"/>
              </a:spcBef>
              <a:spcAft>
                <a:spcPts val="800"/>
              </a:spcAft>
            </a:pPr>
            <a:r>
              <a:rPr sz="2100" b="0" i="0" lang="ja-JP">
                <a:solidFill>
                  <a:srgbClr val="171717"/>
                </a:solidFill>
                <a:latin typeface="Noto Sans JP"/>
              </a:rPr>
              <a:t>研究者・実験</a:t>
            </a:r>
          </a:p>
          <a:p>
            <a:pPr>
              <a:lnSpc>
                <a:spcPts val="2730"/>
              </a:lnSpc>
              <a:spcBef>
                <a:spcPts val="0"/>
              </a:spcBef>
              <a:spcAft>
                <a:spcPts val="800"/>
              </a:spcAft>
            </a:pPr>
            <a:r>
              <a:rPr sz="2100" b="0" i="0" lang="ja-JP">
                <a:solidFill>
                  <a:srgbClr val="171717"/>
                </a:solidFill>
                <a:latin typeface="Noto Sans JP"/>
              </a:rPr>
              <a:t>評価・測定</a:t>
            </a:r>
          </a:p>
        </p:txBody>
      </p:sp>
      <p:sp>
        <p:nvSpPr>
          <p:cNvPr id="8" name="TextBox 7"/>
          <p:cNvSpPr txBox="1"/>
          <p:nvPr/>
        </p:nvSpPr>
        <p:spPr>
          <a:xfrm>
            <a:off x="5943600" y="2926079"/>
            <a:ext cx="274320" cy="457200"/>
          </a:xfrm>
          <a:prstGeom prst="rect">
            <a:avLst/>
          </a:prstGeom>
          <a:noFill/>
        </p:spPr>
        <p:txBody>
          <a:bodyPr wrap="square" lIns="0" rIns="0" tIns="0" bIns="0" anchor="t">
            <a:spAutoFit/>
          </a:bodyPr>
          <a:lstStyle/>
          <a:p>
            <a:pPr>
              <a:lnSpc>
                <a:spcPts val="3125"/>
              </a:lnSpc>
              <a:spcBef>
                <a:spcPts val="0"/>
              </a:spcBef>
              <a:spcAft>
                <a:spcPts val="0"/>
              </a:spcAft>
            </a:pPr>
            <a:r>
              <a:rPr sz="2500" b="1" i="0" lang="ja-JP">
                <a:solidFill>
                  <a:srgbClr val="171717"/>
                </a:solidFill>
                <a:latin typeface="Noto Sans JP"/>
              </a:rPr>
              <a:t>→</a:t>
            </a:r>
          </a:p>
        </p:txBody>
      </p:sp>
      <p:sp>
        <p:nvSpPr>
          <p:cNvPr id="9" name="Rounded Rectangle 8"/>
          <p:cNvSpPr/>
          <p:nvPr/>
        </p:nvSpPr>
        <p:spPr>
          <a:xfrm>
            <a:off x="6217920" y="1828800"/>
            <a:ext cx="2514600" cy="256032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730"/>
              </a:lnSpc>
              <a:spcBef>
                <a:spcPts val="0"/>
              </a:spcBef>
              <a:spcAft>
                <a:spcPts val="800"/>
              </a:spcAft>
            </a:pPr>
            <a:r>
              <a:rPr sz="2100" b="0" i="0" lang="ja-JP">
                <a:solidFill>
                  <a:srgbClr val="171717"/>
                </a:solidFill>
                <a:latin typeface="Noto Sans JP"/>
              </a:rPr>
              <a:t>観測の限界</a:t>
            </a:r>
          </a:p>
          <a:p>
            <a:pPr>
              <a:lnSpc>
                <a:spcPts val="2730"/>
              </a:lnSpc>
              <a:spcBef>
                <a:spcPts val="0"/>
              </a:spcBef>
              <a:spcAft>
                <a:spcPts val="800"/>
              </a:spcAft>
            </a:pPr>
            <a:r>
              <a:rPr sz="2100" b="0" i="0" lang="ja-JP">
                <a:solidFill>
                  <a:srgbClr val="171717"/>
                </a:solidFill>
                <a:latin typeface="Noto Sans JP"/>
              </a:rPr>
              <a:t>短寿命の状態や動き</a:t>
            </a:r>
          </a:p>
        </p:txBody>
      </p:sp>
      <p:sp>
        <p:nvSpPr>
          <p:cNvPr id="10" name="TextBox 9"/>
          <p:cNvSpPr txBox="1"/>
          <p:nvPr/>
        </p:nvSpPr>
        <p:spPr>
          <a:xfrm>
            <a:off x="8732520" y="2926079"/>
            <a:ext cx="274320" cy="457200"/>
          </a:xfrm>
          <a:prstGeom prst="rect">
            <a:avLst/>
          </a:prstGeom>
          <a:noFill/>
        </p:spPr>
        <p:txBody>
          <a:bodyPr wrap="square" lIns="0" rIns="0" tIns="0" bIns="0" anchor="t">
            <a:spAutoFit/>
          </a:bodyPr>
          <a:lstStyle/>
          <a:p>
            <a:pPr>
              <a:lnSpc>
                <a:spcPts val="3125"/>
              </a:lnSpc>
              <a:spcBef>
                <a:spcPts val="0"/>
              </a:spcBef>
              <a:spcAft>
                <a:spcPts val="0"/>
              </a:spcAft>
            </a:pPr>
            <a:r>
              <a:rPr sz="2500" b="1" i="0" lang="ja-JP">
                <a:solidFill>
                  <a:srgbClr val="171717"/>
                </a:solidFill>
                <a:latin typeface="Noto Sans JP"/>
              </a:rPr>
              <a:t>→</a:t>
            </a:r>
          </a:p>
        </p:txBody>
      </p:sp>
      <p:sp>
        <p:nvSpPr>
          <p:cNvPr id="11" name="Rounded Rectangle 10"/>
          <p:cNvSpPr/>
          <p:nvPr/>
        </p:nvSpPr>
        <p:spPr>
          <a:xfrm>
            <a:off x="9006839" y="1828800"/>
            <a:ext cx="2514600" cy="256032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730"/>
              </a:lnSpc>
              <a:spcBef>
                <a:spcPts val="0"/>
              </a:spcBef>
              <a:spcAft>
                <a:spcPts val="800"/>
              </a:spcAft>
            </a:pPr>
            <a:r>
              <a:rPr sz="2100" b="0" i="0" lang="ja-JP">
                <a:solidFill>
                  <a:srgbClr val="171717"/>
                </a:solidFill>
                <a:latin typeface="Noto Sans JP"/>
              </a:rPr>
              <a:t>MD計算</a:t>
            </a:r>
          </a:p>
          <a:p>
            <a:pPr>
              <a:lnSpc>
                <a:spcPts val="2730"/>
              </a:lnSpc>
              <a:spcBef>
                <a:spcPts val="0"/>
              </a:spcBef>
              <a:spcAft>
                <a:spcPts val="800"/>
              </a:spcAft>
            </a:pPr>
            <a:r>
              <a:rPr sz="2100" b="0" i="0" lang="ja-JP">
                <a:solidFill>
                  <a:srgbClr val="171717"/>
                </a:solidFill>
                <a:latin typeface="Noto Sans JP"/>
              </a:rPr>
              <a:t>構造集団と機構</a:t>
            </a:r>
          </a:p>
        </p:txBody>
      </p:sp>
      <p:sp>
        <p:nvSpPr>
          <p:cNvPr id="12" name="TextBox 11"/>
          <p:cNvSpPr txBox="1"/>
          <p:nvPr/>
        </p:nvSpPr>
        <p:spPr>
          <a:xfrm>
            <a:off x="731520" y="4892040"/>
            <a:ext cx="10698480" cy="1097280"/>
          </a:xfrm>
          <a:prstGeom prst="rect">
            <a:avLst/>
          </a:prstGeom>
          <a:noFill/>
        </p:spPr>
        <p:txBody>
          <a:bodyPr wrap="square" lIns="0" rIns="0" tIns="0" bIns="0" anchor="t">
            <a:spAutoFit/>
          </a:bodyPr>
          <a:lstStyle/>
          <a:p>
            <a:pPr>
              <a:lnSpc>
                <a:spcPts val="3359"/>
              </a:lnSpc>
              <a:spcBef>
                <a:spcPts val="0"/>
              </a:spcBef>
              <a:spcAft>
                <a:spcPts val="1000"/>
              </a:spcAft>
            </a:pPr>
            <a:r>
              <a:rPr sz="2400" b="0" i="0" lang="ja-JP">
                <a:solidFill>
                  <a:srgbClr val="171717"/>
                </a:solidFill>
                <a:latin typeface="Noto Sans JP"/>
              </a:rPr>
              <a:t>実験で試しにくい条件を計算で調べ、仮説と観測量を結ぶ。</a:t>
            </a:r>
          </a:p>
          <a:p>
            <a:pPr>
              <a:lnSpc>
                <a:spcPts val="3359"/>
              </a:lnSpc>
              <a:spcBef>
                <a:spcPts val="0"/>
              </a:spcBef>
              <a:spcAft>
                <a:spcPts val="1000"/>
              </a:spcAft>
            </a:pPr>
            <a:r>
              <a:rPr sz="2400" b="0" i="0" lang="ja-JP">
                <a:solidFill>
                  <a:srgbClr val="171717"/>
                </a:solidFill>
                <a:latin typeface="Noto Sans JP"/>
              </a:rPr>
              <a:t>計算もモデルに基づくため、力場・条件・サンプリングの妥当性を確かめる。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
        <p:nvSpPr>
          <p:cNvPr id="3" name="TextBox 2"/>
          <p:cNvSpPr txBox="1"/>
          <p:nvPr/>
        </p:nvSpPr>
        <p:spPr>
          <a:xfrm>
            <a:off x="594360" y="667512"/>
            <a:ext cx="10972800" cy="658368"/>
          </a:xfrm>
          <a:prstGeom prst="rect">
            <a:avLst/>
          </a:prstGeom>
          <a:noFill/>
        </p:spPr>
        <p:txBody>
          <a:bodyPr wrap="square" lIns="0" rIns="0" tIns="0" bIns="0" anchor="t">
            <a:spAutoFit/>
          </a:bodyPr>
          <a:lstStyle/>
          <a:p>
            <a:pPr>
              <a:lnSpc>
                <a:spcPts val="3625"/>
              </a:lnSpc>
              <a:spcBef>
                <a:spcPts val="0"/>
              </a:spcBef>
              <a:spcAft>
                <a:spcPts val="0"/>
              </a:spcAft>
            </a:pPr>
            <a:r>
              <a:rPr sz="2900" b="1" i="0" lang="ja-JP">
                <a:solidFill>
                  <a:srgbClr val="171717"/>
                </a:solidFill>
                <a:latin typeface="Noto Sans JP"/>
              </a:rPr>
              <a:t>分子動力学は、原子の運動から構造集団を調べる</a:t>
            </a:r>
          </a:p>
        </p:txBody>
      </p:sp>
      <p:sp>
        <p:nvSpPr>
          <p:cNvPr id="4" name="TextBox 3"/>
          <p:cNvSpPr txBox="1"/>
          <p:nvPr/>
        </p:nvSpPr>
        <p:spPr>
          <a:xfrm>
            <a:off x="11247120" y="6519672"/>
            <a:ext cx="502920" cy="228600"/>
          </a:xfrm>
          <a:prstGeom prst="rect">
            <a:avLst/>
          </a:prstGeom>
          <a:noFill/>
        </p:spPr>
        <p:txBody>
          <a:bodyPr wrap="square" lIns="0" rIns="0" tIns="0" bIns="0" anchor="t">
            <a:spAutoFit/>
          </a:bodyPr>
          <a:lstStyle/>
          <a:p>
            <a:pPr>
              <a:lnSpc>
                <a:spcPts val="1375"/>
              </a:lnSpc>
              <a:spcBef>
                <a:spcPts val="0"/>
              </a:spcBef>
              <a:spcAft>
                <a:spcPts val="0"/>
              </a:spcAft>
            </a:pPr>
            <a:r>
              <a:rPr sz="1100" b="0" i="0" lang="ja-JP">
                <a:solidFill>
                  <a:srgbClr val="171717"/>
                </a:solidFill>
                <a:latin typeface="Noto Sans JP"/>
              </a:rPr>
              <a:t>8</a:t>
            </a:r>
          </a:p>
        </p:txBody>
      </p:sp>
      <p:pic>
        <p:nvPicPr>
          <p:cNvPr id="5" name="Picture 4" descr="md-protein.png"/>
          <p:cNvPicPr>
            <a:picLocks noChangeAspect="1"/>
          </p:cNvPicPr>
          <p:nvPr/>
        </p:nvPicPr>
        <p:blipFill>
          <a:blip r:embed="rId6"/>
          <a:stretch>
            <a:fillRect/>
          </a:stretch>
        </p:blipFill>
        <p:spPr>
          <a:xfrm>
            <a:off x="1124975" y="1371600"/>
            <a:ext cx="3785088" cy="4800600"/>
          </a:xfrm>
          <a:prstGeom prst="rect">
            <a:avLst/>
          </a:prstGeom>
        </p:spPr>
      </p:pic>
      <p:sp>
        <p:nvSpPr>
          <p:cNvPr id="6" name="TextBox 5"/>
          <p:cNvSpPr txBox="1"/>
          <p:nvPr/>
        </p:nvSpPr>
        <p:spPr>
          <a:xfrm>
            <a:off x="5669280" y="1508760"/>
            <a:ext cx="5852160" cy="2606040"/>
          </a:xfrm>
          <a:prstGeom prst="rect">
            <a:avLst/>
          </a:prstGeom>
          <a:noFill/>
        </p:spPr>
        <p:txBody>
          <a:bodyPr wrap="square" lIns="0" rIns="0" tIns="0" bIns="0" anchor="t">
            <a:spAutoFit/>
          </a:bodyPr>
          <a:lstStyle/>
          <a:p>
            <a:pPr>
              <a:lnSpc>
                <a:spcPts val="3105"/>
              </a:lnSpc>
              <a:spcBef>
                <a:spcPts val="0"/>
              </a:spcBef>
              <a:spcAft>
                <a:spcPts val="1800"/>
              </a:spcAft>
            </a:pPr>
            <a:r>
              <a:rPr sz="2300" b="0" i="0" lang="ja-JP">
                <a:solidFill>
                  <a:srgbClr val="171717"/>
                </a:solidFill>
                <a:latin typeface="Noto Sans JP"/>
              </a:rPr>
              <a:t>原子に働く力を計算し、運動方程式を数値的に解く。</a:t>
            </a:r>
          </a:p>
          <a:p>
            <a:pPr>
              <a:lnSpc>
                <a:spcPts val="3105"/>
              </a:lnSpc>
              <a:spcBef>
                <a:spcPts val="0"/>
              </a:spcBef>
              <a:spcAft>
                <a:spcPts val="1800"/>
              </a:spcAft>
            </a:pPr>
            <a:r>
              <a:rPr sz="2300" b="0" i="0" lang="ja-JP">
                <a:solidFill>
                  <a:srgbClr val="171717"/>
                </a:solidFill>
                <a:latin typeface="Noto Sans JP"/>
              </a:rPr>
              <a:t>座標の時間変化から、構造の分布や動きを調べる。</a:t>
            </a:r>
          </a:p>
          <a:p>
            <a:pPr>
              <a:lnSpc>
                <a:spcPts val="3105"/>
              </a:lnSpc>
              <a:spcBef>
                <a:spcPts val="0"/>
              </a:spcBef>
              <a:spcAft>
                <a:spcPts val="1800"/>
              </a:spcAft>
            </a:pPr>
            <a:r>
              <a:rPr sz="2300" b="0" i="0" lang="ja-JP">
                <a:solidFill>
                  <a:srgbClr val="171717"/>
                </a:solidFill>
                <a:latin typeface="Noto Sans JP"/>
              </a:rPr>
              <a:t>実験で直接見えにくい過程も、モデルと測定を対応させて考察する。</a:t>
            </a:r>
          </a:p>
        </p:txBody>
      </p:sp>
      <p:pic>
        <p:nvPicPr>
          <p:cNvPr id="7" name="Picture 6" descr="md-credit.png"/>
          <p:cNvPicPr>
            <a:picLocks noChangeAspect="1"/>
          </p:cNvPicPr>
          <p:nvPr/>
        </p:nvPicPr>
        <p:blipFill>
          <a:blip r:embed="rId7"/>
          <a:stretch>
            <a:fillRect/>
          </a:stretch>
        </p:blipFill>
        <p:spPr>
          <a:xfrm>
            <a:off x="7412483" y="4343400"/>
            <a:ext cx="2457193" cy="1554480"/>
          </a:xfrm>
          <a:prstGeom prst="rect">
            <a:avLst/>
          </a:prstGeom>
        </p:spPr>
      </p:pic>
      <p:sp>
        <p:nvSpPr>
          <p:cNvPr id="8" name="TextBox 7"/>
          <p:cNvSpPr txBox="1"/>
          <p:nvPr/>
        </p:nvSpPr>
        <p:spPr>
          <a:xfrm>
            <a:off x="5760720" y="5961888"/>
            <a:ext cx="5623560" cy="320040"/>
          </a:xfrm>
          <a:prstGeom prst="rect">
            <a:avLst/>
          </a:prstGeom>
          <a:noFill/>
        </p:spPr>
        <p:txBody>
          <a:bodyPr wrap="square" lIns="0" rIns="0" tIns="0" bIns="0" anchor="t">
            <a:spAutoFit/>
          </a:bodyPr>
          <a:lstStyle/>
          <a:p>
            <a:pPr>
              <a:lnSpc>
                <a:spcPts val="1625"/>
              </a:lnSpc>
              <a:spcBef>
                <a:spcPts val="0"/>
              </a:spcBef>
              <a:spcAft>
                <a:spcPts val="0"/>
              </a:spcAft>
            </a:pPr>
            <a:r>
              <a:rPr sz="1300" b="0" i="0" lang="ja-JP">
                <a:solidFill>
                  <a:srgbClr val="171717"/>
                </a:solidFill>
                <a:latin typeface="Noto Sans JP"/>
              </a:rPr>
              <a:t>2013年ノーベル化学賞の紹介図（nobelprize.org）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
        <p:nvSpPr>
          <p:cNvPr id="3" name="TextBox 2"/>
          <p:cNvSpPr txBox="1"/>
          <p:nvPr/>
        </p:nvSpPr>
        <p:spPr>
          <a:xfrm>
            <a:off x="594360" y="667512"/>
            <a:ext cx="10972800" cy="658368"/>
          </a:xfrm>
          <a:prstGeom prst="rect">
            <a:avLst/>
          </a:prstGeom>
          <a:noFill/>
        </p:spPr>
        <p:txBody>
          <a:bodyPr wrap="square" lIns="0" rIns="0" tIns="0" bIns="0" anchor="t">
            <a:spAutoFit/>
          </a:bodyPr>
          <a:lstStyle/>
          <a:p>
            <a:pPr>
              <a:lnSpc>
                <a:spcPts val="3625"/>
              </a:lnSpc>
              <a:spcBef>
                <a:spcPts val="0"/>
              </a:spcBef>
              <a:spcAft>
                <a:spcPts val="0"/>
              </a:spcAft>
            </a:pPr>
            <a:r>
              <a:rPr sz="2900" b="1" i="0" lang="ja-JP">
                <a:solidFill>
                  <a:srgbClr val="171717"/>
                </a:solidFill>
                <a:latin typeface="Noto Sans JP"/>
              </a:rPr>
              <a:t>MDの準備では、分子ごとに判断する点が異なる</a:t>
            </a:r>
          </a:p>
        </p:txBody>
      </p:sp>
      <p:sp>
        <p:nvSpPr>
          <p:cNvPr id="4" name="TextBox 3"/>
          <p:cNvSpPr txBox="1"/>
          <p:nvPr/>
        </p:nvSpPr>
        <p:spPr>
          <a:xfrm>
            <a:off x="11247120" y="6519672"/>
            <a:ext cx="502920" cy="228600"/>
          </a:xfrm>
          <a:prstGeom prst="rect">
            <a:avLst/>
          </a:prstGeom>
          <a:noFill/>
        </p:spPr>
        <p:txBody>
          <a:bodyPr wrap="square" lIns="0" rIns="0" tIns="0" bIns="0" anchor="t">
            <a:spAutoFit/>
          </a:bodyPr>
          <a:lstStyle/>
          <a:p>
            <a:pPr>
              <a:lnSpc>
                <a:spcPts val="1375"/>
              </a:lnSpc>
              <a:spcBef>
                <a:spcPts val="0"/>
              </a:spcBef>
              <a:spcAft>
                <a:spcPts val="0"/>
              </a:spcAft>
            </a:pPr>
            <a:r>
              <a:rPr sz="1100" b="0" i="0" lang="ja-JP">
                <a:solidFill>
                  <a:srgbClr val="171717"/>
                </a:solidFill>
                <a:latin typeface="Noto Sans JP"/>
              </a:rPr>
              <a:t>9</a:t>
            </a:r>
          </a:p>
        </p:txBody>
      </p:sp>
      <p:sp>
        <p:nvSpPr>
          <p:cNvPr id="5" name="TextBox 4"/>
          <p:cNvSpPr txBox="1"/>
          <p:nvPr/>
        </p:nvSpPr>
        <p:spPr>
          <a:xfrm>
            <a:off x="685800" y="1508760"/>
            <a:ext cx="10789920" cy="2450592"/>
          </a:xfrm>
          <a:prstGeom prst="rect">
            <a:avLst/>
          </a:prstGeom>
          <a:noFill/>
        </p:spPr>
        <p:txBody>
          <a:bodyPr wrap="square" lIns="0" rIns="0" tIns="0" bIns="0" anchor="t">
            <a:spAutoFit/>
          </a:bodyPr>
          <a:lstStyle/>
          <a:p>
            <a:pPr>
              <a:lnSpc>
                <a:spcPts val="3105"/>
              </a:lnSpc>
              <a:spcBef>
                <a:spcPts val="0"/>
              </a:spcBef>
              <a:spcAft>
                <a:spcPts val="1500"/>
              </a:spcAft>
            </a:pPr>
            <a:r>
              <a:rPr sz="2300" b="0" i="0" lang="ja-JP">
                <a:solidFill>
                  <a:srgbClr val="171717"/>
                </a:solidFill>
                <a:latin typeface="Noto Sans JP"/>
              </a:rPr>
              <a:t>変異・修飾・補因子・リガンド・膜・プロトン化状態によって、準備の分岐が変わる。</a:t>
            </a:r>
          </a:p>
          <a:p>
            <a:pPr>
              <a:lnSpc>
                <a:spcPts val="3105"/>
              </a:lnSpc>
              <a:spcBef>
                <a:spcPts val="0"/>
              </a:spcBef>
              <a:spcAft>
                <a:spcPts val="1500"/>
              </a:spcAft>
            </a:pPr>
            <a:r>
              <a:rPr sz="2300" b="0" i="0" lang="ja-JP">
                <a:solidFill>
                  <a:srgbClr val="171717"/>
                </a:solidFill>
                <a:latin typeface="Noto Sans JP"/>
              </a:rPr>
              <a:t>力場、欠損原子、電荷、水和などを、対象と目的に合わせて選ぶ。</a:t>
            </a:r>
          </a:p>
          <a:p>
            <a:pPr>
              <a:lnSpc>
                <a:spcPts val="3105"/>
              </a:lnSpc>
              <a:spcBef>
                <a:spcPts val="0"/>
              </a:spcBef>
              <a:spcAft>
                <a:spcPts val="1500"/>
              </a:spcAft>
            </a:pPr>
            <a:r>
              <a:rPr sz="2300" b="0" i="0" lang="ja-JP">
                <a:solidFill>
                  <a:srgbClr val="171717"/>
                </a:solidFill>
                <a:latin typeface="Noto Sans JP"/>
              </a:rPr>
              <a:t>固定した条件分岐だけでは扱いにくい例外もある。入力を検査し、結果を確かめ、必要なら計画を修正する。</a:t>
            </a:r>
          </a:p>
        </p:txBody>
      </p:sp>
      <p:pic>
        <p:nvPicPr>
          <p:cNvPr id="6" name="Picture 5" descr="prep-original.png"/>
          <p:cNvPicPr>
            <a:picLocks noChangeAspect="1"/>
          </p:cNvPicPr>
          <p:nvPr/>
        </p:nvPicPr>
        <p:blipFill>
          <a:blip r:embed="rId4"/>
          <a:stretch>
            <a:fillRect/>
          </a:stretch>
        </p:blipFill>
        <p:spPr>
          <a:xfrm>
            <a:off x="2420470" y="4160520"/>
            <a:ext cx="7229138" cy="1920240"/>
          </a:xfrm>
          <a:prstGeom prst="rect">
            <a:avLst/>
          </a:prstGeom>
        </p:spPr>
      </p:pic>
      <p:sp>
        <p:nvSpPr>
          <p:cNvPr id="7" name="TextBox 6"/>
          <p:cNvSpPr txBox="1"/>
          <p:nvPr/>
        </p:nvSpPr>
        <p:spPr>
          <a:xfrm>
            <a:off x="685800" y="6336792"/>
            <a:ext cx="10789920" cy="219456"/>
          </a:xfrm>
          <a:prstGeom prst="rect">
            <a:avLst/>
          </a:prstGeom>
          <a:noFill/>
        </p:spPr>
        <p:txBody>
          <a:bodyPr wrap="square" lIns="0" rIns="0" tIns="0" bIns="0" anchor="t">
            <a:spAutoFit/>
          </a:bodyPr>
          <a:lstStyle/>
          <a:p>
            <a:pPr>
              <a:lnSpc>
                <a:spcPts val="1625"/>
              </a:lnSpc>
              <a:spcBef>
                <a:spcPts val="0"/>
              </a:spcBef>
              <a:spcAft>
                <a:spcPts val="0"/>
              </a:spcAft>
            </a:pPr>
            <a:r>
              <a:rPr sz="1300" b="0" i="0" lang="ja-JP">
                <a:solidFill>
                  <a:srgbClr val="171717"/>
                </a:solidFill>
                <a:latin typeface="Noto Sans JP"/>
              </a:rPr>
              <a:t>図：GENESIS tutorial。化学状態・モデル・入力の選択を、結果と一緒に記録する。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計算データを増やすには、条件も同時に揃える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444752"/>
            <a:ext cx="6172200" cy="4663440"/>
          </a:xfrm>
          <a:prstGeom prst="rect">
            <a:avLst/>
          </a:prstGeom>
          <a:noFill/>
        </p:spPr>
        <p:txBody>
          <a:bodyPr wrap="square" lIns="0" rIns="0" tIns="0" bIns="0" anchor="t">
            <a:noAutofit/>
          </a:bodyPr>
          <a:lstStyle/>
          <a:p>
            <a:pPr algn="l">
              <a:lnSpc>
                <a:spcPts val="3036"/>
              </a:lnSpc>
              <a:spcBef>
                <a:spcPts val="0"/>
              </a:spcBef>
              <a:spcAft>
                <a:spcPts val="1500"/>
              </a:spcAft>
            </a:pPr>
            <a:r>
              <a:rPr sz="2200" b="0" lang="ja-JP" altLang="en-US" i="0">
                <a:solidFill>
                  <a:srgbClr val="171717"/>
                </a:solidFill>
                <a:latin typeface="Noto Sans JP"/>
                <a:ea typeface="Noto Sans JP"/>
              </a:rPr>
              <a:t>異なる構造を同じ規則で準備し、同じ観測量を取り出す。</a:t>
            </a:r>
          </a:p>
          <a:p>
            <a:pPr algn="l">
              <a:lnSpc>
                <a:spcPts val="3036"/>
              </a:lnSpc>
              <a:spcBef>
                <a:spcPts val="0"/>
              </a:spcBef>
              <a:spcAft>
                <a:spcPts val="1500"/>
              </a:spcAft>
            </a:pPr>
            <a:r>
              <a:rPr sz="2200" b="0" lang="ja-JP" altLang="en-US" i="0">
                <a:solidFill>
                  <a:srgbClr val="171717"/>
                </a:solidFill>
                <a:latin typeface="Noto Sans JP"/>
                <a:ea typeface="Noto Sans JP"/>
              </a:rPr>
              <a:t>構造ID、配列、プロトン化状態、力場、水モデル、温度、乱数、計算長を保存する。</a:t>
            </a:r>
          </a:p>
          <a:p>
            <a:pPr algn="l">
              <a:lnSpc>
                <a:spcPts val="3036"/>
              </a:lnSpc>
              <a:spcBef>
                <a:spcPts val="0"/>
              </a:spcBef>
              <a:spcAft>
                <a:spcPts val="1500"/>
              </a:spcAft>
            </a:pPr>
            <a:r>
              <a:rPr sz="2200" b="0" lang="ja-JP" altLang="en-US" i="0">
                <a:solidFill>
                  <a:srgbClr val="171717"/>
                </a:solidFill>
                <a:latin typeface="Noto Sans JP"/>
                <a:ea typeface="Noto Sans JP"/>
              </a:rPr>
              <a:t>成功したものだけを残すと、難しい系が消えた偏ったデータ集合になる。失敗理由も残す。</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10</a:t>
            </a:r>
          </a:p>
        </p:txBody>
      </p:sp>
      <p:sp>
        <p:nvSpPr>
          <p:cNvPr id="9" name="Rounded Rectangle 8"/>
          <p:cNvSpPr/>
          <p:nvPr/>
        </p:nvSpPr>
        <p:spPr>
          <a:xfrm>
            <a:off x="7315200" y="1508760"/>
            <a:ext cx="3886200" cy="804672"/>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600"/>
              </a:lnSpc>
              <a:spcBef>
                <a:spcPts val="0"/>
              </a:spcBef>
              <a:spcAft>
                <a:spcPts val="800"/>
              </a:spcAft>
            </a:pPr>
            <a:r>
              <a:rPr sz="2000" b="0" i="0" lang="ja-JP">
                <a:solidFill>
                  <a:srgbClr val="171717"/>
                </a:solidFill>
                <a:latin typeface="Noto Sans JP"/>
              </a:rPr>
              <a:t>入力と設定を読む</a:t>
            </a:r>
          </a:p>
        </p:txBody>
      </p:sp>
      <p:sp>
        <p:nvSpPr>
          <p:cNvPr id="10" name="TextBox 9"/>
          <p:cNvSpPr txBox="1"/>
          <p:nvPr/>
        </p:nvSpPr>
        <p:spPr>
          <a:xfrm>
            <a:off x="8915400" y="2350008"/>
            <a:ext cx="548640" cy="320040"/>
          </a:xfrm>
          <a:prstGeom prst="rect">
            <a:avLst/>
          </a:prstGeom>
          <a:noFill/>
        </p:spPr>
        <p:txBody>
          <a:bodyPr wrap="square" lIns="0" rIns="0" tIns="0" bIns="0" anchor="t">
            <a:spAutoFit/>
          </a:bodyPr>
          <a:lstStyle/>
          <a:p>
            <a:pPr>
              <a:lnSpc>
                <a:spcPts val="2750"/>
              </a:lnSpc>
              <a:spcBef>
                <a:spcPts val="0"/>
              </a:spcBef>
              <a:spcAft>
                <a:spcPts val="0"/>
              </a:spcAft>
            </a:pPr>
            <a:r>
              <a:rPr sz="2200" b="1" i="0" lang="ja-JP">
                <a:solidFill>
                  <a:srgbClr val="171717"/>
                </a:solidFill>
                <a:latin typeface="Noto Sans JP"/>
              </a:rPr>
              <a:t>↓</a:t>
            </a:r>
          </a:p>
        </p:txBody>
      </p:sp>
      <p:sp>
        <p:nvSpPr>
          <p:cNvPr id="11" name="Rounded Rectangle 10"/>
          <p:cNvSpPr/>
          <p:nvPr/>
        </p:nvSpPr>
        <p:spPr>
          <a:xfrm>
            <a:off x="7315200" y="2651760"/>
            <a:ext cx="3886200" cy="804672"/>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600"/>
              </a:lnSpc>
              <a:spcBef>
                <a:spcPts val="0"/>
              </a:spcBef>
              <a:spcAft>
                <a:spcPts val="800"/>
              </a:spcAft>
            </a:pPr>
            <a:r>
              <a:rPr sz="2000" b="0" i="0" lang="ja-JP">
                <a:solidFill>
                  <a:srgbClr val="171717"/>
                </a:solidFill>
                <a:latin typeface="Noto Sans JP"/>
              </a:rPr>
              <a:t>成果物を検査する</a:t>
            </a:r>
          </a:p>
        </p:txBody>
      </p:sp>
      <p:sp>
        <p:nvSpPr>
          <p:cNvPr id="12" name="TextBox 11"/>
          <p:cNvSpPr txBox="1"/>
          <p:nvPr/>
        </p:nvSpPr>
        <p:spPr>
          <a:xfrm>
            <a:off x="8915400" y="3493008"/>
            <a:ext cx="548640" cy="320040"/>
          </a:xfrm>
          <a:prstGeom prst="rect">
            <a:avLst/>
          </a:prstGeom>
          <a:noFill/>
        </p:spPr>
        <p:txBody>
          <a:bodyPr wrap="square" lIns="0" rIns="0" tIns="0" bIns="0" anchor="t">
            <a:spAutoFit/>
          </a:bodyPr>
          <a:lstStyle/>
          <a:p>
            <a:pPr>
              <a:lnSpc>
                <a:spcPts val="2750"/>
              </a:lnSpc>
              <a:spcBef>
                <a:spcPts val="0"/>
              </a:spcBef>
              <a:spcAft>
                <a:spcPts val="0"/>
              </a:spcAft>
            </a:pPr>
            <a:r>
              <a:rPr sz="2200" b="1" i="0" lang="ja-JP">
                <a:solidFill>
                  <a:srgbClr val="171717"/>
                </a:solidFill>
                <a:latin typeface="Noto Sans JP"/>
              </a:rPr>
              <a:t>↓</a:t>
            </a:r>
          </a:p>
        </p:txBody>
      </p:sp>
      <p:sp>
        <p:nvSpPr>
          <p:cNvPr id="13" name="Rounded Rectangle 12"/>
          <p:cNvSpPr/>
          <p:nvPr/>
        </p:nvSpPr>
        <p:spPr>
          <a:xfrm>
            <a:off x="7315200" y="3794760"/>
            <a:ext cx="3886200" cy="804672"/>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600"/>
              </a:lnSpc>
              <a:spcBef>
                <a:spcPts val="0"/>
              </a:spcBef>
              <a:spcAft>
                <a:spcPts val="800"/>
              </a:spcAft>
            </a:pPr>
            <a:r>
              <a:rPr sz="2000" b="0" i="0" lang="ja-JP">
                <a:solidFill>
                  <a:srgbClr val="171717"/>
                </a:solidFill>
                <a:latin typeface="Noto Sans JP"/>
              </a:rPr>
              <a:t>失敗の理由を調べる</a:t>
            </a:r>
          </a:p>
        </p:txBody>
      </p:sp>
      <p:sp>
        <p:nvSpPr>
          <p:cNvPr id="14" name="TextBox 13"/>
          <p:cNvSpPr txBox="1"/>
          <p:nvPr/>
        </p:nvSpPr>
        <p:spPr>
          <a:xfrm>
            <a:off x="8915400" y="4636008"/>
            <a:ext cx="548640" cy="320040"/>
          </a:xfrm>
          <a:prstGeom prst="rect">
            <a:avLst/>
          </a:prstGeom>
          <a:noFill/>
        </p:spPr>
        <p:txBody>
          <a:bodyPr wrap="square" lIns="0" rIns="0" tIns="0" bIns="0" anchor="t">
            <a:spAutoFit/>
          </a:bodyPr>
          <a:lstStyle/>
          <a:p>
            <a:pPr>
              <a:lnSpc>
                <a:spcPts val="2750"/>
              </a:lnSpc>
              <a:spcBef>
                <a:spcPts val="0"/>
              </a:spcBef>
              <a:spcAft>
                <a:spcPts val="0"/>
              </a:spcAft>
            </a:pPr>
            <a:r>
              <a:rPr sz="2200" b="1" i="0" lang="ja-JP">
                <a:solidFill>
                  <a:srgbClr val="171717"/>
                </a:solidFill>
                <a:latin typeface="Noto Sans JP"/>
              </a:rPr>
              <a:t>↓</a:t>
            </a:r>
          </a:p>
        </p:txBody>
      </p:sp>
      <p:sp>
        <p:nvSpPr>
          <p:cNvPr id="15" name="Rounded Rectangle 14"/>
          <p:cNvSpPr/>
          <p:nvPr/>
        </p:nvSpPr>
        <p:spPr>
          <a:xfrm>
            <a:off x="7315200" y="4937760"/>
            <a:ext cx="3886200" cy="804672"/>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600"/>
              </a:lnSpc>
              <a:spcBef>
                <a:spcPts val="0"/>
              </a:spcBef>
              <a:spcAft>
                <a:spcPts val="800"/>
              </a:spcAft>
            </a:pPr>
            <a:r>
              <a:rPr sz="2000" b="0" i="0" lang="ja-JP">
                <a:solidFill>
                  <a:srgbClr val="171717"/>
                </a:solidFill>
                <a:latin typeface="Noto Sans JP"/>
              </a:rPr>
              <a:t>再試行か条件変更かを決める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
        <p:nvSpPr>
          <p:cNvPr id="3" name="TextBox 2"/>
          <p:cNvSpPr txBox="1"/>
          <p:nvPr/>
        </p:nvSpPr>
        <p:spPr>
          <a:xfrm>
            <a:off x="594360" y="667512"/>
            <a:ext cx="10972800" cy="658368"/>
          </a:xfrm>
          <a:prstGeom prst="rect">
            <a:avLst/>
          </a:prstGeom>
          <a:noFill/>
        </p:spPr>
        <p:txBody>
          <a:bodyPr wrap="square" lIns="0" rIns="0" tIns="0" bIns="0" anchor="t">
            <a:spAutoFit/>
          </a:bodyPr>
          <a:lstStyle/>
          <a:p>
            <a:pPr>
              <a:lnSpc>
                <a:spcPts val="3625"/>
              </a:lnSpc>
              <a:spcBef>
                <a:spcPts val="0"/>
              </a:spcBef>
              <a:spcAft>
                <a:spcPts val="0"/>
              </a:spcAft>
            </a:pPr>
            <a:r>
              <a:rPr sz="2900" b="1" i="0" lang="ja-JP">
                <a:solidFill>
                  <a:srgbClr val="171717"/>
                </a:solidFill>
                <a:latin typeface="Noto Sans JP"/>
              </a:rPr>
              <a:t>ナノボディを同じ条件で計算し、学習データを作る</a:t>
            </a:r>
          </a:p>
        </p:txBody>
      </p:sp>
      <p:sp>
        <p:nvSpPr>
          <p:cNvPr id="4" name="TextBox 3"/>
          <p:cNvSpPr txBox="1"/>
          <p:nvPr/>
        </p:nvSpPr>
        <p:spPr>
          <a:xfrm>
            <a:off x="11247120" y="6519672"/>
            <a:ext cx="502920" cy="228600"/>
          </a:xfrm>
          <a:prstGeom prst="rect">
            <a:avLst/>
          </a:prstGeom>
          <a:noFill/>
        </p:spPr>
        <p:txBody>
          <a:bodyPr wrap="square" lIns="0" rIns="0" tIns="0" bIns="0" anchor="t">
            <a:spAutoFit/>
          </a:bodyPr>
          <a:lstStyle/>
          <a:p>
            <a:pPr>
              <a:lnSpc>
                <a:spcPts val="1375"/>
              </a:lnSpc>
              <a:spcBef>
                <a:spcPts val="0"/>
              </a:spcBef>
              <a:spcAft>
                <a:spcPts val="0"/>
              </a:spcAft>
            </a:pPr>
            <a:r>
              <a:rPr sz="1100" b="0" i="0" lang="ja-JP">
                <a:solidFill>
                  <a:srgbClr val="171717"/>
                </a:solidFill>
                <a:latin typeface="Noto Sans JP"/>
              </a:rPr>
              <a:t>11</a:t>
            </a:r>
          </a:p>
        </p:txBody>
      </p:sp>
      <p:pic>
        <p:nvPicPr>
          <p:cNvPr id="5" name="Picture 4" descr="nanobody-table-head.png"/>
          <p:cNvPicPr>
            <a:picLocks noChangeAspect="1"/>
          </p:cNvPicPr>
          <p:nvPr/>
        </p:nvPicPr>
        <p:blipFill>
          <a:blip r:embed="rId5"/>
          <a:stretch>
            <a:fillRect/>
          </a:stretch>
        </p:blipFill>
        <p:spPr>
          <a:xfrm>
            <a:off x="640080" y="2252496"/>
            <a:ext cx="7863840" cy="1255727"/>
          </a:xfrm>
          <a:prstGeom prst="rect">
            <a:avLst/>
          </a:prstGeom>
        </p:spPr>
      </p:pic>
      <p:pic>
        <p:nvPicPr>
          <p:cNvPr id="6" name="Picture 5" descr="nanobody-large.png"/>
          <p:cNvPicPr>
            <a:picLocks noChangeAspect="1"/>
          </p:cNvPicPr>
          <p:nvPr/>
        </p:nvPicPr>
        <p:blipFill>
          <a:blip r:embed="rId6"/>
          <a:stretch>
            <a:fillRect/>
          </a:stretch>
        </p:blipFill>
        <p:spPr>
          <a:xfrm>
            <a:off x="9197053" y="1554480"/>
            <a:ext cx="1905572" cy="4206240"/>
          </a:xfrm>
          <a:prstGeom prst="rect">
            <a:avLst/>
          </a:prstGeom>
        </p:spPr>
      </p:pic>
      <p:sp>
        <p:nvSpPr>
          <p:cNvPr id="7" name="TextBox 6"/>
          <p:cNvSpPr txBox="1"/>
          <p:nvPr/>
        </p:nvSpPr>
        <p:spPr>
          <a:xfrm>
            <a:off x="685800" y="1371600"/>
            <a:ext cx="7772400" cy="402336"/>
          </a:xfrm>
          <a:prstGeom prst="rect">
            <a:avLst/>
          </a:prstGeom>
          <a:noFill/>
        </p:spPr>
        <p:txBody>
          <a:bodyPr wrap="square" lIns="0" rIns="0" tIns="0" bIns="0" anchor="t">
            <a:spAutoFit/>
          </a:bodyPr>
          <a:lstStyle/>
          <a:p>
            <a:pPr>
              <a:lnSpc>
                <a:spcPts val="2625"/>
              </a:lnSpc>
              <a:spcBef>
                <a:spcPts val="0"/>
              </a:spcBef>
              <a:spcAft>
                <a:spcPts val="0"/>
              </a:spcAft>
            </a:pPr>
            <a:r>
              <a:rPr sz="2100" b="1" i="0" lang="ja-JP">
                <a:solidFill>
                  <a:srgbClr val="171717"/>
                </a:solidFill>
                <a:latin typeface="Noto Sans JP"/>
              </a:rPr>
              <a:t>対象一覧の例（SAbDab：抗体構造のデータベース）</a:t>
            </a:r>
          </a:p>
        </p:txBody>
      </p:sp>
      <p:sp>
        <p:nvSpPr>
          <p:cNvPr id="8" name="TextBox 7"/>
          <p:cNvSpPr txBox="1"/>
          <p:nvPr/>
        </p:nvSpPr>
        <p:spPr>
          <a:xfrm>
            <a:off x="731520" y="4251960"/>
            <a:ext cx="7543800" cy="1810512"/>
          </a:xfrm>
          <a:prstGeom prst="rect">
            <a:avLst/>
          </a:prstGeom>
          <a:noFill/>
        </p:spPr>
        <p:txBody>
          <a:bodyPr wrap="square" lIns="0" rIns="0" tIns="0" bIns="0" anchor="t">
            <a:spAutoFit/>
          </a:bodyPr>
          <a:lstStyle/>
          <a:p>
            <a:pPr>
              <a:lnSpc>
                <a:spcPts val="2970"/>
              </a:lnSpc>
              <a:spcBef>
                <a:spcPts val="0"/>
              </a:spcBef>
              <a:spcAft>
                <a:spcPts val="1300"/>
              </a:spcAft>
            </a:pPr>
            <a:r>
              <a:rPr sz="2200" b="0" i="0" lang="ja-JP">
                <a:solidFill>
                  <a:srgbClr val="171717"/>
                </a:solidFill>
                <a:latin typeface="Noto Sans JP"/>
              </a:rPr>
              <a:t>依頼例：一覧の各ナノボディを100 nsずつ計算する。</a:t>
            </a:r>
          </a:p>
          <a:p>
            <a:pPr>
              <a:lnSpc>
                <a:spcPts val="2970"/>
              </a:lnSpc>
              <a:spcBef>
                <a:spcPts val="0"/>
              </a:spcBef>
              <a:spcAft>
                <a:spcPts val="1300"/>
              </a:spcAft>
            </a:pPr>
            <a:r>
              <a:rPr sz="2200" b="0" i="0" lang="ja-JP">
                <a:solidFill>
                  <a:srgbClr val="171717"/>
                </a:solidFill>
                <a:latin typeface="Noto Sans JP"/>
              </a:rPr>
              <a:t>構造ID、鎖、残す成分、計算条件と完了基準を明示する。</a:t>
            </a:r>
          </a:p>
          <a:p>
            <a:pPr>
              <a:lnSpc>
                <a:spcPts val="2970"/>
              </a:lnSpc>
              <a:spcBef>
                <a:spcPts val="0"/>
              </a:spcBef>
              <a:spcAft>
                <a:spcPts val="1300"/>
              </a:spcAft>
            </a:pPr>
            <a:r>
              <a:rPr sz="2200" b="0" i="0" lang="ja-JP">
                <a:solidFill>
                  <a:srgbClr val="171717"/>
                </a:solidFill>
                <a:latin typeface="Noto Sans JP"/>
              </a:rPr>
              <a:t>対象一覧の一部だけを拡大表示。図：既存発表資料。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i="0">
                <a:solidFill>
                  <a:srgbClr val="1A1A1A"/>
                </a:solidFill>
                <a:latin typeface="Noto Sans JP"/>
                <a:ea typeface="Noto Sans JP"/>
              </a:rPr>
              <a:t>転移学習では、計算データも使って共通の表現を学ぶ</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transfer.png"/>
          <p:cNvPicPr>
            <a:picLocks noChangeAspect="1"/>
          </p:cNvPicPr>
          <p:nvPr/>
        </p:nvPicPr>
        <p:blipFill>
          <a:blip r:embed="rId3"/>
          <a:stretch>
            <a:fillRect/>
          </a:stretch>
        </p:blipFill>
        <p:spPr>
          <a:xfrm>
            <a:off x="7562457" y="1508760"/>
            <a:ext cx="3483124" cy="4251960"/>
          </a:xfrm>
          <a:prstGeom prst="rect">
            <a:avLst/>
          </a:prstGeom>
        </p:spPr>
      </p:pic>
      <p:sp>
        <p:nvSpPr>
          <p:cNvPr id="7" name="TextBox 6"/>
          <p:cNvSpPr txBox="1"/>
          <p:nvPr/>
        </p:nvSpPr>
        <p:spPr>
          <a:xfrm>
            <a:off x="594360" y="1444752"/>
            <a:ext cx="6172200" cy="4663440"/>
          </a:xfrm>
          <a:prstGeom prst="rect">
            <a:avLst/>
          </a:prstGeom>
          <a:noFill/>
        </p:spPr>
        <p:txBody>
          <a:bodyPr wrap="square" lIns="0" rIns="0" tIns="0" bIns="0" anchor="t">
            <a:noAutofit/>
          </a:bodyPr>
          <a:lstStyle/>
          <a:p>
            <a:pPr algn="l">
              <a:lnSpc>
                <a:spcPts val="3036"/>
              </a:lnSpc>
              <a:spcBef>
                <a:spcPts val="0"/>
              </a:spcBef>
              <a:spcAft>
                <a:spcPts val="1500"/>
              </a:spcAft>
            </a:pPr>
            <a:r>
              <a:rPr sz="2200" b="0" lang="ja-JP" altLang="en-US" i="0">
                <a:solidFill>
                  <a:srgbClr val="171717"/>
                </a:solidFill>
                <a:latin typeface="Noto Sans JP"/>
                <a:ea typeface="Noto Sans JP"/>
              </a:rPr>
              <a:t>タンパク質言語モデルが配列の表現を作る。</a:t>
            </a:r>
          </a:p>
          <a:p>
            <a:pPr algn="l">
              <a:lnSpc>
                <a:spcPts val="3036"/>
              </a:lnSpc>
              <a:spcBef>
                <a:spcPts val="0"/>
              </a:spcBef>
              <a:spcAft>
                <a:spcPts val="1500"/>
              </a:spcAft>
            </a:pPr>
            <a:r>
              <a:rPr sz="2200" b="0" lang="ja-JP" altLang="en-US" i="0">
                <a:solidFill>
                  <a:srgbClr val="171717"/>
                </a:solidFill>
                <a:latin typeface="Noto Sans JP"/>
                <a:ea typeface="Noto Sans JP"/>
              </a:rPr>
              <a:t>少数の実験Tmと、計算による安定性の補助ラベルを別の出力で学習する。</a:t>
            </a:r>
          </a:p>
          <a:p>
            <a:pPr algn="l">
              <a:lnSpc>
                <a:spcPts val="3036"/>
              </a:lnSpc>
              <a:spcBef>
                <a:spcPts val="0"/>
              </a:spcBef>
              <a:spcAft>
                <a:spcPts val="1500"/>
              </a:spcAft>
            </a:pPr>
            <a:r>
              <a:rPr sz="2200" b="0" lang="ja-JP" altLang="en-US" i="0">
                <a:solidFill>
                  <a:srgbClr val="171717"/>
                </a:solidFill>
                <a:latin typeface="Noto Sans JP"/>
                <a:ea typeface="Noto Sans JP"/>
              </a:rPr>
              <a:t>計算値を実験値と同一視するのではなく、共通の表現を介して実験予測を助ける。</a:t>
            </a:r>
          </a:p>
          <a:p>
            <a:pPr algn="l">
              <a:lnSpc>
                <a:spcPts val="3036"/>
              </a:lnSpc>
              <a:spcBef>
                <a:spcPts val="0"/>
              </a:spcBef>
              <a:spcAft>
                <a:spcPts val="1500"/>
              </a:spcAft>
            </a:pPr>
            <a:r>
              <a:rPr sz="2200" b="0" lang="ja-JP" altLang="en-US" i="0">
                <a:solidFill>
                  <a:srgbClr val="171717"/>
                </a:solidFill>
                <a:latin typeface="Noto Sans JP"/>
                <a:ea typeface="Noto Sans JP"/>
              </a:rPr>
              <a:t>最終評価には学習に使っていない実験配列を使う。</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
        <p:nvSpPr>
          <p:cNvPr id="3" name="TextBox 2"/>
          <p:cNvSpPr txBox="1"/>
          <p:nvPr/>
        </p:nvSpPr>
        <p:spPr>
          <a:xfrm>
            <a:off x="594360" y="667512"/>
            <a:ext cx="10972800" cy="658368"/>
          </a:xfrm>
          <a:prstGeom prst="rect">
            <a:avLst/>
          </a:prstGeom>
          <a:noFill/>
        </p:spPr>
        <p:txBody>
          <a:bodyPr wrap="square" lIns="0" rIns="0" tIns="0" bIns="0" anchor="t">
            <a:spAutoFit/>
          </a:bodyPr>
          <a:lstStyle/>
          <a:p>
            <a:pPr>
              <a:lnSpc>
                <a:spcPts val="3625"/>
              </a:lnSpc>
              <a:spcBef>
                <a:spcPts val="0"/>
              </a:spcBef>
              <a:spcAft>
                <a:spcPts val="0"/>
              </a:spcAft>
            </a:pPr>
            <a:r>
              <a:rPr sz="2900" b="1" i="0" lang="ja-JP">
                <a:solidFill>
                  <a:srgbClr val="171717"/>
                </a:solidFill>
                <a:latin typeface="Noto Sans JP"/>
              </a:rPr>
              <a:t>ナノボディの融解温度を、計算ラベルも使って予測する</a:t>
            </a:r>
          </a:p>
        </p:txBody>
      </p:sp>
      <p:sp>
        <p:nvSpPr>
          <p:cNvPr id="4" name="TextBox 3"/>
          <p:cNvSpPr txBox="1"/>
          <p:nvPr/>
        </p:nvSpPr>
        <p:spPr>
          <a:xfrm>
            <a:off x="11247120" y="6519672"/>
            <a:ext cx="502920" cy="228600"/>
          </a:xfrm>
          <a:prstGeom prst="rect">
            <a:avLst/>
          </a:prstGeom>
          <a:noFill/>
        </p:spPr>
        <p:txBody>
          <a:bodyPr wrap="square" lIns="0" rIns="0" tIns="0" bIns="0" anchor="t">
            <a:spAutoFit/>
          </a:bodyPr>
          <a:lstStyle/>
          <a:p>
            <a:pPr>
              <a:lnSpc>
                <a:spcPts val="1375"/>
              </a:lnSpc>
              <a:spcBef>
                <a:spcPts val="0"/>
              </a:spcBef>
              <a:spcAft>
                <a:spcPts val="0"/>
              </a:spcAft>
            </a:pPr>
            <a:r>
              <a:rPr sz="1100" b="0" i="0" lang="ja-JP">
                <a:solidFill>
                  <a:srgbClr val="171717"/>
                </a:solidFill>
                <a:latin typeface="Noto Sans JP"/>
              </a:rPr>
              <a:t>13</a:t>
            </a:r>
          </a:p>
        </p:txBody>
      </p:sp>
      <p:sp>
        <p:nvSpPr>
          <p:cNvPr id="5" name="TextBox 4"/>
          <p:cNvSpPr txBox="1"/>
          <p:nvPr/>
        </p:nvSpPr>
        <p:spPr>
          <a:xfrm>
            <a:off x="685800" y="1417320"/>
            <a:ext cx="4023360" cy="4526280"/>
          </a:xfrm>
          <a:prstGeom prst="rect">
            <a:avLst/>
          </a:prstGeom>
          <a:noFill/>
        </p:spPr>
        <p:txBody>
          <a:bodyPr wrap="square" lIns="0" rIns="0" tIns="0" bIns="0" anchor="t">
            <a:spAutoFit/>
          </a:bodyPr>
          <a:lstStyle/>
          <a:p>
            <a:pPr>
              <a:lnSpc>
                <a:spcPts val="2772"/>
              </a:lnSpc>
              <a:spcBef>
                <a:spcPts val="0"/>
              </a:spcBef>
              <a:spcAft>
                <a:spcPts val="1600"/>
              </a:spcAft>
            </a:pPr>
            <a:r>
              <a:rPr sz="2100" b="0" i="0" lang="ja-JP">
                <a:solidFill>
                  <a:srgbClr val="171717"/>
                </a:solidFill>
                <a:latin typeface="Noto Sans JP"/>
              </a:rPr>
              <a:t>Tm：熱変性の中点に対応する融解温度。</a:t>
            </a:r>
          </a:p>
          <a:p>
            <a:pPr>
              <a:lnSpc>
                <a:spcPts val="2772"/>
              </a:lnSpc>
              <a:spcBef>
                <a:spcPts val="0"/>
              </a:spcBef>
              <a:spcAft>
                <a:spcPts val="1600"/>
              </a:spcAft>
            </a:pPr>
            <a:r>
              <a:rPr sz="2100" b="0" i="0" lang="ja-JP">
                <a:solidFill>
                  <a:srgbClr val="171717"/>
                </a:solidFill>
                <a:latin typeface="Noto Sans JP"/>
              </a:rPr>
              <a:t>ESM2：配列を数値表現に変えるタンパク質言語モデル。</a:t>
            </a:r>
          </a:p>
          <a:p>
            <a:pPr>
              <a:lnSpc>
                <a:spcPts val="2772"/>
              </a:lnSpc>
              <a:spcBef>
                <a:spcPts val="0"/>
              </a:spcBef>
              <a:spcAft>
                <a:spcPts val="1600"/>
              </a:spcAft>
            </a:pPr>
            <a:r>
              <a:rPr sz="2100" b="0" i="0" lang="ja-JP">
                <a:solidFill>
                  <a:srgbClr val="171717"/>
                </a:solidFill>
                <a:latin typeface="Noto Sans JP"/>
              </a:rPr>
              <a:t>FEP：自由エネルギー摂動法。変異に伴う自由エネルギー差を計算する。</a:t>
            </a:r>
          </a:p>
          <a:p>
            <a:pPr>
              <a:lnSpc>
                <a:spcPts val="2772"/>
              </a:lnSpc>
              <a:spcBef>
                <a:spcPts val="0"/>
              </a:spcBef>
              <a:spcAft>
                <a:spcPts val="1600"/>
              </a:spcAft>
            </a:pPr>
            <a:r>
              <a:rPr sz="2100" b="0" i="0" lang="ja-JP">
                <a:solidFill>
                  <a:srgbClr val="171717"/>
                </a:solidFill>
                <a:latin typeface="Noto Sans JP"/>
              </a:rPr>
              <a:t>実験Tmは学習57配列、モデル選択114配列、最終評価396配列。</a:t>
            </a:r>
          </a:p>
        </p:txBody>
      </p:sp>
      <p:pic>
        <p:nvPicPr>
          <p:cNvPr id="6" name="Picture 5" descr="murakami-model.png"/>
          <p:cNvPicPr>
            <a:picLocks noChangeAspect="1"/>
          </p:cNvPicPr>
          <p:nvPr/>
        </p:nvPicPr>
        <p:blipFill>
          <a:blip r:embed="rId4"/>
          <a:stretch>
            <a:fillRect/>
          </a:stretch>
        </p:blipFill>
        <p:spPr>
          <a:xfrm>
            <a:off x="4937760" y="1991350"/>
            <a:ext cx="6720840" cy="3533667"/>
          </a:xfrm>
          <a:prstGeom prst="rect">
            <a:avLst/>
          </a:prstGeom>
        </p:spPr>
      </p:pic>
      <p:sp>
        <p:nvSpPr>
          <p:cNvPr id="7" name="TextBox 6"/>
          <p:cNvSpPr txBox="1"/>
          <p:nvPr/>
        </p:nvSpPr>
        <p:spPr>
          <a:xfrm>
            <a:off x="685800" y="6291072"/>
            <a:ext cx="10881360" cy="256032"/>
          </a:xfrm>
          <a:prstGeom prst="rect">
            <a:avLst/>
          </a:prstGeom>
          <a:noFill/>
        </p:spPr>
        <p:txBody>
          <a:bodyPr wrap="square" lIns="0" rIns="0" tIns="0" bIns="0" anchor="t">
            <a:spAutoFit/>
          </a:bodyPr>
          <a:lstStyle/>
          <a:p>
            <a:pPr>
              <a:lnSpc>
                <a:spcPts val="1500"/>
              </a:lnSpc>
              <a:spcBef>
                <a:spcPts val="0"/>
              </a:spcBef>
              <a:spcAft>
                <a:spcPts val="0"/>
              </a:spcAft>
            </a:pPr>
            <a:r>
              <a:rPr sz="1200" b="0" i="0" lang="ja-JP">
                <a:solidFill>
                  <a:srgbClr val="171717"/>
                </a:solidFill>
                <a:latin typeface="Noto Sans JP"/>
              </a:rPr>
              <a:t>村上さんの研究：Murakami et al., bioRxiv (2026). DOI:10.64898/2026.07.30.741744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i="0">
                <a:solidFill>
                  <a:srgbClr val="1A1A1A"/>
                </a:solidFill>
                <a:latin typeface="Noto Sans JP"/>
                <a:ea typeface="Noto Sans JP"/>
              </a:rPr>
              <a:t>同じラベル数でも、どの配列を計算するかが効く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scaling.png"/>
          <p:cNvPicPr>
            <a:picLocks noChangeAspect="1"/>
          </p:cNvPicPr>
          <p:nvPr/>
        </p:nvPicPr>
        <p:blipFill>
          <a:blip r:embed="rId3"/>
          <a:stretch>
            <a:fillRect/>
          </a:stretch>
        </p:blipFill>
        <p:spPr>
          <a:xfrm>
            <a:off x="6995160" y="1508760"/>
            <a:ext cx="4617720" cy="3643221"/>
          </a:xfrm>
          <a:prstGeom prst="rect">
            <a:avLst/>
          </a:prstGeom>
        </p:spPr>
      </p:pic>
      <p:sp>
        <p:nvSpPr>
          <p:cNvPr id="7" name="TextBox 6"/>
          <p:cNvSpPr txBox="1"/>
          <p:nvPr/>
        </p:nvSpPr>
        <p:spPr>
          <a:xfrm>
            <a:off x="594360" y="1444752"/>
            <a:ext cx="6172200" cy="4663440"/>
          </a:xfrm>
          <a:prstGeom prst="rect">
            <a:avLst/>
          </a:prstGeom>
          <a:noFill/>
        </p:spPr>
        <p:txBody>
          <a:bodyPr wrap="square" lIns="0" rIns="0" tIns="0" bIns="0" anchor="t">
            <a:noAutofit/>
          </a:bodyPr>
          <a:lstStyle/>
          <a:p>
            <a:pPr algn="l">
              <a:lnSpc>
                <a:spcPts val="3036"/>
              </a:lnSpc>
              <a:spcBef>
                <a:spcPts val="0"/>
              </a:spcBef>
              <a:spcAft>
                <a:spcPts val="1500"/>
              </a:spcAft>
            </a:pPr>
            <a:r>
              <a:rPr sz="2200" b="0" lang="ja-JP" altLang="en-US" i="0">
                <a:solidFill>
                  <a:srgbClr val="171717"/>
                </a:solidFill>
                <a:latin typeface="Noto Sans JP"/>
                <a:ea typeface="Noto Sans JP"/>
              </a:rPr>
              <a:t>同じMD由来のラベルでも、少数構造の変異走査と、多様なナノボディ集合を比較する。</a:t>
            </a:r>
          </a:p>
          <a:p>
            <a:pPr algn="l">
              <a:lnSpc>
                <a:spcPts val="3036"/>
              </a:lnSpc>
              <a:spcBef>
                <a:spcPts val="0"/>
              </a:spcBef>
              <a:spcAft>
                <a:spcPts val="1500"/>
              </a:spcAft>
            </a:pPr>
            <a:r>
              <a:rPr sz="2200" b="0" lang="ja-JP" altLang="en-US" i="0">
                <a:solidFill>
                  <a:srgbClr val="171717"/>
                </a:solidFill>
                <a:latin typeface="Noto Sans JP"/>
                <a:ea typeface="Noto Sans JP"/>
              </a:rPr>
              <a:t>多様な集合では、ラベル数20→320で微調整モデルの平均絶対誤差（MAE）が7.16→6.76℃へ下がった。</a:t>
            </a:r>
          </a:p>
          <a:p>
            <a:pPr algn="l">
              <a:lnSpc>
                <a:spcPts val="3036"/>
              </a:lnSpc>
              <a:spcBef>
                <a:spcPts val="0"/>
              </a:spcBef>
              <a:spcAft>
                <a:spcPts val="1500"/>
              </a:spcAft>
            </a:pPr>
            <a:r>
              <a:rPr sz="2200" b="0" lang="ja-JP" altLang="en-US" i="0">
                <a:solidFill>
                  <a:srgbClr val="171717"/>
                </a:solidFill>
                <a:latin typeface="Noto Sans JP"/>
                <a:ea typeface="Noto Sans JP"/>
              </a:rPr>
              <a:t>変異走査では単調な改善にならなかった。量だけでなく、覆う配列の広さが重要。</a:t>
            </a:r>
          </a:p>
          <a:p>
            <a:pPr algn="l">
              <a:lnSpc>
                <a:spcPts val="3036"/>
              </a:lnSpc>
              <a:spcBef>
                <a:spcPts val="0"/>
              </a:spcBef>
              <a:spcAft>
                <a:spcPts val="1500"/>
              </a:spcAft>
            </a:pPr>
            <a:r>
              <a:rPr sz="2200" b="0" lang="ja-JP" altLang="en-US" i="0">
                <a:solidFill>
                  <a:srgbClr val="171717"/>
                </a:solidFill>
                <a:latin typeface="Noto Sans JP"/>
                <a:ea typeface="Noto Sans JP"/>
              </a:rPr>
              <a:t>原稿Fig. 2の条件。右の再描画は本文の数値に基づく。</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原著Fig. 2：データ設計によって増量の効果が違う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1280160"/>
            <a:ext cx="10972800" cy="1463040"/>
          </a:xfrm>
          <a:prstGeom prst="rect">
            <a:avLst/>
          </a:prstGeom>
          <a:noFill/>
        </p:spPr>
        <p:txBody>
          <a:bodyPr wrap="square" lIns="0" rIns="0" tIns="0" bIns="0" anchor="t">
            <a:noAutofit/>
          </a:bodyPr>
          <a:lstStyle/>
          <a:p>
            <a:pPr algn="l">
              <a:lnSpc>
                <a:spcPts val="2295"/>
              </a:lnSpc>
            </a:pPr>
            <a:r>
              <a:rPr sz="1700" b="0" lang="ja-JP" altLang="en-US">
                <a:solidFill>
                  <a:srgbClr val="333333"/>
                </a:solidFill>
                <a:latin typeface="Noto Sans JP"/>
                <a:ea typeface="Noto Sans JP"/>
              </a:rPr>
              <a:t>左・中央：ラベル数と、凍結／微調整したモデルの誤差。</a:t>
            </a:r>
          </a:p>
          <a:p>
            <a:pPr algn="l">
              <a:lnSpc>
                <a:spcPts val="2295"/>
              </a:lnSpc>
            </a:pPr>
            <a:r>
              <a:rPr sz="1700" b="0" lang="ja-JP" altLang="en-US">
                <a:solidFill>
                  <a:srgbClr val="333333"/>
                </a:solidFill>
                <a:latin typeface="Noto Sans JP"/>
                <a:ea typeface="Noto Sans JP"/>
              </a:rPr>
              <a:t>右：同じラベル数320で、それぞれのTmのみの基準からの変化。</a:t>
            </a:r>
          </a:p>
          <a:p>
            <a:pPr algn="l">
              <a:lnSpc>
                <a:spcPts val="2295"/>
              </a:lnSpc>
            </a:pPr>
            <a:r>
              <a:rPr sz="1700" b="0" lang="ja-JP" altLang="en-US">
                <a:solidFill>
                  <a:srgbClr val="333333"/>
                </a:solidFill>
                <a:latin typeface="Noto Sans JP"/>
                <a:ea typeface="Noto Sans JP"/>
              </a:rPr>
              <a:t>誤差が低いほどよい。異なる学習条件の基準値を混ぜない。</a:t>
            </a:r>
          </a:p>
          <a:p>
            <a:pPr algn="l">
              <a:lnSpc>
                <a:spcPts val="2295"/>
              </a:lnSpc>
            </a:pPr>
            <a:r>
              <a:rPr sz="1700" b="0" lang="ja-JP" altLang="en-US">
                <a:solidFill>
                  <a:srgbClr val="333333"/>
                </a:solidFill>
                <a:latin typeface="Noto Sans JP"/>
                <a:ea typeface="Noto Sans JP"/>
              </a:rPr>
              <a:t>この範囲の結果から、無限に増やせば改善すると外挿しない。</a:t>
            </a:r>
          </a:p>
        </p:txBody>
      </p:sp>
      <p:pic>
        <p:nvPicPr>
          <p:cNvPr id="7" name="Picture 6" descr="sim2real2.png"/>
          <p:cNvPicPr>
            <a:picLocks noChangeAspect="1"/>
          </p:cNvPicPr>
          <p:nvPr/>
        </p:nvPicPr>
        <p:blipFill>
          <a:blip r:embed="rId3"/>
          <a:stretch>
            <a:fillRect/>
          </a:stretch>
        </p:blipFill>
        <p:spPr>
          <a:xfrm>
            <a:off x="1190026" y="2834640"/>
            <a:ext cx="9781467" cy="3291840"/>
          </a:xfrm>
          <a:prstGeom prst="rect">
            <a:avLst/>
          </a:prstGeom>
        </p:spPr>
      </p:pic>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原著Fig. 3：何を計算するかも予測に影響する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1280160"/>
            <a:ext cx="10972800" cy="1463040"/>
          </a:xfrm>
          <a:prstGeom prst="rect">
            <a:avLst/>
          </a:prstGeom>
          <a:noFill/>
        </p:spPr>
        <p:txBody>
          <a:bodyPr wrap="square" lIns="0" rIns="0" tIns="0" bIns="0" anchor="t">
            <a:noAutofit/>
          </a:bodyPr>
          <a:lstStyle/>
          <a:p>
            <a:pPr algn="l">
              <a:lnSpc>
                <a:spcPts val="2295"/>
              </a:lnSpc>
            </a:pPr>
            <a:r>
              <a:rPr sz="1700" b="0" lang="ja-JP" altLang="en-US">
                <a:solidFill>
                  <a:srgbClr val="333333"/>
                </a:solidFill>
                <a:latin typeface="Noto Sans JP"/>
                <a:ea typeface="Noto Sans JP"/>
              </a:rPr>
              <a:t>同じ変異配列に対し、FEP・MD接触率・Rosetta・FoldXの補助ラベルを比較。</a:t>
            </a:r>
          </a:p>
          <a:p>
            <a:pPr algn="l">
              <a:lnSpc>
                <a:spcPts val="2295"/>
              </a:lnSpc>
            </a:pPr>
            <a:r>
              <a:rPr sz="1700" b="0" lang="ja-JP" altLang="en-US">
                <a:solidFill>
                  <a:srgbClr val="333333"/>
                </a:solidFill>
                <a:latin typeface="Noto Sans JP"/>
                <a:ea typeface="Noto Sans JP"/>
              </a:rPr>
              <a:t>この比較ではFEP補助の微調整モデルのMAEが6.35℃。Tmのみは6.72℃。</a:t>
            </a:r>
          </a:p>
          <a:p>
            <a:pPr algn="l">
              <a:lnSpc>
                <a:spcPts val="2295"/>
              </a:lnSpc>
            </a:pPr>
            <a:r>
              <a:rPr sz="1700" b="0" lang="ja-JP" altLang="en-US">
                <a:solidFill>
                  <a:srgbClr val="333333"/>
                </a:solidFill>
                <a:latin typeface="Noto Sans JP"/>
                <a:ea typeface="Noto Sans JP"/>
              </a:rPr>
              <a:t>「この予測に有用だった」ことと、「実験ΔΔGを最も正確に再現した」ことは別。</a:t>
            </a:r>
          </a:p>
        </p:txBody>
      </p:sp>
      <p:pic>
        <p:nvPicPr>
          <p:cNvPr id="7" name="Picture 6" descr="sim2real3.png"/>
          <p:cNvPicPr>
            <a:picLocks noChangeAspect="1"/>
          </p:cNvPicPr>
          <p:nvPr/>
        </p:nvPicPr>
        <p:blipFill>
          <a:blip r:embed="rId3"/>
          <a:stretch>
            <a:fillRect/>
          </a:stretch>
        </p:blipFill>
        <p:spPr>
          <a:xfrm>
            <a:off x="1691639" y="2834640"/>
            <a:ext cx="8778240" cy="3291840"/>
          </a:xfrm>
          <a:prstGeom prst="rect">
            <a:avLst/>
          </a:prstGeom>
        </p:spPr>
      </p:pic>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スケーリングの議論では、量・質・評価を分ける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scaling.png"/>
          <p:cNvPicPr>
            <a:picLocks noChangeAspect="1"/>
          </p:cNvPicPr>
          <p:nvPr/>
        </p:nvPicPr>
        <p:blipFill>
          <a:blip r:embed="rId3"/>
          <a:stretch>
            <a:fillRect/>
          </a:stretch>
        </p:blipFill>
        <p:spPr>
          <a:xfrm>
            <a:off x="6995160" y="1508760"/>
            <a:ext cx="4617720" cy="3643221"/>
          </a:xfrm>
          <a:prstGeom prst="rect">
            <a:avLst/>
          </a:prstGeom>
        </p:spPr>
      </p:pic>
      <p:sp>
        <p:nvSpPr>
          <p:cNvPr id="7" name="TextBox 6"/>
          <p:cNvSpPr txBox="1"/>
          <p:nvPr/>
        </p:nvSpPr>
        <p:spPr>
          <a:xfrm>
            <a:off x="594360" y="1444752"/>
            <a:ext cx="6172200" cy="4663440"/>
          </a:xfrm>
          <a:prstGeom prst="rect">
            <a:avLst/>
          </a:prstGeom>
          <a:noFill/>
        </p:spPr>
        <p:txBody>
          <a:bodyPr wrap="square" lIns="0" rIns="0" tIns="0" bIns="0" anchor="t">
            <a:noAutofit/>
          </a:bodyPr>
          <a:lstStyle/>
          <a:p>
            <a:pPr algn="l">
              <a:lnSpc>
                <a:spcPts val="3036"/>
              </a:lnSpc>
              <a:spcBef>
                <a:spcPts val="0"/>
              </a:spcBef>
              <a:spcAft>
                <a:spcPts val="1500"/>
              </a:spcAft>
            </a:pPr>
            <a:r>
              <a:rPr sz="2200" b="0" lang="ja-JP" altLang="en-US" i="0">
                <a:solidFill>
                  <a:srgbClr val="171717"/>
                </a:solidFill>
                <a:latin typeface="Noto Sans JP"/>
                <a:ea typeface="Noto Sans JP"/>
              </a:rPr>
              <a:t>データ数Nを増やすと誤差が減る経験的な関係は、対象・範囲・学習条件に依存する。</a:t>
            </a:r>
          </a:p>
          <a:p>
            <a:pPr algn="l">
              <a:lnSpc>
                <a:spcPts val="3036"/>
              </a:lnSpc>
              <a:spcBef>
                <a:spcPts val="0"/>
              </a:spcBef>
              <a:spcAft>
                <a:spcPts val="1500"/>
              </a:spcAft>
            </a:pPr>
            <a:r>
              <a:rPr sz="2200" b="0" lang="ja-JP" altLang="en-US" i="0">
                <a:solidFill>
                  <a:srgbClr val="171717"/>
                </a:solidFill>
                <a:latin typeface="Noto Sans JP"/>
                <a:ea typeface="Noto Sans JP"/>
              </a:rPr>
              <a:t>重複や偏りの強いデータを増やしても、未知の配列への誤差は減らないことがある。</a:t>
            </a:r>
          </a:p>
          <a:p>
            <a:pPr algn="l">
              <a:lnSpc>
                <a:spcPts val="3036"/>
              </a:lnSpc>
              <a:spcBef>
                <a:spcPts val="0"/>
              </a:spcBef>
              <a:spcAft>
                <a:spcPts val="1500"/>
              </a:spcAft>
            </a:pPr>
            <a:r>
              <a:rPr sz="2200" b="0" lang="ja-JP" altLang="en-US" i="0">
                <a:solidFill>
                  <a:srgbClr val="171717"/>
                </a:solidFill>
                <a:latin typeface="Noto Sans JP"/>
                <a:ea typeface="Noto Sans JP"/>
              </a:rPr>
              <a:t>類縁配列や条件が訓練とテストをまたぐ影響も点検する。</a:t>
            </a:r>
          </a:p>
          <a:p>
            <a:pPr algn="l">
              <a:lnSpc>
                <a:spcPts val="3036"/>
              </a:lnSpc>
              <a:spcBef>
                <a:spcPts val="0"/>
              </a:spcBef>
              <a:spcAft>
                <a:spcPts val="1500"/>
              </a:spcAft>
            </a:pPr>
            <a:r>
              <a:rPr sz="2200" b="0" lang="ja-JP" altLang="en-US" i="0">
                <a:solidFill>
                  <a:srgbClr val="171717"/>
                </a:solidFill>
                <a:latin typeface="Noto Sans JP"/>
                <a:ea typeface="Noto Sans JP"/>
              </a:rPr>
              <a:t>自動化は、比較可能なデータを狙って増やすために使う。</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
        <p:nvSpPr>
          <p:cNvPr id="3" name="TextBox 2"/>
          <p:cNvSpPr txBox="1"/>
          <p:nvPr/>
        </p:nvSpPr>
        <p:spPr>
          <a:xfrm>
            <a:off x="594360" y="667512"/>
            <a:ext cx="10972800" cy="658368"/>
          </a:xfrm>
          <a:prstGeom prst="rect">
            <a:avLst/>
          </a:prstGeom>
          <a:noFill/>
        </p:spPr>
        <p:txBody>
          <a:bodyPr wrap="square" lIns="0" rIns="0" tIns="0" bIns="0" anchor="t">
            <a:spAutoFit/>
          </a:bodyPr>
          <a:lstStyle/>
          <a:p>
            <a:pPr>
              <a:lnSpc>
                <a:spcPts val="3625"/>
              </a:lnSpc>
              <a:spcBef>
                <a:spcPts val="0"/>
              </a:spcBef>
              <a:spcAft>
                <a:spcPts val="0"/>
              </a:spcAft>
            </a:pPr>
            <a:r>
              <a:rPr sz="2900" b="1" i="0" lang="ja-JP">
                <a:solidFill>
                  <a:srgbClr val="171717"/>
                </a:solidFill>
                <a:latin typeface="Noto Sans JP"/>
              </a:rPr>
              <a:t>MDClaw：研究の問いを、計算による検証につなぐ</a:t>
            </a:r>
          </a:p>
        </p:txBody>
      </p:sp>
      <p:sp>
        <p:nvSpPr>
          <p:cNvPr id="4" name="TextBox 3"/>
          <p:cNvSpPr txBox="1"/>
          <p:nvPr/>
        </p:nvSpPr>
        <p:spPr>
          <a:xfrm>
            <a:off x="11247120" y="6519672"/>
            <a:ext cx="502920" cy="228600"/>
          </a:xfrm>
          <a:prstGeom prst="rect">
            <a:avLst/>
          </a:prstGeom>
          <a:noFill/>
        </p:spPr>
        <p:txBody>
          <a:bodyPr wrap="square" lIns="0" rIns="0" tIns="0" bIns="0" anchor="t">
            <a:spAutoFit/>
          </a:bodyPr>
          <a:lstStyle/>
          <a:p>
            <a:pPr>
              <a:lnSpc>
                <a:spcPts val="1375"/>
              </a:lnSpc>
              <a:spcBef>
                <a:spcPts val="0"/>
              </a:spcBef>
              <a:spcAft>
                <a:spcPts val="0"/>
              </a:spcAft>
            </a:pPr>
            <a:r>
              <a:rPr sz="1100" b="0" i="0" lang="ja-JP">
                <a:solidFill>
                  <a:srgbClr val="171717"/>
                </a:solidFill>
                <a:latin typeface="Noto Sans JP"/>
              </a:rPr>
              <a:t>18</a:t>
            </a:r>
          </a:p>
        </p:txBody>
      </p:sp>
      <p:sp>
        <p:nvSpPr>
          <p:cNvPr id="5" name="TextBox 4"/>
          <p:cNvSpPr txBox="1"/>
          <p:nvPr/>
        </p:nvSpPr>
        <p:spPr>
          <a:xfrm>
            <a:off x="640080" y="1508760"/>
            <a:ext cx="5029200" cy="4480560"/>
          </a:xfrm>
          <a:prstGeom prst="rect">
            <a:avLst/>
          </a:prstGeom>
          <a:noFill/>
        </p:spPr>
        <p:txBody>
          <a:bodyPr wrap="square" lIns="0" rIns="0" tIns="0" bIns="0" anchor="t">
            <a:spAutoFit/>
          </a:bodyPr>
          <a:lstStyle/>
          <a:p>
            <a:pPr>
              <a:lnSpc>
                <a:spcPts val="3105"/>
              </a:lnSpc>
              <a:spcBef>
                <a:spcPts val="0"/>
              </a:spcBef>
              <a:spcAft>
                <a:spcPts val="1800"/>
              </a:spcAft>
            </a:pPr>
            <a:r>
              <a:rPr sz="2300" b="0" i="0" lang="ja-JP">
                <a:solidFill>
                  <a:srgbClr val="171717"/>
                </a:solidFill>
                <a:latin typeface="Noto Sans JP"/>
              </a:rPr>
              <a:t>上流：言語モデルや生成モデルが、仮説や構造候補を出す。</a:t>
            </a:r>
          </a:p>
          <a:p>
            <a:pPr>
              <a:lnSpc>
                <a:spcPts val="3105"/>
              </a:lnSpc>
              <a:spcBef>
                <a:spcPts val="0"/>
              </a:spcBef>
              <a:spcAft>
                <a:spcPts val="1800"/>
              </a:spcAft>
            </a:pPr>
            <a:r>
              <a:rPr sz="2300" b="0" i="0" lang="ja-JP">
                <a:solidFill>
                  <a:srgbClr val="171717"/>
                </a:solidFill>
                <a:latin typeface="Noto Sans JP"/>
              </a:rPr>
              <a:t>MDClaw：問いを計算計画へ落とし、準備・実行・解析を記録する。</a:t>
            </a:r>
          </a:p>
          <a:p>
            <a:pPr>
              <a:lnSpc>
                <a:spcPts val="3105"/>
              </a:lnSpc>
              <a:spcBef>
                <a:spcPts val="0"/>
              </a:spcBef>
              <a:spcAft>
                <a:spcPts val="1800"/>
              </a:spcAft>
            </a:pPr>
            <a:r>
              <a:rPr sz="2300" b="0" i="0" lang="ja-JP">
                <a:solidFill>
                  <a:srgbClr val="171717"/>
                </a:solidFill>
                <a:latin typeface="Noto Sans JP"/>
              </a:rPr>
              <a:t>結果：構造に基づく根拠と不確実性を、次の問いへ戻す。</a:t>
            </a:r>
          </a:p>
          <a:p>
            <a:pPr>
              <a:lnSpc>
                <a:spcPts val="3105"/>
              </a:lnSpc>
              <a:spcBef>
                <a:spcPts val="0"/>
              </a:spcBef>
              <a:spcAft>
                <a:spcPts val="1800"/>
              </a:spcAft>
            </a:pPr>
            <a:r>
              <a:rPr sz="2300" b="0" i="0" lang="ja-JP">
                <a:solidFill>
                  <a:srgbClr val="171717"/>
                </a:solidFill>
                <a:latin typeface="Noto Sans JP"/>
              </a:rPr>
              <a:t>図は開発の目標像。個別機能の実装・検証状況とは区別する。</a:t>
            </a:r>
          </a:p>
        </p:txBody>
      </p:sp>
      <p:pic>
        <p:nvPicPr>
          <p:cNvPr id="6" name="Picture 5" descr="architecture-original.png"/>
          <p:cNvPicPr>
            <a:picLocks noChangeAspect="1"/>
          </p:cNvPicPr>
          <p:nvPr/>
        </p:nvPicPr>
        <p:blipFill>
          <a:blip r:embed="rId5"/>
          <a:stretch>
            <a:fillRect/>
          </a:stretch>
        </p:blipFill>
        <p:spPr>
          <a:xfrm>
            <a:off x="6286901" y="1344168"/>
            <a:ext cx="4982676" cy="484632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
        <p:nvSpPr>
          <p:cNvPr id="3" name="TextBox 2"/>
          <p:cNvSpPr txBox="1"/>
          <p:nvPr/>
        </p:nvSpPr>
        <p:spPr>
          <a:xfrm>
            <a:off x="594360" y="667512"/>
            <a:ext cx="10972800" cy="658368"/>
          </a:xfrm>
          <a:prstGeom prst="rect">
            <a:avLst/>
          </a:prstGeom>
          <a:noFill/>
        </p:spPr>
        <p:txBody>
          <a:bodyPr wrap="square" lIns="0" rIns="0" tIns="0" bIns="0" anchor="t">
            <a:spAutoFit/>
          </a:bodyPr>
          <a:lstStyle/>
          <a:p>
            <a:pPr>
              <a:lnSpc>
                <a:spcPts val="3625"/>
              </a:lnSpc>
              <a:spcBef>
                <a:spcPts val="0"/>
              </a:spcBef>
              <a:spcAft>
                <a:spcPts val="0"/>
              </a:spcAft>
            </a:pPr>
            <a:r>
              <a:rPr sz="2900" b="1" i="0" lang="ja-JP">
                <a:solidFill>
                  <a:srgbClr val="171717"/>
                </a:solidFill>
                <a:latin typeface="Noto Sans JP"/>
              </a:rPr>
              <a:t>MDClawは、手順書・操作ツール・計算履歴を組み合わせる</a:t>
            </a:r>
          </a:p>
        </p:txBody>
      </p:sp>
      <p:sp>
        <p:nvSpPr>
          <p:cNvPr id="4" name="TextBox 3"/>
          <p:cNvSpPr txBox="1"/>
          <p:nvPr/>
        </p:nvSpPr>
        <p:spPr>
          <a:xfrm>
            <a:off x="11247120" y="6519672"/>
            <a:ext cx="502920" cy="228600"/>
          </a:xfrm>
          <a:prstGeom prst="rect">
            <a:avLst/>
          </a:prstGeom>
          <a:noFill/>
        </p:spPr>
        <p:txBody>
          <a:bodyPr wrap="square" lIns="0" rIns="0" tIns="0" bIns="0" anchor="t">
            <a:spAutoFit/>
          </a:bodyPr>
          <a:lstStyle/>
          <a:p>
            <a:pPr>
              <a:lnSpc>
                <a:spcPts val="1375"/>
              </a:lnSpc>
              <a:spcBef>
                <a:spcPts val="0"/>
              </a:spcBef>
              <a:spcAft>
                <a:spcPts val="0"/>
              </a:spcAft>
            </a:pPr>
            <a:r>
              <a:rPr sz="1100" b="0" i="0" lang="ja-JP">
                <a:solidFill>
                  <a:srgbClr val="171717"/>
                </a:solidFill>
                <a:latin typeface="Noto Sans JP"/>
              </a:rPr>
              <a:t>19</a:t>
            </a:r>
          </a:p>
        </p:txBody>
      </p:sp>
      <p:sp>
        <p:nvSpPr>
          <p:cNvPr id="5" name="TextBox 4"/>
          <p:cNvSpPr txBox="1"/>
          <p:nvPr/>
        </p:nvSpPr>
        <p:spPr>
          <a:xfrm>
            <a:off x="685800" y="1527048"/>
            <a:ext cx="10789920" cy="4690872"/>
          </a:xfrm>
          <a:prstGeom prst="rect">
            <a:avLst/>
          </a:prstGeom>
          <a:noFill/>
        </p:spPr>
        <p:txBody>
          <a:bodyPr wrap="square" lIns="0" rIns="0" tIns="0" bIns="0" anchor="t">
            <a:spAutoFit/>
          </a:bodyPr>
          <a:lstStyle/>
          <a:p>
            <a:pPr>
              <a:lnSpc>
                <a:spcPts val="2992"/>
              </a:lnSpc>
              <a:spcBef>
                <a:spcPts val="0"/>
              </a:spcBef>
              <a:spcAft>
                <a:spcPts val="1600"/>
              </a:spcAft>
            </a:pPr>
            <a:r>
              <a:rPr sz="2200" b="0" i="0" lang="ja-JP">
                <a:solidFill>
                  <a:srgbClr val="171717"/>
                </a:solidFill>
                <a:latin typeface="Noto Sans JP"/>
              </a:rPr>
              <a:t>研究の問いから計画、系の準備、MD、解析、結果の確認へ進む。</a:t>
            </a:r>
          </a:p>
          <a:p>
            <a:pPr>
              <a:lnSpc>
                <a:spcPts val="2992"/>
              </a:lnSpc>
              <a:spcBef>
                <a:spcPts val="0"/>
              </a:spcBef>
              <a:spcAft>
                <a:spcPts val="1600"/>
              </a:spcAft>
            </a:pPr>
            <a:r>
              <a:rPr sz="2200" b="0" i="0" lang="ja-JP">
                <a:solidFill>
                  <a:srgbClr val="171717"/>
                </a:solidFill>
                <a:latin typeface="Noto Sans JP"/>
              </a:rPr>
              <a:t>Skillsは手順と判断基準を記した文書。CLIは引数を受けて操作を実行するコマンド。</a:t>
            </a:r>
          </a:p>
          <a:p>
            <a:pPr>
              <a:lnSpc>
                <a:spcPts val="2992"/>
              </a:lnSpc>
              <a:spcBef>
                <a:spcPts val="0"/>
              </a:spcBef>
              <a:spcAft>
                <a:spcPts val="1600"/>
              </a:spcAft>
            </a:pPr>
            <a:r>
              <a:rPr sz="2200" b="0" i="0" lang="ja-JP">
                <a:solidFill>
                  <a:srgbClr val="171717"/>
                </a:solidFill>
                <a:latin typeface="Noto Sans JP"/>
              </a:rPr>
              <a:t>計算の入力・出力・失敗をDAGとして記録し、異なるエージェントから同じ操作を呼び出せるようにする。</a:t>
            </a:r>
          </a:p>
          <a:p>
            <a:pPr>
              <a:lnSpc>
                <a:spcPts val="2992"/>
              </a:lnSpc>
              <a:spcBef>
                <a:spcPts val="0"/>
              </a:spcBef>
              <a:spcAft>
                <a:spcPts val="1600"/>
              </a:spcAft>
            </a:pPr>
            <a:r>
              <a:rPr sz="2200" b="0" i="0" lang="ja-JP">
                <a:solidFill>
                  <a:srgbClr val="171717"/>
                </a:solidFill>
                <a:latin typeface="Noto Sans JP"/>
              </a:rPr>
              <a:t>対象の化学状態に応じた準備は必要。実行成功だけで科学的妥当性を保証しない。</a:t>
            </a:r>
          </a:p>
        </p:txBody>
      </p:sp>
      <p:sp>
        <p:nvSpPr>
          <p:cNvPr id="6" name="TextBox 5"/>
          <p:cNvSpPr txBox="1"/>
          <p:nvPr/>
        </p:nvSpPr>
        <p:spPr>
          <a:xfrm>
            <a:off x="685800" y="6364224"/>
            <a:ext cx="10789920" cy="228600"/>
          </a:xfrm>
          <a:prstGeom prst="rect">
            <a:avLst/>
          </a:prstGeom>
          <a:noFill/>
        </p:spPr>
        <p:txBody>
          <a:bodyPr wrap="square" lIns="0" rIns="0" tIns="0" bIns="0" anchor="t">
            <a:spAutoFit/>
          </a:bodyPr>
          <a:lstStyle/>
          <a:p>
            <a:pPr>
              <a:lnSpc>
                <a:spcPts val="1625"/>
              </a:lnSpc>
              <a:spcBef>
                <a:spcPts val="0"/>
              </a:spcBef>
              <a:spcAft>
                <a:spcPts val="0"/>
              </a:spcAft>
            </a:pPr>
            <a:r>
              <a:rPr sz="1300" b="0" i="0" lang="ja-JP">
                <a:solidFill>
                  <a:srgbClr val="171717"/>
                </a:solidFill>
                <a:latin typeface="Noto Sans JP"/>
              </a:rPr>
              <a:t>MDClaw：github.com/matsunagalab/mdclaw／紹介資料の時点と、現在の実装を区別する。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
        <p:nvSpPr>
          <p:cNvPr id="3" name="TextBox 2"/>
          <p:cNvSpPr txBox="1"/>
          <p:nvPr/>
        </p:nvSpPr>
        <p:spPr>
          <a:xfrm>
            <a:off x="594360" y="667512"/>
            <a:ext cx="10972800" cy="658368"/>
          </a:xfrm>
          <a:prstGeom prst="rect">
            <a:avLst/>
          </a:prstGeom>
          <a:noFill/>
        </p:spPr>
        <p:txBody>
          <a:bodyPr wrap="square" lIns="0" rIns="0" tIns="0" bIns="0" anchor="t">
            <a:spAutoFit/>
          </a:bodyPr>
          <a:lstStyle/>
          <a:p>
            <a:pPr>
              <a:lnSpc>
                <a:spcPts val="3625"/>
              </a:lnSpc>
              <a:spcBef>
                <a:spcPts val="0"/>
              </a:spcBef>
              <a:spcAft>
                <a:spcPts val="0"/>
              </a:spcAft>
            </a:pPr>
            <a:r>
              <a:rPr sz="2900" b="1" i="0" lang="ja-JP">
                <a:solidFill>
                  <a:srgbClr val="171717"/>
                </a:solidFill>
                <a:latin typeface="Noto Sans JP"/>
              </a:rPr>
              <a:t>Skillsが判断を助け、CLIが実行と記録を担う</a:t>
            </a:r>
          </a:p>
        </p:txBody>
      </p:sp>
      <p:sp>
        <p:nvSpPr>
          <p:cNvPr id="4" name="TextBox 3"/>
          <p:cNvSpPr txBox="1"/>
          <p:nvPr/>
        </p:nvSpPr>
        <p:spPr>
          <a:xfrm>
            <a:off x="11247120" y="6519672"/>
            <a:ext cx="502920" cy="228600"/>
          </a:xfrm>
          <a:prstGeom prst="rect">
            <a:avLst/>
          </a:prstGeom>
          <a:noFill/>
        </p:spPr>
        <p:txBody>
          <a:bodyPr wrap="square" lIns="0" rIns="0" tIns="0" bIns="0" anchor="t">
            <a:spAutoFit/>
          </a:bodyPr>
          <a:lstStyle/>
          <a:p>
            <a:pPr>
              <a:lnSpc>
                <a:spcPts val="1375"/>
              </a:lnSpc>
              <a:spcBef>
                <a:spcPts val="0"/>
              </a:spcBef>
              <a:spcAft>
                <a:spcPts val="0"/>
              </a:spcAft>
            </a:pPr>
            <a:r>
              <a:rPr sz="1100" b="0" i="0" lang="ja-JP">
                <a:solidFill>
                  <a:srgbClr val="171717"/>
                </a:solidFill>
                <a:latin typeface="Noto Sans JP"/>
              </a:rPr>
              <a:t>20</a:t>
            </a:r>
          </a:p>
        </p:txBody>
      </p:sp>
      <p:sp>
        <p:nvSpPr>
          <p:cNvPr id="5" name="Rounded Rectangle 4"/>
          <p:cNvSpPr/>
          <p:nvPr/>
        </p:nvSpPr>
        <p:spPr>
          <a:xfrm>
            <a:off x="685800" y="1691640"/>
            <a:ext cx="3566160" cy="173736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730"/>
              </a:lnSpc>
              <a:spcBef>
                <a:spcPts val="0"/>
              </a:spcBef>
              <a:spcAft>
                <a:spcPts val="800"/>
              </a:spcAft>
            </a:pPr>
            <a:r>
              <a:rPr sz="2100" b="0" i="0" lang="ja-JP">
                <a:solidFill>
                  <a:srgbClr val="171717"/>
                </a:solidFill>
                <a:latin typeface="Noto Sans JP"/>
              </a:rPr>
              <a:t>md-study</a:t>
            </a:r>
          </a:p>
          <a:p>
            <a:pPr>
              <a:lnSpc>
                <a:spcPts val="2730"/>
              </a:lnSpc>
              <a:spcBef>
                <a:spcPts val="0"/>
              </a:spcBef>
              <a:spcAft>
                <a:spcPts val="800"/>
              </a:spcAft>
            </a:pPr>
            <a:r>
              <a:rPr sz="2100" b="0" i="0" lang="ja-JP">
                <a:solidFill>
                  <a:srgbClr val="171717"/>
                </a:solidFill>
                <a:latin typeface="Noto Sans JP"/>
              </a:rPr>
              <a:t>問いを観測量と計算計画へ</a:t>
            </a:r>
          </a:p>
        </p:txBody>
      </p:sp>
      <p:sp>
        <p:nvSpPr>
          <p:cNvPr id="6" name="Rounded Rectangle 5"/>
          <p:cNvSpPr/>
          <p:nvPr/>
        </p:nvSpPr>
        <p:spPr>
          <a:xfrm>
            <a:off x="4507992" y="1691640"/>
            <a:ext cx="3566160" cy="173736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730"/>
              </a:lnSpc>
              <a:spcBef>
                <a:spcPts val="0"/>
              </a:spcBef>
              <a:spcAft>
                <a:spcPts val="800"/>
              </a:spcAft>
            </a:pPr>
            <a:r>
              <a:rPr sz="2100" b="0" i="0" lang="ja-JP">
                <a:solidFill>
                  <a:srgbClr val="171717"/>
                </a:solidFill>
                <a:latin typeface="Noto Sans JP"/>
              </a:rPr>
              <a:t>md-prepare</a:t>
            </a:r>
          </a:p>
          <a:p>
            <a:pPr>
              <a:lnSpc>
                <a:spcPts val="2730"/>
              </a:lnSpc>
              <a:spcBef>
                <a:spcPts val="0"/>
              </a:spcBef>
              <a:spcAft>
                <a:spcPts val="800"/>
              </a:spcAft>
            </a:pPr>
            <a:r>
              <a:rPr sz="2100" b="0" i="0" lang="ja-JP">
                <a:solidFill>
                  <a:srgbClr val="171717"/>
                </a:solidFill>
                <a:latin typeface="Noto Sans JP"/>
              </a:rPr>
              <a:t>構造の取得・準備・水和・力場設定</a:t>
            </a:r>
          </a:p>
        </p:txBody>
      </p:sp>
      <p:sp>
        <p:nvSpPr>
          <p:cNvPr id="7" name="Rounded Rectangle 6"/>
          <p:cNvSpPr/>
          <p:nvPr/>
        </p:nvSpPr>
        <p:spPr>
          <a:xfrm>
            <a:off x="8330183" y="1691640"/>
            <a:ext cx="3566160" cy="173736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730"/>
              </a:lnSpc>
              <a:spcBef>
                <a:spcPts val="0"/>
              </a:spcBef>
              <a:spcAft>
                <a:spcPts val="800"/>
              </a:spcAft>
            </a:pPr>
            <a:r>
              <a:rPr sz="2100" b="0" i="0" lang="ja-JP">
                <a:solidFill>
                  <a:srgbClr val="171717"/>
                </a:solidFill>
                <a:latin typeface="Noto Sans JP"/>
              </a:rPr>
              <a:t>md-equilibration</a:t>
            </a:r>
          </a:p>
          <a:p>
            <a:pPr>
              <a:lnSpc>
                <a:spcPts val="2730"/>
              </a:lnSpc>
              <a:spcBef>
                <a:spcPts val="0"/>
              </a:spcBef>
              <a:spcAft>
                <a:spcPts val="800"/>
              </a:spcAft>
            </a:pPr>
            <a:r>
              <a:rPr sz="2100" b="0" i="0" lang="ja-JP">
                <a:solidFill>
                  <a:srgbClr val="171717"/>
                </a:solidFill>
                <a:latin typeface="Noto Sans JP"/>
              </a:rPr>
              <a:t>段階的に系を緩和する</a:t>
            </a:r>
          </a:p>
        </p:txBody>
      </p:sp>
      <p:sp>
        <p:nvSpPr>
          <p:cNvPr id="8" name="Rounded Rectangle 7"/>
          <p:cNvSpPr/>
          <p:nvPr/>
        </p:nvSpPr>
        <p:spPr>
          <a:xfrm>
            <a:off x="685800" y="3749039"/>
            <a:ext cx="3566160" cy="173736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730"/>
              </a:lnSpc>
              <a:spcBef>
                <a:spcPts val="0"/>
              </a:spcBef>
              <a:spcAft>
                <a:spcPts val="800"/>
              </a:spcAft>
            </a:pPr>
            <a:r>
              <a:rPr sz="2100" b="0" i="0" lang="ja-JP">
                <a:solidFill>
                  <a:srgbClr val="171717"/>
                </a:solidFill>
                <a:latin typeface="Noto Sans JP"/>
              </a:rPr>
              <a:t>md-production</a:t>
            </a:r>
          </a:p>
          <a:p>
            <a:pPr>
              <a:lnSpc>
                <a:spcPts val="2730"/>
              </a:lnSpc>
              <a:spcBef>
                <a:spcPts val="0"/>
              </a:spcBef>
              <a:spcAft>
                <a:spcPts val="800"/>
              </a:spcAft>
            </a:pPr>
            <a:r>
              <a:rPr sz="2100" b="0" i="0" lang="ja-JP">
                <a:solidFill>
                  <a:srgbClr val="171717"/>
                </a:solidFill>
                <a:latin typeface="Noto Sans JP"/>
              </a:rPr>
              <a:t>本計算を区切って実行・再開する</a:t>
            </a:r>
          </a:p>
        </p:txBody>
      </p:sp>
      <p:sp>
        <p:nvSpPr>
          <p:cNvPr id="9" name="Rounded Rectangle 8"/>
          <p:cNvSpPr/>
          <p:nvPr/>
        </p:nvSpPr>
        <p:spPr>
          <a:xfrm>
            <a:off x="4507992" y="3749039"/>
            <a:ext cx="3566160" cy="173736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730"/>
              </a:lnSpc>
              <a:spcBef>
                <a:spcPts val="0"/>
              </a:spcBef>
              <a:spcAft>
                <a:spcPts val="800"/>
              </a:spcAft>
            </a:pPr>
            <a:r>
              <a:rPr sz="2100" b="0" i="0" lang="ja-JP">
                <a:solidFill>
                  <a:srgbClr val="171717"/>
                </a:solidFill>
                <a:latin typeface="Noto Sans JP"/>
              </a:rPr>
              <a:t>md-analyze</a:t>
            </a:r>
          </a:p>
          <a:p>
            <a:pPr>
              <a:lnSpc>
                <a:spcPts val="2730"/>
              </a:lnSpc>
              <a:spcBef>
                <a:spcPts val="0"/>
              </a:spcBef>
              <a:spcAft>
                <a:spcPts val="800"/>
              </a:spcAft>
            </a:pPr>
            <a:r>
              <a:rPr sz="2100" b="0" i="0" lang="ja-JP">
                <a:solidFill>
                  <a:srgbClr val="171717"/>
                </a:solidFill>
                <a:latin typeface="Noto Sans JP"/>
              </a:rPr>
              <a:t>軌道を解析し、根拠を示す</a:t>
            </a:r>
          </a:p>
        </p:txBody>
      </p:sp>
      <p:sp>
        <p:nvSpPr>
          <p:cNvPr id="10" name="Rounded Rectangle 9"/>
          <p:cNvSpPr/>
          <p:nvPr/>
        </p:nvSpPr>
        <p:spPr>
          <a:xfrm>
            <a:off x="8330183" y="3749039"/>
            <a:ext cx="3566160" cy="173736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730"/>
              </a:lnSpc>
              <a:spcBef>
                <a:spcPts val="0"/>
              </a:spcBef>
              <a:spcAft>
                <a:spcPts val="800"/>
              </a:spcAft>
            </a:pPr>
            <a:r>
              <a:rPr sz="2100" b="0" i="0" lang="ja-JP">
                <a:solidFill>
                  <a:srgbClr val="171717"/>
                </a:solidFill>
                <a:latin typeface="Noto Sans JP"/>
              </a:rPr>
              <a:t>hpc-run</a:t>
            </a:r>
          </a:p>
          <a:p>
            <a:pPr>
              <a:lnSpc>
                <a:spcPts val="2730"/>
              </a:lnSpc>
              <a:spcBef>
                <a:spcPts val="0"/>
              </a:spcBef>
              <a:spcAft>
                <a:spcPts val="800"/>
              </a:spcAft>
            </a:pPr>
            <a:r>
              <a:rPr sz="2100" b="0" i="0" lang="ja-JP">
                <a:solidFill>
                  <a:srgbClr val="171717"/>
                </a:solidFill>
                <a:latin typeface="Noto Sans JP"/>
              </a:rPr>
              <a:t>SLURMを介して計算機で実行する</a:t>
            </a:r>
          </a:p>
        </p:txBody>
      </p:sp>
      <p:sp>
        <p:nvSpPr>
          <p:cNvPr id="11" name="TextBox 10"/>
          <p:cNvSpPr txBox="1"/>
          <p:nvPr/>
        </p:nvSpPr>
        <p:spPr>
          <a:xfrm>
            <a:off x="731520" y="6035040"/>
            <a:ext cx="10698480" cy="457200"/>
          </a:xfrm>
          <a:prstGeom prst="rect">
            <a:avLst/>
          </a:prstGeom>
          <a:noFill/>
        </p:spPr>
        <p:txBody>
          <a:bodyPr wrap="square" lIns="0" rIns="0" tIns="0" bIns="0" anchor="t">
            <a:spAutoFit/>
          </a:bodyPr>
          <a:lstStyle/>
          <a:p>
            <a:pPr>
              <a:lnSpc>
                <a:spcPts val="2625"/>
              </a:lnSpc>
              <a:spcBef>
                <a:spcPts val="0"/>
              </a:spcBef>
              <a:spcAft>
                <a:spcPts val="0"/>
              </a:spcAft>
            </a:pPr>
            <a:r>
              <a:rPr sz="2100" b="0" i="0" lang="ja-JP">
                <a:solidFill>
                  <a:srgbClr val="171717"/>
                </a:solidFill>
                <a:latin typeface="Noto Sans JP"/>
              </a:rPr>
              <a:t>人が読む手順書と、機械が読む実行結果を対応させる。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
        <p:nvSpPr>
          <p:cNvPr id="3" name="TextBox 2"/>
          <p:cNvSpPr txBox="1"/>
          <p:nvPr/>
        </p:nvSpPr>
        <p:spPr>
          <a:xfrm>
            <a:off x="594360" y="667512"/>
            <a:ext cx="10972800" cy="658368"/>
          </a:xfrm>
          <a:prstGeom prst="rect">
            <a:avLst/>
          </a:prstGeom>
          <a:noFill/>
        </p:spPr>
        <p:txBody>
          <a:bodyPr wrap="square" lIns="0" rIns="0" tIns="0" bIns="0" anchor="t">
            <a:spAutoFit/>
          </a:bodyPr>
          <a:lstStyle/>
          <a:p>
            <a:pPr>
              <a:lnSpc>
                <a:spcPts val="3625"/>
              </a:lnSpc>
              <a:spcBef>
                <a:spcPts val="0"/>
              </a:spcBef>
              <a:spcAft>
                <a:spcPts val="0"/>
              </a:spcAft>
            </a:pPr>
            <a:r>
              <a:rPr sz="2900" b="1" i="0" lang="ja-JP">
                <a:solidFill>
                  <a:srgbClr val="171717"/>
                </a:solidFill>
                <a:latin typeface="Noto Sans JP"/>
              </a:rPr>
              <a:t>エージェントは、手順書を読んでツールを呼ぶ</a:t>
            </a:r>
          </a:p>
        </p:txBody>
      </p:sp>
      <p:sp>
        <p:nvSpPr>
          <p:cNvPr id="4" name="TextBox 3"/>
          <p:cNvSpPr txBox="1"/>
          <p:nvPr/>
        </p:nvSpPr>
        <p:spPr>
          <a:xfrm>
            <a:off x="11247120" y="6519672"/>
            <a:ext cx="502920" cy="228600"/>
          </a:xfrm>
          <a:prstGeom prst="rect">
            <a:avLst/>
          </a:prstGeom>
          <a:noFill/>
        </p:spPr>
        <p:txBody>
          <a:bodyPr wrap="square" lIns="0" rIns="0" tIns="0" bIns="0" anchor="t">
            <a:spAutoFit/>
          </a:bodyPr>
          <a:lstStyle/>
          <a:p>
            <a:pPr>
              <a:lnSpc>
                <a:spcPts val="1375"/>
              </a:lnSpc>
              <a:spcBef>
                <a:spcPts val="0"/>
              </a:spcBef>
              <a:spcAft>
                <a:spcPts val="0"/>
              </a:spcAft>
            </a:pPr>
            <a:r>
              <a:rPr sz="1100" b="0" i="0" lang="ja-JP">
                <a:solidFill>
                  <a:srgbClr val="171717"/>
                </a:solidFill>
                <a:latin typeface="Noto Sans JP"/>
              </a:rPr>
              <a:t>21</a:t>
            </a:r>
          </a:p>
        </p:txBody>
      </p:sp>
      <p:pic>
        <p:nvPicPr>
          <p:cNvPr id="5" name="Picture 4" descr="skill-excerpt.png"/>
          <p:cNvPicPr>
            <a:picLocks noChangeAspect="1"/>
          </p:cNvPicPr>
          <p:nvPr/>
        </p:nvPicPr>
        <p:blipFill>
          <a:blip r:embed="rId6"/>
          <a:stretch>
            <a:fillRect/>
          </a:stretch>
        </p:blipFill>
        <p:spPr>
          <a:xfrm>
            <a:off x="594360" y="1950542"/>
            <a:ext cx="6583680" cy="2133954"/>
          </a:xfrm>
          <a:prstGeom prst="rect">
            <a:avLst/>
          </a:prstGeom>
        </p:spPr>
      </p:pic>
      <p:sp>
        <p:nvSpPr>
          <p:cNvPr id="6" name="TextBox 5"/>
          <p:cNvSpPr txBox="1"/>
          <p:nvPr/>
        </p:nvSpPr>
        <p:spPr>
          <a:xfrm>
            <a:off x="7498079" y="1600200"/>
            <a:ext cx="4023360" cy="4480560"/>
          </a:xfrm>
          <a:prstGeom prst="rect">
            <a:avLst/>
          </a:prstGeom>
          <a:noFill/>
        </p:spPr>
        <p:txBody>
          <a:bodyPr wrap="square" lIns="0" rIns="0" tIns="0" bIns="0" anchor="t">
            <a:spAutoFit/>
          </a:bodyPr>
          <a:lstStyle/>
          <a:p>
            <a:pPr>
              <a:lnSpc>
                <a:spcPts val="2970"/>
              </a:lnSpc>
              <a:spcBef>
                <a:spcPts val="0"/>
              </a:spcBef>
              <a:spcAft>
                <a:spcPts val="1500"/>
              </a:spcAft>
            </a:pPr>
            <a:r>
              <a:rPr sz="2200" b="0" i="0" lang="ja-JP">
                <a:solidFill>
                  <a:srgbClr val="171717"/>
                </a:solidFill>
                <a:latin typeface="Noto Sans JP"/>
              </a:rPr>
              <a:t>① 対象のSkillを読む</a:t>
            </a:r>
          </a:p>
          <a:p>
            <a:pPr>
              <a:lnSpc>
                <a:spcPts val="2970"/>
              </a:lnSpc>
              <a:spcBef>
                <a:spcPts val="0"/>
              </a:spcBef>
              <a:spcAft>
                <a:spcPts val="1500"/>
              </a:spcAft>
            </a:pPr>
            <a:r>
              <a:rPr sz="2200" b="0" i="0" lang="ja-JP">
                <a:solidFill>
                  <a:srgbClr val="171717"/>
                </a:solidFill>
                <a:latin typeface="Noto Sans JP"/>
              </a:rPr>
              <a:t>② 必要な入力と前提を確かめる</a:t>
            </a:r>
          </a:p>
          <a:p>
            <a:pPr>
              <a:lnSpc>
                <a:spcPts val="2970"/>
              </a:lnSpc>
              <a:spcBef>
                <a:spcPts val="0"/>
              </a:spcBef>
              <a:spcAft>
                <a:spcPts val="1500"/>
              </a:spcAft>
            </a:pPr>
            <a:r>
              <a:rPr sz="2200" b="0" i="0" lang="ja-JP">
                <a:solidFill>
                  <a:srgbClr val="171717"/>
                </a:solidFill>
                <a:latin typeface="Noto Sans JP"/>
              </a:rPr>
              <a:t>③ 引数を指定してCLIを呼ぶ</a:t>
            </a:r>
          </a:p>
          <a:p>
            <a:pPr>
              <a:lnSpc>
                <a:spcPts val="2970"/>
              </a:lnSpc>
              <a:spcBef>
                <a:spcPts val="0"/>
              </a:spcBef>
              <a:spcAft>
                <a:spcPts val="1500"/>
              </a:spcAft>
            </a:pPr>
            <a:r>
              <a:rPr sz="2200" b="0" i="0" lang="ja-JP">
                <a:solidFill>
                  <a:srgbClr val="171717"/>
                </a:solidFill>
                <a:latin typeface="Noto Sans JP"/>
              </a:rPr>
              <a:t>④ 戻り値と成果物を読む</a:t>
            </a:r>
          </a:p>
          <a:p>
            <a:pPr>
              <a:lnSpc>
                <a:spcPts val="2970"/>
              </a:lnSpc>
              <a:spcBef>
                <a:spcPts val="0"/>
              </a:spcBef>
              <a:spcAft>
                <a:spcPts val="1500"/>
              </a:spcAft>
            </a:pPr>
            <a:r>
              <a:rPr sz="2200" b="0" i="0" lang="ja-JP">
                <a:solidFill>
                  <a:srgbClr val="171717"/>
                </a:solidFill>
                <a:latin typeface="Noto Sans JP"/>
              </a:rPr>
              <a:t>⑤ 次の操作か、修正が必要かを判断する</a:t>
            </a:r>
          </a:p>
        </p:txBody>
      </p:sp>
      <p:sp>
        <p:nvSpPr>
          <p:cNvPr id="7" name="TextBox 6"/>
          <p:cNvSpPr txBox="1"/>
          <p:nvPr/>
        </p:nvSpPr>
        <p:spPr>
          <a:xfrm>
            <a:off x="685800" y="4892040"/>
            <a:ext cx="6217920" cy="914400"/>
          </a:xfrm>
          <a:prstGeom prst="rect">
            <a:avLst/>
          </a:prstGeom>
          <a:noFill/>
        </p:spPr>
        <p:txBody>
          <a:bodyPr wrap="square" lIns="0" rIns="0" tIns="0" bIns="0" anchor="t">
            <a:spAutoFit/>
          </a:bodyPr>
          <a:lstStyle/>
          <a:p>
            <a:pPr>
              <a:lnSpc>
                <a:spcPts val="2730"/>
              </a:lnSpc>
              <a:spcBef>
                <a:spcPts val="0"/>
              </a:spcBef>
              <a:spcAft>
                <a:spcPts val="0"/>
              </a:spcAft>
            </a:pPr>
            <a:r>
              <a:rPr sz="2100" b="0" i="0" lang="ja-JP">
                <a:solidFill>
                  <a:srgbClr val="171717"/>
                </a:solidFill>
                <a:latin typeface="Noto Sans JP"/>
              </a:rPr>
              <a:t>md-prepareの記述例。手順書自体も版を持つため、使用した版を記録する。</a:t>
            </a:r>
          </a:p>
        </p:txBody>
      </p:sp>
      <p:sp>
        <p:nvSpPr>
          <p:cNvPr id="8" name="TextBox 7"/>
          <p:cNvSpPr txBox="1"/>
          <p:nvPr/>
        </p:nvSpPr>
        <p:spPr>
          <a:xfrm>
            <a:off x="685800" y="6309360"/>
            <a:ext cx="10789920" cy="256032"/>
          </a:xfrm>
          <a:prstGeom prst="rect">
            <a:avLst/>
          </a:prstGeom>
          <a:noFill/>
        </p:spPr>
        <p:txBody>
          <a:bodyPr wrap="square" lIns="0" rIns="0" tIns="0" bIns="0" anchor="t">
            <a:spAutoFit/>
          </a:bodyPr>
          <a:lstStyle/>
          <a:p>
            <a:pPr>
              <a:lnSpc>
                <a:spcPts val="1625"/>
              </a:lnSpc>
              <a:spcBef>
                <a:spcPts val="0"/>
              </a:spcBef>
              <a:spcAft>
                <a:spcPts val="0"/>
              </a:spcAft>
            </a:pPr>
            <a:r>
              <a:rPr sz="1300" b="0" i="0" lang="ja-JP">
                <a:solidFill>
                  <a:srgbClr val="171717"/>
                </a:solidFill>
                <a:latin typeface="Noto Sans JP"/>
              </a:rPr>
              <a:t>出典：github.com/matsunagalab/mdclaw/blob/main/skills/md-prepare/SKILL.md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
        <p:nvSpPr>
          <p:cNvPr id="3" name="TextBox 2"/>
          <p:cNvSpPr txBox="1"/>
          <p:nvPr/>
        </p:nvSpPr>
        <p:spPr>
          <a:xfrm>
            <a:off x="594360" y="667512"/>
            <a:ext cx="10972800" cy="658368"/>
          </a:xfrm>
          <a:prstGeom prst="rect">
            <a:avLst/>
          </a:prstGeom>
          <a:noFill/>
        </p:spPr>
        <p:txBody>
          <a:bodyPr wrap="square" lIns="0" rIns="0" tIns="0" bIns="0" anchor="t">
            <a:spAutoFit/>
          </a:bodyPr>
          <a:lstStyle/>
          <a:p>
            <a:pPr>
              <a:lnSpc>
                <a:spcPts val="3625"/>
              </a:lnSpc>
              <a:spcBef>
                <a:spcPts val="0"/>
              </a:spcBef>
              <a:spcAft>
                <a:spcPts val="0"/>
              </a:spcAft>
            </a:pPr>
            <a:r>
              <a:rPr sz="2900" b="1" i="0" lang="ja-JP">
                <a:solidFill>
                  <a:srgbClr val="171717"/>
                </a:solidFill>
                <a:latin typeface="Noto Sans JP"/>
              </a:rPr>
              <a:t>問い・計画・計算・解釈を、成果物でつなぐ</a:t>
            </a:r>
          </a:p>
        </p:txBody>
      </p:sp>
      <p:sp>
        <p:nvSpPr>
          <p:cNvPr id="4" name="TextBox 3"/>
          <p:cNvSpPr txBox="1"/>
          <p:nvPr/>
        </p:nvSpPr>
        <p:spPr>
          <a:xfrm>
            <a:off x="11247120" y="6519672"/>
            <a:ext cx="502920" cy="228600"/>
          </a:xfrm>
          <a:prstGeom prst="rect">
            <a:avLst/>
          </a:prstGeom>
          <a:noFill/>
        </p:spPr>
        <p:txBody>
          <a:bodyPr wrap="square" lIns="0" rIns="0" tIns="0" bIns="0" anchor="t">
            <a:spAutoFit/>
          </a:bodyPr>
          <a:lstStyle/>
          <a:p>
            <a:pPr>
              <a:lnSpc>
                <a:spcPts val="1375"/>
              </a:lnSpc>
              <a:spcBef>
                <a:spcPts val="0"/>
              </a:spcBef>
              <a:spcAft>
                <a:spcPts val="0"/>
              </a:spcAft>
            </a:pPr>
            <a:r>
              <a:rPr sz="1100" b="0" i="0" lang="ja-JP">
                <a:solidFill>
                  <a:srgbClr val="171717"/>
                </a:solidFill>
                <a:latin typeface="Noto Sans JP"/>
              </a:rPr>
              <a:t>22</a:t>
            </a:r>
          </a:p>
        </p:txBody>
      </p:sp>
      <p:pic>
        <p:nvPicPr>
          <p:cNvPr id="5" name="Picture 4" descr="image.png"/>
          <p:cNvPicPr>
            <a:picLocks noChangeAspect="1"/>
          </p:cNvPicPr>
          <p:nvPr/>
        </p:nvPicPr>
        <p:blipFill>
          <a:blip r:embed="rId3"/>
          <a:stretch>
            <a:fillRect/>
          </a:stretch>
        </p:blipFill>
        <p:spPr>
          <a:xfrm>
            <a:off x="502920" y="1563354"/>
            <a:ext cx="11155680" cy="4279931"/>
          </a:xfrm>
          <a:prstGeom prst="rect">
            <a:avLst/>
          </a:prstGeom>
        </p:spPr>
      </p:pic>
      <p:sp>
        <p:nvSpPr>
          <p:cNvPr id="6" name="TextBox 5"/>
          <p:cNvSpPr txBox="1"/>
          <p:nvPr/>
        </p:nvSpPr>
        <p:spPr>
          <a:xfrm>
            <a:off x="640080" y="6035040"/>
            <a:ext cx="10881360" cy="475488"/>
          </a:xfrm>
          <a:prstGeom prst="rect">
            <a:avLst/>
          </a:prstGeom>
          <a:noFill/>
        </p:spPr>
        <p:txBody>
          <a:bodyPr wrap="square" lIns="0" rIns="0" tIns="0" bIns="0" anchor="t">
            <a:spAutoFit/>
          </a:bodyPr>
          <a:lstStyle/>
          <a:p>
            <a:pPr>
              <a:lnSpc>
                <a:spcPts val="2039"/>
              </a:lnSpc>
              <a:spcBef>
                <a:spcPts val="0"/>
              </a:spcBef>
              <a:spcAft>
                <a:spcPts val="0"/>
              </a:spcAft>
            </a:pPr>
            <a:r>
              <a:rPr sz="1700" b="0" i="0" lang="ja-JP">
                <a:solidFill>
                  <a:srgbClr val="171717"/>
                </a:solidFill>
                <a:latin typeface="Noto Sans JP"/>
              </a:rPr>
              <a:t>DAG（循環のない有向グラフ）は、入力から出力への依存関係を表す。</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正方形/長方形 1">
            <a:extLst>
              <a:ext uri="{FF2B5EF4-FFF2-40B4-BE49-F238E27FC236}">
                <a16:creationId xmlns:a16="http://schemas.microsoft.com/office/drawing/2014/main" id="{C9EB40BD-D544-FC79-F7B8-A66C3AD77776}"/>
              </a:ext>
            </a:extLst>
          </p:cNvPr>
          <p:cNvSpPr>
            <a:spLocks noGrp="1"/>
          </p:cNvSpPr>
          <p:nvPr/>
        </p:nvSpPr>
        <p:spPr>
          <a:xfrm>
            <a:off x="934567" y="54864"/>
            <a:ext cx="10322560" cy="64516"/>
          </a:xfrm>
          <a:prstGeom prst="rect">
            <a:avLst/>
          </a:prstGeom>
          <a:solidFill>
            <a:srgbClr val="111827"/>
          </a:solidFill>
          <a:ln w="0">
            <a:solidFill>
              <a:srgbClr val="000000">
                <a:alpha val="0"/>
              </a:srgbClr>
            </a:solidFill>
            <a:prstDash val="solid"/>
          </a:ln>
        </p:spPr>
        <p:txBody>
          <a:bodyPr/>
          <a:lstStyle/>
          <a:p>
            <a:endParaRPr lang="ja-JP" altLang="en-US"/>
          </a:p>
        </p:txBody>
      </p:sp>
      <p:sp>
        <p:nvSpPr>
          <p:cNvPr id="3" name="正方形/長方形 2">
            <a:extLst>
              <a:ext uri="{FF2B5EF4-FFF2-40B4-BE49-F238E27FC236}">
                <a16:creationId xmlns:a16="http://schemas.microsoft.com/office/drawing/2014/main" id="{996BFB4F-5146-15E8-40FA-DE6CBAE04A5B}"/>
              </a:ext>
            </a:extLst>
          </p:cNvPr>
          <p:cNvSpPr>
            <a:spLocks noGrp="1"/>
          </p:cNvSpPr>
          <p:nvPr/>
        </p:nvSpPr>
        <p:spPr>
          <a:xfrm>
            <a:off x="1224889" y="329057"/>
            <a:ext cx="145161" cy="145161"/>
          </a:xfrm>
          <a:prstGeom prst="rect">
            <a:avLst/>
          </a:prstGeom>
          <a:solidFill>
            <a:srgbClr val="0E3A75"/>
          </a:solidFill>
          <a:ln w="0">
            <a:solidFill>
              <a:srgbClr val="000000">
                <a:alpha val="0"/>
              </a:srgbClr>
            </a:solidFill>
            <a:prstDash val="solid"/>
          </a:ln>
        </p:spPr>
        <p:txBody>
          <a:bodyPr/>
          <a:lstStyle/>
          <a:p>
            <a:endParaRPr lang="ja-JP" altLang="en-US"/>
          </a:p>
        </p:txBody>
      </p:sp>
      <p:sp>
        <p:nvSpPr>
          <p:cNvPr id="4" name="正方形/長方形 3">
            <a:extLst>
              <a:ext uri="{FF2B5EF4-FFF2-40B4-BE49-F238E27FC236}">
                <a16:creationId xmlns:a16="http://schemas.microsoft.com/office/drawing/2014/main" id="{5DAA58F7-9430-A334-CC0A-7E32D61DC27A}"/>
              </a:ext>
            </a:extLst>
          </p:cNvPr>
          <p:cNvSpPr>
            <a:spLocks noGrp="1"/>
          </p:cNvSpPr>
          <p:nvPr/>
        </p:nvSpPr>
        <p:spPr>
          <a:xfrm>
            <a:off x="1224889" y="562927"/>
            <a:ext cx="1919351" cy="24193"/>
          </a:xfrm>
          <a:prstGeom prst="rect">
            <a:avLst/>
          </a:prstGeom>
          <a:solidFill>
            <a:srgbClr val="0E3A75"/>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2887F834-1123-EADD-E377-5F1BC0BA9BB0}"/>
              </a:ext>
            </a:extLst>
          </p:cNvPr>
          <p:cNvSpPr>
            <a:spLocks noGrp="1"/>
          </p:cNvSpPr>
          <p:nvPr/>
        </p:nvSpPr>
        <p:spPr>
          <a:xfrm>
            <a:off x="1482953" y="304863"/>
            <a:ext cx="3790315" cy="225806"/>
          </a:xfrm>
          <a:prstGeom prst="rect">
            <a:avLst/>
          </a:prstGeom>
          <a:solidFill>
            <a:srgbClr val="000000">
              <a:alpha val="0"/>
            </a:srgbClr>
          </a:solidFill>
          <a:ln w="0">
            <a:solidFill>
              <a:srgbClr val="000000">
                <a:alpha val="0"/>
              </a:srgbClr>
            </a:solidFill>
            <a:prstDash val="solid"/>
          </a:ln>
        </p:spPr>
        <p:txBody>
          <a:bodyPr lIns="0" tIns="0" rIns="0" bIns="0" anchor="t"/>
          <a:lstStyle/>
          <a:p/>
        </p:txBody>
      </p:sp>
      <p:sp>
        <p:nvSpPr>
          <p:cNvPr id="10" name="正方形/長方形 9">
            <a:extLst>
              <a:ext uri="{FF2B5EF4-FFF2-40B4-BE49-F238E27FC236}">
                <a16:creationId xmlns:a16="http://schemas.microsoft.com/office/drawing/2014/main" id="{CEF2F5DD-8DA1-F2EC-3F05-036924BDF65E}"/>
              </a:ext>
            </a:extLst>
          </p:cNvPr>
          <p:cNvSpPr>
            <a:spLocks noGrp="1"/>
          </p:cNvSpPr>
          <p:nvPr/>
        </p:nvSpPr>
        <p:spPr>
          <a:xfrm>
            <a:off x="594360" y="585216"/>
            <a:ext cx="10972800" cy="594360"/>
          </a:xfrm>
          <a:prstGeom prst="rect">
            <a:avLst/>
          </a:prstGeom>
          <a:solidFill>
            <a:srgbClr val="000000">
              <a:alpha val="0"/>
            </a:srgbClr>
          </a:solidFill>
          <a:ln w="0">
            <a:solidFill>
              <a:srgbClr val="000000">
                <a:alpha val="0"/>
              </a:srgbClr>
            </a:solidFill>
            <a:prstDash val="solid"/>
          </a:ln>
        </p:spPr>
        <p:txBody>
          <a:bodyPr lIns="0" tIns="0" rIns="0" bIns="0" anchor="t" wrap="square"/>
          <a:lstStyle/>
          <a:p>
            <a:pPr algn="l">
              <a:lnSpc>
                <a:spcPts val="3479"/>
              </a:lnSpc>
              <a:spcBef>
                <a:spcPts val="0"/>
              </a:spcBef>
              <a:spcAft>
                <a:spcPts val="0"/>
              </a:spcAft>
            </a:pPr>
            <a:r>
              <a:rPr sz="2900" b="1" i="0" lang="ja-JP">
                <a:solidFill>
                  <a:srgbClr val="171717"/>
                </a:solidFill>
                <a:latin typeface="Noto Sans JP"/>
              </a:rPr>
              <a:t>失敗した実行を残し、条件を確かめて再試行する</a:t>
            </a:r>
          </a:p>
        </p:txBody>
      </p:sp>
      <p:sp>
        <p:nvSpPr>
          <p:cNvPr id="50" name="Rounded Rectangle 2">
            <a:extLst>
              <a:ext uri="{FF2B5EF4-FFF2-40B4-BE49-F238E27FC236}">
                <a16:creationId xmlns:a16="http://schemas.microsoft.com/office/drawing/2014/main" id="{E26570C6-B218-4E6C-388A-30CC2126399C}"/>
              </a:ext>
            </a:extLst>
          </p:cNvPr>
          <p:cNvSpPr/>
          <p:nvPr/>
        </p:nvSpPr>
        <p:spPr>
          <a:xfrm>
            <a:off x="1099942" y="3480690"/>
            <a:ext cx="1416395" cy="741921"/>
          </a:xfrm>
          <a:prstGeom prst="round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wrap="square" lIns="36000" tIns="18000" rIns="36000" bIns="18000" rtlCol="0" anchor="ctr"/>
          <a:lstStyle/>
          <a:p>
            <a:pPr algn="ctr"/>
            <a:r>
              <a:rPr lang="ja-JP" sz="1185" b="1" dirty="0">
                <a:solidFill>
                  <a:srgbClr val="FFFFFF"/>
                </a:solidFill>
                <a:latin typeface="Helvetica Neue"/>
              </a:rPr>
              <a:t>F</a:t>
            </a:r>
            <a:r>
              <a:rPr sz="1185" b="1" dirty="0" lang="ja-JP">
                <a:solidFill>
                  <a:srgbClr val="FFFFFF"/>
                </a:solidFill>
                <a:latin typeface="Helvetica Neue"/>
              </a:rPr>
              <a:t>etch</a:t>
            </a:r>
            <a:r>
              <a:rPr lang="ja-JP" sz="1185" b="1" dirty="0">
                <a:solidFill>
                  <a:srgbClr val="FFFFFF"/>
                </a:solidFill>
                <a:latin typeface="Helvetica Neue"/>
              </a:rPr>
              <a:t> / predict</a:t>
            </a:r>
          </a:p>
          <a:p>
            <a:pPr algn="ctr"/>
            <a:r>
              <a:rPr lang="ja-JP" sz="1185" b="1" dirty="0">
                <a:solidFill>
                  <a:srgbClr val="FFFFFF"/>
                </a:solidFill>
                <a:latin typeface="Helvetica Neue"/>
              </a:rPr>
              <a:t>structure</a:t>
            </a:r>
            <a:endParaRPr sz="1185" b="1" dirty="0">
              <a:solidFill>
                <a:srgbClr val="FFFFFF"/>
              </a:solidFill>
              <a:latin typeface="Helvetica Neue"/>
            </a:endParaRPr>
          </a:p>
        </p:txBody>
      </p:sp>
      <p:sp>
        <p:nvSpPr>
          <p:cNvPr id="51" name="Rounded Rectangle 3">
            <a:extLst>
              <a:ext uri="{FF2B5EF4-FFF2-40B4-BE49-F238E27FC236}">
                <a16:creationId xmlns:a16="http://schemas.microsoft.com/office/drawing/2014/main" id="{3F53E906-8A11-DD81-FA31-B597FBD1966E}"/>
              </a:ext>
            </a:extLst>
          </p:cNvPr>
          <p:cNvSpPr/>
          <p:nvPr/>
        </p:nvSpPr>
        <p:spPr>
          <a:xfrm>
            <a:off x="2774858" y="3501555"/>
            <a:ext cx="1376558" cy="721054"/>
          </a:xfrm>
          <a:prstGeom prst="roundRect">
            <a:avLst/>
          </a:prstGeom>
          <a:solidFill>
            <a:srgbClr val="2B73E6"/>
          </a:solidFill>
          <a:ln>
            <a:solidFill>
              <a:srgbClr val="2B73E6"/>
            </a:solidFill>
          </a:ln>
        </p:spPr>
        <p:style>
          <a:lnRef idx="1">
            <a:schemeClr val="accent1"/>
          </a:lnRef>
          <a:fillRef idx="3">
            <a:schemeClr val="accent1"/>
          </a:fillRef>
          <a:effectRef idx="2">
            <a:schemeClr val="accent1"/>
          </a:effectRef>
          <a:fontRef idx="minor">
            <a:schemeClr val="lt1"/>
          </a:fontRef>
        </p:style>
        <p:txBody>
          <a:bodyPr wrap="square" lIns="36000" tIns="18000" rIns="36000" bIns="18000" rtlCol="0" anchor="ctr"/>
          <a:lstStyle/>
          <a:p>
            <a:pPr algn="ctr"/>
            <a:r>
              <a:rPr lang="ja-JP" sz="1185" b="1" dirty="0">
                <a:solidFill>
                  <a:srgbClr val="FFFFFF"/>
                </a:solidFill>
                <a:latin typeface="Helvetica Neue"/>
              </a:rPr>
              <a:t>Clean</a:t>
            </a:r>
            <a:br>
              <a:rPr lang="en-US" sz="1185" b="1" dirty="0">
                <a:solidFill>
                  <a:srgbClr val="FFFFFF"/>
                </a:solidFill>
                <a:latin typeface="Helvetica Neue"/>
              </a:rPr>
            </a:br>
            <a:r>
              <a:rPr lang="ja-JP" sz="1185" b="1" dirty="0">
                <a:solidFill>
                  <a:srgbClr val="FFFFFF"/>
                </a:solidFill>
                <a:latin typeface="Helvetica Neue"/>
              </a:rPr>
              <a:t>structure</a:t>
            </a:r>
            <a:endParaRPr sz="1185" b="1" dirty="0">
              <a:solidFill>
                <a:srgbClr val="FFFFFF"/>
              </a:solidFill>
              <a:latin typeface="Helvetica Neue"/>
            </a:endParaRPr>
          </a:p>
        </p:txBody>
      </p:sp>
      <p:sp>
        <p:nvSpPr>
          <p:cNvPr id="52" name="Rounded Rectangle 7">
            <a:extLst>
              <a:ext uri="{FF2B5EF4-FFF2-40B4-BE49-F238E27FC236}">
                <a16:creationId xmlns:a16="http://schemas.microsoft.com/office/drawing/2014/main" id="{F9BE94B9-B5FB-85B4-D7D3-FBB9D25868E7}"/>
              </a:ext>
            </a:extLst>
          </p:cNvPr>
          <p:cNvSpPr/>
          <p:nvPr/>
        </p:nvSpPr>
        <p:spPr>
          <a:xfrm>
            <a:off x="9352926" y="4251452"/>
            <a:ext cx="1361073" cy="712943"/>
          </a:xfrm>
          <a:prstGeom prst="roundRect">
            <a:avLst/>
          </a:prstGeom>
          <a:solidFill>
            <a:srgbClr val="8B5CF6"/>
          </a:solidFill>
          <a:ln>
            <a:solidFill>
              <a:srgbClr val="8B5CF6"/>
            </a:solidFill>
          </a:ln>
        </p:spPr>
        <p:style>
          <a:lnRef idx="1">
            <a:schemeClr val="accent1"/>
          </a:lnRef>
          <a:fillRef idx="3">
            <a:schemeClr val="accent1"/>
          </a:fillRef>
          <a:effectRef idx="2">
            <a:schemeClr val="accent1"/>
          </a:effectRef>
          <a:fontRef idx="minor">
            <a:schemeClr val="lt1"/>
          </a:fontRef>
        </p:style>
        <p:txBody>
          <a:bodyPr wrap="square" lIns="36000" tIns="18000" rIns="36000" bIns="18000" rtlCol="0" anchor="ctr"/>
          <a:lstStyle/>
          <a:p>
            <a:pPr algn="ctr"/>
            <a:r>
              <a:rPr lang="ja-JP" sz="1185" b="1" dirty="0">
                <a:solidFill>
                  <a:srgbClr val="FFFFFF"/>
                </a:solidFill>
                <a:latin typeface="Helvetica Neue"/>
              </a:rPr>
              <a:t>Production 001</a:t>
            </a:r>
          </a:p>
          <a:p>
            <a:pPr algn="ctr"/>
            <a:r>
              <a:rPr lang="ja-JP" sz="1185" b="1" dirty="0">
                <a:solidFill>
                  <a:srgbClr val="FFFFFF"/>
                </a:solidFill>
                <a:latin typeface="Helvetica Neue"/>
              </a:rPr>
              <a:t>Attempt 2</a:t>
            </a:r>
            <a:endParaRPr sz="1185" b="1" dirty="0">
              <a:solidFill>
                <a:srgbClr val="FFFFFF"/>
              </a:solidFill>
              <a:latin typeface="Helvetica Neue"/>
            </a:endParaRPr>
          </a:p>
        </p:txBody>
      </p:sp>
      <p:cxnSp>
        <p:nvCxnSpPr>
          <p:cNvPr id="53" name="Connector 9">
            <a:extLst>
              <a:ext uri="{FF2B5EF4-FFF2-40B4-BE49-F238E27FC236}">
                <a16:creationId xmlns:a16="http://schemas.microsoft.com/office/drawing/2014/main" id="{9F105079-92BC-A4DD-03BE-B0B740125787}"/>
              </a:ext>
            </a:extLst>
          </p:cNvPr>
          <p:cNvCxnSpPr>
            <a:cxnSpLocks/>
            <a:endCxn id="51" idx="1"/>
          </p:cNvCxnSpPr>
          <p:nvPr/>
        </p:nvCxnSpPr>
        <p:spPr>
          <a:xfrm flipV="1">
            <a:off x="2458075" y="3862082"/>
            <a:ext cx="316782" cy="3054"/>
          </a:xfrm>
          <a:prstGeom prst="line">
            <a:avLst/>
          </a:prstGeom>
          <a:ln w="50800">
            <a:solidFill>
              <a:srgbClr val="4B556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10">
            <a:extLst>
              <a:ext uri="{FF2B5EF4-FFF2-40B4-BE49-F238E27FC236}">
                <a16:creationId xmlns:a16="http://schemas.microsoft.com/office/drawing/2014/main" id="{075DEA35-C5C1-D611-463A-E5DF175495B7}"/>
              </a:ext>
            </a:extLst>
          </p:cNvPr>
          <p:cNvCxnSpPr/>
          <p:nvPr/>
        </p:nvCxnSpPr>
        <p:spPr>
          <a:xfrm>
            <a:off x="5217796" y="3795180"/>
            <a:ext cx="116127" cy="0"/>
          </a:xfrm>
          <a:prstGeom prst="line">
            <a:avLst/>
          </a:prstGeom>
          <a:ln w="19050">
            <a:solidFill>
              <a:srgbClr val="4B556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Connector 11">
            <a:extLst>
              <a:ext uri="{FF2B5EF4-FFF2-40B4-BE49-F238E27FC236}">
                <a16:creationId xmlns:a16="http://schemas.microsoft.com/office/drawing/2014/main" id="{37E01772-4C23-E22D-6A27-A455DC0B1DA4}"/>
              </a:ext>
            </a:extLst>
          </p:cNvPr>
          <p:cNvCxnSpPr/>
          <p:nvPr/>
        </p:nvCxnSpPr>
        <p:spPr>
          <a:xfrm>
            <a:off x="6146826" y="3795180"/>
            <a:ext cx="116129" cy="0"/>
          </a:xfrm>
          <a:prstGeom prst="line">
            <a:avLst/>
          </a:prstGeom>
          <a:ln w="19050">
            <a:solidFill>
              <a:srgbClr val="4B556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6" name="Connector 12">
            <a:extLst>
              <a:ext uri="{FF2B5EF4-FFF2-40B4-BE49-F238E27FC236}">
                <a16:creationId xmlns:a16="http://schemas.microsoft.com/office/drawing/2014/main" id="{CBF5B619-984C-C807-7496-7C524443D8FF}"/>
              </a:ext>
            </a:extLst>
          </p:cNvPr>
          <p:cNvCxnSpPr/>
          <p:nvPr/>
        </p:nvCxnSpPr>
        <p:spPr>
          <a:xfrm>
            <a:off x="7159438" y="3829732"/>
            <a:ext cx="116128" cy="0"/>
          </a:xfrm>
          <a:prstGeom prst="line">
            <a:avLst/>
          </a:prstGeom>
          <a:ln w="19050">
            <a:solidFill>
              <a:srgbClr val="4B5563"/>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59" name="図 58">
            <a:extLst>
              <a:ext uri="{FF2B5EF4-FFF2-40B4-BE49-F238E27FC236}">
                <a16:creationId xmlns:a16="http://schemas.microsoft.com/office/drawing/2014/main" id="{61ECA9A8-4020-D26E-E28A-2FAB192F8C25}"/>
              </a:ext>
            </a:extLst>
          </p:cNvPr>
          <p:cNvPicPr>
            <a:picLocks noChangeAspect="1"/>
          </p:cNvPicPr>
          <p:nvPr/>
        </p:nvPicPr>
        <p:blipFill>
          <a:blip r:embed="rId3"/>
          <a:stretch>
            <a:fillRect/>
          </a:stretch>
        </p:blipFill>
        <p:spPr>
          <a:xfrm>
            <a:off x="5736960" y="2051661"/>
            <a:ext cx="2048661" cy="987747"/>
          </a:xfrm>
          <a:prstGeom prst="rect">
            <a:avLst/>
          </a:prstGeom>
        </p:spPr>
      </p:pic>
      <p:sp>
        <p:nvSpPr>
          <p:cNvPr id="60" name="Rounded Rectangle 3">
            <a:extLst>
              <a:ext uri="{FF2B5EF4-FFF2-40B4-BE49-F238E27FC236}">
                <a16:creationId xmlns:a16="http://schemas.microsoft.com/office/drawing/2014/main" id="{2AA3F44D-0EDA-815D-7A6D-3854CD1FBDCB}"/>
              </a:ext>
            </a:extLst>
          </p:cNvPr>
          <p:cNvSpPr/>
          <p:nvPr/>
        </p:nvSpPr>
        <p:spPr>
          <a:xfrm>
            <a:off x="4421881" y="3501555"/>
            <a:ext cx="1376558" cy="721054"/>
          </a:xfrm>
          <a:prstGeom prst="roundRect">
            <a:avLst/>
          </a:prstGeom>
          <a:solidFill>
            <a:srgbClr val="2B73E6"/>
          </a:solidFill>
          <a:ln>
            <a:solidFill>
              <a:srgbClr val="2B73E6"/>
            </a:solidFill>
          </a:ln>
        </p:spPr>
        <p:style>
          <a:lnRef idx="1">
            <a:schemeClr val="accent1"/>
          </a:lnRef>
          <a:fillRef idx="3">
            <a:schemeClr val="accent1"/>
          </a:fillRef>
          <a:effectRef idx="2">
            <a:schemeClr val="accent1"/>
          </a:effectRef>
          <a:fontRef idx="minor">
            <a:schemeClr val="lt1"/>
          </a:fontRef>
        </p:style>
        <p:txBody>
          <a:bodyPr wrap="square" lIns="36000" tIns="18000" rIns="36000" bIns="18000" rtlCol="0" anchor="ctr"/>
          <a:lstStyle/>
          <a:p>
            <a:pPr algn="ctr"/>
            <a:r>
              <a:rPr lang="ja-JP" sz="1185" b="1" dirty="0">
                <a:solidFill>
                  <a:srgbClr val="FFFFFF"/>
                </a:solidFill>
                <a:latin typeface="Helvetica Neue"/>
              </a:rPr>
              <a:t>Solvation</a:t>
            </a:r>
            <a:endParaRPr sz="1185" b="1" dirty="0">
              <a:solidFill>
                <a:srgbClr val="FFFFFF"/>
              </a:solidFill>
              <a:latin typeface="Helvetica Neue"/>
            </a:endParaRPr>
          </a:p>
        </p:txBody>
      </p:sp>
      <p:sp>
        <p:nvSpPr>
          <p:cNvPr id="61" name="Rounded Rectangle 3">
            <a:extLst>
              <a:ext uri="{FF2B5EF4-FFF2-40B4-BE49-F238E27FC236}">
                <a16:creationId xmlns:a16="http://schemas.microsoft.com/office/drawing/2014/main" id="{0CAEFFD4-039F-864E-79AC-6992F7B7C068}"/>
              </a:ext>
            </a:extLst>
          </p:cNvPr>
          <p:cNvSpPr/>
          <p:nvPr/>
        </p:nvSpPr>
        <p:spPr>
          <a:xfrm>
            <a:off x="6050672" y="3480690"/>
            <a:ext cx="1376558" cy="721054"/>
          </a:xfrm>
          <a:prstGeom prst="roundRect">
            <a:avLst/>
          </a:prstGeom>
          <a:solidFill>
            <a:srgbClr val="2B73E6"/>
          </a:solidFill>
          <a:ln>
            <a:solidFill>
              <a:srgbClr val="2B73E6"/>
            </a:solidFill>
          </a:ln>
        </p:spPr>
        <p:style>
          <a:lnRef idx="1">
            <a:schemeClr val="accent1"/>
          </a:lnRef>
          <a:fillRef idx="3">
            <a:schemeClr val="accent1"/>
          </a:fillRef>
          <a:effectRef idx="2">
            <a:schemeClr val="accent1"/>
          </a:effectRef>
          <a:fontRef idx="minor">
            <a:schemeClr val="lt1"/>
          </a:fontRef>
        </p:style>
        <p:txBody>
          <a:bodyPr wrap="square" lIns="36000" tIns="18000" rIns="36000" bIns="18000" rtlCol="0" anchor="ctr"/>
          <a:lstStyle/>
          <a:p>
            <a:pPr algn="ctr"/>
            <a:r>
              <a:rPr lang="ja-JP" sz="1185" b="1" dirty="0">
                <a:solidFill>
                  <a:srgbClr val="FFFFFF"/>
                </a:solidFill>
                <a:latin typeface="Helvetica Neue"/>
              </a:rPr>
              <a:t>Topology</a:t>
            </a:r>
            <a:endParaRPr sz="1185" b="1" dirty="0">
              <a:solidFill>
                <a:srgbClr val="FFFFFF"/>
              </a:solidFill>
              <a:latin typeface="Helvetica Neue"/>
            </a:endParaRPr>
          </a:p>
        </p:txBody>
      </p:sp>
      <p:cxnSp>
        <p:nvCxnSpPr>
          <p:cNvPr id="62" name="Connector 9">
            <a:extLst>
              <a:ext uri="{FF2B5EF4-FFF2-40B4-BE49-F238E27FC236}">
                <a16:creationId xmlns:a16="http://schemas.microsoft.com/office/drawing/2014/main" id="{B3C8B40F-D063-C379-94F2-FF9EC4D62AE8}"/>
              </a:ext>
            </a:extLst>
          </p:cNvPr>
          <p:cNvCxnSpPr>
            <a:cxnSpLocks/>
          </p:cNvCxnSpPr>
          <p:nvPr/>
        </p:nvCxnSpPr>
        <p:spPr>
          <a:xfrm flipV="1">
            <a:off x="4122491" y="3862081"/>
            <a:ext cx="316782" cy="3054"/>
          </a:xfrm>
          <a:prstGeom prst="line">
            <a:avLst/>
          </a:prstGeom>
          <a:ln w="50800">
            <a:solidFill>
              <a:srgbClr val="4B556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3" name="Connector 9">
            <a:extLst>
              <a:ext uri="{FF2B5EF4-FFF2-40B4-BE49-F238E27FC236}">
                <a16:creationId xmlns:a16="http://schemas.microsoft.com/office/drawing/2014/main" id="{E589013A-4CC7-1752-9F03-F77A0D343E5A}"/>
              </a:ext>
            </a:extLst>
          </p:cNvPr>
          <p:cNvCxnSpPr>
            <a:cxnSpLocks/>
          </p:cNvCxnSpPr>
          <p:nvPr/>
        </p:nvCxnSpPr>
        <p:spPr>
          <a:xfrm flipV="1">
            <a:off x="5736960" y="3862081"/>
            <a:ext cx="316782" cy="3054"/>
          </a:xfrm>
          <a:prstGeom prst="line">
            <a:avLst/>
          </a:prstGeom>
          <a:ln w="50800">
            <a:solidFill>
              <a:srgbClr val="4B55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Rounded Rectangle 7">
            <a:extLst>
              <a:ext uri="{FF2B5EF4-FFF2-40B4-BE49-F238E27FC236}">
                <a16:creationId xmlns:a16="http://schemas.microsoft.com/office/drawing/2014/main" id="{22284C01-B29F-5416-AFD3-62FB5C1FDD0C}"/>
              </a:ext>
            </a:extLst>
          </p:cNvPr>
          <p:cNvSpPr/>
          <p:nvPr/>
        </p:nvSpPr>
        <p:spPr>
          <a:xfrm>
            <a:off x="9352926" y="2430948"/>
            <a:ext cx="1361073" cy="712943"/>
          </a:xfrm>
          <a:prstGeom prst="roundRect">
            <a:avLst/>
          </a:prstGeom>
          <a:solidFill>
            <a:schemeClr val="bg1">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lIns="36000" tIns="18000" rIns="36000" bIns="18000" rtlCol="0" anchor="ctr"/>
          <a:lstStyle/>
          <a:p>
            <a:pPr algn="ctr"/>
            <a:r>
              <a:rPr lang="ja-JP" sz="1185" b="1" dirty="0">
                <a:solidFill>
                  <a:srgbClr val="FFFFFF"/>
                </a:solidFill>
                <a:latin typeface="Helvetica Neue"/>
              </a:rPr>
              <a:t>Production 001</a:t>
            </a:r>
          </a:p>
          <a:p>
            <a:pPr algn="ctr"/>
            <a:r>
              <a:rPr lang="ja-JP" sz="1185" b="1" dirty="0">
                <a:solidFill>
                  <a:srgbClr val="FFFFFF"/>
                </a:solidFill>
                <a:latin typeface="Helvetica Neue"/>
              </a:rPr>
              <a:t>Attempt 1</a:t>
            </a:r>
          </a:p>
        </p:txBody>
      </p:sp>
      <p:sp>
        <p:nvSpPr>
          <p:cNvPr id="65" name="Rounded Rectangle 16">
            <a:extLst>
              <a:ext uri="{FF2B5EF4-FFF2-40B4-BE49-F238E27FC236}">
                <a16:creationId xmlns:a16="http://schemas.microsoft.com/office/drawing/2014/main" id="{545220D9-0D85-DB9A-CD89-43D83A1D600B}"/>
              </a:ext>
            </a:extLst>
          </p:cNvPr>
          <p:cNvSpPr/>
          <p:nvPr/>
        </p:nvSpPr>
        <p:spPr>
          <a:xfrm>
            <a:off x="7587384" y="3480690"/>
            <a:ext cx="1376554" cy="72105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wrap="square" lIns="36000" tIns="18000" rIns="36000" bIns="18000" rtlCol="0" anchor="ctr"/>
          <a:lstStyle/>
          <a:p>
            <a:pPr algn="ctr"/>
            <a:r>
              <a:rPr lang="ja-JP" sz="1185" b="1" dirty="0">
                <a:solidFill>
                  <a:srgbClr val="FFFFFF"/>
                </a:solidFill>
                <a:latin typeface="Helvetica Neue"/>
              </a:rPr>
              <a:t>Equilibration</a:t>
            </a:r>
            <a:endParaRPr sz="1185" b="1" dirty="0">
              <a:solidFill>
                <a:srgbClr val="FFFFFF"/>
              </a:solidFill>
              <a:latin typeface="Helvetica Neue"/>
            </a:endParaRPr>
          </a:p>
        </p:txBody>
      </p:sp>
      <p:cxnSp>
        <p:nvCxnSpPr>
          <p:cNvPr id="67" name="Connector 9">
            <a:extLst>
              <a:ext uri="{FF2B5EF4-FFF2-40B4-BE49-F238E27FC236}">
                <a16:creationId xmlns:a16="http://schemas.microsoft.com/office/drawing/2014/main" id="{96EDF70A-B387-7AE5-9452-453D74B3C3AF}"/>
              </a:ext>
            </a:extLst>
          </p:cNvPr>
          <p:cNvCxnSpPr>
            <a:cxnSpLocks/>
          </p:cNvCxnSpPr>
          <p:nvPr/>
        </p:nvCxnSpPr>
        <p:spPr>
          <a:xfrm flipV="1">
            <a:off x="7330040" y="3862081"/>
            <a:ext cx="316782" cy="3054"/>
          </a:xfrm>
          <a:prstGeom prst="line">
            <a:avLst/>
          </a:prstGeom>
          <a:ln w="50800">
            <a:solidFill>
              <a:srgbClr val="4B556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Connector 9">
            <a:extLst>
              <a:ext uri="{FF2B5EF4-FFF2-40B4-BE49-F238E27FC236}">
                <a16:creationId xmlns:a16="http://schemas.microsoft.com/office/drawing/2014/main" id="{D054D787-9D67-C510-28D4-27B40E6E499C}"/>
              </a:ext>
            </a:extLst>
          </p:cNvPr>
          <p:cNvCxnSpPr>
            <a:cxnSpLocks/>
          </p:cNvCxnSpPr>
          <p:nvPr/>
        </p:nvCxnSpPr>
        <p:spPr>
          <a:xfrm>
            <a:off x="8921386" y="4057082"/>
            <a:ext cx="431540" cy="194369"/>
          </a:xfrm>
          <a:prstGeom prst="line">
            <a:avLst/>
          </a:prstGeom>
          <a:ln w="50800">
            <a:solidFill>
              <a:srgbClr val="4B556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9" name="Connector 9">
            <a:extLst>
              <a:ext uri="{FF2B5EF4-FFF2-40B4-BE49-F238E27FC236}">
                <a16:creationId xmlns:a16="http://schemas.microsoft.com/office/drawing/2014/main" id="{27F63296-0938-1391-CDD1-5459860CEC6D}"/>
              </a:ext>
            </a:extLst>
          </p:cNvPr>
          <p:cNvCxnSpPr>
            <a:cxnSpLocks/>
          </p:cNvCxnSpPr>
          <p:nvPr/>
        </p:nvCxnSpPr>
        <p:spPr>
          <a:xfrm flipV="1">
            <a:off x="8918903" y="3135794"/>
            <a:ext cx="434022" cy="389487"/>
          </a:xfrm>
          <a:prstGeom prst="line">
            <a:avLst/>
          </a:prstGeom>
          <a:ln w="50800">
            <a:solidFill>
              <a:srgbClr val="4B556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8" name="Connector 9">
            <a:extLst>
              <a:ext uri="{FF2B5EF4-FFF2-40B4-BE49-F238E27FC236}">
                <a16:creationId xmlns:a16="http://schemas.microsoft.com/office/drawing/2014/main" id="{683E2EAF-CC46-8538-F856-532BC6642724}"/>
              </a:ext>
            </a:extLst>
          </p:cNvPr>
          <p:cNvCxnSpPr>
            <a:cxnSpLocks/>
          </p:cNvCxnSpPr>
          <p:nvPr/>
        </p:nvCxnSpPr>
        <p:spPr>
          <a:xfrm>
            <a:off x="9704864" y="3135794"/>
            <a:ext cx="0" cy="1086815"/>
          </a:xfrm>
          <a:prstGeom prst="line">
            <a:avLst/>
          </a:prstGeom>
          <a:ln w="66675">
            <a:solidFill>
              <a:srgbClr val="FF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1" name="TextBox 3">
            <a:extLst>
              <a:ext uri="{FF2B5EF4-FFF2-40B4-BE49-F238E27FC236}">
                <a16:creationId xmlns:a16="http://schemas.microsoft.com/office/drawing/2014/main" id="{047F9E10-62F2-562D-A895-0ECE93E1C74A}"/>
              </a:ext>
            </a:extLst>
          </p:cNvPr>
          <p:cNvSpPr txBox="1"/>
          <p:nvPr/>
        </p:nvSpPr>
        <p:spPr>
          <a:xfrm>
            <a:off x="9440078" y="3300309"/>
            <a:ext cx="1703222" cy="273613"/>
          </a:xfrm>
          <a:prstGeom prst="rect">
            <a:avLst/>
          </a:prstGeom>
          <a:noFill/>
        </p:spPr>
        <p:txBody>
          <a:bodyPr wrap="square" lIns="0" tIns="0" rIns="0" bIns="0" anchor="t">
            <a:spAutoFit/>
          </a:bodyPr>
          <a:lstStyle/>
          <a:p>
            <a:pPr algn="ctr">
              <a:lnSpc>
                <a:spcPct val="115000"/>
              </a:lnSpc>
              <a:spcAft>
                <a:spcPts val="0"/>
              </a:spcAft>
            </a:pPr>
            <a:r>
              <a:rPr sz="1693" b="1" i="0" dirty="0" lang="ja-JP">
                <a:solidFill>
                  <a:srgbClr val="DC2626"/>
                </a:solidFill>
                <a:latin typeface="Helvetica Neue"/>
              </a:rPr>
              <a:t>✗ FAILED</a:t>
            </a:r>
          </a:p>
        </p:txBody>
      </p:sp>
      <p:sp>
        <p:nvSpPr>
          <p:cNvPr id="92" name="TextBox 6">
            <a:extLst>
              <a:ext uri="{FF2B5EF4-FFF2-40B4-BE49-F238E27FC236}">
                <a16:creationId xmlns:a16="http://schemas.microsoft.com/office/drawing/2014/main" id="{BEF91797-66E4-B9CD-7B5A-0C4ADA57A8B9}"/>
              </a:ext>
            </a:extLst>
          </p:cNvPr>
          <p:cNvSpPr txBox="1"/>
          <p:nvPr/>
        </p:nvSpPr>
        <p:spPr>
          <a:xfrm>
            <a:off x="9086163" y="5085399"/>
            <a:ext cx="1703222" cy="273613"/>
          </a:xfrm>
          <a:prstGeom prst="rect">
            <a:avLst/>
          </a:prstGeom>
          <a:noFill/>
        </p:spPr>
        <p:txBody>
          <a:bodyPr wrap="square" lIns="0" tIns="0" rIns="0" bIns="0" anchor="t">
            <a:spAutoFit/>
          </a:bodyPr>
          <a:lstStyle/>
          <a:p>
            <a:pPr algn="ctr">
              <a:lnSpc>
                <a:spcPct val="115000"/>
              </a:lnSpc>
              <a:spcAft>
                <a:spcPts val="0"/>
              </a:spcAft>
            </a:pPr>
            <a:r>
              <a:rPr sz="1693" b="1" i="0" dirty="0" lang="ja-JP">
                <a:solidFill>
                  <a:srgbClr val="10B981"/>
                </a:solidFill>
                <a:latin typeface="Helvetica Neue"/>
              </a:rPr>
              <a:t>✓ COMPLETED</a:t>
            </a:r>
          </a:p>
        </p:txBody>
      </p:sp>
      <p:pic>
        <p:nvPicPr>
          <p:cNvPr id="95" name="Picture 2">
            <a:extLst>
              <a:ext uri="{FF2B5EF4-FFF2-40B4-BE49-F238E27FC236}">
                <a16:creationId xmlns:a16="http://schemas.microsoft.com/office/drawing/2014/main" id="{BADBE101-426A-491D-1925-5DF2DAC36EB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83262"/>
          <a:stretch>
            <a:fillRect/>
          </a:stretch>
        </p:blipFill>
        <p:spPr bwMode="auto">
          <a:xfrm>
            <a:off x="1307065" y="1790788"/>
            <a:ext cx="970229" cy="1539748"/>
          </a:xfrm>
          <a:prstGeom prst="rect">
            <a:avLst/>
          </a:prstGeom>
          <a:noFill/>
          <a:extLst>
            <a:ext uri="{909E8E84-426E-40DD-AFC4-6F175D3DCCD1}">
              <a14:hiddenFill xmlns:a14="http://schemas.microsoft.com/office/drawing/2010/main">
                <a:solidFill>
                  <a:srgbClr val="FFFFFF"/>
                </a:solidFill>
              </a14:hiddenFill>
            </a:ext>
          </a:extLst>
        </p:spPr>
      </p:pic>
      <p:pic>
        <p:nvPicPr>
          <p:cNvPr id="96" name="Picture 2">
            <a:extLst>
              <a:ext uri="{FF2B5EF4-FFF2-40B4-BE49-F238E27FC236}">
                <a16:creationId xmlns:a16="http://schemas.microsoft.com/office/drawing/2014/main" id="{E30FE372-17F9-81A4-83D5-389D9D2295F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1106" r="45864"/>
          <a:stretch>
            <a:fillRect/>
          </a:stretch>
        </p:blipFill>
        <p:spPr bwMode="auto">
          <a:xfrm>
            <a:off x="3000479" y="1790788"/>
            <a:ext cx="755262" cy="1539748"/>
          </a:xfrm>
          <a:prstGeom prst="rect">
            <a:avLst/>
          </a:prstGeom>
          <a:noFill/>
          <a:extLst>
            <a:ext uri="{909E8E84-426E-40DD-AFC4-6F175D3DCCD1}">
              <a14:hiddenFill xmlns:a14="http://schemas.microsoft.com/office/drawing/2010/main">
                <a:solidFill>
                  <a:srgbClr val="FFFFFF"/>
                </a:solidFill>
              </a14:hiddenFill>
            </a:ext>
          </a:extLst>
        </p:spPr>
      </p:pic>
      <p:pic>
        <p:nvPicPr>
          <p:cNvPr id="97" name="Picture 2">
            <a:extLst>
              <a:ext uri="{FF2B5EF4-FFF2-40B4-BE49-F238E27FC236}">
                <a16:creationId xmlns:a16="http://schemas.microsoft.com/office/drawing/2014/main" id="{0A6CF7A6-A140-1828-D989-01E42818C40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7474" r="23265"/>
          <a:stretch>
            <a:fillRect/>
          </a:stretch>
        </p:blipFill>
        <p:spPr bwMode="auto">
          <a:xfrm>
            <a:off x="4465856" y="1790788"/>
            <a:ext cx="1116429" cy="1539748"/>
          </a:xfrm>
          <a:prstGeom prst="rect">
            <a:avLst/>
          </a:prstGeom>
          <a:noFill/>
          <a:extLst>
            <a:ext uri="{909E8E84-426E-40DD-AFC4-6F175D3DCCD1}">
              <a14:hiddenFill xmlns:a14="http://schemas.microsoft.com/office/drawing/2010/main">
                <a:solidFill>
                  <a:srgbClr val="FFFFFF"/>
                </a:solidFill>
              </a14:hiddenFill>
            </a:ext>
          </a:extLst>
        </p:spPr>
      </p:pic>
      <p:sp>
        <p:nvSpPr>
          <p:cNvPr id="98" name="TextBox 97"/>
          <p:cNvSpPr txBox="1"/>
          <p:nvPr/>
        </p:nvSpPr>
        <p:spPr>
          <a:xfrm>
            <a:off x="438912" y="5925312"/>
            <a:ext cx="11155680" cy="566928"/>
          </a:xfrm>
          <a:prstGeom prst="rect">
            <a:avLst/>
          </a:prstGeom>
          <a:noFill/>
        </p:spPr>
        <p:txBody>
          <a:bodyPr wrap="square" lIns="0" rIns="0" tIns="0" bIns="0" anchor="t">
            <a:noAutofit/>
          </a:bodyPr>
          <a:lstStyle/>
          <a:p>
            <a:pPr algn="l">
              <a:lnSpc>
                <a:spcPts val="2160"/>
              </a:lnSpc>
            </a:pPr>
            <a:r>
              <a:rPr sz="1600" b="0" lang="ja-JP" altLang="en-US" i="0">
                <a:solidFill>
                  <a:srgbClr val="333333"/>
                </a:solidFill>
                <a:latin typeface="Noto Sans JP"/>
                <a:ea typeface="Noto Sans JP"/>
              </a:rPr>
              <a:t>同じ条件の再試行は同じノードの別Attemptとして残す。条件を変える場合は新しいノードや分岐にする。</a:t>
            </a:r>
          </a:p>
        </p:txBody>
      </p:sp>
      <p:sp>
        <p:nvSpPr>
          <p:cNvPr id="99" name="TextBox 9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正方形/長方形 1">
            <a:extLst>
              <a:ext uri="{FF2B5EF4-FFF2-40B4-BE49-F238E27FC236}">
                <a16:creationId xmlns:a16="http://schemas.microsoft.com/office/drawing/2014/main" id="{D8175D1E-9B78-93EB-454F-3F09532E1F70}"/>
              </a:ext>
            </a:extLst>
          </p:cNvPr>
          <p:cNvSpPr>
            <a:spLocks noGrp="1"/>
          </p:cNvSpPr>
          <p:nvPr/>
        </p:nvSpPr>
        <p:spPr>
          <a:xfrm>
            <a:off x="934567" y="54864"/>
            <a:ext cx="10322560" cy="64516"/>
          </a:xfrm>
          <a:prstGeom prst="rect">
            <a:avLst/>
          </a:prstGeom>
          <a:solidFill>
            <a:srgbClr val="111827"/>
          </a:solidFill>
          <a:ln w="0">
            <a:solidFill>
              <a:srgbClr val="000000">
                <a:alpha val="0"/>
              </a:srgbClr>
            </a:solidFill>
            <a:prstDash val="solid"/>
          </a:ln>
        </p:spPr>
        <p:txBody>
          <a:bodyPr/>
          <a:lstStyle/>
          <a:p>
            <a:endParaRPr lang="ja-JP" altLang="en-US"/>
          </a:p>
        </p:txBody>
      </p:sp>
      <p:sp>
        <p:nvSpPr>
          <p:cNvPr id="3" name="正方形/長方形 2">
            <a:extLst>
              <a:ext uri="{FF2B5EF4-FFF2-40B4-BE49-F238E27FC236}">
                <a16:creationId xmlns:a16="http://schemas.microsoft.com/office/drawing/2014/main" id="{9579A9B4-0944-26BA-D251-33C2DA3FE803}"/>
              </a:ext>
            </a:extLst>
          </p:cNvPr>
          <p:cNvSpPr>
            <a:spLocks noGrp="1"/>
          </p:cNvSpPr>
          <p:nvPr/>
        </p:nvSpPr>
        <p:spPr>
          <a:xfrm>
            <a:off x="1224889" y="329057"/>
            <a:ext cx="145161" cy="145161"/>
          </a:xfrm>
          <a:prstGeom prst="rect">
            <a:avLst/>
          </a:prstGeom>
          <a:solidFill>
            <a:srgbClr val="0E3A75"/>
          </a:solidFill>
          <a:ln w="0">
            <a:solidFill>
              <a:srgbClr val="000000">
                <a:alpha val="0"/>
              </a:srgbClr>
            </a:solidFill>
            <a:prstDash val="solid"/>
          </a:ln>
        </p:spPr>
        <p:txBody>
          <a:bodyPr/>
          <a:lstStyle/>
          <a:p>
            <a:endParaRPr lang="ja-JP" altLang="en-US"/>
          </a:p>
        </p:txBody>
      </p:sp>
      <p:sp>
        <p:nvSpPr>
          <p:cNvPr id="4" name="正方形/長方形 3">
            <a:extLst>
              <a:ext uri="{FF2B5EF4-FFF2-40B4-BE49-F238E27FC236}">
                <a16:creationId xmlns:a16="http://schemas.microsoft.com/office/drawing/2014/main" id="{288CA09E-8C25-6C2A-2F1E-866D6DC628E1}"/>
              </a:ext>
            </a:extLst>
          </p:cNvPr>
          <p:cNvSpPr>
            <a:spLocks noGrp="1"/>
          </p:cNvSpPr>
          <p:nvPr/>
        </p:nvSpPr>
        <p:spPr>
          <a:xfrm>
            <a:off x="1224889" y="562927"/>
            <a:ext cx="1919351" cy="24193"/>
          </a:xfrm>
          <a:prstGeom prst="rect">
            <a:avLst/>
          </a:prstGeom>
          <a:solidFill>
            <a:srgbClr val="0E3A75"/>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77BBD530-2286-A4BC-D0D5-97B4B0117D5C}"/>
              </a:ext>
            </a:extLst>
          </p:cNvPr>
          <p:cNvSpPr>
            <a:spLocks noGrp="1"/>
          </p:cNvSpPr>
          <p:nvPr/>
        </p:nvSpPr>
        <p:spPr>
          <a:xfrm>
            <a:off x="1482953" y="304863"/>
            <a:ext cx="3790315" cy="225806"/>
          </a:xfrm>
          <a:prstGeom prst="rect">
            <a:avLst/>
          </a:prstGeom>
          <a:solidFill>
            <a:srgbClr val="000000">
              <a:alpha val="0"/>
            </a:srgbClr>
          </a:solidFill>
          <a:ln w="0">
            <a:solidFill>
              <a:srgbClr val="000000">
                <a:alpha val="0"/>
              </a:srgbClr>
            </a:solidFill>
            <a:prstDash val="solid"/>
          </a:ln>
        </p:spPr>
        <p:txBody>
          <a:bodyPr lIns="0" tIns="0" rIns="0" bIns="0" anchor="t"/>
          <a:lstStyle/>
          <a:p/>
        </p:txBody>
      </p:sp>
      <p:sp>
        <p:nvSpPr>
          <p:cNvPr id="6" name="正方形/長方形 5">
            <a:extLst>
              <a:ext uri="{FF2B5EF4-FFF2-40B4-BE49-F238E27FC236}">
                <a16:creationId xmlns:a16="http://schemas.microsoft.com/office/drawing/2014/main" id="{95FC7EB7-040D-C5FC-EAB5-707AFBC2EBDC}"/>
              </a:ext>
            </a:extLst>
          </p:cNvPr>
          <p:cNvSpPr>
            <a:spLocks noGrp="1"/>
          </p:cNvSpPr>
          <p:nvPr/>
        </p:nvSpPr>
        <p:spPr>
          <a:xfrm>
            <a:off x="594360" y="585216"/>
            <a:ext cx="10972800" cy="594360"/>
          </a:xfrm>
          <a:prstGeom prst="rect">
            <a:avLst/>
          </a:prstGeom>
          <a:solidFill>
            <a:srgbClr val="000000">
              <a:alpha val="0"/>
            </a:srgbClr>
          </a:solidFill>
          <a:ln w="0">
            <a:solidFill>
              <a:srgbClr val="000000">
                <a:alpha val="0"/>
              </a:srgbClr>
            </a:solidFill>
            <a:prstDash val="solid"/>
          </a:ln>
        </p:spPr>
        <p:txBody>
          <a:bodyPr lIns="0" tIns="0" rIns="0" bIns="0" anchor="t" wrap="square"/>
          <a:lstStyle/>
          <a:p>
            <a:pPr algn="l">
              <a:lnSpc>
                <a:spcPts val="3479"/>
              </a:lnSpc>
              <a:spcBef>
                <a:spcPts val="0"/>
              </a:spcBef>
              <a:spcAft>
                <a:spcPts val="0"/>
              </a:spcAft>
            </a:pPr>
            <a:r>
              <a:rPr sz="2900" b="1" i="0" lang="ja-JP">
                <a:solidFill>
                  <a:srgbClr val="171717"/>
                </a:solidFill>
                <a:latin typeface="Noto Sans JP"/>
              </a:rPr>
              <a:t>乱数・温度・変異など、変更した条件を分岐に残す</a:t>
            </a:r>
          </a:p>
        </p:txBody>
      </p:sp>
      <p:sp>
        <p:nvSpPr>
          <p:cNvPr id="10" name="Rounded Rectangle 2">
            <a:extLst>
              <a:ext uri="{FF2B5EF4-FFF2-40B4-BE49-F238E27FC236}">
                <a16:creationId xmlns:a16="http://schemas.microsoft.com/office/drawing/2014/main" id="{B5651AA0-C7E7-1586-D9AA-7CBB8B3A37F4}"/>
              </a:ext>
            </a:extLst>
          </p:cNvPr>
          <p:cNvSpPr/>
          <p:nvPr/>
        </p:nvSpPr>
        <p:spPr>
          <a:xfrm>
            <a:off x="1099942" y="2760428"/>
            <a:ext cx="1416395" cy="741921"/>
          </a:xfrm>
          <a:prstGeom prst="round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wrap="square" lIns="36000" tIns="18000" rIns="36000" bIns="18000" rtlCol="0" anchor="ctr"/>
          <a:lstStyle/>
          <a:p>
            <a:pPr algn="ctr"/>
            <a:r>
              <a:rPr lang="ja-JP" sz="1185" b="1" dirty="0">
                <a:solidFill>
                  <a:srgbClr val="FFFFFF"/>
                </a:solidFill>
                <a:latin typeface="Helvetica Neue"/>
              </a:rPr>
              <a:t>F</a:t>
            </a:r>
            <a:r>
              <a:rPr sz="1185" b="1" dirty="0" lang="ja-JP">
                <a:solidFill>
                  <a:srgbClr val="FFFFFF"/>
                </a:solidFill>
                <a:latin typeface="Helvetica Neue"/>
              </a:rPr>
              <a:t>etch</a:t>
            </a:r>
            <a:r>
              <a:rPr lang="ja-JP" sz="1185" b="1" dirty="0">
                <a:solidFill>
                  <a:srgbClr val="FFFFFF"/>
                </a:solidFill>
                <a:latin typeface="Helvetica Neue"/>
              </a:rPr>
              <a:t> / predict</a:t>
            </a:r>
          </a:p>
          <a:p>
            <a:pPr algn="ctr"/>
            <a:r>
              <a:rPr lang="ja-JP" sz="1185" b="1" dirty="0">
                <a:solidFill>
                  <a:srgbClr val="FFFFFF"/>
                </a:solidFill>
                <a:latin typeface="Helvetica Neue"/>
              </a:rPr>
              <a:t>structure</a:t>
            </a:r>
            <a:endParaRPr sz="1185" b="1" dirty="0">
              <a:solidFill>
                <a:srgbClr val="FFFFFF"/>
              </a:solidFill>
              <a:latin typeface="Helvetica Neue"/>
            </a:endParaRPr>
          </a:p>
        </p:txBody>
      </p:sp>
      <p:sp>
        <p:nvSpPr>
          <p:cNvPr id="11" name="Rounded Rectangle 3">
            <a:extLst>
              <a:ext uri="{FF2B5EF4-FFF2-40B4-BE49-F238E27FC236}">
                <a16:creationId xmlns:a16="http://schemas.microsoft.com/office/drawing/2014/main" id="{980212CD-9F8F-633E-9142-BA4A155A9454}"/>
              </a:ext>
            </a:extLst>
          </p:cNvPr>
          <p:cNvSpPr/>
          <p:nvPr/>
        </p:nvSpPr>
        <p:spPr>
          <a:xfrm>
            <a:off x="2774858" y="2781293"/>
            <a:ext cx="1376558" cy="721054"/>
          </a:xfrm>
          <a:prstGeom prst="roundRect">
            <a:avLst/>
          </a:prstGeom>
          <a:solidFill>
            <a:srgbClr val="2B73E6"/>
          </a:solidFill>
          <a:ln>
            <a:solidFill>
              <a:srgbClr val="2B73E6"/>
            </a:solidFill>
          </a:ln>
        </p:spPr>
        <p:style>
          <a:lnRef idx="1">
            <a:schemeClr val="accent1"/>
          </a:lnRef>
          <a:fillRef idx="3">
            <a:schemeClr val="accent1"/>
          </a:fillRef>
          <a:effectRef idx="2">
            <a:schemeClr val="accent1"/>
          </a:effectRef>
          <a:fontRef idx="minor">
            <a:schemeClr val="lt1"/>
          </a:fontRef>
        </p:style>
        <p:txBody>
          <a:bodyPr wrap="square" lIns="36000" tIns="18000" rIns="36000" bIns="18000" rtlCol="0" anchor="ctr"/>
          <a:lstStyle/>
          <a:p>
            <a:pPr algn="ctr"/>
            <a:r>
              <a:rPr lang="ja-JP" sz="1185" b="1" dirty="0">
                <a:solidFill>
                  <a:srgbClr val="FFFFFF"/>
                </a:solidFill>
                <a:latin typeface="Helvetica Neue"/>
              </a:rPr>
              <a:t>Clean</a:t>
            </a:r>
            <a:br>
              <a:rPr lang="en-US" sz="1185" b="1" dirty="0">
                <a:solidFill>
                  <a:srgbClr val="FFFFFF"/>
                </a:solidFill>
                <a:latin typeface="Helvetica Neue"/>
              </a:rPr>
            </a:br>
            <a:r>
              <a:rPr lang="ja-JP" sz="1185" b="1" dirty="0">
                <a:solidFill>
                  <a:srgbClr val="FFFFFF"/>
                </a:solidFill>
                <a:latin typeface="Helvetica Neue"/>
              </a:rPr>
              <a:t>structure</a:t>
            </a:r>
            <a:endParaRPr sz="1185" b="1" dirty="0">
              <a:solidFill>
                <a:srgbClr val="FFFFFF"/>
              </a:solidFill>
              <a:latin typeface="Helvetica Neue"/>
            </a:endParaRPr>
          </a:p>
        </p:txBody>
      </p:sp>
      <p:sp>
        <p:nvSpPr>
          <p:cNvPr id="15" name="Rounded Rectangle 7">
            <a:extLst>
              <a:ext uri="{FF2B5EF4-FFF2-40B4-BE49-F238E27FC236}">
                <a16:creationId xmlns:a16="http://schemas.microsoft.com/office/drawing/2014/main" id="{3BA0E0FD-53E6-C282-4BE2-C7CEEE09B620}"/>
              </a:ext>
            </a:extLst>
          </p:cNvPr>
          <p:cNvSpPr/>
          <p:nvPr/>
        </p:nvSpPr>
        <p:spPr>
          <a:xfrm>
            <a:off x="9161842" y="2774916"/>
            <a:ext cx="1361073" cy="712943"/>
          </a:xfrm>
          <a:prstGeom prst="roundRect">
            <a:avLst/>
          </a:prstGeom>
          <a:solidFill>
            <a:srgbClr val="8B5CF6"/>
          </a:solidFill>
          <a:ln>
            <a:solidFill>
              <a:srgbClr val="8B5CF6"/>
            </a:solidFill>
          </a:ln>
        </p:spPr>
        <p:style>
          <a:lnRef idx="1">
            <a:schemeClr val="accent1"/>
          </a:lnRef>
          <a:fillRef idx="3">
            <a:schemeClr val="accent1"/>
          </a:fillRef>
          <a:effectRef idx="2">
            <a:schemeClr val="accent1"/>
          </a:effectRef>
          <a:fontRef idx="minor">
            <a:schemeClr val="lt1"/>
          </a:fontRef>
        </p:style>
        <p:txBody>
          <a:bodyPr wrap="square" lIns="36000" tIns="18000" rIns="36000" bIns="18000" rtlCol="0" anchor="ctr"/>
          <a:lstStyle/>
          <a:p>
            <a:pPr algn="ctr"/>
            <a:r>
              <a:rPr lang="ja-JP" sz="1185" b="1" dirty="0">
                <a:solidFill>
                  <a:srgbClr val="FFFFFF"/>
                </a:solidFill>
                <a:latin typeface="Helvetica Neue"/>
              </a:rPr>
              <a:t>Production 001</a:t>
            </a:r>
            <a:endParaRPr sz="1185" b="1" dirty="0">
              <a:solidFill>
                <a:srgbClr val="FFFFFF"/>
              </a:solidFill>
              <a:latin typeface="Helvetica Neue"/>
            </a:endParaRPr>
          </a:p>
        </p:txBody>
      </p:sp>
      <p:cxnSp>
        <p:nvCxnSpPr>
          <p:cNvPr id="17" name="Connector 9">
            <a:extLst>
              <a:ext uri="{FF2B5EF4-FFF2-40B4-BE49-F238E27FC236}">
                <a16:creationId xmlns:a16="http://schemas.microsoft.com/office/drawing/2014/main" id="{C357CE5D-C829-6B65-9109-94C766618D26}"/>
              </a:ext>
            </a:extLst>
          </p:cNvPr>
          <p:cNvCxnSpPr>
            <a:cxnSpLocks/>
            <a:endCxn id="11" idx="1"/>
          </p:cNvCxnSpPr>
          <p:nvPr/>
        </p:nvCxnSpPr>
        <p:spPr>
          <a:xfrm flipV="1">
            <a:off x="2458075" y="3141820"/>
            <a:ext cx="316782" cy="3054"/>
          </a:xfrm>
          <a:prstGeom prst="line">
            <a:avLst/>
          </a:prstGeom>
          <a:ln w="50800">
            <a:solidFill>
              <a:srgbClr val="4B556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0">
            <a:extLst>
              <a:ext uri="{FF2B5EF4-FFF2-40B4-BE49-F238E27FC236}">
                <a16:creationId xmlns:a16="http://schemas.microsoft.com/office/drawing/2014/main" id="{F3698523-B64E-6C7A-DDEC-A2E0CA32D414}"/>
              </a:ext>
            </a:extLst>
          </p:cNvPr>
          <p:cNvCxnSpPr/>
          <p:nvPr/>
        </p:nvCxnSpPr>
        <p:spPr>
          <a:xfrm>
            <a:off x="5217796" y="3074918"/>
            <a:ext cx="116127" cy="0"/>
          </a:xfrm>
          <a:prstGeom prst="line">
            <a:avLst/>
          </a:prstGeom>
          <a:ln w="19050">
            <a:solidFill>
              <a:srgbClr val="4B556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1">
            <a:extLst>
              <a:ext uri="{FF2B5EF4-FFF2-40B4-BE49-F238E27FC236}">
                <a16:creationId xmlns:a16="http://schemas.microsoft.com/office/drawing/2014/main" id="{4C7DB6C9-68E1-EFF7-F2A4-5B5B9747E052}"/>
              </a:ext>
            </a:extLst>
          </p:cNvPr>
          <p:cNvCxnSpPr/>
          <p:nvPr/>
        </p:nvCxnSpPr>
        <p:spPr>
          <a:xfrm>
            <a:off x="6146826" y="3074918"/>
            <a:ext cx="116129" cy="0"/>
          </a:xfrm>
          <a:prstGeom prst="line">
            <a:avLst/>
          </a:prstGeom>
          <a:ln w="19050">
            <a:solidFill>
              <a:srgbClr val="4B556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2">
            <a:extLst>
              <a:ext uri="{FF2B5EF4-FFF2-40B4-BE49-F238E27FC236}">
                <a16:creationId xmlns:a16="http://schemas.microsoft.com/office/drawing/2014/main" id="{6C03F2E9-ABEE-24F5-7D14-A0F24592046A}"/>
              </a:ext>
            </a:extLst>
          </p:cNvPr>
          <p:cNvCxnSpPr/>
          <p:nvPr/>
        </p:nvCxnSpPr>
        <p:spPr>
          <a:xfrm>
            <a:off x="7159438" y="3109470"/>
            <a:ext cx="116128" cy="0"/>
          </a:xfrm>
          <a:prstGeom prst="line">
            <a:avLst/>
          </a:prstGeom>
          <a:ln w="19050">
            <a:solidFill>
              <a:srgbClr val="4B55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3">
            <a:extLst>
              <a:ext uri="{FF2B5EF4-FFF2-40B4-BE49-F238E27FC236}">
                <a16:creationId xmlns:a16="http://schemas.microsoft.com/office/drawing/2014/main" id="{085C7ACC-AC50-B63A-61C5-F19D66B09AF5}"/>
              </a:ext>
            </a:extLst>
          </p:cNvPr>
          <p:cNvSpPr/>
          <p:nvPr/>
        </p:nvSpPr>
        <p:spPr>
          <a:xfrm>
            <a:off x="4421881" y="2781293"/>
            <a:ext cx="1376558" cy="721054"/>
          </a:xfrm>
          <a:prstGeom prst="roundRect">
            <a:avLst/>
          </a:prstGeom>
          <a:solidFill>
            <a:srgbClr val="2B73E6"/>
          </a:solidFill>
          <a:ln>
            <a:solidFill>
              <a:srgbClr val="2B73E6"/>
            </a:solidFill>
          </a:ln>
        </p:spPr>
        <p:style>
          <a:lnRef idx="1">
            <a:schemeClr val="accent1"/>
          </a:lnRef>
          <a:fillRef idx="3">
            <a:schemeClr val="accent1"/>
          </a:fillRef>
          <a:effectRef idx="2">
            <a:schemeClr val="accent1"/>
          </a:effectRef>
          <a:fontRef idx="minor">
            <a:schemeClr val="lt1"/>
          </a:fontRef>
        </p:style>
        <p:txBody>
          <a:bodyPr wrap="square" lIns="36000" tIns="18000" rIns="36000" bIns="18000" rtlCol="0" anchor="ctr"/>
          <a:lstStyle/>
          <a:p>
            <a:pPr algn="ctr"/>
            <a:r>
              <a:rPr lang="ja-JP" sz="1185" b="1" dirty="0">
                <a:solidFill>
                  <a:srgbClr val="FFFFFF"/>
                </a:solidFill>
                <a:latin typeface="Helvetica Neue"/>
              </a:rPr>
              <a:t>Solvation</a:t>
            </a:r>
            <a:endParaRPr sz="1185" b="1" dirty="0">
              <a:solidFill>
                <a:srgbClr val="FFFFFF"/>
              </a:solidFill>
              <a:latin typeface="Helvetica Neue"/>
            </a:endParaRPr>
          </a:p>
        </p:txBody>
      </p:sp>
      <p:sp>
        <p:nvSpPr>
          <p:cNvPr id="40" name="Rounded Rectangle 3">
            <a:extLst>
              <a:ext uri="{FF2B5EF4-FFF2-40B4-BE49-F238E27FC236}">
                <a16:creationId xmlns:a16="http://schemas.microsoft.com/office/drawing/2014/main" id="{587DB435-08E3-FDE8-483A-148D5A17DF9B}"/>
              </a:ext>
            </a:extLst>
          </p:cNvPr>
          <p:cNvSpPr/>
          <p:nvPr/>
        </p:nvSpPr>
        <p:spPr>
          <a:xfrm>
            <a:off x="6050672" y="2760428"/>
            <a:ext cx="1376558" cy="721054"/>
          </a:xfrm>
          <a:prstGeom prst="roundRect">
            <a:avLst/>
          </a:prstGeom>
          <a:solidFill>
            <a:srgbClr val="2B73E6"/>
          </a:solidFill>
          <a:ln>
            <a:solidFill>
              <a:srgbClr val="2B73E6"/>
            </a:solidFill>
          </a:ln>
        </p:spPr>
        <p:style>
          <a:lnRef idx="1">
            <a:schemeClr val="accent1"/>
          </a:lnRef>
          <a:fillRef idx="3">
            <a:schemeClr val="accent1"/>
          </a:fillRef>
          <a:effectRef idx="2">
            <a:schemeClr val="accent1"/>
          </a:effectRef>
          <a:fontRef idx="minor">
            <a:schemeClr val="lt1"/>
          </a:fontRef>
        </p:style>
        <p:txBody>
          <a:bodyPr wrap="square" lIns="36000" tIns="18000" rIns="36000" bIns="18000" rtlCol="0" anchor="ctr"/>
          <a:lstStyle/>
          <a:p>
            <a:pPr algn="ctr"/>
            <a:r>
              <a:rPr lang="ja-JP" sz="1185" b="1" dirty="0">
                <a:solidFill>
                  <a:srgbClr val="FFFFFF"/>
                </a:solidFill>
                <a:latin typeface="Helvetica Neue"/>
              </a:rPr>
              <a:t>Topology</a:t>
            </a:r>
            <a:endParaRPr sz="1185" b="1" dirty="0">
              <a:solidFill>
                <a:srgbClr val="FFFFFF"/>
              </a:solidFill>
              <a:latin typeface="Helvetica Neue"/>
            </a:endParaRPr>
          </a:p>
        </p:txBody>
      </p:sp>
      <p:cxnSp>
        <p:nvCxnSpPr>
          <p:cNvPr id="41" name="Connector 9">
            <a:extLst>
              <a:ext uri="{FF2B5EF4-FFF2-40B4-BE49-F238E27FC236}">
                <a16:creationId xmlns:a16="http://schemas.microsoft.com/office/drawing/2014/main" id="{F1BA076A-3FCC-5193-729C-6B35C1CDC164}"/>
              </a:ext>
            </a:extLst>
          </p:cNvPr>
          <p:cNvCxnSpPr>
            <a:cxnSpLocks/>
          </p:cNvCxnSpPr>
          <p:nvPr/>
        </p:nvCxnSpPr>
        <p:spPr>
          <a:xfrm flipV="1">
            <a:off x="4122491" y="3141819"/>
            <a:ext cx="316782" cy="3054"/>
          </a:xfrm>
          <a:prstGeom prst="line">
            <a:avLst/>
          </a:prstGeom>
          <a:ln w="50800">
            <a:solidFill>
              <a:srgbClr val="4B556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9">
            <a:extLst>
              <a:ext uri="{FF2B5EF4-FFF2-40B4-BE49-F238E27FC236}">
                <a16:creationId xmlns:a16="http://schemas.microsoft.com/office/drawing/2014/main" id="{78CF8118-0211-6C4C-CB9E-0734B11782BE}"/>
              </a:ext>
            </a:extLst>
          </p:cNvPr>
          <p:cNvCxnSpPr>
            <a:cxnSpLocks/>
          </p:cNvCxnSpPr>
          <p:nvPr/>
        </p:nvCxnSpPr>
        <p:spPr>
          <a:xfrm flipV="1">
            <a:off x="5736960" y="3141819"/>
            <a:ext cx="316782" cy="3054"/>
          </a:xfrm>
          <a:prstGeom prst="line">
            <a:avLst/>
          </a:prstGeom>
          <a:ln w="50800">
            <a:solidFill>
              <a:srgbClr val="4B55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le 7">
            <a:extLst>
              <a:ext uri="{FF2B5EF4-FFF2-40B4-BE49-F238E27FC236}">
                <a16:creationId xmlns:a16="http://schemas.microsoft.com/office/drawing/2014/main" id="{A39C8C60-DCE1-7BA1-0130-8D621A25AF93}"/>
              </a:ext>
            </a:extLst>
          </p:cNvPr>
          <p:cNvSpPr/>
          <p:nvPr/>
        </p:nvSpPr>
        <p:spPr>
          <a:xfrm>
            <a:off x="9161842" y="1775624"/>
            <a:ext cx="1361073" cy="712943"/>
          </a:xfrm>
          <a:prstGeom prst="roundRect">
            <a:avLst/>
          </a:prstGeom>
          <a:solidFill>
            <a:srgbClr val="8B5CF6"/>
          </a:solidFill>
          <a:ln>
            <a:solidFill>
              <a:srgbClr val="8B5CF6"/>
            </a:solidFill>
          </a:ln>
        </p:spPr>
        <p:style>
          <a:lnRef idx="1">
            <a:schemeClr val="accent1"/>
          </a:lnRef>
          <a:fillRef idx="3">
            <a:schemeClr val="accent1"/>
          </a:fillRef>
          <a:effectRef idx="2">
            <a:schemeClr val="accent1"/>
          </a:effectRef>
          <a:fontRef idx="minor">
            <a:schemeClr val="lt1"/>
          </a:fontRef>
        </p:style>
        <p:txBody>
          <a:bodyPr wrap="square" lIns="36000" tIns="18000" rIns="36000" bIns="18000" rtlCol="0" anchor="ctr"/>
          <a:lstStyle/>
          <a:p>
            <a:pPr algn="ctr"/>
            <a:r>
              <a:rPr lang="ja-JP" sz="1185" b="1" dirty="0">
                <a:solidFill>
                  <a:srgbClr val="FFFFFF"/>
                </a:solidFill>
                <a:latin typeface="Helvetica Neue"/>
              </a:rPr>
              <a:t>Production 002</a:t>
            </a:r>
          </a:p>
          <a:p>
            <a:pPr algn="ctr"/>
            <a:r>
              <a:rPr lang="ja-JP" sz="1185" b="1" dirty="0">
                <a:solidFill>
                  <a:srgbClr val="FFFFFF"/>
                </a:solidFill>
                <a:latin typeface="Helvetica Neue"/>
              </a:rPr>
              <a:t>seed=777</a:t>
            </a:r>
            <a:endParaRPr sz="1185" b="1" dirty="0">
              <a:solidFill>
                <a:srgbClr val="FFFFFF"/>
              </a:solidFill>
              <a:latin typeface="Helvetica Neue"/>
            </a:endParaRPr>
          </a:p>
        </p:txBody>
      </p:sp>
      <p:sp>
        <p:nvSpPr>
          <p:cNvPr id="45" name="Rounded Rectangle 16">
            <a:extLst>
              <a:ext uri="{FF2B5EF4-FFF2-40B4-BE49-F238E27FC236}">
                <a16:creationId xmlns:a16="http://schemas.microsoft.com/office/drawing/2014/main" id="{A2678221-1D5A-AF78-6E7C-A5A57EB9B661}"/>
              </a:ext>
            </a:extLst>
          </p:cNvPr>
          <p:cNvSpPr/>
          <p:nvPr/>
        </p:nvSpPr>
        <p:spPr>
          <a:xfrm>
            <a:off x="7587384" y="2760428"/>
            <a:ext cx="1376554" cy="72105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wrap="square" lIns="36000" tIns="18000" rIns="36000" bIns="18000" rtlCol="0" anchor="ctr"/>
          <a:lstStyle/>
          <a:p>
            <a:pPr algn="ctr"/>
            <a:r>
              <a:rPr lang="ja-JP" sz="1185" b="1" dirty="0">
                <a:solidFill>
                  <a:srgbClr val="FFFFFF"/>
                </a:solidFill>
                <a:latin typeface="Helvetica Neue"/>
              </a:rPr>
              <a:t>Equilibration</a:t>
            </a:r>
            <a:endParaRPr sz="1185" b="1" dirty="0">
              <a:solidFill>
                <a:srgbClr val="FFFFFF"/>
              </a:solidFill>
              <a:latin typeface="Helvetica Neue"/>
            </a:endParaRPr>
          </a:p>
        </p:txBody>
      </p:sp>
      <p:sp>
        <p:nvSpPr>
          <p:cNvPr id="46" name="Rounded Rectangle 7">
            <a:extLst>
              <a:ext uri="{FF2B5EF4-FFF2-40B4-BE49-F238E27FC236}">
                <a16:creationId xmlns:a16="http://schemas.microsoft.com/office/drawing/2014/main" id="{EB516BAB-037F-FECB-8790-CE08A44C64E6}"/>
              </a:ext>
            </a:extLst>
          </p:cNvPr>
          <p:cNvSpPr/>
          <p:nvPr/>
        </p:nvSpPr>
        <p:spPr>
          <a:xfrm>
            <a:off x="9189313" y="3643571"/>
            <a:ext cx="1361073" cy="712943"/>
          </a:xfrm>
          <a:prstGeom prst="roundRect">
            <a:avLst/>
          </a:prstGeom>
          <a:solidFill>
            <a:srgbClr val="8B5CF6"/>
          </a:solidFill>
          <a:ln>
            <a:solidFill>
              <a:srgbClr val="8B5CF6"/>
            </a:solidFill>
          </a:ln>
        </p:spPr>
        <p:style>
          <a:lnRef idx="1">
            <a:schemeClr val="accent1"/>
          </a:lnRef>
          <a:fillRef idx="3">
            <a:schemeClr val="accent1"/>
          </a:fillRef>
          <a:effectRef idx="2">
            <a:schemeClr val="accent1"/>
          </a:effectRef>
          <a:fontRef idx="minor">
            <a:schemeClr val="lt1"/>
          </a:fontRef>
        </p:style>
        <p:txBody>
          <a:bodyPr wrap="square" lIns="36000" tIns="18000" rIns="36000" bIns="18000" rtlCol="0" anchor="ctr"/>
          <a:lstStyle/>
          <a:p>
            <a:pPr algn="ctr"/>
            <a:r>
              <a:rPr lang="ja-JP" sz="1185" b="1" dirty="0">
                <a:solidFill>
                  <a:srgbClr val="FFFFFF"/>
                </a:solidFill>
                <a:latin typeface="Helvetica Neue"/>
              </a:rPr>
              <a:t>Production 003</a:t>
            </a:r>
          </a:p>
          <a:p>
            <a:pPr algn="ctr"/>
            <a:r>
              <a:rPr lang="ja-JP" sz="1185" b="1" dirty="0">
                <a:solidFill>
                  <a:srgbClr val="FFFFFF"/>
                </a:solidFill>
                <a:latin typeface="Helvetica Neue"/>
              </a:rPr>
              <a:t>T=320 K</a:t>
            </a:r>
            <a:endParaRPr sz="1185" b="1" dirty="0">
              <a:solidFill>
                <a:srgbClr val="FFFFFF"/>
              </a:solidFill>
              <a:latin typeface="Helvetica Neue"/>
            </a:endParaRPr>
          </a:p>
        </p:txBody>
      </p:sp>
      <p:cxnSp>
        <p:nvCxnSpPr>
          <p:cNvPr id="48" name="Connector 9">
            <a:extLst>
              <a:ext uri="{FF2B5EF4-FFF2-40B4-BE49-F238E27FC236}">
                <a16:creationId xmlns:a16="http://schemas.microsoft.com/office/drawing/2014/main" id="{C4557AB1-3498-D77A-A696-61B88B59C869}"/>
              </a:ext>
            </a:extLst>
          </p:cNvPr>
          <p:cNvCxnSpPr>
            <a:cxnSpLocks/>
          </p:cNvCxnSpPr>
          <p:nvPr/>
        </p:nvCxnSpPr>
        <p:spPr>
          <a:xfrm flipV="1">
            <a:off x="7330040" y="3141819"/>
            <a:ext cx="316782" cy="3054"/>
          </a:xfrm>
          <a:prstGeom prst="line">
            <a:avLst/>
          </a:prstGeom>
          <a:ln w="50800">
            <a:solidFill>
              <a:srgbClr val="4B556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9">
            <a:extLst>
              <a:ext uri="{FF2B5EF4-FFF2-40B4-BE49-F238E27FC236}">
                <a16:creationId xmlns:a16="http://schemas.microsoft.com/office/drawing/2014/main" id="{FF750A3B-5A54-B0CC-3713-3750FBAFAE1E}"/>
              </a:ext>
            </a:extLst>
          </p:cNvPr>
          <p:cNvCxnSpPr>
            <a:cxnSpLocks/>
          </p:cNvCxnSpPr>
          <p:nvPr/>
        </p:nvCxnSpPr>
        <p:spPr>
          <a:xfrm flipV="1">
            <a:off x="8873174" y="3141819"/>
            <a:ext cx="316782" cy="3054"/>
          </a:xfrm>
          <a:prstGeom prst="line">
            <a:avLst/>
          </a:prstGeom>
          <a:ln w="50800">
            <a:solidFill>
              <a:srgbClr val="4B556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9">
            <a:extLst>
              <a:ext uri="{FF2B5EF4-FFF2-40B4-BE49-F238E27FC236}">
                <a16:creationId xmlns:a16="http://schemas.microsoft.com/office/drawing/2014/main" id="{1D0606D8-0CE9-3A57-CE9E-7F0BC690E7DA}"/>
              </a:ext>
            </a:extLst>
          </p:cNvPr>
          <p:cNvCxnSpPr>
            <a:cxnSpLocks/>
          </p:cNvCxnSpPr>
          <p:nvPr/>
        </p:nvCxnSpPr>
        <p:spPr>
          <a:xfrm flipV="1">
            <a:off x="8763552" y="2450752"/>
            <a:ext cx="458906" cy="478165"/>
          </a:xfrm>
          <a:prstGeom prst="line">
            <a:avLst/>
          </a:prstGeom>
          <a:ln w="50800">
            <a:solidFill>
              <a:srgbClr val="4B55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Rounded Rectangle 16">
            <a:extLst>
              <a:ext uri="{FF2B5EF4-FFF2-40B4-BE49-F238E27FC236}">
                <a16:creationId xmlns:a16="http://schemas.microsoft.com/office/drawing/2014/main" id="{7248D081-DC7D-FD62-C164-3E750A3A36DF}"/>
              </a:ext>
            </a:extLst>
          </p:cNvPr>
          <p:cNvSpPr/>
          <p:nvPr/>
        </p:nvSpPr>
        <p:spPr>
          <a:xfrm>
            <a:off x="7587384" y="3639517"/>
            <a:ext cx="1376554" cy="72105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wrap="square" lIns="36000" tIns="18000" rIns="36000" bIns="18000" rtlCol="0" anchor="ctr"/>
          <a:lstStyle/>
          <a:p>
            <a:pPr algn="ctr"/>
            <a:r>
              <a:rPr lang="ja-JP" sz="1185" b="1" dirty="0">
                <a:solidFill>
                  <a:srgbClr val="FFFFFF"/>
                </a:solidFill>
                <a:latin typeface="Helvetica Neue"/>
              </a:rPr>
              <a:t>Equilibration</a:t>
            </a:r>
          </a:p>
          <a:p>
            <a:pPr algn="ctr"/>
            <a:r>
              <a:rPr lang="ja-JP" sz="1185" b="1" dirty="0">
                <a:solidFill>
                  <a:srgbClr val="FFFFFF"/>
                </a:solidFill>
                <a:latin typeface="Helvetica Neue"/>
              </a:rPr>
              <a:t>T=320 K</a:t>
            </a:r>
            <a:endParaRPr sz="1185" b="1" dirty="0">
              <a:solidFill>
                <a:srgbClr val="FFFFFF"/>
              </a:solidFill>
              <a:latin typeface="Helvetica Neue"/>
            </a:endParaRPr>
          </a:p>
        </p:txBody>
      </p:sp>
      <p:cxnSp>
        <p:nvCxnSpPr>
          <p:cNvPr id="54" name="Connector 9">
            <a:extLst>
              <a:ext uri="{FF2B5EF4-FFF2-40B4-BE49-F238E27FC236}">
                <a16:creationId xmlns:a16="http://schemas.microsoft.com/office/drawing/2014/main" id="{5804F4D4-4EF6-F4DB-C04C-21FBDFD888BB}"/>
              </a:ext>
            </a:extLst>
          </p:cNvPr>
          <p:cNvCxnSpPr>
            <a:cxnSpLocks/>
          </p:cNvCxnSpPr>
          <p:nvPr/>
        </p:nvCxnSpPr>
        <p:spPr>
          <a:xfrm>
            <a:off x="7218041" y="3388953"/>
            <a:ext cx="394047" cy="288225"/>
          </a:xfrm>
          <a:prstGeom prst="line">
            <a:avLst/>
          </a:prstGeom>
          <a:ln w="50800">
            <a:solidFill>
              <a:srgbClr val="4B556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6" name="Connector 9">
            <a:extLst>
              <a:ext uri="{FF2B5EF4-FFF2-40B4-BE49-F238E27FC236}">
                <a16:creationId xmlns:a16="http://schemas.microsoft.com/office/drawing/2014/main" id="{A6080B79-3BB5-87C6-1D8C-A941AD1C630A}"/>
              </a:ext>
            </a:extLst>
          </p:cNvPr>
          <p:cNvCxnSpPr>
            <a:cxnSpLocks/>
          </p:cNvCxnSpPr>
          <p:nvPr/>
        </p:nvCxnSpPr>
        <p:spPr>
          <a:xfrm flipV="1">
            <a:off x="8873174" y="3996988"/>
            <a:ext cx="316782" cy="3054"/>
          </a:xfrm>
          <a:prstGeom prst="line">
            <a:avLst/>
          </a:prstGeom>
          <a:ln w="50800">
            <a:solidFill>
              <a:srgbClr val="4B55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3">
            <a:extLst>
              <a:ext uri="{FF2B5EF4-FFF2-40B4-BE49-F238E27FC236}">
                <a16:creationId xmlns:a16="http://schemas.microsoft.com/office/drawing/2014/main" id="{D68BD4DF-B2CF-C4E1-729B-5949F844F68A}"/>
              </a:ext>
            </a:extLst>
          </p:cNvPr>
          <p:cNvSpPr/>
          <p:nvPr/>
        </p:nvSpPr>
        <p:spPr>
          <a:xfrm>
            <a:off x="2935011" y="3880615"/>
            <a:ext cx="1376558" cy="721054"/>
          </a:xfrm>
          <a:prstGeom prst="roundRect">
            <a:avLst/>
          </a:prstGeom>
          <a:solidFill>
            <a:srgbClr val="2B73E6"/>
          </a:solidFill>
          <a:ln>
            <a:solidFill>
              <a:srgbClr val="2B73E6"/>
            </a:solidFill>
          </a:ln>
        </p:spPr>
        <p:style>
          <a:lnRef idx="1">
            <a:schemeClr val="accent1"/>
          </a:lnRef>
          <a:fillRef idx="3">
            <a:schemeClr val="accent1"/>
          </a:fillRef>
          <a:effectRef idx="2">
            <a:schemeClr val="accent1"/>
          </a:effectRef>
          <a:fontRef idx="minor">
            <a:schemeClr val="lt1"/>
          </a:fontRef>
        </p:style>
        <p:txBody>
          <a:bodyPr wrap="square" lIns="36000" tIns="18000" rIns="36000" bIns="18000" rtlCol="0" anchor="ctr"/>
          <a:lstStyle/>
          <a:p>
            <a:pPr algn="ctr"/>
            <a:r>
              <a:rPr lang="ja-JP" sz="1185" b="1" dirty="0">
                <a:solidFill>
                  <a:srgbClr val="FFFFFF"/>
                </a:solidFill>
                <a:latin typeface="Helvetica Neue"/>
              </a:rPr>
              <a:t>Mutate</a:t>
            </a:r>
            <a:endParaRPr sz="1185" b="1" dirty="0">
              <a:solidFill>
                <a:srgbClr val="FFFFFF"/>
              </a:solidFill>
              <a:latin typeface="Helvetica Neue"/>
            </a:endParaRPr>
          </a:p>
        </p:txBody>
      </p:sp>
      <p:cxnSp>
        <p:nvCxnSpPr>
          <p:cNvPr id="58" name="Connector 9">
            <a:extLst>
              <a:ext uri="{FF2B5EF4-FFF2-40B4-BE49-F238E27FC236}">
                <a16:creationId xmlns:a16="http://schemas.microsoft.com/office/drawing/2014/main" id="{00649BE6-9026-1ED6-95B8-5ACE6DBC8DA0}"/>
              </a:ext>
            </a:extLst>
          </p:cNvPr>
          <p:cNvCxnSpPr>
            <a:cxnSpLocks/>
            <a:endCxn id="57" idx="0"/>
          </p:cNvCxnSpPr>
          <p:nvPr/>
        </p:nvCxnSpPr>
        <p:spPr>
          <a:xfrm>
            <a:off x="3525531" y="3451802"/>
            <a:ext cx="97760" cy="428812"/>
          </a:xfrm>
          <a:prstGeom prst="line">
            <a:avLst/>
          </a:prstGeom>
          <a:ln w="50800">
            <a:solidFill>
              <a:srgbClr val="4B55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63" name="Rounded Rectangle 3">
            <a:extLst>
              <a:ext uri="{FF2B5EF4-FFF2-40B4-BE49-F238E27FC236}">
                <a16:creationId xmlns:a16="http://schemas.microsoft.com/office/drawing/2014/main" id="{F07D2726-F71B-2646-B150-6831D71CE83C}"/>
              </a:ext>
            </a:extLst>
          </p:cNvPr>
          <p:cNvSpPr/>
          <p:nvPr/>
        </p:nvSpPr>
        <p:spPr>
          <a:xfrm>
            <a:off x="4341678" y="4536297"/>
            <a:ext cx="1376558" cy="721054"/>
          </a:xfrm>
          <a:prstGeom prst="roundRect">
            <a:avLst/>
          </a:prstGeom>
          <a:solidFill>
            <a:srgbClr val="2B73E6"/>
          </a:solidFill>
          <a:ln>
            <a:solidFill>
              <a:srgbClr val="2B73E6"/>
            </a:solidFill>
          </a:ln>
        </p:spPr>
        <p:style>
          <a:lnRef idx="1">
            <a:schemeClr val="accent1"/>
          </a:lnRef>
          <a:fillRef idx="3">
            <a:schemeClr val="accent1"/>
          </a:fillRef>
          <a:effectRef idx="2">
            <a:schemeClr val="accent1"/>
          </a:effectRef>
          <a:fontRef idx="minor">
            <a:schemeClr val="lt1"/>
          </a:fontRef>
        </p:style>
        <p:txBody>
          <a:bodyPr wrap="square" lIns="36000" tIns="18000" rIns="36000" bIns="18000" rtlCol="0" anchor="ctr"/>
          <a:lstStyle/>
          <a:p>
            <a:pPr algn="ctr"/>
            <a:r>
              <a:rPr lang="ja-JP" sz="1185" b="1" dirty="0">
                <a:solidFill>
                  <a:srgbClr val="FFFFFF"/>
                </a:solidFill>
                <a:latin typeface="Helvetica Neue"/>
              </a:rPr>
              <a:t>Solvation</a:t>
            </a:r>
            <a:endParaRPr sz="1185" b="1" dirty="0">
              <a:solidFill>
                <a:srgbClr val="FFFFFF"/>
              </a:solidFill>
              <a:latin typeface="Helvetica Neue"/>
            </a:endParaRPr>
          </a:p>
        </p:txBody>
      </p:sp>
      <p:sp>
        <p:nvSpPr>
          <p:cNvPr id="64" name="Rounded Rectangle 3">
            <a:extLst>
              <a:ext uri="{FF2B5EF4-FFF2-40B4-BE49-F238E27FC236}">
                <a16:creationId xmlns:a16="http://schemas.microsoft.com/office/drawing/2014/main" id="{DB19A375-6C98-11CE-C549-83FE782F2C78}"/>
              </a:ext>
            </a:extLst>
          </p:cNvPr>
          <p:cNvSpPr/>
          <p:nvPr/>
        </p:nvSpPr>
        <p:spPr>
          <a:xfrm>
            <a:off x="5964531" y="4540323"/>
            <a:ext cx="1376558" cy="721054"/>
          </a:xfrm>
          <a:prstGeom prst="roundRect">
            <a:avLst/>
          </a:prstGeom>
          <a:solidFill>
            <a:srgbClr val="2B73E6"/>
          </a:solidFill>
          <a:ln>
            <a:solidFill>
              <a:srgbClr val="2B73E6"/>
            </a:solidFill>
          </a:ln>
        </p:spPr>
        <p:style>
          <a:lnRef idx="1">
            <a:schemeClr val="accent1"/>
          </a:lnRef>
          <a:fillRef idx="3">
            <a:schemeClr val="accent1"/>
          </a:fillRef>
          <a:effectRef idx="2">
            <a:schemeClr val="accent1"/>
          </a:effectRef>
          <a:fontRef idx="minor">
            <a:schemeClr val="lt1"/>
          </a:fontRef>
        </p:style>
        <p:txBody>
          <a:bodyPr wrap="square" lIns="36000" tIns="18000" rIns="36000" bIns="18000" rtlCol="0" anchor="ctr"/>
          <a:lstStyle/>
          <a:p>
            <a:pPr algn="ctr"/>
            <a:r>
              <a:rPr lang="ja-JP" sz="1185" b="1" dirty="0">
                <a:solidFill>
                  <a:srgbClr val="FFFFFF"/>
                </a:solidFill>
                <a:latin typeface="Helvetica Neue"/>
              </a:rPr>
              <a:t>Topology</a:t>
            </a:r>
          </a:p>
          <a:p>
            <a:pPr algn="ctr"/>
            <a:r>
              <a:rPr lang="ja-JP" sz="1185" b="1" dirty="0">
                <a:solidFill>
                  <a:srgbClr val="FFFFFF"/>
                </a:solidFill>
                <a:latin typeface="Helvetica Neue"/>
              </a:rPr>
              <a:t>mutant</a:t>
            </a:r>
            <a:endParaRPr sz="1185" b="1" dirty="0">
              <a:solidFill>
                <a:srgbClr val="FFFFFF"/>
              </a:solidFill>
              <a:latin typeface="Helvetica Neue"/>
            </a:endParaRPr>
          </a:p>
        </p:txBody>
      </p:sp>
      <p:sp>
        <p:nvSpPr>
          <p:cNvPr id="65" name="Rounded Rectangle 7">
            <a:extLst>
              <a:ext uri="{FF2B5EF4-FFF2-40B4-BE49-F238E27FC236}">
                <a16:creationId xmlns:a16="http://schemas.microsoft.com/office/drawing/2014/main" id="{3A17FE1B-A18F-BCAD-977C-A434C7D6DE08}"/>
              </a:ext>
            </a:extLst>
          </p:cNvPr>
          <p:cNvSpPr/>
          <p:nvPr/>
        </p:nvSpPr>
        <p:spPr>
          <a:xfrm>
            <a:off x="9222458" y="4540351"/>
            <a:ext cx="1361073" cy="712943"/>
          </a:xfrm>
          <a:prstGeom prst="roundRect">
            <a:avLst/>
          </a:prstGeom>
          <a:solidFill>
            <a:srgbClr val="8B5CF6"/>
          </a:solidFill>
          <a:ln>
            <a:solidFill>
              <a:srgbClr val="8B5CF6"/>
            </a:solidFill>
          </a:ln>
        </p:spPr>
        <p:style>
          <a:lnRef idx="1">
            <a:schemeClr val="accent1"/>
          </a:lnRef>
          <a:fillRef idx="3">
            <a:schemeClr val="accent1"/>
          </a:fillRef>
          <a:effectRef idx="2">
            <a:schemeClr val="accent1"/>
          </a:effectRef>
          <a:fontRef idx="minor">
            <a:schemeClr val="lt1"/>
          </a:fontRef>
        </p:style>
        <p:txBody>
          <a:bodyPr wrap="square" lIns="36000" tIns="18000" rIns="36000" bIns="18000" rtlCol="0" anchor="ctr"/>
          <a:lstStyle/>
          <a:p>
            <a:pPr algn="ctr"/>
            <a:r>
              <a:rPr lang="ja-JP" sz="1185" b="1" dirty="0">
                <a:solidFill>
                  <a:srgbClr val="FFFFFF"/>
                </a:solidFill>
                <a:latin typeface="Helvetica Neue"/>
              </a:rPr>
              <a:t>Production</a:t>
            </a:r>
          </a:p>
          <a:p>
            <a:pPr algn="ctr"/>
            <a:r>
              <a:rPr lang="ja-JP" sz="1185" b="1" dirty="0">
                <a:solidFill>
                  <a:srgbClr val="FFFFFF"/>
                </a:solidFill>
                <a:latin typeface="Helvetica Neue"/>
              </a:rPr>
              <a:t>mutant</a:t>
            </a:r>
            <a:endParaRPr sz="1185" b="1" dirty="0">
              <a:solidFill>
                <a:srgbClr val="FFFFFF"/>
              </a:solidFill>
              <a:latin typeface="Helvetica Neue"/>
            </a:endParaRPr>
          </a:p>
        </p:txBody>
      </p:sp>
      <p:sp>
        <p:nvSpPr>
          <p:cNvPr id="66" name="Rounded Rectangle 16">
            <a:extLst>
              <a:ext uri="{FF2B5EF4-FFF2-40B4-BE49-F238E27FC236}">
                <a16:creationId xmlns:a16="http://schemas.microsoft.com/office/drawing/2014/main" id="{352E948A-0C08-CF32-DF26-62B3DDD1F9AF}"/>
              </a:ext>
            </a:extLst>
          </p:cNvPr>
          <p:cNvSpPr/>
          <p:nvPr/>
        </p:nvSpPr>
        <p:spPr>
          <a:xfrm>
            <a:off x="7557376" y="4536297"/>
            <a:ext cx="1376554" cy="72105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wrap="square" lIns="36000" tIns="18000" rIns="36000" bIns="18000" rtlCol="0" anchor="ctr"/>
          <a:lstStyle/>
          <a:p>
            <a:pPr algn="ctr"/>
            <a:r>
              <a:rPr lang="ja-JP" sz="1185" b="1" dirty="0">
                <a:solidFill>
                  <a:srgbClr val="FFFFFF"/>
                </a:solidFill>
                <a:latin typeface="Helvetica Neue"/>
              </a:rPr>
              <a:t>Equilibration</a:t>
            </a:r>
          </a:p>
          <a:p>
            <a:pPr algn="ctr"/>
            <a:r>
              <a:rPr lang="ja-JP" sz="1185" b="1" dirty="0">
                <a:solidFill>
                  <a:srgbClr val="FFFFFF"/>
                </a:solidFill>
                <a:latin typeface="Helvetica Neue"/>
              </a:rPr>
              <a:t>mutant</a:t>
            </a:r>
            <a:endParaRPr sz="1185" b="1" dirty="0">
              <a:solidFill>
                <a:srgbClr val="FFFFFF"/>
              </a:solidFill>
              <a:latin typeface="Helvetica Neue"/>
            </a:endParaRPr>
          </a:p>
        </p:txBody>
      </p:sp>
      <p:cxnSp>
        <p:nvCxnSpPr>
          <p:cNvPr id="67" name="Connector 9">
            <a:extLst>
              <a:ext uri="{FF2B5EF4-FFF2-40B4-BE49-F238E27FC236}">
                <a16:creationId xmlns:a16="http://schemas.microsoft.com/office/drawing/2014/main" id="{DB0EDE70-DB00-2261-0CA9-40A98BE45F7C}"/>
              </a:ext>
            </a:extLst>
          </p:cNvPr>
          <p:cNvCxnSpPr>
            <a:cxnSpLocks/>
          </p:cNvCxnSpPr>
          <p:nvPr/>
        </p:nvCxnSpPr>
        <p:spPr>
          <a:xfrm>
            <a:off x="4064507" y="4536297"/>
            <a:ext cx="246806" cy="245154"/>
          </a:xfrm>
          <a:prstGeom prst="line">
            <a:avLst/>
          </a:prstGeom>
          <a:ln w="50800">
            <a:solidFill>
              <a:srgbClr val="4B556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0" name="Connector 9">
            <a:extLst>
              <a:ext uri="{FF2B5EF4-FFF2-40B4-BE49-F238E27FC236}">
                <a16:creationId xmlns:a16="http://schemas.microsoft.com/office/drawing/2014/main" id="{630C5610-5E94-50AC-E611-0B0638A53296}"/>
              </a:ext>
            </a:extLst>
          </p:cNvPr>
          <p:cNvCxnSpPr>
            <a:cxnSpLocks/>
          </p:cNvCxnSpPr>
          <p:nvPr/>
        </p:nvCxnSpPr>
        <p:spPr>
          <a:xfrm flipV="1">
            <a:off x="5654019" y="4881246"/>
            <a:ext cx="339873" cy="6454"/>
          </a:xfrm>
          <a:prstGeom prst="line">
            <a:avLst/>
          </a:prstGeom>
          <a:ln w="50800">
            <a:solidFill>
              <a:srgbClr val="4B556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2" name="Connector 9">
            <a:extLst>
              <a:ext uri="{FF2B5EF4-FFF2-40B4-BE49-F238E27FC236}">
                <a16:creationId xmlns:a16="http://schemas.microsoft.com/office/drawing/2014/main" id="{BB56D25A-601C-CD7B-F4D1-5FA6BC2CD448}"/>
              </a:ext>
            </a:extLst>
          </p:cNvPr>
          <p:cNvCxnSpPr>
            <a:cxnSpLocks/>
          </p:cNvCxnSpPr>
          <p:nvPr/>
        </p:nvCxnSpPr>
        <p:spPr>
          <a:xfrm flipV="1">
            <a:off x="7217503" y="4876932"/>
            <a:ext cx="339873" cy="6454"/>
          </a:xfrm>
          <a:prstGeom prst="line">
            <a:avLst/>
          </a:prstGeom>
          <a:ln w="50800">
            <a:solidFill>
              <a:srgbClr val="4B556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3" name="Connector 9">
            <a:extLst>
              <a:ext uri="{FF2B5EF4-FFF2-40B4-BE49-F238E27FC236}">
                <a16:creationId xmlns:a16="http://schemas.microsoft.com/office/drawing/2014/main" id="{40AB9FFA-EAC9-A6F2-B049-21949FC66763}"/>
              </a:ext>
            </a:extLst>
          </p:cNvPr>
          <p:cNvCxnSpPr>
            <a:cxnSpLocks/>
          </p:cNvCxnSpPr>
          <p:nvPr/>
        </p:nvCxnSpPr>
        <p:spPr>
          <a:xfrm flipV="1">
            <a:off x="8861628" y="4884474"/>
            <a:ext cx="339873" cy="6454"/>
          </a:xfrm>
          <a:prstGeom prst="line">
            <a:avLst/>
          </a:prstGeom>
          <a:ln w="50800">
            <a:solidFill>
              <a:srgbClr val="4B5563"/>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7" name="図 6">
            <a:extLst>
              <a:ext uri="{FF2B5EF4-FFF2-40B4-BE49-F238E27FC236}">
                <a16:creationId xmlns:a16="http://schemas.microsoft.com/office/drawing/2014/main" id="{1A85A655-A38F-CD26-19BB-0849A47F7E19}"/>
              </a:ext>
            </a:extLst>
          </p:cNvPr>
          <p:cNvPicPr>
            <a:picLocks noChangeAspect="1"/>
          </p:cNvPicPr>
          <p:nvPr/>
        </p:nvPicPr>
        <p:blipFill>
          <a:blip r:embed="rId3"/>
          <a:stretch>
            <a:fillRect/>
          </a:stretch>
        </p:blipFill>
        <p:spPr>
          <a:xfrm>
            <a:off x="5710378" y="1458446"/>
            <a:ext cx="2048661" cy="987747"/>
          </a:xfrm>
          <a:prstGeom prst="rect">
            <a:avLst/>
          </a:prstGeom>
        </p:spPr>
      </p:pic>
      <p:pic>
        <p:nvPicPr>
          <p:cNvPr id="8" name="Picture 2">
            <a:extLst>
              <a:ext uri="{FF2B5EF4-FFF2-40B4-BE49-F238E27FC236}">
                <a16:creationId xmlns:a16="http://schemas.microsoft.com/office/drawing/2014/main" id="{083F5E58-7109-9ADC-4D83-A2F21B3A321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83262"/>
          <a:stretch>
            <a:fillRect/>
          </a:stretch>
        </p:blipFill>
        <p:spPr bwMode="auto">
          <a:xfrm>
            <a:off x="1280483" y="1197574"/>
            <a:ext cx="970229" cy="1539748"/>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a:extLst>
              <a:ext uri="{FF2B5EF4-FFF2-40B4-BE49-F238E27FC236}">
                <a16:creationId xmlns:a16="http://schemas.microsoft.com/office/drawing/2014/main" id="{12FD9C8B-0A86-C449-5003-D301639E3F0C}"/>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1106" r="45864"/>
          <a:stretch>
            <a:fillRect/>
          </a:stretch>
        </p:blipFill>
        <p:spPr bwMode="auto">
          <a:xfrm>
            <a:off x="2973897" y="1197573"/>
            <a:ext cx="755262" cy="1539748"/>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a:extLst>
              <a:ext uri="{FF2B5EF4-FFF2-40B4-BE49-F238E27FC236}">
                <a16:creationId xmlns:a16="http://schemas.microsoft.com/office/drawing/2014/main" id="{331D97A8-C344-DA35-C90D-844C1CAD4ACC}"/>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7474" r="23265"/>
          <a:stretch>
            <a:fillRect/>
          </a:stretch>
        </p:blipFill>
        <p:spPr bwMode="auto">
          <a:xfrm>
            <a:off x="4439274" y="1197573"/>
            <a:ext cx="1116429" cy="1539748"/>
          </a:xfrm>
          <a:prstGeom prst="rect">
            <a:avLst/>
          </a:prstGeom>
          <a:noFill/>
          <a:extLst>
            <a:ext uri="{909E8E84-426E-40DD-AFC4-6F175D3DCCD1}">
              <a14:hiddenFill xmlns:a14="http://schemas.microsoft.com/office/drawing/2010/main">
                <a:solidFill>
                  <a:srgbClr val="FFFFFF"/>
                </a:solidFill>
              </a14:hiddenFill>
            </a:ext>
          </a:extLst>
        </p:spPr>
      </p:pic>
      <p:sp>
        <p:nvSpPr>
          <p:cNvPr id="74" name="TextBox 73"/>
          <p:cNvSpPr txBox="1"/>
          <p:nvPr/>
        </p:nvSpPr>
        <p:spPr>
          <a:xfrm>
            <a:off x="438912" y="5925312"/>
            <a:ext cx="11155680" cy="56692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乱数、温度、変異などを変えた比較は別の分岐として保存する。共通の入力と変更した条件を区別する。</a:t>
            </a:r>
          </a:p>
        </p:txBody>
      </p:sp>
      <p:sp>
        <p:nvSpPr>
          <p:cNvPr id="75" name="TextBox 74"/>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再実行では、完了済みの根拠を使って続きへ進む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444752"/>
            <a:ext cx="6172200" cy="4663440"/>
          </a:xfrm>
          <a:prstGeom prst="rect">
            <a:avLst/>
          </a:prstGeom>
          <a:noFill/>
        </p:spPr>
        <p:txBody>
          <a:bodyPr wrap="square" lIns="0" rIns="0" tIns="0" bIns="0" anchor="t">
            <a:noAutofit/>
          </a:bodyPr>
          <a:lstStyle/>
          <a:p>
            <a:pPr algn="l">
              <a:lnSpc>
                <a:spcPts val="3036"/>
              </a:lnSpc>
              <a:spcBef>
                <a:spcPts val="0"/>
              </a:spcBef>
              <a:spcAft>
                <a:spcPts val="1500"/>
              </a:spcAft>
            </a:pPr>
            <a:r>
              <a:rPr sz="2200" b="0" lang="ja-JP" altLang="en-US" i="0">
                <a:solidFill>
                  <a:srgbClr val="171717"/>
                </a:solidFill>
                <a:latin typeface="Noto Sans JP"/>
                <a:ea typeface="Noto Sans JP"/>
              </a:rPr>
              <a:t>inspect_jobで状態と成果物を読む。explain_nodeで次の段階の入力条件を確認する。</a:t>
            </a:r>
          </a:p>
          <a:p>
            <a:pPr algn="l">
              <a:lnSpc>
                <a:spcPts val="3036"/>
              </a:lnSpc>
              <a:spcBef>
                <a:spcPts val="0"/>
              </a:spcBef>
              <a:spcAft>
                <a:spcPts val="1500"/>
              </a:spcAft>
            </a:pPr>
            <a:r>
              <a:rPr sz="2200" b="0" lang="ja-JP" altLang="en-US" i="0">
                <a:solidFill>
                  <a:srgbClr val="171717"/>
                </a:solidFill>
                <a:latin typeface="Noto Sans JP"/>
                <a:ea typeface="Noto Sans JP"/>
              </a:rPr>
              <a:t>trace_failureで失敗した段階と理由を追う。</a:t>
            </a:r>
          </a:p>
          <a:p>
            <a:pPr algn="l">
              <a:lnSpc>
                <a:spcPts val="3036"/>
              </a:lnSpc>
              <a:spcBef>
                <a:spcPts val="0"/>
              </a:spcBef>
              <a:spcAft>
                <a:spcPts val="1500"/>
              </a:spcAft>
            </a:pPr>
            <a:r>
              <a:rPr sz="2200" b="0" lang="ja-JP" altLang="en-US" i="0">
                <a:solidFill>
                  <a:srgbClr val="171717"/>
                </a:solidFill>
                <a:latin typeface="Noto Sans JP"/>
                <a:ea typeface="Noto Sans JP"/>
              </a:rPr>
              <a:t>ファイルが存在するだけで完了とせず、正しい入力に対応した出力かを検査する。</a:t>
            </a:r>
          </a:p>
          <a:p>
            <a:pPr algn="l">
              <a:lnSpc>
                <a:spcPts val="3036"/>
              </a:lnSpc>
              <a:spcBef>
                <a:spcPts val="0"/>
              </a:spcBef>
              <a:spcAft>
                <a:spcPts val="1500"/>
              </a:spcAft>
            </a:pPr>
            <a:r>
              <a:rPr sz="2200" b="0" lang="ja-JP" altLang="en-US" i="0">
                <a:solidFill>
                  <a:srgbClr val="171717"/>
                </a:solidFill>
                <a:latin typeface="Noto Sans JP"/>
                <a:ea typeface="Noto Sans JP"/>
              </a:rPr>
              <a:t>2026年10月11日のローカルREADMEにある操作の役割。</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25</a:t>
            </a:r>
          </a:p>
        </p:txBody>
      </p:sp>
      <p:sp>
        <p:nvSpPr>
          <p:cNvPr id="9" name="Rounded Rectangle 8"/>
          <p:cNvSpPr/>
          <p:nvPr/>
        </p:nvSpPr>
        <p:spPr>
          <a:xfrm>
            <a:off x="7315200" y="1508760"/>
            <a:ext cx="3886200" cy="804672"/>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600"/>
              </a:lnSpc>
              <a:spcBef>
                <a:spcPts val="0"/>
              </a:spcBef>
              <a:spcAft>
                <a:spcPts val="800"/>
              </a:spcAft>
            </a:pPr>
            <a:r>
              <a:rPr sz="2000" b="0" i="0" lang="ja-JP">
                <a:solidFill>
                  <a:srgbClr val="171717"/>
                </a:solidFill>
                <a:latin typeface="Noto Sans JP"/>
              </a:rPr>
              <a:t>入力と設定を読む</a:t>
            </a:r>
          </a:p>
        </p:txBody>
      </p:sp>
      <p:sp>
        <p:nvSpPr>
          <p:cNvPr id="10" name="TextBox 9"/>
          <p:cNvSpPr txBox="1"/>
          <p:nvPr/>
        </p:nvSpPr>
        <p:spPr>
          <a:xfrm>
            <a:off x="8915400" y="2350008"/>
            <a:ext cx="548640" cy="320040"/>
          </a:xfrm>
          <a:prstGeom prst="rect">
            <a:avLst/>
          </a:prstGeom>
          <a:noFill/>
        </p:spPr>
        <p:txBody>
          <a:bodyPr wrap="square" lIns="0" rIns="0" tIns="0" bIns="0" anchor="t">
            <a:spAutoFit/>
          </a:bodyPr>
          <a:lstStyle/>
          <a:p>
            <a:pPr>
              <a:lnSpc>
                <a:spcPts val="2750"/>
              </a:lnSpc>
              <a:spcBef>
                <a:spcPts val="0"/>
              </a:spcBef>
              <a:spcAft>
                <a:spcPts val="0"/>
              </a:spcAft>
            </a:pPr>
            <a:r>
              <a:rPr sz="2200" b="1" i="0" lang="ja-JP">
                <a:solidFill>
                  <a:srgbClr val="171717"/>
                </a:solidFill>
                <a:latin typeface="Noto Sans JP"/>
              </a:rPr>
              <a:t>↓</a:t>
            </a:r>
          </a:p>
        </p:txBody>
      </p:sp>
      <p:sp>
        <p:nvSpPr>
          <p:cNvPr id="11" name="Rounded Rectangle 10"/>
          <p:cNvSpPr/>
          <p:nvPr/>
        </p:nvSpPr>
        <p:spPr>
          <a:xfrm>
            <a:off x="7315200" y="2651760"/>
            <a:ext cx="3886200" cy="804672"/>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600"/>
              </a:lnSpc>
              <a:spcBef>
                <a:spcPts val="0"/>
              </a:spcBef>
              <a:spcAft>
                <a:spcPts val="800"/>
              </a:spcAft>
            </a:pPr>
            <a:r>
              <a:rPr sz="2000" b="0" i="0" lang="ja-JP">
                <a:solidFill>
                  <a:srgbClr val="171717"/>
                </a:solidFill>
                <a:latin typeface="Noto Sans JP"/>
              </a:rPr>
              <a:t>成果物を検査する</a:t>
            </a:r>
          </a:p>
        </p:txBody>
      </p:sp>
      <p:sp>
        <p:nvSpPr>
          <p:cNvPr id="12" name="TextBox 11"/>
          <p:cNvSpPr txBox="1"/>
          <p:nvPr/>
        </p:nvSpPr>
        <p:spPr>
          <a:xfrm>
            <a:off x="8915400" y="3493008"/>
            <a:ext cx="548640" cy="320040"/>
          </a:xfrm>
          <a:prstGeom prst="rect">
            <a:avLst/>
          </a:prstGeom>
          <a:noFill/>
        </p:spPr>
        <p:txBody>
          <a:bodyPr wrap="square" lIns="0" rIns="0" tIns="0" bIns="0" anchor="t">
            <a:spAutoFit/>
          </a:bodyPr>
          <a:lstStyle/>
          <a:p>
            <a:pPr>
              <a:lnSpc>
                <a:spcPts val="2750"/>
              </a:lnSpc>
              <a:spcBef>
                <a:spcPts val="0"/>
              </a:spcBef>
              <a:spcAft>
                <a:spcPts val="0"/>
              </a:spcAft>
            </a:pPr>
            <a:r>
              <a:rPr sz="2200" b="1" i="0" lang="ja-JP">
                <a:solidFill>
                  <a:srgbClr val="171717"/>
                </a:solidFill>
                <a:latin typeface="Noto Sans JP"/>
              </a:rPr>
              <a:t>↓</a:t>
            </a:r>
          </a:p>
        </p:txBody>
      </p:sp>
      <p:sp>
        <p:nvSpPr>
          <p:cNvPr id="13" name="Rounded Rectangle 12"/>
          <p:cNvSpPr/>
          <p:nvPr/>
        </p:nvSpPr>
        <p:spPr>
          <a:xfrm>
            <a:off x="7315200" y="3794760"/>
            <a:ext cx="3886200" cy="804672"/>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600"/>
              </a:lnSpc>
              <a:spcBef>
                <a:spcPts val="0"/>
              </a:spcBef>
              <a:spcAft>
                <a:spcPts val="800"/>
              </a:spcAft>
            </a:pPr>
            <a:r>
              <a:rPr sz="2000" b="0" i="0" lang="ja-JP">
                <a:solidFill>
                  <a:srgbClr val="171717"/>
                </a:solidFill>
                <a:latin typeface="Noto Sans JP"/>
              </a:rPr>
              <a:t>失敗の理由を調べる</a:t>
            </a:r>
          </a:p>
        </p:txBody>
      </p:sp>
      <p:sp>
        <p:nvSpPr>
          <p:cNvPr id="14" name="TextBox 13"/>
          <p:cNvSpPr txBox="1"/>
          <p:nvPr/>
        </p:nvSpPr>
        <p:spPr>
          <a:xfrm>
            <a:off x="8915400" y="4636008"/>
            <a:ext cx="548640" cy="320040"/>
          </a:xfrm>
          <a:prstGeom prst="rect">
            <a:avLst/>
          </a:prstGeom>
          <a:noFill/>
        </p:spPr>
        <p:txBody>
          <a:bodyPr wrap="square" lIns="0" rIns="0" tIns="0" bIns="0" anchor="t">
            <a:spAutoFit/>
          </a:bodyPr>
          <a:lstStyle/>
          <a:p>
            <a:pPr>
              <a:lnSpc>
                <a:spcPts val="2750"/>
              </a:lnSpc>
              <a:spcBef>
                <a:spcPts val="0"/>
              </a:spcBef>
              <a:spcAft>
                <a:spcPts val="0"/>
              </a:spcAft>
            </a:pPr>
            <a:r>
              <a:rPr sz="2200" b="1" i="0" lang="ja-JP">
                <a:solidFill>
                  <a:srgbClr val="171717"/>
                </a:solidFill>
                <a:latin typeface="Noto Sans JP"/>
              </a:rPr>
              <a:t>↓</a:t>
            </a:r>
          </a:p>
        </p:txBody>
      </p:sp>
      <p:sp>
        <p:nvSpPr>
          <p:cNvPr id="15" name="Rounded Rectangle 14"/>
          <p:cNvSpPr/>
          <p:nvPr/>
        </p:nvSpPr>
        <p:spPr>
          <a:xfrm>
            <a:off x="7315200" y="4937760"/>
            <a:ext cx="3886200" cy="804672"/>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600"/>
              </a:lnSpc>
              <a:spcBef>
                <a:spcPts val="0"/>
              </a:spcBef>
              <a:spcAft>
                <a:spcPts val="800"/>
              </a:spcAft>
            </a:pPr>
            <a:r>
              <a:rPr sz="2000" b="0" i="0" lang="ja-JP">
                <a:solidFill>
                  <a:srgbClr val="171717"/>
                </a:solidFill>
                <a:latin typeface="Noto Sans JP"/>
              </a:rPr>
              <a:t>再試行か条件変更かを決める</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
        <p:nvSpPr>
          <p:cNvPr id="3" name="TextBox 2"/>
          <p:cNvSpPr txBox="1"/>
          <p:nvPr/>
        </p:nvSpPr>
        <p:spPr>
          <a:xfrm>
            <a:off x="594360" y="667512"/>
            <a:ext cx="10972800" cy="658368"/>
          </a:xfrm>
          <a:prstGeom prst="rect">
            <a:avLst/>
          </a:prstGeom>
          <a:noFill/>
        </p:spPr>
        <p:txBody>
          <a:bodyPr wrap="square" lIns="0" rIns="0" tIns="0" bIns="0" anchor="t">
            <a:spAutoFit/>
          </a:bodyPr>
          <a:lstStyle/>
          <a:p>
            <a:pPr>
              <a:lnSpc>
                <a:spcPts val="3625"/>
              </a:lnSpc>
              <a:spcBef>
                <a:spcPts val="0"/>
              </a:spcBef>
              <a:spcAft>
                <a:spcPts val="0"/>
              </a:spcAft>
            </a:pPr>
            <a:r>
              <a:rPr sz="2900" b="1" i="0" lang="ja-JP">
                <a:solidFill>
                  <a:srgbClr val="171717"/>
                </a:solidFill>
                <a:latin typeface="Noto Sans JP"/>
              </a:rPr>
              <a:t>実行前の検査で、不整合と運用上の制約を伝える</a:t>
            </a:r>
          </a:p>
        </p:txBody>
      </p:sp>
      <p:sp>
        <p:nvSpPr>
          <p:cNvPr id="4" name="TextBox 3"/>
          <p:cNvSpPr txBox="1"/>
          <p:nvPr/>
        </p:nvSpPr>
        <p:spPr>
          <a:xfrm>
            <a:off x="11247120" y="6519672"/>
            <a:ext cx="502920" cy="228600"/>
          </a:xfrm>
          <a:prstGeom prst="rect">
            <a:avLst/>
          </a:prstGeom>
          <a:noFill/>
        </p:spPr>
        <p:txBody>
          <a:bodyPr wrap="square" lIns="0" rIns="0" tIns="0" bIns="0" anchor="t">
            <a:spAutoFit/>
          </a:bodyPr>
          <a:lstStyle/>
          <a:p>
            <a:pPr>
              <a:lnSpc>
                <a:spcPts val="1375"/>
              </a:lnSpc>
              <a:spcBef>
                <a:spcPts val="0"/>
              </a:spcBef>
              <a:spcAft>
                <a:spcPts val="0"/>
              </a:spcAft>
            </a:pPr>
            <a:r>
              <a:rPr sz="1100" b="0" i="0" lang="ja-JP">
                <a:solidFill>
                  <a:srgbClr val="171717"/>
                </a:solidFill>
                <a:latin typeface="Noto Sans JP"/>
              </a:rPr>
              <a:t>26</a:t>
            </a:r>
          </a:p>
        </p:txBody>
      </p:sp>
      <p:sp>
        <p:nvSpPr>
          <p:cNvPr id="5" name="Rounded Rectangle 4"/>
          <p:cNvSpPr/>
          <p:nvPr/>
        </p:nvSpPr>
        <p:spPr>
          <a:xfrm>
            <a:off x="685800" y="1600200"/>
            <a:ext cx="5212080" cy="292608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990"/>
              </a:lnSpc>
              <a:spcBef>
                <a:spcPts val="0"/>
              </a:spcBef>
              <a:spcAft>
                <a:spcPts val="800"/>
              </a:spcAft>
            </a:pPr>
            <a:r>
              <a:rPr sz="2300" b="0" i="0" lang="ja-JP">
                <a:solidFill>
                  <a:srgbClr val="171717"/>
                </a:solidFill>
                <a:latin typeface="Noto Sans JP"/>
              </a:rPr>
              <a:t>検査結果を構造化する</a:t>
            </a:r>
          </a:p>
          <a:p>
            <a:pPr>
              <a:lnSpc>
                <a:spcPts val="2990"/>
              </a:lnSpc>
              <a:spcBef>
                <a:spcPts val="0"/>
              </a:spcBef>
              <a:spcAft>
                <a:spcPts val="800"/>
              </a:spcAft>
            </a:pPr>
            <a:r>
              <a:rPr sz="2300" b="0" i="0" lang="ja-JP">
                <a:solidFill>
                  <a:srgbClr val="171717"/>
                </a:solidFill>
                <a:latin typeface="Noto Sans JP"/>
              </a:rPr>
              <a:t>対象項目／理由／重要度</a:t>
            </a:r>
          </a:p>
          <a:p>
            <a:pPr>
              <a:lnSpc>
                <a:spcPts val="2990"/>
              </a:lnSpc>
              <a:spcBef>
                <a:spcPts val="0"/>
              </a:spcBef>
              <a:spcAft>
                <a:spcPts val="800"/>
              </a:spcAft>
            </a:pPr>
            <a:r>
              <a:rPr sz="2300" b="0" i="0" lang="ja-JP">
                <a:solidFill>
                  <a:srgbClr val="171717"/>
                </a:solidFill>
                <a:latin typeface="Noto Sans JP"/>
              </a:rPr>
              <a:t>実際の値と期待する値</a:t>
            </a:r>
          </a:p>
          <a:p>
            <a:pPr>
              <a:lnSpc>
                <a:spcPts val="2990"/>
              </a:lnSpc>
              <a:spcBef>
                <a:spcPts val="0"/>
              </a:spcBef>
              <a:spcAft>
                <a:spcPts val="800"/>
              </a:spcAft>
            </a:pPr>
            <a:r>
              <a:rPr sz="2300" b="0" i="0" lang="ja-JP">
                <a:solidFill>
                  <a:srgbClr val="171717"/>
                </a:solidFill>
                <a:latin typeface="Noto Sans JP"/>
              </a:rPr>
              <a:t>修正候補／エラーコード</a:t>
            </a:r>
          </a:p>
        </p:txBody>
      </p:sp>
      <p:sp>
        <p:nvSpPr>
          <p:cNvPr id="6" name="Rounded Rectangle 5"/>
          <p:cNvSpPr/>
          <p:nvPr/>
        </p:nvSpPr>
        <p:spPr>
          <a:xfrm>
            <a:off x="6217920" y="1600200"/>
            <a:ext cx="5212080" cy="292608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990"/>
              </a:lnSpc>
              <a:spcBef>
                <a:spcPts val="0"/>
              </a:spcBef>
              <a:spcAft>
                <a:spcPts val="800"/>
              </a:spcAft>
            </a:pPr>
            <a:r>
              <a:rPr sz="2300" b="0" i="0" lang="ja-JP">
                <a:solidFill>
                  <a:srgbClr val="171717"/>
                </a:solidFill>
                <a:latin typeface="Noto Sans JP"/>
              </a:rPr>
              <a:t>次の段階への入力を明確にする</a:t>
            </a:r>
          </a:p>
          <a:p>
            <a:pPr>
              <a:lnSpc>
                <a:spcPts val="2990"/>
              </a:lnSpc>
              <a:spcBef>
                <a:spcPts val="0"/>
              </a:spcBef>
              <a:spcAft>
                <a:spcPts val="800"/>
              </a:spcAft>
            </a:pPr>
            <a:r>
              <a:rPr sz="2300" b="0" i="0" lang="ja-JP">
                <a:solidFill>
                  <a:srgbClr val="171717"/>
                </a:solidFill>
                <a:latin typeface="Noto Sans JP"/>
              </a:rPr>
              <a:t>準備：化学状態と判断を記録</a:t>
            </a:r>
          </a:p>
          <a:p>
            <a:pPr>
              <a:lnSpc>
                <a:spcPts val="2990"/>
              </a:lnSpc>
              <a:spcBef>
                <a:spcPts val="0"/>
              </a:spcBef>
              <a:spcAft>
                <a:spcPts val="800"/>
              </a:spcAft>
            </a:pPr>
            <a:r>
              <a:rPr sz="2300" b="0" i="0" lang="ja-JP">
                <a:solidFill>
                  <a:srgbClr val="171717"/>
                </a:solidFill>
                <a:latin typeface="Noto Sans JP"/>
              </a:rPr>
              <a:t>力場設定：相互作用を定義</a:t>
            </a:r>
          </a:p>
          <a:p>
            <a:pPr>
              <a:lnSpc>
                <a:spcPts val="2990"/>
              </a:lnSpc>
              <a:spcBef>
                <a:spcPts val="0"/>
              </a:spcBef>
              <a:spcAft>
                <a:spcPts val="800"/>
              </a:spcAft>
            </a:pPr>
            <a:r>
              <a:rPr sz="2300" b="0" i="0" lang="ja-JP">
                <a:solidFill>
                  <a:srgbClr val="171717"/>
                </a:solidFill>
                <a:latin typeface="Noto Sans JP"/>
              </a:rPr>
              <a:t>以後の計算：登録された出力を読む</a:t>
            </a:r>
          </a:p>
        </p:txBody>
      </p:sp>
      <p:sp>
        <p:nvSpPr>
          <p:cNvPr id="7" name="TextBox 6"/>
          <p:cNvSpPr txBox="1"/>
          <p:nvPr/>
        </p:nvSpPr>
        <p:spPr>
          <a:xfrm>
            <a:off x="731520" y="4846320"/>
            <a:ext cx="10698480" cy="502920"/>
          </a:xfrm>
          <a:prstGeom prst="rect">
            <a:avLst/>
          </a:prstGeom>
          <a:noFill/>
        </p:spPr>
        <p:txBody>
          <a:bodyPr wrap="square" lIns="0" rIns="0" tIns="0" bIns="0" anchor="t">
            <a:spAutoFit/>
          </a:bodyPr>
          <a:lstStyle/>
          <a:p>
            <a:pPr>
              <a:lnSpc>
                <a:spcPts val="2500"/>
              </a:lnSpc>
              <a:spcBef>
                <a:spcPts val="0"/>
              </a:spcBef>
              <a:spcAft>
                <a:spcPts val="0"/>
              </a:spcAft>
            </a:pPr>
            <a:r>
              <a:rPr sz="2000" b="1" i="0" lang="ja-JP">
                <a:solidFill>
                  <a:srgbClr val="171717"/>
                </a:solidFill>
                <a:latin typeface="Noto Sans JP"/>
              </a:rPr>
              <a:t>例：forcefield_water_blocked　ff19SB + TIP3P → 規定では ff19SB + OPC</a:t>
            </a:r>
          </a:p>
        </p:txBody>
      </p:sp>
      <p:sp>
        <p:nvSpPr>
          <p:cNvPr id="8" name="TextBox 7"/>
          <p:cNvSpPr txBox="1"/>
          <p:nvPr/>
        </p:nvSpPr>
        <p:spPr>
          <a:xfrm>
            <a:off x="731520" y="5486400"/>
            <a:ext cx="10698480" cy="822960"/>
          </a:xfrm>
          <a:prstGeom prst="rect">
            <a:avLst/>
          </a:prstGeom>
          <a:noFill/>
        </p:spPr>
        <p:txBody>
          <a:bodyPr wrap="square" lIns="0" rIns="0" tIns="0" bIns="0" anchor="t">
            <a:spAutoFit/>
          </a:bodyPr>
          <a:lstStyle/>
          <a:p>
            <a:pPr>
              <a:lnSpc>
                <a:spcPts val="2990"/>
              </a:lnSpc>
              <a:spcBef>
                <a:spcPts val="0"/>
              </a:spcBef>
              <a:spcAft>
                <a:spcPts val="0"/>
              </a:spcAft>
            </a:pPr>
            <a:r>
              <a:rPr sz="2300" b="0" i="0" lang="ja-JP">
                <a:solidFill>
                  <a:srgbClr val="171717"/>
                </a:solidFill>
                <a:latin typeface="Noto Sans JP"/>
              </a:rPr>
              <a:t>この組合せを止めるのは、当該ワークフローの運用規約。科学的にその組合せが絶対に使えない、という意味ではない。</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
        <p:nvSpPr>
          <p:cNvPr id="3" name="TextBox 2"/>
          <p:cNvSpPr txBox="1"/>
          <p:nvPr/>
        </p:nvSpPr>
        <p:spPr>
          <a:xfrm>
            <a:off x="594360" y="667512"/>
            <a:ext cx="10972800" cy="658368"/>
          </a:xfrm>
          <a:prstGeom prst="rect">
            <a:avLst/>
          </a:prstGeom>
          <a:noFill/>
        </p:spPr>
        <p:txBody>
          <a:bodyPr wrap="square" lIns="0" rIns="0" tIns="0" bIns="0" anchor="t">
            <a:spAutoFit/>
          </a:bodyPr>
          <a:lstStyle/>
          <a:p>
            <a:pPr>
              <a:lnSpc>
                <a:spcPts val="3625"/>
              </a:lnSpc>
              <a:spcBef>
                <a:spcPts val="0"/>
              </a:spcBef>
              <a:spcAft>
                <a:spcPts val="0"/>
              </a:spcAft>
            </a:pPr>
            <a:r>
              <a:rPr sz="2900" b="1" i="0" lang="ja-JP">
                <a:solidFill>
                  <a:srgbClr val="171717"/>
                </a:solidFill>
                <a:latin typeface="Noto Sans JP"/>
              </a:rPr>
              <a:t>MDPrepBenchは、準備結果を再計算して評価する</a:t>
            </a:r>
          </a:p>
        </p:txBody>
      </p:sp>
      <p:sp>
        <p:nvSpPr>
          <p:cNvPr id="4" name="TextBox 3"/>
          <p:cNvSpPr txBox="1"/>
          <p:nvPr/>
        </p:nvSpPr>
        <p:spPr>
          <a:xfrm>
            <a:off x="11247120" y="6519672"/>
            <a:ext cx="502920" cy="228600"/>
          </a:xfrm>
          <a:prstGeom prst="rect">
            <a:avLst/>
          </a:prstGeom>
          <a:noFill/>
        </p:spPr>
        <p:txBody>
          <a:bodyPr wrap="square" lIns="0" rIns="0" tIns="0" bIns="0" anchor="t">
            <a:spAutoFit/>
          </a:bodyPr>
          <a:lstStyle/>
          <a:p>
            <a:pPr>
              <a:lnSpc>
                <a:spcPts val="1375"/>
              </a:lnSpc>
              <a:spcBef>
                <a:spcPts val="0"/>
              </a:spcBef>
              <a:spcAft>
                <a:spcPts val="0"/>
              </a:spcAft>
            </a:pPr>
            <a:r>
              <a:rPr sz="1100" b="0" i="0" lang="ja-JP">
                <a:solidFill>
                  <a:srgbClr val="171717"/>
                </a:solidFill>
                <a:latin typeface="Noto Sans JP"/>
              </a:rPr>
              <a:t>27</a:t>
            </a:r>
          </a:p>
        </p:txBody>
      </p:sp>
      <p:sp>
        <p:nvSpPr>
          <p:cNvPr id="5" name="Rounded Rectangle 4"/>
          <p:cNvSpPr/>
          <p:nvPr/>
        </p:nvSpPr>
        <p:spPr>
          <a:xfrm>
            <a:off x="640080" y="1645920"/>
            <a:ext cx="3611880" cy="388620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860"/>
              </a:lnSpc>
              <a:spcBef>
                <a:spcPts val="0"/>
              </a:spcBef>
              <a:spcAft>
                <a:spcPts val="800"/>
              </a:spcAft>
            </a:pPr>
            <a:r>
              <a:rPr sz="2200" b="0" i="0" lang="ja-JP">
                <a:solidFill>
                  <a:srgbClr val="171717"/>
                </a:solidFill>
                <a:latin typeface="Noto Sans JP"/>
              </a:rPr>
              <a:t>対象と化学状態</a:t>
            </a:r>
          </a:p>
          <a:p>
            <a:pPr>
              <a:lnSpc>
                <a:spcPts val="2860"/>
              </a:lnSpc>
              <a:spcBef>
                <a:spcPts val="0"/>
              </a:spcBef>
              <a:spcAft>
                <a:spcPts val="800"/>
              </a:spcAft>
            </a:pPr>
            <a:r>
              <a:rPr sz="2200" b="0" i="0" lang="ja-JP">
                <a:solidFill>
                  <a:srgbClr val="171717"/>
                </a:solidFill>
                <a:latin typeface="Noto Sans JP"/>
              </a:rPr>
              <a:t>公開構造の欠損や不整合を扱う。</a:t>
            </a:r>
          </a:p>
          <a:p>
            <a:pPr>
              <a:lnSpc>
                <a:spcPts val="2860"/>
              </a:lnSpc>
              <a:spcBef>
                <a:spcPts val="0"/>
              </a:spcBef>
              <a:spcAft>
                <a:spcPts val="800"/>
              </a:spcAft>
            </a:pPr>
            <a:r>
              <a:rPr sz="2200" b="0" i="0" lang="ja-JP">
                <a:solidFill>
                  <a:srgbClr val="171717"/>
                </a:solidFill>
                <a:latin typeface="Noto Sans JP"/>
              </a:rPr>
              <a:t>指定したリガンド・イオン・修飾・膜・プロトン化状態を保つ。</a:t>
            </a:r>
          </a:p>
        </p:txBody>
      </p:sp>
      <p:sp>
        <p:nvSpPr>
          <p:cNvPr id="6" name="Rounded Rectangle 5"/>
          <p:cNvSpPr/>
          <p:nvPr/>
        </p:nvSpPr>
        <p:spPr>
          <a:xfrm>
            <a:off x="4480560" y="1645920"/>
            <a:ext cx="3611880" cy="388620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860"/>
              </a:lnSpc>
              <a:spcBef>
                <a:spcPts val="0"/>
              </a:spcBef>
              <a:spcAft>
                <a:spcPts val="800"/>
              </a:spcAft>
            </a:pPr>
            <a:r>
              <a:rPr sz="2200" b="0" i="0" lang="ja-JP">
                <a:solidFill>
                  <a:srgbClr val="171717"/>
                </a:solidFill>
                <a:latin typeface="Noto Sans JP"/>
              </a:rPr>
              <a:t>提出物と記録</a:t>
            </a:r>
          </a:p>
          <a:p>
            <a:pPr>
              <a:lnSpc>
                <a:spcPts val="2860"/>
              </a:lnSpc>
              <a:spcBef>
                <a:spcPts val="0"/>
              </a:spcBef>
              <a:spcAft>
                <a:spcPts val="800"/>
              </a:spcAft>
            </a:pPr>
            <a:r>
              <a:rPr sz="2200" b="0" i="0" lang="ja-JP">
                <a:solidFill>
                  <a:srgbClr val="171717"/>
                </a:solidFill>
                <a:latin typeface="Noto Sans JP"/>
              </a:rPr>
              <a:t>構造、設定、出典、判定の根拠を残す。</a:t>
            </a:r>
          </a:p>
          <a:p>
            <a:pPr>
              <a:lnSpc>
                <a:spcPts val="2860"/>
              </a:lnSpc>
              <a:spcBef>
                <a:spcPts val="0"/>
              </a:spcBef>
              <a:spcAft>
                <a:spcPts val="800"/>
              </a:spcAft>
            </a:pPr>
            <a:r>
              <a:rPr sz="2200" b="0" i="0" lang="ja-JP">
                <a:solidFill>
                  <a:srgbClr val="171717"/>
                </a:solidFill>
                <a:latin typeface="Noto Sans JP"/>
              </a:rPr>
              <a:t>文章だけでなく、再読込できるファイルを提出する。</a:t>
            </a:r>
          </a:p>
        </p:txBody>
      </p:sp>
      <p:sp>
        <p:nvSpPr>
          <p:cNvPr id="7" name="Rounded Rectangle 6"/>
          <p:cNvSpPr/>
          <p:nvPr/>
        </p:nvSpPr>
        <p:spPr>
          <a:xfrm>
            <a:off x="8321040" y="1645920"/>
            <a:ext cx="3611880" cy="388620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860"/>
              </a:lnSpc>
              <a:spcBef>
                <a:spcPts val="0"/>
              </a:spcBef>
              <a:spcAft>
                <a:spcPts val="800"/>
              </a:spcAft>
            </a:pPr>
            <a:r>
              <a:rPr sz="2200" b="0" i="0" lang="ja-JP">
                <a:solidFill>
                  <a:srgbClr val="171717"/>
                </a:solidFill>
                <a:latin typeface="Noto Sans JP"/>
              </a:rPr>
              <a:t>独立した点検</a:t>
            </a:r>
          </a:p>
          <a:p>
            <a:pPr>
              <a:lnSpc>
                <a:spcPts val="2860"/>
              </a:lnSpc>
              <a:spcBef>
                <a:spcPts val="0"/>
              </a:spcBef>
              <a:spcAft>
                <a:spcPts val="800"/>
              </a:spcAft>
            </a:pPr>
            <a:r>
              <a:rPr sz="2200" b="0" i="0" lang="ja-JP">
                <a:solidFill>
                  <a:srgbClr val="171717"/>
                </a:solidFill>
                <a:latin typeface="Noto Sans JP"/>
              </a:rPr>
              <a:t>成分と残基状態を再確認する。</a:t>
            </a:r>
          </a:p>
          <a:p>
            <a:pPr>
              <a:lnSpc>
                <a:spcPts val="2860"/>
              </a:lnSpc>
              <a:spcBef>
                <a:spcPts val="0"/>
              </a:spcBef>
              <a:spcAft>
                <a:spcPts val="800"/>
              </a:spcAft>
            </a:pPr>
            <a:r>
              <a:rPr sz="2200" b="0" i="0" lang="ja-JP">
                <a:solidFill>
                  <a:srgbClr val="171717"/>
                </a:solidFill>
                <a:latin typeface="Noto Sans JP"/>
              </a:rPr>
              <a:t>OpenMMで設定を読み直し、エネルギーを再計算する。</a:t>
            </a:r>
          </a:p>
        </p:txBody>
      </p:sp>
      <p:sp>
        <p:nvSpPr>
          <p:cNvPr id="8" name="TextBox 7"/>
          <p:cNvSpPr txBox="1"/>
          <p:nvPr/>
        </p:nvSpPr>
        <p:spPr>
          <a:xfrm>
            <a:off x="731520" y="5943600"/>
            <a:ext cx="10789920" cy="457200"/>
          </a:xfrm>
          <a:prstGeom prst="rect">
            <a:avLst/>
          </a:prstGeom>
          <a:noFill/>
        </p:spPr>
        <p:txBody>
          <a:bodyPr wrap="square" lIns="0" rIns="0" tIns="0" bIns="0" anchor="t">
            <a:spAutoFit/>
          </a:bodyPr>
          <a:lstStyle/>
          <a:p>
            <a:pPr>
              <a:lnSpc>
                <a:spcPts val="2875"/>
              </a:lnSpc>
              <a:spcBef>
                <a:spcPts val="0"/>
              </a:spcBef>
              <a:spcAft>
                <a:spcPts val="0"/>
              </a:spcAft>
            </a:pPr>
            <a:r>
              <a:rPr sz="2300" b="1" i="0" lang="ja-JP">
                <a:solidFill>
                  <a:srgbClr val="171717"/>
                </a:solidFill>
                <a:latin typeface="Noto Sans JP"/>
              </a:rPr>
              <a:t>最小化が終了したことだけで、準備が正しいとは判定しない。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
        <p:nvSpPr>
          <p:cNvPr id="3" name="TextBox 2"/>
          <p:cNvSpPr txBox="1"/>
          <p:nvPr/>
        </p:nvSpPr>
        <p:spPr>
          <a:xfrm>
            <a:off x="594360" y="667512"/>
            <a:ext cx="10972800" cy="658368"/>
          </a:xfrm>
          <a:prstGeom prst="rect">
            <a:avLst/>
          </a:prstGeom>
          <a:noFill/>
        </p:spPr>
        <p:txBody>
          <a:bodyPr wrap="square" lIns="0" rIns="0" tIns="0" bIns="0" anchor="t">
            <a:spAutoFit/>
          </a:bodyPr>
          <a:lstStyle/>
          <a:p>
            <a:pPr>
              <a:lnSpc>
                <a:spcPts val="3625"/>
              </a:lnSpc>
              <a:spcBef>
                <a:spcPts val="0"/>
              </a:spcBef>
              <a:spcAft>
                <a:spcPts val="0"/>
              </a:spcAft>
            </a:pPr>
            <a:r>
              <a:rPr sz="2900" b="1" i="0" lang="ja-JP">
                <a:solidFill>
                  <a:srgbClr val="171717"/>
                </a:solidFill>
                <a:latin typeface="Noto Sans JP"/>
              </a:rPr>
              <a:t>生成した構造を、成分と配置から点検する</a:t>
            </a:r>
          </a:p>
        </p:txBody>
      </p:sp>
      <p:sp>
        <p:nvSpPr>
          <p:cNvPr id="4" name="TextBox 3"/>
          <p:cNvSpPr txBox="1"/>
          <p:nvPr/>
        </p:nvSpPr>
        <p:spPr>
          <a:xfrm>
            <a:off x="11247120" y="6519672"/>
            <a:ext cx="502920" cy="228600"/>
          </a:xfrm>
          <a:prstGeom prst="rect">
            <a:avLst/>
          </a:prstGeom>
          <a:noFill/>
        </p:spPr>
        <p:txBody>
          <a:bodyPr wrap="square" lIns="0" rIns="0" tIns="0" bIns="0" anchor="t">
            <a:spAutoFit/>
          </a:bodyPr>
          <a:lstStyle/>
          <a:p>
            <a:pPr>
              <a:lnSpc>
                <a:spcPts val="1375"/>
              </a:lnSpc>
              <a:spcBef>
                <a:spcPts val="0"/>
              </a:spcBef>
              <a:spcAft>
                <a:spcPts val="0"/>
              </a:spcAft>
            </a:pPr>
            <a:r>
              <a:rPr sz="1100" b="0" i="0" lang="ja-JP">
                <a:solidFill>
                  <a:srgbClr val="171717"/>
                </a:solidFill>
                <a:latin typeface="Noto Sans JP"/>
              </a:rPr>
              <a:t>28</a:t>
            </a:r>
          </a:p>
        </p:txBody>
      </p:sp>
      <p:sp>
        <p:nvSpPr>
          <p:cNvPr id="5" name="TextBox 4"/>
          <p:cNvSpPr txBox="1"/>
          <p:nvPr/>
        </p:nvSpPr>
        <p:spPr>
          <a:xfrm>
            <a:off x="640080" y="1371600"/>
            <a:ext cx="5394960" cy="365760"/>
          </a:xfrm>
          <a:prstGeom prst="rect">
            <a:avLst/>
          </a:prstGeom>
          <a:noFill/>
        </p:spPr>
        <p:txBody>
          <a:bodyPr wrap="square" lIns="0" rIns="0" tIns="0" bIns="0" anchor="t">
            <a:spAutoFit/>
          </a:bodyPr>
          <a:lstStyle/>
          <a:p>
            <a:pPr>
              <a:lnSpc>
                <a:spcPts val="2625"/>
              </a:lnSpc>
              <a:spcBef>
                <a:spcPts val="0"/>
              </a:spcBef>
              <a:spcAft>
                <a:spcPts val="0"/>
              </a:spcAft>
            </a:pPr>
            <a:r>
              <a:rPr sz="2100" b="1" i="0" lang="ja-JP">
                <a:solidFill>
                  <a:srgbClr val="171717"/>
                </a:solidFill>
                <a:latin typeface="Noto Sans JP"/>
              </a:rPr>
              <a:t>P02：タンパク質＋AP5</a:t>
            </a:r>
          </a:p>
        </p:txBody>
      </p:sp>
      <p:pic>
        <p:nvPicPr>
          <p:cNvPr id="6" name="Picture 5" descr="prepared-0.png"/>
          <p:cNvPicPr>
            <a:picLocks noChangeAspect="1"/>
          </p:cNvPicPr>
          <p:nvPr/>
        </p:nvPicPr>
        <p:blipFill>
          <a:blip r:embed="rId7"/>
          <a:stretch>
            <a:fillRect/>
          </a:stretch>
        </p:blipFill>
        <p:spPr>
          <a:xfrm>
            <a:off x="2473809" y="1755648"/>
            <a:ext cx="1727500" cy="1664207"/>
          </a:xfrm>
          <a:prstGeom prst="rect">
            <a:avLst/>
          </a:prstGeom>
        </p:spPr>
      </p:pic>
      <p:sp>
        <p:nvSpPr>
          <p:cNvPr id="7" name="TextBox 6"/>
          <p:cNvSpPr txBox="1"/>
          <p:nvPr/>
        </p:nvSpPr>
        <p:spPr>
          <a:xfrm>
            <a:off x="640080" y="3474720"/>
            <a:ext cx="5394960" cy="274320"/>
          </a:xfrm>
          <a:prstGeom prst="rect">
            <a:avLst/>
          </a:prstGeom>
          <a:noFill/>
        </p:spPr>
        <p:txBody>
          <a:bodyPr wrap="square" lIns="0" rIns="0" tIns="0" bIns="0" anchor="t">
            <a:spAutoFit/>
          </a:bodyPr>
          <a:lstStyle/>
          <a:p>
            <a:pPr>
              <a:lnSpc>
                <a:spcPts val="2000"/>
              </a:lnSpc>
              <a:spcBef>
                <a:spcPts val="0"/>
              </a:spcBef>
              <a:spcAft>
                <a:spcPts val="0"/>
              </a:spcAft>
            </a:pPr>
            <a:r>
              <a:rPr sz="1600" b="0" i="0" lang="ja-JP">
                <a:solidFill>
                  <a:srgbClr val="171717"/>
                </a:solidFill>
                <a:latin typeface="Noto Sans JP"/>
              </a:rPr>
              <a:t>リガンドを保持しているか</a:t>
            </a:r>
          </a:p>
        </p:txBody>
      </p:sp>
      <p:sp>
        <p:nvSpPr>
          <p:cNvPr id="8" name="TextBox 7"/>
          <p:cNvSpPr txBox="1"/>
          <p:nvPr/>
        </p:nvSpPr>
        <p:spPr>
          <a:xfrm>
            <a:off x="6446520" y="1371600"/>
            <a:ext cx="5394960" cy="365760"/>
          </a:xfrm>
          <a:prstGeom prst="rect">
            <a:avLst/>
          </a:prstGeom>
          <a:noFill/>
        </p:spPr>
        <p:txBody>
          <a:bodyPr wrap="square" lIns="0" rIns="0" tIns="0" bIns="0" anchor="t">
            <a:spAutoFit/>
          </a:bodyPr>
          <a:lstStyle/>
          <a:p>
            <a:pPr>
              <a:lnSpc>
                <a:spcPts val="2625"/>
              </a:lnSpc>
              <a:spcBef>
                <a:spcPts val="0"/>
              </a:spcBef>
              <a:spcAft>
                <a:spcPts val="0"/>
              </a:spcAft>
            </a:pPr>
            <a:r>
              <a:rPr sz="2100" b="1" i="0" lang="ja-JP">
                <a:solidFill>
                  <a:srgbClr val="171717"/>
                </a:solidFill>
                <a:latin typeface="Noto Sans JP"/>
              </a:rPr>
              <a:t>P06：カルモジュリン＋Ca²⁺</a:t>
            </a:r>
          </a:p>
        </p:txBody>
      </p:sp>
      <p:pic>
        <p:nvPicPr>
          <p:cNvPr id="9" name="Picture 8" descr="prepared-1.png"/>
          <p:cNvPicPr>
            <a:picLocks noChangeAspect="1"/>
          </p:cNvPicPr>
          <p:nvPr/>
        </p:nvPicPr>
        <p:blipFill>
          <a:blip r:embed="rId8"/>
          <a:stretch>
            <a:fillRect/>
          </a:stretch>
        </p:blipFill>
        <p:spPr>
          <a:xfrm>
            <a:off x="7926258" y="1755648"/>
            <a:ext cx="2435482" cy="1664208"/>
          </a:xfrm>
          <a:prstGeom prst="rect">
            <a:avLst/>
          </a:prstGeom>
        </p:spPr>
      </p:pic>
      <p:sp>
        <p:nvSpPr>
          <p:cNvPr id="10" name="TextBox 9"/>
          <p:cNvSpPr txBox="1"/>
          <p:nvPr/>
        </p:nvSpPr>
        <p:spPr>
          <a:xfrm>
            <a:off x="6446520" y="3474720"/>
            <a:ext cx="5394960" cy="274320"/>
          </a:xfrm>
          <a:prstGeom prst="rect">
            <a:avLst/>
          </a:prstGeom>
          <a:noFill/>
        </p:spPr>
        <p:txBody>
          <a:bodyPr wrap="square" lIns="0" rIns="0" tIns="0" bIns="0" anchor="t">
            <a:spAutoFit/>
          </a:bodyPr>
          <a:lstStyle/>
          <a:p>
            <a:pPr>
              <a:lnSpc>
                <a:spcPts val="2000"/>
              </a:lnSpc>
              <a:spcBef>
                <a:spcPts val="0"/>
              </a:spcBef>
              <a:spcAft>
                <a:spcPts val="0"/>
              </a:spcAft>
            </a:pPr>
            <a:r>
              <a:rPr sz="1600" b="0" i="0" lang="ja-JP">
                <a:solidFill>
                  <a:srgbClr val="171717"/>
                </a:solidFill>
                <a:latin typeface="Noto Sans JP"/>
              </a:rPr>
              <a:t>イオンの位置は妥当か</a:t>
            </a:r>
          </a:p>
        </p:txBody>
      </p:sp>
      <p:sp>
        <p:nvSpPr>
          <p:cNvPr id="11" name="TextBox 10"/>
          <p:cNvSpPr txBox="1"/>
          <p:nvPr/>
        </p:nvSpPr>
        <p:spPr>
          <a:xfrm>
            <a:off x="640080" y="3840480"/>
            <a:ext cx="5394960" cy="365760"/>
          </a:xfrm>
          <a:prstGeom prst="rect">
            <a:avLst/>
          </a:prstGeom>
          <a:noFill/>
        </p:spPr>
        <p:txBody>
          <a:bodyPr wrap="square" lIns="0" rIns="0" tIns="0" bIns="0" anchor="t">
            <a:spAutoFit/>
          </a:bodyPr>
          <a:lstStyle/>
          <a:p>
            <a:pPr>
              <a:lnSpc>
                <a:spcPts val="2625"/>
              </a:lnSpc>
              <a:spcBef>
                <a:spcPts val="0"/>
              </a:spcBef>
              <a:spcAft>
                <a:spcPts val="0"/>
              </a:spcAft>
            </a:pPr>
            <a:r>
              <a:rPr sz="2100" b="1" i="0" lang="ja-JP">
                <a:solidFill>
                  <a:srgbClr val="171717"/>
                </a:solidFill>
                <a:latin typeface="Noto Sans JP"/>
              </a:rPr>
              <a:t>P14：糖タンパク質</a:t>
            </a:r>
          </a:p>
        </p:txBody>
      </p:sp>
      <p:pic>
        <p:nvPicPr>
          <p:cNvPr id="12" name="Picture 11" descr="prepared-2.png"/>
          <p:cNvPicPr>
            <a:picLocks noChangeAspect="1"/>
          </p:cNvPicPr>
          <p:nvPr/>
        </p:nvPicPr>
        <p:blipFill>
          <a:blip r:embed="rId9"/>
          <a:stretch>
            <a:fillRect/>
          </a:stretch>
        </p:blipFill>
        <p:spPr>
          <a:xfrm>
            <a:off x="2213638" y="4224528"/>
            <a:ext cx="2247843" cy="1664208"/>
          </a:xfrm>
          <a:prstGeom prst="rect">
            <a:avLst/>
          </a:prstGeom>
        </p:spPr>
      </p:pic>
      <p:sp>
        <p:nvSpPr>
          <p:cNvPr id="13" name="TextBox 12"/>
          <p:cNvSpPr txBox="1"/>
          <p:nvPr/>
        </p:nvSpPr>
        <p:spPr>
          <a:xfrm>
            <a:off x="640080" y="5943600"/>
            <a:ext cx="5394960" cy="274320"/>
          </a:xfrm>
          <a:prstGeom prst="rect">
            <a:avLst/>
          </a:prstGeom>
          <a:noFill/>
        </p:spPr>
        <p:txBody>
          <a:bodyPr wrap="square" lIns="0" rIns="0" tIns="0" bIns="0" anchor="t">
            <a:spAutoFit/>
          </a:bodyPr>
          <a:lstStyle/>
          <a:p>
            <a:pPr>
              <a:lnSpc>
                <a:spcPts val="2000"/>
              </a:lnSpc>
              <a:spcBef>
                <a:spcPts val="0"/>
              </a:spcBef>
              <a:spcAft>
                <a:spcPts val="0"/>
              </a:spcAft>
            </a:pPr>
            <a:r>
              <a:rPr sz="1600" b="0" i="0" lang="ja-JP">
                <a:solidFill>
                  <a:srgbClr val="171717"/>
                </a:solidFill>
                <a:latin typeface="Noto Sans JP"/>
              </a:rPr>
              <a:t>糖鎖などの成分が残っているか</a:t>
            </a:r>
          </a:p>
        </p:txBody>
      </p:sp>
      <p:sp>
        <p:nvSpPr>
          <p:cNvPr id="14" name="TextBox 13"/>
          <p:cNvSpPr txBox="1"/>
          <p:nvPr/>
        </p:nvSpPr>
        <p:spPr>
          <a:xfrm>
            <a:off x="6446520" y="3840480"/>
            <a:ext cx="5394960" cy="365760"/>
          </a:xfrm>
          <a:prstGeom prst="rect">
            <a:avLst/>
          </a:prstGeom>
          <a:noFill/>
        </p:spPr>
        <p:txBody>
          <a:bodyPr wrap="square" lIns="0" rIns="0" tIns="0" bIns="0" anchor="t">
            <a:spAutoFit/>
          </a:bodyPr>
          <a:lstStyle/>
          <a:p>
            <a:pPr>
              <a:lnSpc>
                <a:spcPts val="2625"/>
              </a:lnSpc>
              <a:spcBef>
                <a:spcPts val="0"/>
              </a:spcBef>
              <a:spcAft>
                <a:spcPts val="0"/>
              </a:spcAft>
            </a:pPr>
            <a:r>
              <a:rPr sz="2100" b="1" i="0" lang="ja-JP">
                <a:solidFill>
                  <a:srgbClr val="171717"/>
                </a:solidFill>
                <a:latin typeface="Noto Sans JP"/>
              </a:rPr>
              <a:t>P17：DNA二重鎖</a:t>
            </a:r>
          </a:p>
        </p:txBody>
      </p:sp>
      <p:pic>
        <p:nvPicPr>
          <p:cNvPr id="15" name="Picture 14" descr="prepared-3.png"/>
          <p:cNvPicPr>
            <a:picLocks noChangeAspect="1"/>
          </p:cNvPicPr>
          <p:nvPr/>
        </p:nvPicPr>
        <p:blipFill>
          <a:blip r:embed="rId10"/>
          <a:stretch>
            <a:fillRect/>
          </a:stretch>
        </p:blipFill>
        <p:spPr>
          <a:xfrm>
            <a:off x="7537235" y="4224528"/>
            <a:ext cx="3213529" cy="1664208"/>
          </a:xfrm>
          <a:prstGeom prst="rect">
            <a:avLst/>
          </a:prstGeom>
        </p:spPr>
      </p:pic>
      <p:sp>
        <p:nvSpPr>
          <p:cNvPr id="16" name="TextBox 15"/>
          <p:cNvSpPr txBox="1"/>
          <p:nvPr/>
        </p:nvSpPr>
        <p:spPr>
          <a:xfrm>
            <a:off x="6446520" y="5943600"/>
            <a:ext cx="5394960" cy="274320"/>
          </a:xfrm>
          <a:prstGeom prst="rect">
            <a:avLst/>
          </a:prstGeom>
          <a:noFill/>
        </p:spPr>
        <p:txBody>
          <a:bodyPr wrap="square" lIns="0" rIns="0" tIns="0" bIns="0" anchor="t">
            <a:spAutoFit/>
          </a:bodyPr>
          <a:lstStyle/>
          <a:p>
            <a:pPr>
              <a:lnSpc>
                <a:spcPts val="2000"/>
              </a:lnSpc>
              <a:spcBef>
                <a:spcPts val="0"/>
              </a:spcBef>
              <a:spcAft>
                <a:spcPts val="0"/>
              </a:spcAft>
            </a:pPr>
            <a:r>
              <a:rPr sz="1600" b="0" i="0" lang="ja-JP">
                <a:solidFill>
                  <a:srgbClr val="171717"/>
                </a:solidFill>
                <a:latin typeface="Noto Sans JP"/>
              </a:rPr>
              <a:t>両方の鎖と配置が保たれているか</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正方形/長方形 1">
            <a:extLst>
              <a:ext uri="{FF2B5EF4-FFF2-40B4-BE49-F238E27FC236}">
                <a16:creationId xmlns:a16="http://schemas.microsoft.com/office/drawing/2014/main" id="{6377D365-F28F-2EF8-44FE-29445903AE88}"/>
              </a:ext>
            </a:extLst>
          </p:cNvPr>
          <p:cNvSpPr>
            <a:spLocks noGrp="1"/>
          </p:cNvSpPr>
          <p:nvPr/>
        </p:nvSpPr>
        <p:spPr>
          <a:xfrm>
            <a:off x="934567" y="54864"/>
            <a:ext cx="10322560" cy="64516"/>
          </a:xfrm>
          <a:prstGeom prst="rect">
            <a:avLst/>
          </a:prstGeom>
          <a:solidFill>
            <a:srgbClr val="111827"/>
          </a:solidFill>
          <a:ln w="0">
            <a:solidFill>
              <a:srgbClr val="000000">
                <a:alpha val="0"/>
              </a:srgbClr>
            </a:solidFill>
            <a:prstDash val="solid"/>
          </a:ln>
        </p:spPr>
        <p:txBody>
          <a:bodyPr/>
          <a:lstStyle/>
          <a:p>
            <a:endParaRPr lang="ja-JP" altLang="en-US"/>
          </a:p>
        </p:txBody>
      </p:sp>
      <p:sp>
        <p:nvSpPr>
          <p:cNvPr id="3" name="正方形/長方形 2">
            <a:extLst>
              <a:ext uri="{FF2B5EF4-FFF2-40B4-BE49-F238E27FC236}">
                <a16:creationId xmlns:a16="http://schemas.microsoft.com/office/drawing/2014/main" id="{3B5209C9-323A-4448-6A28-9C50C549D95F}"/>
              </a:ext>
            </a:extLst>
          </p:cNvPr>
          <p:cNvSpPr>
            <a:spLocks noGrp="1"/>
          </p:cNvSpPr>
          <p:nvPr/>
        </p:nvSpPr>
        <p:spPr>
          <a:xfrm>
            <a:off x="1224889" y="329057"/>
            <a:ext cx="145161" cy="145161"/>
          </a:xfrm>
          <a:prstGeom prst="rect">
            <a:avLst/>
          </a:prstGeom>
          <a:solidFill>
            <a:srgbClr val="0E3A75"/>
          </a:solidFill>
          <a:ln w="0">
            <a:solidFill>
              <a:srgbClr val="000000">
                <a:alpha val="0"/>
              </a:srgbClr>
            </a:solidFill>
            <a:prstDash val="solid"/>
          </a:ln>
        </p:spPr>
        <p:txBody>
          <a:bodyPr/>
          <a:lstStyle/>
          <a:p>
            <a:endParaRPr lang="ja-JP" altLang="en-US"/>
          </a:p>
        </p:txBody>
      </p:sp>
      <p:sp>
        <p:nvSpPr>
          <p:cNvPr id="4" name="正方形/長方形 3">
            <a:extLst>
              <a:ext uri="{FF2B5EF4-FFF2-40B4-BE49-F238E27FC236}">
                <a16:creationId xmlns:a16="http://schemas.microsoft.com/office/drawing/2014/main" id="{EC638EC1-1F43-A729-04A9-804F0474BB00}"/>
              </a:ext>
            </a:extLst>
          </p:cNvPr>
          <p:cNvSpPr>
            <a:spLocks noGrp="1"/>
          </p:cNvSpPr>
          <p:nvPr/>
        </p:nvSpPr>
        <p:spPr>
          <a:xfrm>
            <a:off x="1224889" y="562927"/>
            <a:ext cx="1919351" cy="24193"/>
          </a:xfrm>
          <a:prstGeom prst="rect">
            <a:avLst/>
          </a:prstGeom>
          <a:solidFill>
            <a:srgbClr val="0E3A75"/>
          </a:solidFill>
          <a:ln w="0">
            <a:solidFill>
              <a:srgbClr val="000000">
                <a:alpha val="0"/>
              </a:srgbClr>
            </a:solidFill>
            <a:prstDash val="solid"/>
          </a:ln>
        </p:spPr>
        <p:txBody>
          <a:bodyPr/>
          <a:lstStyle/>
          <a:p>
            <a:endParaRPr lang="ja-JP" altLang="en-US"/>
          </a:p>
        </p:txBody>
      </p:sp>
      <p:sp>
        <p:nvSpPr>
          <p:cNvPr id="6" name="正方形/長方形 5">
            <a:extLst>
              <a:ext uri="{FF2B5EF4-FFF2-40B4-BE49-F238E27FC236}">
                <a16:creationId xmlns:a16="http://schemas.microsoft.com/office/drawing/2014/main" id="{B154A47A-580C-A22E-DC16-52C9970115CE}"/>
              </a:ext>
            </a:extLst>
          </p:cNvPr>
          <p:cNvSpPr>
            <a:spLocks noGrp="1"/>
          </p:cNvSpPr>
          <p:nvPr/>
        </p:nvSpPr>
        <p:spPr>
          <a:xfrm>
            <a:off x="594360" y="585216"/>
            <a:ext cx="10972800" cy="594360"/>
          </a:xfrm>
          <a:prstGeom prst="rect">
            <a:avLst/>
          </a:prstGeom>
          <a:solidFill>
            <a:srgbClr val="000000">
              <a:alpha val="0"/>
            </a:srgbClr>
          </a:solidFill>
          <a:ln w="0">
            <a:solidFill>
              <a:srgbClr val="000000">
                <a:alpha val="0"/>
              </a:srgbClr>
            </a:solidFill>
            <a:prstDash val="solid"/>
          </a:ln>
        </p:spPr>
        <p:txBody>
          <a:bodyPr lIns="0" tIns="0" rIns="0" bIns="0" anchor="t" wrap="square"/>
          <a:lstStyle/>
          <a:p>
            <a:pPr algn="l">
              <a:lnSpc>
                <a:spcPts val="3479"/>
              </a:lnSpc>
              <a:spcBef>
                <a:spcPts val="0"/>
              </a:spcBef>
              <a:spcAft>
                <a:spcPts val="0"/>
              </a:spcAft>
            </a:pPr>
            <a:r>
              <a:rPr sz="2900" b="1" i="0" lang="ja-JP">
                <a:solidFill>
                  <a:srgbClr val="171717"/>
                </a:solidFill>
                <a:latin typeface="Noto Sans JP"/>
              </a:rPr>
              <a:t>25課題の比較では、Skillsを含む条件の得点が高かった</a:t>
            </a:r>
          </a:p>
        </p:txBody>
      </p:sp>
      <p:graphicFrame>
        <p:nvGraphicFramePr>
          <p:cNvPr id="11" name="表 10">
            <a:extLst>
              <a:ext uri="{FF2B5EF4-FFF2-40B4-BE49-F238E27FC236}">
                <a16:creationId xmlns:a16="http://schemas.microsoft.com/office/drawing/2014/main" id="{6DF20E84-DB11-444E-8659-3CD242E308EC}"/>
              </a:ext>
            </a:extLst>
          </p:cNvPr>
          <p:cNvGraphicFramePr>
            <a:graphicFrameLocks noGrp="1"/>
          </p:cNvGraphicFramePr>
          <p:nvPr>
            <p:extLst>
              <p:ext uri="{D42A27DB-BD31-4B8C-83A1-F6EECF244321}">
                <p14:modId xmlns:p14="http://schemas.microsoft.com/office/powerpoint/2010/main" val="199769071"/>
              </p:ext>
            </p:extLst>
          </p:nvPr>
        </p:nvGraphicFramePr>
        <p:xfrm>
          <a:off x="1096897" y="1552519"/>
          <a:ext cx="10052009" cy="2523840"/>
        </p:xfrm>
        <a:graphic>
          <a:graphicData uri="http://schemas.openxmlformats.org/drawingml/2006/table">
            <a:tbl>
              <a:tblPr firstRow="1" bandRow="1">
                <a:tableStyleId>{5C22544A-7EE6-4342-B048-85BDC9FD1C3A}</a:tableStyleId>
              </a:tblPr>
              <a:tblGrid>
                <a:gridCol w="2797081">
                  <a:extLst>
                    <a:ext uri="{9D8B030D-6E8A-4147-A177-3AD203B41FA5}">
                      <a16:colId xmlns:a16="http://schemas.microsoft.com/office/drawing/2014/main" val="1750500870"/>
                    </a:ext>
                  </a:extLst>
                </a:gridCol>
                <a:gridCol w="2228923">
                  <a:extLst>
                    <a:ext uri="{9D8B030D-6E8A-4147-A177-3AD203B41FA5}">
                      <a16:colId xmlns:a16="http://schemas.microsoft.com/office/drawing/2014/main" val="2644358625"/>
                    </a:ext>
                  </a:extLst>
                </a:gridCol>
                <a:gridCol w="2513002">
                  <a:extLst>
                    <a:ext uri="{9D8B030D-6E8A-4147-A177-3AD203B41FA5}">
                      <a16:colId xmlns:a16="http://schemas.microsoft.com/office/drawing/2014/main" val="682342318"/>
                    </a:ext>
                  </a:extLst>
                </a:gridCol>
                <a:gridCol w="2513002">
                  <a:extLst>
                    <a:ext uri="{9D8B030D-6E8A-4147-A177-3AD203B41FA5}">
                      <a16:colId xmlns:a16="http://schemas.microsoft.com/office/drawing/2014/main" val="1695122663"/>
                    </a:ext>
                  </a:extLst>
                </a:gridCol>
              </a:tblGrid>
              <a:tr h="841279">
                <a:tc>
                  <a:txBody>
                    <a:bodyPr/>
                    <a:lstStyle/>
                    <a:p>
                      <a:pPr algn="ctr"/>
                      <a:r>
                        <a:rPr lang="ja-JP" altLang="en-US" sz="2116" b="1">
                          <a:solidFill>
                            <a:srgbClr val="FFFFFF"/>
                          </a:solidFill>
                        </a:rPr>
                        <a:t>model / harness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64A82"/>
                    </a:solidFill>
                  </a:tcPr>
                </a:tc>
                <a:tc>
                  <a:txBody>
                    <a:bodyPr/>
                    <a:lstStyle/>
                    <a:p>
                      <a:pPr algn="ctr"/>
                      <a:r>
                        <a:rPr lang="ja-JP" altLang="en-US" sz="2116" b="1">
                          <a:solidFill>
                            <a:srgbClr val="FFFFFF"/>
                          </a:solidFill>
                        </a:rPr>
                        <a:t>skills+CLI</a:t>
                      </a:r>
                      <a:r>
                        <a:rPr lang="en-US" altLang="ja-JP" sz="2116" b="1" dirty="0">
                          <a:solidFill>
                            <a:srgbClr val="FFFFFF"/>
                          </a:solidFill>
                        </a:rPr>
                        <a:t>s</a:t>
                      </a:r>
                      <a:endParaRPr lang="ja-JP" altLang="en-US" sz="2116" b="1">
                        <a:solidFill>
                          <a:srgbClr val="FFFFFF"/>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64A82"/>
                    </a:solidFill>
                  </a:tcPr>
                </a:tc>
                <a:tc>
                  <a:txBody>
                    <a:bodyPr/>
                    <a:lstStyle/>
                    <a:p>
                      <a:pPr algn="ctr"/>
                      <a:r>
                        <a:rPr lang="ja-JP" altLang="en-US" sz="2116" b="1">
                          <a:solidFill>
                            <a:srgbClr val="FFFFFF"/>
                          </a:solidFill>
                        </a:rPr>
                        <a:t>CLI</a:t>
                      </a:r>
                      <a:r>
                        <a:rPr lang="en-US" altLang="ja-JP" sz="2116" b="1" dirty="0">
                          <a:solidFill>
                            <a:srgbClr val="FFFFFF"/>
                          </a:solidFill>
                        </a:rPr>
                        <a:t>s</a:t>
                      </a:r>
                      <a:r>
                        <a:rPr lang="ja-JP" altLang="en-US" sz="2116" b="1">
                          <a:solidFill>
                            <a:srgbClr val="FFFFFF"/>
                          </a:solidFill>
                        </a:rPr>
                        <a:t>-only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64A82"/>
                    </a:solidFill>
                  </a:tcPr>
                </a:tc>
                <a:tc>
                  <a:txBody>
                    <a:bodyPr/>
                    <a:lstStyle/>
                    <a:p>
                      <a:pPr algn="ctr"/>
                      <a:r>
                        <a:rPr lang="ja-JP" altLang="en-US" sz="2116" b="1">
                          <a:solidFill>
                            <a:srgbClr val="FFFFFF"/>
                          </a:solidFill>
                        </a:rPr>
                        <a:t>free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64A82"/>
                    </a:solidFill>
                  </a:tcPr>
                </a:tc>
                <a:extLst>
                  <a:ext uri="{0D108BD9-81ED-4DB2-BD59-A6C34878D82A}">
                    <a16:rowId xmlns:a16="http://schemas.microsoft.com/office/drawing/2014/main" val="961503901"/>
                  </a:ext>
                </a:extLst>
              </a:tr>
              <a:tr h="841279">
                <a:tc>
                  <a:txBody>
                    <a:bodyPr/>
                    <a:lstStyle/>
                    <a:p>
                      <a:pPr algn="ctr"/>
                      <a:r>
                        <a:rPr lang="en-US" altLang="ja-JP" sz="2116" b="1" dirty="0">
                          <a:solidFill>
                            <a:srgbClr val="172033"/>
                          </a:solidFill>
                        </a:rPr>
                        <a:t>Haiku 4.5 / </a:t>
                      </a:r>
                      <a:r>
                        <a:rPr lang="en-US" altLang="ja-JP" sz="2116" b="1" dirty="0" err="1">
                          <a:solidFill>
                            <a:srgbClr val="172033"/>
                          </a:solidFill>
                        </a:rPr>
                        <a:t>claude</a:t>
                      </a:r>
                      <a:r>
                        <a:rPr lang="en-US" altLang="ja-JP" sz="2116" b="1" dirty="0">
                          <a:solidFill>
                            <a:srgbClr val="172033"/>
                          </a:solidFill>
                        </a:rPr>
                        <a:t>-code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2F5FA"/>
                    </a:solidFill>
                  </a:tcPr>
                </a:tc>
                <a:tc>
                  <a:txBody>
                    <a:bodyPr/>
                    <a:lstStyle/>
                    <a:p>
                      <a:pPr algn="ctr"/>
                      <a:r>
                        <a:rPr lang="ja-JP" altLang="en-US" sz="2116" b="0">
                          <a:solidFill>
                            <a:srgbClr val="172033"/>
                          </a:solidFill>
                        </a:rPr>
                        <a:t>22/2</a:t>
                      </a:r>
                      <a:r>
                        <a:rPr lang="en-US" altLang="ja-JP" sz="2116" b="0" dirty="0">
                          <a:solidFill>
                            <a:srgbClr val="172033"/>
                          </a:solidFill>
                        </a:rPr>
                        <a:t>5</a:t>
                      </a:r>
                      <a:endParaRPr lang="ja-JP" altLang="en-US" sz="2116" b="0">
                        <a:solidFill>
                          <a:srgbClr val="172033"/>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2F5FA"/>
                    </a:solidFill>
                  </a:tcPr>
                </a:tc>
                <a:tc>
                  <a:txBody>
                    <a:bodyPr/>
                    <a:lstStyle/>
                    <a:p>
                      <a:pPr algn="ctr"/>
                      <a:r>
                        <a:rPr lang="ja-JP" altLang="en-US" sz="2116" b="0">
                          <a:solidFill>
                            <a:srgbClr val="172033"/>
                          </a:solidFill>
                        </a:rPr>
                        <a:t>7/25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2F5FA"/>
                    </a:solidFill>
                  </a:tcPr>
                </a:tc>
                <a:tc>
                  <a:txBody>
                    <a:bodyPr/>
                    <a:lstStyle/>
                    <a:p>
                      <a:pPr algn="ctr"/>
                      <a:r>
                        <a:rPr lang="ja-JP" altLang="en-US" sz="2116" b="0">
                          <a:solidFill>
                            <a:srgbClr val="172033"/>
                          </a:solidFill>
                        </a:rPr>
                        <a:t>5/25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2F5FA"/>
                    </a:solidFill>
                  </a:tcPr>
                </a:tc>
                <a:extLst>
                  <a:ext uri="{0D108BD9-81ED-4DB2-BD59-A6C34878D82A}">
                    <a16:rowId xmlns:a16="http://schemas.microsoft.com/office/drawing/2014/main" val="1236581862"/>
                  </a:ext>
                </a:extLst>
              </a:tr>
              <a:tr h="841281">
                <a:tc>
                  <a:txBody>
                    <a:bodyPr/>
                    <a:lstStyle/>
                    <a:p>
                      <a:pPr algn="ctr"/>
                      <a:r>
                        <a:rPr lang="en-US" altLang="ja-JP" sz="2116" b="1" dirty="0">
                          <a:solidFill>
                            <a:srgbClr val="172033"/>
                          </a:solidFill>
                        </a:rPr>
                        <a:t>D</a:t>
                      </a:r>
                      <a:r>
                        <a:rPr lang="ja-JP" altLang="en-US" sz="2116" b="1">
                          <a:solidFill>
                            <a:srgbClr val="172033"/>
                          </a:solidFill>
                        </a:rPr>
                        <a:t>eep</a:t>
                      </a:r>
                      <a:r>
                        <a:rPr lang="en-US" altLang="ja-JP" sz="2116" b="1" dirty="0">
                          <a:solidFill>
                            <a:srgbClr val="172033"/>
                          </a:solidFill>
                        </a:rPr>
                        <a:t>S</a:t>
                      </a:r>
                      <a:r>
                        <a:rPr lang="ja-JP" altLang="en-US" sz="2116" b="1">
                          <a:solidFill>
                            <a:srgbClr val="172033"/>
                          </a:solidFill>
                        </a:rPr>
                        <a:t>eek-v4-flash / pi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ja-JP" altLang="en-US" sz="2116" b="0">
                          <a:solidFill>
                            <a:srgbClr val="172033"/>
                          </a:solidFill>
                        </a:rPr>
                        <a:t>20/25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ja-JP" altLang="en-US" sz="2116" b="0">
                          <a:solidFill>
                            <a:srgbClr val="172033"/>
                          </a:solidFill>
                        </a:rPr>
                        <a:t>7/25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altLang="ja-JP" sz="2116" b="0" dirty="0">
                          <a:solidFill>
                            <a:srgbClr val="172033"/>
                          </a:solidFill>
                        </a:rPr>
                        <a:t>13/25</a:t>
                      </a:r>
                      <a:endParaRPr lang="ja-JP" altLang="en-US" sz="2116" b="0">
                        <a:solidFill>
                          <a:srgbClr val="172033"/>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077443472"/>
                  </a:ext>
                </a:extLst>
              </a:tr>
            </a:tbl>
          </a:graphicData>
        </a:graphic>
      </p:graphicFrame>
      <p:sp>
        <p:nvSpPr>
          <p:cNvPr id="13" name="テキスト ボックス 12">
            <a:extLst>
              <a:ext uri="{FF2B5EF4-FFF2-40B4-BE49-F238E27FC236}">
                <a16:creationId xmlns:a16="http://schemas.microsoft.com/office/drawing/2014/main" id="{FF308CAE-6BF9-304E-9FC9-173B83946401}"/>
              </a:ext>
            </a:extLst>
          </p:cNvPr>
          <p:cNvSpPr txBox="1"/>
          <p:nvPr/>
        </p:nvSpPr>
        <p:spPr>
          <a:xfrm>
            <a:off x="731520" y="4480560"/>
            <a:ext cx="10789920" cy="1325880"/>
          </a:xfrm>
          <a:prstGeom prst="rect">
            <a:avLst/>
          </a:prstGeom>
          <a:noFill/>
        </p:spPr>
        <p:txBody>
          <a:bodyPr vertOverflow="overflow" vert="horz" wrap="square" rtlCol="0" anchor="t" lIns="0" rIns="0" tIns="0" bIns="0">
            <a:normAutofit/>
          </a:bodyPr>
          <a:lstStyle/>
          <a:p>
            <a:pPr>
              <a:lnSpc>
                <a:spcPts val="3105"/>
              </a:lnSpc>
              <a:spcBef>
                <a:spcPts val="0"/>
              </a:spcBef>
              <a:spcAft>
                <a:spcPts val="1200"/>
              </a:spcAft>
            </a:pPr>
            <a:r>
              <a:rPr sz="2300" b="0" i="0" lang="ja-JP">
                <a:solidFill>
                  <a:srgbClr val="171717"/>
                </a:solidFill>
                <a:latin typeface="Noto Sans JP"/>
              </a:rPr>
              <a:t>Haikuの合格数：Skills＋CLIは22/25、CLIのみは7/25、自由な操作は5/25。</a:t>
            </a:r>
          </a:p>
          <a:p>
            <a:pPr>
              <a:lnSpc>
                <a:spcPts val="3105"/>
              </a:lnSpc>
              <a:spcBef>
                <a:spcPts val="0"/>
              </a:spcBef>
              <a:spcAft>
                <a:spcPts val="1200"/>
              </a:spcAft>
            </a:pPr>
            <a:r>
              <a:rPr sz="2300" b="0" i="0" lang="ja-JP">
                <a:solidFill>
                  <a:srgbClr val="171717"/>
                </a:solidFill>
                <a:latin typeface="Noto Sans JP"/>
              </a:rPr>
              <a:t>この比較条件では、手順書を伴う構成が有利だった。すべてのモデルや課題へ一般化しない。</a:t>
            </a:r>
          </a:p>
        </p:txBody>
      </p:sp>
      <p:sp>
        <p:nvSpPr>
          <p:cNvPr id="7" name="正方形/長方形 6">
            <a:extLst>
              <a:ext uri="{FF2B5EF4-FFF2-40B4-BE49-F238E27FC236}">
                <a16:creationId xmlns:a16="http://schemas.microsoft.com/office/drawing/2014/main" id="{E0F679BB-E35D-D8F4-47A3-D65764BD0345}"/>
              </a:ext>
            </a:extLst>
          </p:cNvPr>
          <p:cNvSpPr>
            <a:spLocks noGrp="1"/>
          </p:cNvSpPr>
          <p:nvPr/>
        </p:nvSpPr>
        <p:spPr>
          <a:xfrm>
            <a:off x="1482953" y="304863"/>
            <a:ext cx="3790315" cy="225806"/>
          </a:xfrm>
          <a:prstGeom prst="rect">
            <a:avLst/>
          </a:prstGeom>
          <a:solidFill>
            <a:srgbClr val="000000">
              <a:alpha val="0"/>
            </a:srgbClr>
          </a:solidFill>
          <a:ln w="0">
            <a:solidFill>
              <a:srgbClr val="000000">
                <a:alpha val="0"/>
              </a:srgbClr>
            </a:solidFill>
            <a:prstDash val="solid"/>
          </a:ln>
        </p:spPr>
        <p:txBody>
          <a:bodyPr lIns="0" tIns="0" rIns="0" bIns="0" anchor="t"/>
          <a:lstStyle/>
          <a:p/>
        </p:txBody>
      </p:sp>
      <p:sp>
        <p:nvSpPr>
          <p:cNvPr id="14" name="TextBox 13"/>
          <p:cNvSpPr txBox="1"/>
          <p:nvPr/>
        </p:nvSpPr>
        <p:spPr>
          <a:xfrm>
            <a:off x="438912" y="5925312"/>
            <a:ext cx="11155680" cy="566928"/>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2026年6月発表時の25課題による比較。現在の版・別の課題集合の性能とは区別する。</a:t>
            </a:r>
          </a:p>
        </p:txBody>
      </p:sp>
      <p:sp>
        <p:nvSpPr>
          <p:cNvPr id="15" name="TextBox 14"/>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ベンチマーク結果は、条件と失敗例まで読む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444752"/>
            <a:ext cx="6172200" cy="4663440"/>
          </a:xfrm>
          <a:prstGeom prst="rect">
            <a:avLst/>
          </a:prstGeom>
          <a:noFill/>
        </p:spPr>
        <p:txBody>
          <a:bodyPr wrap="square" lIns="0" rIns="0" tIns="0" bIns="0" anchor="t">
            <a:noAutofit/>
          </a:bodyPr>
          <a:lstStyle/>
          <a:p>
            <a:pPr algn="l">
              <a:lnSpc>
                <a:spcPts val="3036"/>
              </a:lnSpc>
              <a:spcBef>
                <a:spcPts val="0"/>
              </a:spcBef>
              <a:spcAft>
                <a:spcPts val="1500"/>
              </a:spcAft>
            </a:pPr>
            <a:r>
              <a:rPr sz="2200" b="0" lang="ja-JP" altLang="en-US" i="0">
                <a:solidFill>
                  <a:srgbClr val="171717"/>
                </a:solidFill>
                <a:latin typeface="Noto Sans JP"/>
                <a:ea typeface="Noto Sans JP"/>
              </a:rPr>
              <a:t>課題集合、入力、モデル版、制限時間、計算環境、採点基準を揃える。</a:t>
            </a:r>
          </a:p>
          <a:p>
            <a:pPr algn="l">
              <a:lnSpc>
                <a:spcPts val="3036"/>
              </a:lnSpc>
              <a:spcBef>
                <a:spcPts val="0"/>
              </a:spcBef>
              <a:spcAft>
                <a:spcPts val="1500"/>
              </a:spcAft>
            </a:pPr>
            <a:r>
              <a:rPr sz="2200" b="0" lang="ja-JP" altLang="en-US" i="0">
                <a:solidFill>
                  <a:srgbClr val="171717"/>
                </a:solidFill>
                <a:latin typeface="Noto Sans JP"/>
                <a:ea typeface="Noto Sans JP"/>
              </a:rPr>
              <a:t>途中で停止した実行や、提出物がない実行を完了した評価と混ぜない。</a:t>
            </a:r>
          </a:p>
          <a:p>
            <a:pPr algn="l">
              <a:lnSpc>
                <a:spcPts val="3036"/>
              </a:lnSpc>
              <a:spcBef>
                <a:spcPts val="0"/>
              </a:spcBef>
              <a:spcAft>
                <a:spcPts val="1500"/>
              </a:spcAft>
            </a:pPr>
            <a:r>
              <a:rPr sz="2200" b="0" lang="ja-JP" altLang="en-US" i="0">
                <a:solidFill>
                  <a:srgbClr val="171717"/>
                </a:solidFill>
                <a:latin typeface="Noto Sans JP"/>
                <a:ea typeface="Noto Sans JP"/>
              </a:rPr>
              <a:t>成功率に加え、どの化学状態や段階で失敗するかを調べる。</a:t>
            </a:r>
          </a:p>
          <a:p>
            <a:pPr algn="l">
              <a:lnSpc>
                <a:spcPts val="3036"/>
              </a:lnSpc>
              <a:spcBef>
                <a:spcPts val="0"/>
              </a:spcBef>
              <a:spcAft>
                <a:spcPts val="1500"/>
              </a:spcAft>
            </a:pPr>
            <a:r>
              <a:rPr sz="2200" b="0" lang="ja-JP" altLang="en-US" i="0">
                <a:solidFill>
                  <a:srgbClr val="171717"/>
                </a:solidFill>
                <a:latin typeface="Noto Sans JP"/>
                <a:ea typeface="Noto Sans JP"/>
              </a:rPr>
              <a:t>過去の25課題の点数から、現在の任意の系の成功率は予測できない。</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30</a:t>
            </a:r>
          </a:p>
        </p:txBody>
      </p:sp>
      <p:sp>
        <p:nvSpPr>
          <p:cNvPr id="9" name="Rounded Rectangle 8"/>
          <p:cNvSpPr/>
          <p:nvPr/>
        </p:nvSpPr>
        <p:spPr>
          <a:xfrm>
            <a:off x="7315200" y="1508760"/>
            <a:ext cx="3886200" cy="804672"/>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600"/>
              </a:lnSpc>
              <a:spcBef>
                <a:spcPts val="0"/>
              </a:spcBef>
              <a:spcAft>
                <a:spcPts val="800"/>
              </a:spcAft>
            </a:pPr>
            <a:r>
              <a:rPr sz="2000" b="0" i="0" lang="ja-JP">
                <a:solidFill>
                  <a:srgbClr val="171717"/>
                </a:solidFill>
                <a:latin typeface="Noto Sans JP"/>
              </a:rPr>
              <a:t>入力と設定を読む</a:t>
            </a:r>
          </a:p>
        </p:txBody>
      </p:sp>
      <p:sp>
        <p:nvSpPr>
          <p:cNvPr id="10" name="TextBox 9"/>
          <p:cNvSpPr txBox="1"/>
          <p:nvPr/>
        </p:nvSpPr>
        <p:spPr>
          <a:xfrm>
            <a:off x="8915400" y="2350008"/>
            <a:ext cx="548640" cy="320040"/>
          </a:xfrm>
          <a:prstGeom prst="rect">
            <a:avLst/>
          </a:prstGeom>
          <a:noFill/>
        </p:spPr>
        <p:txBody>
          <a:bodyPr wrap="square" lIns="0" rIns="0" tIns="0" bIns="0" anchor="t">
            <a:spAutoFit/>
          </a:bodyPr>
          <a:lstStyle/>
          <a:p>
            <a:pPr>
              <a:lnSpc>
                <a:spcPts val="2750"/>
              </a:lnSpc>
              <a:spcBef>
                <a:spcPts val="0"/>
              </a:spcBef>
              <a:spcAft>
                <a:spcPts val="0"/>
              </a:spcAft>
            </a:pPr>
            <a:r>
              <a:rPr sz="2200" b="1" i="0" lang="ja-JP">
                <a:solidFill>
                  <a:srgbClr val="171717"/>
                </a:solidFill>
                <a:latin typeface="Noto Sans JP"/>
              </a:rPr>
              <a:t>↓</a:t>
            </a:r>
          </a:p>
        </p:txBody>
      </p:sp>
      <p:sp>
        <p:nvSpPr>
          <p:cNvPr id="11" name="Rounded Rectangle 10"/>
          <p:cNvSpPr/>
          <p:nvPr/>
        </p:nvSpPr>
        <p:spPr>
          <a:xfrm>
            <a:off x="7315200" y="2651760"/>
            <a:ext cx="3886200" cy="804672"/>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600"/>
              </a:lnSpc>
              <a:spcBef>
                <a:spcPts val="0"/>
              </a:spcBef>
              <a:spcAft>
                <a:spcPts val="800"/>
              </a:spcAft>
            </a:pPr>
            <a:r>
              <a:rPr sz="2000" b="0" i="0" lang="ja-JP">
                <a:solidFill>
                  <a:srgbClr val="171717"/>
                </a:solidFill>
                <a:latin typeface="Noto Sans JP"/>
              </a:rPr>
              <a:t>成果物を検査する</a:t>
            </a:r>
          </a:p>
        </p:txBody>
      </p:sp>
      <p:sp>
        <p:nvSpPr>
          <p:cNvPr id="12" name="TextBox 11"/>
          <p:cNvSpPr txBox="1"/>
          <p:nvPr/>
        </p:nvSpPr>
        <p:spPr>
          <a:xfrm>
            <a:off x="8915400" y="3493008"/>
            <a:ext cx="548640" cy="320040"/>
          </a:xfrm>
          <a:prstGeom prst="rect">
            <a:avLst/>
          </a:prstGeom>
          <a:noFill/>
        </p:spPr>
        <p:txBody>
          <a:bodyPr wrap="square" lIns="0" rIns="0" tIns="0" bIns="0" anchor="t">
            <a:spAutoFit/>
          </a:bodyPr>
          <a:lstStyle/>
          <a:p>
            <a:pPr>
              <a:lnSpc>
                <a:spcPts val="2750"/>
              </a:lnSpc>
              <a:spcBef>
                <a:spcPts val="0"/>
              </a:spcBef>
              <a:spcAft>
                <a:spcPts val="0"/>
              </a:spcAft>
            </a:pPr>
            <a:r>
              <a:rPr sz="2200" b="1" i="0" lang="ja-JP">
                <a:solidFill>
                  <a:srgbClr val="171717"/>
                </a:solidFill>
                <a:latin typeface="Noto Sans JP"/>
              </a:rPr>
              <a:t>↓</a:t>
            </a:r>
          </a:p>
        </p:txBody>
      </p:sp>
      <p:sp>
        <p:nvSpPr>
          <p:cNvPr id="13" name="Rounded Rectangle 12"/>
          <p:cNvSpPr/>
          <p:nvPr/>
        </p:nvSpPr>
        <p:spPr>
          <a:xfrm>
            <a:off x="7315200" y="3794760"/>
            <a:ext cx="3886200" cy="804672"/>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600"/>
              </a:lnSpc>
              <a:spcBef>
                <a:spcPts val="0"/>
              </a:spcBef>
              <a:spcAft>
                <a:spcPts val="800"/>
              </a:spcAft>
            </a:pPr>
            <a:r>
              <a:rPr sz="2000" b="0" i="0" lang="ja-JP">
                <a:solidFill>
                  <a:srgbClr val="171717"/>
                </a:solidFill>
                <a:latin typeface="Noto Sans JP"/>
              </a:rPr>
              <a:t>失敗の理由を調べる</a:t>
            </a:r>
          </a:p>
        </p:txBody>
      </p:sp>
      <p:sp>
        <p:nvSpPr>
          <p:cNvPr id="14" name="TextBox 13"/>
          <p:cNvSpPr txBox="1"/>
          <p:nvPr/>
        </p:nvSpPr>
        <p:spPr>
          <a:xfrm>
            <a:off x="8915400" y="4636008"/>
            <a:ext cx="548640" cy="320040"/>
          </a:xfrm>
          <a:prstGeom prst="rect">
            <a:avLst/>
          </a:prstGeom>
          <a:noFill/>
        </p:spPr>
        <p:txBody>
          <a:bodyPr wrap="square" lIns="0" rIns="0" tIns="0" bIns="0" anchor="t">
            <a:spAutoFit/>
          </a:bodyPr>
          <a:lstStyle/>
          <a:p>
            <a:pPr>
              <a:lnSpc>
                <a:spcPts val="2750"/>
              </a:lnSpc>
              <a:spcBef>
                <a:spcPts val="0"/>
              </a:spcBef>
              <a:spcAft>
                <a:spcPts val="0"/>
              </a:spcAft>
            </a:pPr>
            <a:r>
              <a:rPr sz="2200" b="1" i="0" lang="ja-JP">
                <a:solidFill>
                  <a:srgbClr val="171717"/>
                </a:solidFill>
                <a:latin typeface="Noto Sans JP"/>
              </a:rPr>
              <a:t>↓</a:t>
            </a:r>
          </a:p>
        </p:txBody>
      </p:sp>
      <p:sp>
        <p:nvSpPr>
          <p:cNvPr id="15" name="Rounded Rectangle 14"/>
          <p:cNvSpPr/>
          <p:nvPr/>
        </p:nvSpPr>
        <p:spPr>
          <a:xfrm>
            <a:off x="7315200" y="4937760"/>
            <a:ext cx="3886200" cy="804672"/>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600"/>
              </a:lnSpc>
              <a:spcBef>
                <a:spcPts val="0"/>
              </a:spcBef>
              <a:spcAft>
                <a:spcPts val="800"/>
              </a:spcAft>
            </a:pPr>
            <a:r>
              <a:rPr sz="2000" b="0" i="0" lang="ja-JP">
                <a:solidFill>
                  <a:srgbClr val="171717"/>
                </a:solidFill>
                <a:latin typeface="Noto Sans JP"/>
              </a:rPr>
              <a:t>再試行か条件変更かを決める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
        <p:nvSpPr>
          <p:cNvPr id="3" name="TextBox 2"/>
          <p:cNvSpPr txBox="1"/>
          <p:nvPr/>
        </p:nvSpPr>
        <p:spPr>
          <a:xfrm>
            <a:off x="594360" y="667512"/>
            <a:ext cx="10972800" cy="658368"/>
          </a:xfrm>
          <a:prstGeom prst="rect">
            <a:avLst/>
          </a:prstGeom>
          <a:noFill/>
        </p:spPr>
        <p:txBody>
          <a:bodyPr wrap="square" lIns="0" rIns="0" tIns="0" bIns="0" anchor="t">
            <a:spAutoFit/>
          </a:bodyPr>
          <a:lstStyle/>
          <a:p>
            <a:pPr>
              <a:lnSpc>
                <a:spcPts val="3625"/>
              </a:lnSpc>
              <a:spcBef>
                <a:spcPts val="0"/>
              </a:spcBef>
              <a:spcAft>
                <a:spcPts val="0"/>
              </a:spcAft>
            </a:pPr>
            <a:r>
              <a:rPr sz="2900" b="1" i="0" lang="ja-JP">
                <a:solidFill>
                  <a:srgbClr val="171717"/>
                </a:solidFill>
                <a:latin typeface="Noto Sans JP"/>
              </a:rPr>
              <a:t>折り畳み温度を探すには、状態と収束を定義する</a:t>
            </a:r>
          </a:p>
        </p:txBody>
      </p:sp>
      <p:sp>
        <p:nvSpPr>
          <p:cNvPr id="4" name="TextBox 3"/>
          <p:cNvSpPr txBox="1"/>
          <p:nvPr/>
        </p:nvSpPr>
        <p:spPr>
          <a:xfrm>
            <a:off x="11247120" y="6519672"/>
            <a:ext cx="502920" cy="228600"/>
          </a:xfrm>
          <a:prstGeom prst="rect">
            <a:avLst/>
          </a:prstGeom>
          <a:noFill/>
        </p:spPr>
        <p:txBody>
          <a:bodyPr wrap="square" lIns="0" rIns="0" tIns="0" bIns="0" anchor="t">
            <a:spAutoFit/>
          </a:bodyPr>
          <a:lstStyle/>
          <a:p>
            <a:pPr>
              <a:lnSpc>
                <a:spcPts val="1375"/>
              </a:lnSpc>
              <a:spcBef>
                <a:spcPts val="0"/>
              </a:spcBef>
              <a:spcAft>
                <a:spcPts val="0"/>
              </a:spcAft>
            </a:pPr>
            <a:r>
              <a:rPr sz="1100" b="0" i="0" lang="ja-JP">
                <a:solidFill>
                  <a:srgbClr val="171717"/>
                </a:solidFill>
                <a:latin typeface="Noto Sans JP"/>
              </a:rPr>
              <a:t>31</a:t>
            </a:r>
          </a:p>
        </p:txBody>
      </p:sp>
      <p:pic>
        <p:nvPicPr>
          <p:cNvPr id="5" name="Picture 4" descr="ww-results.png"/>
          <p:cNvPicPr>
            <a:picLocks noChangeAspect="1"/>
          </p:cNvPicPr>
          <p:nvPr/>
        </p:nvPicPr>
        <p:blipFill>
          <a:blip r:embed="rId6"/>
          <a:stretch>
            <a:fillRect/>
          </a:stretch>
        </p:blipFill>
        <p:spPr>
          <a:xfrm>
            <a:off x="1175004" y="1417320"/>
            <a:ext cx="6976872" cy="4983480"/>
          </a:xfrm>
          <a:prstGeom prst="rect">
            <a:avLst/>
          </a:prstGeom>
        </p:spPr>
      </p:pic>
      <p:sp>
        <p:nvSpPr>
          <p:cNvPr id="6" name="TextBox 5"/>
          <p:cNvSpPr txBox="1"/>
          <p:nvPr/>
        </p:nvSpPr>
        <p:spPr>
          <a:xfrm>
            <a:off x="8961120" y="1554480"/>
            <a:ext cx="2560320" cy="4526280"/>
          </a:xfrm>
          <a:prstGeom prst="rect">
            <a:avLst/>
          </a:prstGeom>
          <a:noFill/>
        </p:spPr>
        <p:txBody>
          <a:bodyPr wrap="square" lIns="0" rIns="0" tIns="0" bIns="0" anchor="t">
            <a:spAutoFit/>
          </a:bodyPr>
          <a:lstStyle/>
          <a:p>
            <a:pPr>
              <a:lnSpc>
                <a:spcPts val="2432"/>
              </a:lnSpc>
              <a:spcBef>
                <a:spcPts val="0"/>
              </a:spcBef>
              <a:spcAft>
                <a:spcPts val="1100"/>
              </a:spcAft>
            </a:pPr>
            <a:r>
              <a:rPr sz="1900" b="0" i="0" lang="ja-JP">
                <a:solidFill>
                  <a:srgbClr val="171717"/>
                </a:solidFill>
                <a:latin typeface="Noto Sans JP"/>
              </a:rPr>
              <a:t>利用例：9 GPUでWWドメインを調べる。</a:t>
            </a:r>
          </a:p>
          <a:p>
            <a:pPr>
              <a:lnSpc>
                <a:spcPts val="2432"/>
              </a:lnSpc>
              <a:spcBef>
                <a:spcPts val="0"/>
              </a:spcBef>
              <a:spcAft>
                <a:spcPts val="1100"/>
              </a:spcAft>
            </a:pPr>
            <a:r>
              <a:rPr sz="1900" b="0" i="0" lang="ja-JP">
                <a:solidFill>
                  <a:srgbClr val="171717"/>
                </a:solidFill>
                <a:latin typeface="Noto Sans JP"/>
              </a:rPr>
              <a:t>左：時刻に沿った天然接触率Q。</a:t>
            </a:r>
          </a:p>
          <a:p>
            <a:pPr>
              <a:lnSpc>
                <a:spcPts val="2432"/>
              </a:lnSpc>
              <a:spcBef>
                <a:spcPts val="0"/>
              </a:spcBef>
              <a:spcAft>
                <a:spcPts val="1100"/>
              </a:spcAft>
            </a:pPr>
            <a:r>
              <a:rPr sz="1900" b="0" i="0" lang="ja-JP">
                <a:solidFill>
                  <a:srgbClr val="171717"/>
                </a:solidFill>
                <a:latin typeface="Noto Sans JP"/>
              </a:rPr>
              <a:t>右上：Qの分布。</a:t>
            </a:r>
          </a:p>
          <a:p>
            <a:pPr>
              <a:lnSpc>
                <a:spcPts val="2432"/>
              </a:lnSpc>
              <a:spcBef>
                <a:spcPts val="0"/>
              </a:spcBef>
              <a:spcAft>
                <a:spcPts val="1100"/>
              </a:spcAft>
            </a:pPr>
            <a:r>
              <a:rPr sz="1900" b="0" i="0" lang="ja-JP">
                <a:solidFill>
                  <a:srgbClr val="171717"/>
                </a:solidFill>
                <a:latin typeface="Noto Sans JP"/>
              </a:rPr>
              <a:t>右下：Qに沿った自由エネルギー。</a:t>
            </a:r>
          </a:p>
          <a:p>
            <a:pPr>
              <a:lnSpc>
                <a:spcPts val="2432"/>
              </a:lnSpc>
              <a:spcBef>
                <a:spcPts val="0"/>
              </a:spcBef>
              <a:spcAft>
                <a:spcPts val="1100"/>
              </a:spcAft>
            </a:pPr>
            <a:r>
              <a:rPr sz="1900" b="0" i="0" lang="ja-JP">
                <a:solidFill>
                  <a:srgbClr val="171717"/>
                </a:solidFill>
                <a:latin typeface="Noto Sans JP"/>
              </a:rPr>
              <a:t>温度ごとの割合と反復を比較する。一つの短い軌道では転移温度は決まらない。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教員デモ：計算の入力から根拠までをたどる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mdflow.png"/>
          <p:cNvPicPr>
            <a:picLocks noChangeAspect="1"/>
          </p:cNvPicPr>
          <p:nvPr/>
        </p:nvPicPr>
        <p:blipFill>
          <a:blip r:embed="rId3"/>
          <a:stretch>
            <a:fillRect/>
          </a:stretch>
        </p:blipFill>
        <p:spPr>
          <a:xfrm>
            <a:off x="7689889" y="1508760"/>
            <a:ext cx="3228261" cy="4251960"/>
          </a:xfrm>
          <a:prstGeom prst="rect">
            <a:avLst/>
          </a:prstGeom>
        </p:spPr>
      </p:pic>
      <p:sp>
        <p:nvSpPr>
          <p:cNvPr id="7" name="TextBox 6"/>
          <p:cNvSpPr txBox="1"/>
          <p:nvPr/>
        </p:nvSpPr>
        <p:spPr>
          <a:xfrm>
            <a:off x="594360" y="1444752"/>
            <a:ext cx="6172200" cy="4663440"/>
          </a:xfrm>
          <a:prstGeom prst="rect">
            <a:avLst/>
          </a:prstGeom>
          <a:noFill/>
        </p:spPr>
        <p:txBody>
          <a:bodyPr wrap="square" lIns="0" rIns="0" tIns="0" bIns="0" anchor="t">
            <a:noAutofit/>
          </a:bodyPr>
          <a:lstStyle/>
          <a:p>
            <a:pPr algn="l">
              <a:lnSpc>
                <a:spcPts val="3036"/>
              </a:lnSpc>
              <a:spcBef>
                <a:spcPts val="0"/>
              </a:spcBef>
              <a:spcAft>
                <a:spcPts val="1500"/>
              </a:spcAft>
            </a:pPr>
            <a:r>
              <a:rPr sz="2200" b="0" lang="ja-JP" altLang="en-US" i="0">
                <a:solidFill>
                  <a:srgbClr val="171717"/>
                </a:solidFill>
                <a:latin typeface="Noto Sans JP"/>
                <a:ea typeface="Noto Sans JP"/>
              </a:rPr>
              <a:t>題材は第11回と同じ水中ペプチドの短い計算。</a:t>
            </a:r>
          </a:p>
          <a:p>
            <a:pPr algn="l">
              <a:lnSpc>
                <a:spcPts val="3036"/>
              </a:lnSpc>
              <a:spcBef>
                <a:spcPts val="0"/>
              </a:spcBef>
              <a:spcAft>
                <a:spcPts val="1500"/>
              </a:spcAft>
            </a:pPr>
            <a:r>
              <a:rPr sz="2200" b="0" lang="ja-JP" altLang="en-US" i="0">
                <a:solidFill>
                  <a:srgbClr val="171717"/>
                </a:solidFill>
                <a:latin typeface="Noto Sans JP"/>
                <a:ea typeface="Noto Sans JP"/>
              </a:rPr>
              <a:t>最初に条件・出力を指定した依頼文を読み、どの段階に対応するかを確認する。</a:t>
            </a:r>
          </a:p>
          <a:p>
            <a:pPr algn="l">
              <a:lnSpc>
                <a:spcPts val="3036"/>
              </a:lnSpc>
              <a:spcBef>
                <a:spcPts val="0"/>
              </a:spcBef>
              <a:spcAft>
                <a:spcPts val="1500"/>
              </a:spcAft>
            </a:pPr>
            <a:r>
              <a:rPr sz="2200" b="0" lang="ja-JP" altLang="en-US" i="0">
                <a:solidFill>
                  <a:srgbClr val="171717"/>
                </a:solidFill>
                <a:latin typeface="Noto Sans JP"/>
                <a:ea typeface="Noto Sans JP"/>
              </a:rPr>
              <a:t>次に保存された構造・温度・エネルギー・実行条件を開く。</a:t>
            </a:r>
          </a:p>
          <a:p>
            <a:pPr algn="l">
              <a:lnSpc>
                <a:spcPts val="3036"/>
              </a:lnSpc>
              <a:spcBef>
                <a:spcPts val="0"/>
              </a:spcBef>
              <a:spcAft>
                <a:spcPts val="1500"/>
              </a:spcAft>
            </a:pPr>
            <a:r>
              <a:rPr sz="2200" b="0" lang="ja-JP" altLang="en-US" i="0">
                <a:solidFill>
                  <a:srgbClr val="171717"/>
                </a:solidFill>
                <a:latin typeface="Noto Sans JP"/>
                <a:ea typeface="Noto Sans JP"/>
              </a:rPr>
              <a:t>新しい大規模計算ではなく、既存の短い実行の記録とMDClawのDAGの読み方を示す。</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デモで見るもの：説明と成果物が一致するか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1280160"/>
            <a:ext cx="10972800" cy="1463040"/>
          </a:xfrm>
          <a:prstGeom prst="rect">
            <a:avLst/>
          </a:prstGeom>
          <a:noFill/>
        </p:spPr>
        <p:txBody>
          <a:bodyPr wrap="square" lIns="0" rIns="0" tIns="0" bIns="0" anchor="t">
            <a:noAutofit/>
          </a:bodyPr>
          <a:lstStyle/>
          <a:p>
            <a:pPr algn="l">
              <a:lnSpc>
                <a:spcPts val="2295"/>
              </a:lnSpc>
            </a:pPr>
            <a:r>
              <a:rPr sz="1700" b="0" lang="ja-JP" altLang="en-US">
                <a:solidFill>
                  <a:srgbClr val="333333"/>
                </a:solidFill>
                <a:latin typeface="Noto Sans JP"/>
                <a:ea typeface="Noto Sans JP"/>
              </a:rPr>
              <a:t>「300 Kで動かした」という説明なら、積分器の設定と温度ログを見る。</a:t>
            </a:r>
          </a:p>
          <a:p>
            <a:pPr algn="l">
              <a:lnSpc>
                <a:spcPts val="2295"/>
              </a:lnSpc>
            </a:pPr>
            <a:r>
              <a:rPr sz="1700" b="0" lang="ja-JP" altLang="en-US">
                <a:solidFill>
                  <a:srgbClr val="333333"/>
                </a:solidFill>
                <a:latin typeface="Noto Sans JP"/>
                <a:ea typeface="Noto Sans JP"/>
              </a:rPr>
              <a:t>「5 ps」という説明なら、2 fs×2500ステップとの一致を見る。</a:t>
            </a:r>
          </a:p>
          <a:p>
            <a:pPr algn="l">
              <a:lnSpc>
                <a:spcPts val="2295"/>
              </a:lnSpc>
            </a:pPr>
            <a:r>
              <a:rPr sz="1700" b="0" lang="ja-JP" altLang="en-US">
                <a:solidFill>
                  <a:srgbClr val="333333"/>
                </a:solidFill>
                <a:latin typeface="Noto Sans JP"/>
                <a:ea typeface="Noto Sans JP"/>
              </a:rPr>
              <a:t>「構造が安定」という説明には、計算長・反復・観測量の根拠が必要。</a:t>
            </a:r>
          </a:p>
          <a:p>
            <a:pPr algn="l">
              <a:lnSpc>
                <a:spcPts val="2295"/>
              </a:lnSpc>
            </a:pPr>
            <a:r>
              <a:rPr sz="1700" b="0" lang="ja-JP" altLang="en-US" i="0">
                <a:solidFill>
                  <a:srgbClr val="333333"/>
                </a:solidFill>
                <a:latin typeface="Noto Sans JP"/>
                <a:ea typeface="Noto Sans JP"/>
              </a:rPr>
              <a:t>下は第11回Notebookの実行例。5 psでは昇温途中であり、平衡分布の例ではない。</a:t>
            </a:r>
          </a:p>
        </p:txBody>
      </p:sp>
      <p:pic>
        <p:nvPicPr>
          <p:cNvPr id="7" name="Picture 6" descr="11_temperature_energy.png"/>
          <p:cNvPicPr>
            <a:picLocks noChangeAspect="1"/>
          </p:cNvPicPr>
          <p:nvPr/>
        </p:nvPicPr>
        <p:blipFill>
          <a:blip r:embed="rId3"/>
          <a:stretch>
            <a:fillRect/>
          </a:stretch>
        </p:blipFill>
        <p:spPr>
          <a:xfrm>
            <a:off x="1143000" y="2834640"/>
            <a:ext cx="9875519" cy="3291839"/>
          </a:xfrm>
          <a:prstGeom prst="rect">
            <a:avLst/>
          </a:prstGeom>
        </p:spPr>
      </p:pic>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次の計算は、残っている不確実性から決める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cover15.png"/>
          <p:cNvPicPr>
            <a:picLocks noChangeAspect="1"/>
          </p:cNvPicPr>
          <p:nvPr/>
        </p:nvPicPr>
        <p:blipFill>
          <a:blip r:embed="rId3"/>
          <a:stretch>
            <a:fillRect/>
          </a:stretch>
        </p:blipFill>
        <p:spPr>
          <a:xfrm>
            <a:off x="7953247" y="1508760"/>
            <a:ext cx="2701545" cy="4251960"/>
          </a:xfrm>
          <a:prstGeom prst="rect">
            <a:avLst/>
          </a:prstGeom>
        </p:spPr>
      </p:pic>
      <p:sp>
        <p:nvSpPr>
          <p:cNvPr id="7" name="TextBox 6"/>
          <p:cNvSpPr txBox="1"/>
          <p:nvPr/>
        </p:nvSpPr>
        <p:spPr>
          <a:xfrm>
            <a:off x="594360" y="1444752"/>
            <a:ext cx="6172200" cy="4663440"/>
          </a:xfrm>
          <a:prstGeom prst="rect">
            <a:avLst/>
          </a:prstGeom>
          <a:noFill/>
        </p:spPr>
        <p:txBody>
          <a:bodyPr wrap="square" lIns="0" rIns="0" tIns="0" bIns="0" anchor="t">
            <a:noAutofit/>
          </a:bodyPr>
          <a:lstStyle/>
          <a:p>
            <a:pPr algn="l">
              <a:lnSpc>
                <a:spcPts val="3036"/>
              </a:lnSpc>
              <a:spcBef>
                <a:spcPts val="0"/>
              </a:spcBef>
              <a:spcAft>
                <a:spcPts val="1500"/>
              </a:spcAft>
            </a:pPr>
            <a:r>
              <a:rPr sz="2200" b="0" lang="ja-JP" altLang="en-US" i="0">
                <a:solidFill>
                  <a:srgbClr val="171717"/>
                </a:solidFill>
                <a:latin typeface="Noto Sans JP"/>
                <a:ea typeface="Noto Sans JP"/>
              </a:rPr>
              <a:t>温度は合うが構造が動かない：単に短い可能性がある。</a:t>
            </a:r>
          </a:p>
          <a:p>
            <a:pPr algn="l">
              <a:lnSpc>
                <a:spcPts val="3036"/>
              </a:lnSpc>
              <a:spcBef>
                <a:spcPts val="0"/>
              </a:spcBef>
              <a:spcAft>
                <a:spcPts val="1500"/>
              </a:spcAft>
            </a:pPr>
            <a:r>
              <a:rPr sz="2200" b="0" lang="ja-JP" altLang="en-US" i="0">
                <a:solidFill>
                  <a:srgbClr val="171717"/>
                </a:solidFill>
                <a:latin typeface="Noto Sans JP"/>
                <a:ea typeface="Noto Sans JP"/>
              </a:rPr>
              <a:t>反復ごとの割合が違う：探索や緩和が足りない可能性がある。</a:t>
            </a:r>
          </a:p>
          <a:p>
            <a:pPr algn="l">
              <a:lnSpc>
                <a:spcPts val="3036"/>
              </a:lnSpc>
              <a:spcBef>
                <a:spcPts val="0"/>
              </a:spcBef>
              <a:spcAft>
                <a:spcPts val="1500"/>
              </a:spcAft>
            </a:pPr>
            <a:r>
              <a:rPr sz="2200" b="0" lang="ja-JP" altLang="en-US" i="0">
                <a:solidFill>
                  <a:srgbClr val="171717"/>
                </a:solidFill>
                <a:latin typeface="Noto Sans JP"/>
                <a:ea typeface="Noto Sans JP"/>
              </a:rPr>
              <a:t>モデル間で結果が違う：力場や観測モデルの仮定を点検する。</a:t>
            </a:r>
          </a:p>
          <a:p>
            <a:pPr algn="l">
              <a:lnSpc>
                <a:spcPts val="3036"/>
              </a:lnSpc>
              <a:spcBef>
                <a:spcPts val="0"/>
              </a:spcBef>
              <a:spcAft>
                <a:spcPts val="1500"/>
              </a:spcAft>
            </a:pPr>
            <a:r>
              <a:rPr sz="2200" b="0" lang="ja-JP" altLang="en-US" i="0">
                <a:solidFill>
                  <a:srgbClr val="171717"/>
                </a:solidFill>
                <a:latin typeface="Noto Sans JP"/>
                <a:ea typeface="Noto Sans JP"/>
              </a:rPr>
              <a:t>追加するデータが、どの不確実性を減らすかを先に決める。</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
        <p:nvSpPr>
          <p:cNvPr id="3" name="TextBox 2"/>
          <p:cNvSpPr txBox="1"/>
          <p:nvPr/>
        </p:nvSpPr>
        <p:spPr>
          <a:xfrm>
            <a:off x="594360" y="667512"/>
            <a:ext cx="10972800" cy="658368"/>
          </a:xfrm>
          <a:prstGeom prst="rect">
            <a:avLst/>
          </a:prstGeom>
          <a:noFill/>
        </p:spPr>
        <p:txBody>
          <a:bodyPr wrap="square" lIns="0" rIns="0" tIns="0" bIns="0" anchor="t">
            <a:spAutoFit/>
          </a:bodyPr>
          <a:lstStyle/>
          <a:p>
            <a:pPr>
              <a:lnSpc>
                <a:spcPts val="3625"/>
              </a:lnSpc>
              <a:spcBef>
                <a:spcPts val="0"/>
              </a:spcBef>
              <a:spcAft>
                <a:spcPts val="0"/>
              </a:spcAft>
            </a:pPr>
            <a:r>
              <a:rPr sz="2900" b="1" i="0" lang="ja-JP">
                <a:solidFill>
                  <a:srgbClr val="171717"/>
                </a:solidFill>
                <a:latin typeface="Noto Sans JP"/>
              </a:rPr>
              <a:t>配列・構造・分布・観測をつなぎ、判断する</a:t>
            </a:r>
          </a:p>
        </p:txBody>
      </p:sp>
      <p:sp>
        <p:nvSpPr>
          <p:cNvPr id="4" name="TextBox 3"/>
          <p:cNvSpPr txBox="1"/>
          <p:nvPr/>
        </p:nvSpPr>
        <p:spPr>
          <a:xfrm>
            <a:off x="11247120" y="6519672"/>
            <a:ext cx="502920" cy="228600"/>
          </a:xfrm>
          <a:prstGeom prst="rect">
            <a:avLst/>
          </a:prstGeom>
          <a:noFill/>
        </p:spPr>
        <p:txBody>
          <a:bodyPr wrap="square" lIns="0" rIns="0" tIns="0" bIns="0" anchor="t">
            <a:spAutoFit/>
          </a:bodyPr>
          <a:lstStyle/>
          <a:p>
            <a:pPr>
              <a:lnSpc>
                <a:spcPts val="1375"/>
              </a:lnSpc>
              <a:spcBef>
                <a:spcPts val="0"/>
              </a:spcBef>
              <a:spcAft>
                <a:spcPts val="0"/>
              </a:spcAft>
            </a:pPr>
            <a:r>
              <a:rPr sz="1100" b="0" i="0" lang="ja-JP">
                <a:solidFill>
                  <a:srgbClr val="171717"/>
                </a:solidFill>
                <a:latin typeface="Noto Sans JP"/>
              </a:rPr>
              <a:t>35</a:t>
            </a:r>
          </a:p>
        </p:txBody>
      </p:sp>
      <p:sp>
        <p:nvSpPr>
          <p:cNvPr id="5" name="Rounded Rectangle 4"/>
          <p:cNvSpPr/>
          <p:nvPr/>
        </p:nvSpPr>
        <p:spPr>
          <a:xfrm>
            <a:off x="640080" y="1828800"/>
            <a:ext cx="2514600" cy="196596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730"/>
              </a:lnSpc>
              <a:spcBef>
                <a:spcPts val="0"/>
              </a:spcBef>
              <a:spcAft>
                <a:spcPts val="800"/>
              </a:spcAft>
            </a:pPr>
            <a:r>
              <a:rPr sz="2100" b="0" i="0" lang="ja-JP">
                <a:solidFill>
                  <a:srgbClr val="171717"/>
                </a:solidFill>
                <a:latin typeface="Noto Sans JP"/>
              </a:rPr>
              <a:t>配列</a:t>
            </a:r>
          </a:p>
          <a:p>
            <a:pPr>
              <a:lnSpc>
                <a:spcPts val="2730"/>
              </a:lnSpc>
              <a:spcBef>
                <a:spcPts val="0"/>
              </a:spcBef>
              <a:spcAft>
                <a:spcPts val="800"/>
              </a:spcAft>
            </a:pPr>
            <a:r>
              <a:rPr sz="2100" b="0" i="0" lang="ja-JP">
                <a:solidFill>
                  <a:srgbClr val="171717"/>
                </a:solidFill>
                <a:latin typeface="Noto Sans JP"/>
              </a:rPr>
              <a:t>予測と設計</a:t>
            </a:r>
          </a:p>
        </p:txBody>
      </p:sp>
      <p:sp>
        <p:nvSpPr>
          <p:cNvPr id="6" name="TextBox 5"/>
          <p:cNvSpPr txBox="1"/>
          <p:nvPr/>
        </p:nvSpPr>
        <p:spPr>
          <a:xfrm>
            <a:off x="3154680" y="2628900"/>
            <a:ext cx="274320" cy="457200"/>
          </a:xfrm>
          <a:prstGeom prst="rect">
            <a:avLst/>
          </a:prstGeom>
          <a:noFill/>
        </p:spPr>
        <p:txBody>
          <a:bodyPr wrap="square" lIns="0" rIns="0" tIns="0" bIns="0" anchor="t">
            <a:spAutoFit/>
          </a:bodyPr>
          <a:lstStyle/>
          <a:p>
            <a:pPr>
              <a:lnSpc>
                <a:spcPts val="3125"/>
              </a:lnSpc>
              <a:spcBef>
                <a:spcPts val="0"/>
              </a:spcBef>
              <a:spcAft>
                <a:spcPts val="0"/>
              </a:spcAft>
            </a:pPr>
            <a:r>
              <a:rPr sz="2500" b="1" i="0" lang="ja-JP">
                <a:solidFill>
                  <a:srgbClr val="171717"/>
                </a:solidFill>
                <a:latin typeface="Noto Sans JP"/>
              </a:rPr>
              <a:t>→</a:t>
            </a:r>
          </a:p>
        </p:txBody>
      </p:sp>
      <p:sp>
        <p:nvSpPr>
          <p:cNvPr id="7" name="Rounded Rectangle 6"/>
          <p:cNvSpPr/>
          <p:nvPr/>
        </p:nvSpPr>
        <p:spPr>
          <a:xfrm>
            <a:off x="3429000" y="1828800"/>
            <a:ext cx="2514600" cy="196596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730"/>
              </a:lnSpc>
              <a:spcBef>
                <a:spcPts val="0"/>
              </a:spcBef>
              <a:spcAft>
                <a:spcPts val="800"/>
              </a:spcAft>
            </a:pPr>
            <a:r>
              <a:rPr sz="2100" b="0" i="0" lang="ja-JP">
                <a:solidFill>
                  <a:srgbClr val="171717"/>
                </a:solidFill>
                <a:latin typeface="Noto Sans JP"/>
              </a:rPr>
              <a:t>構造</a:t>
            </a:r>
          </a:p>
          <a:p>
            <a:pPr>
              <a:lnSpc>
                <a:spcPts val="2730"/>
              </a:lnSpc>
              <a:spcBef>
                <a:spcPts val="0"/>
              </a:spcBef>
              <a:spcAft>
                <a:spcPts val="800"/>
              </a:spcAft>
            </a:pPr>
            <a:r>
              <a:rPr sz="2100" b="0" i="0" lang="ja-JP">
                <a:solidFill>
                  <a:srgbClr val="171717"/>
                </a:solidFill>
                <a:latin typeface="Noto Sans JP"/>
              </a:rPr>
              <a:t>相互作用を表す</a:t>
            </a:r>
          </a:p>
        </p:txBody>
      </p:sp>
      <p:sp>
        <p:nvSpPr>
          <p:cNvPr id="8" name="TextBox 7"/>
          <p:cNvSpPr txBox="1"/>
          <p:nvPr/>
        </p:nvSpPr>
        <p:spPr>
          <a:xfrm>
            <a:off x="5943600" y="2628900"/>
            <a:ext cx="274320" cy="457200"/>
          </a:xfrm>
          <a:prstGeom prst="rect">
            <a:avLst/>
          </a:prstGeom>
          <a:noFill/>
        </p:spPr>
        <p:txBody>
          <a:bodyPr wrap="square" lIns="0" rIns="0" tIns="0" bIns="0" anchor="t">
            <a:spAutoFit/>
          </a:bodyPr>
          <a:lstStyle/>
          <a:p>
            <a:pPr>
              <a:lnSpc>
                <a:spcPts val="3125"/>
              </a:lnSpc>
              <a:spcBef>
                <a:spcPts val="0"/>
              </a:spcBef>
              <a:spcAft>
                <a:spcPts val="0"/>
              </a:spcAft>
            </a:pPr>
            <a:r>
              <a:rPr sz="2500" b="1" i="0" lang="ja-JP">
                <a:solidFill>
                  <a:srgbClr val="171717"/>
                </a:solidFill>
                <a:latin typeface="Noto Sans JP"/>
              </a:rPr>
              <a:t>→</a:t>
            </a:r>
          </a:p>
        </p:txBody>
      </p:sp>
      <p:sp>
        <p:nvSpPr>
          <p:cNvPr id="9" name="Rounded Rectangle 8"/>
          <p:cNvSpPr/>
          <p:nvPr/>
        </p:nvSpPr>
        <p:spPr>
          <a:xfrm>
            <a:off x="6217920" y="1828800"/>
            <a:ext cx="2514600" cy="196596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730"/>
              </a:lnSpc>
              <a:spcBef>
                <a:spcPts val="0"/>
              </a:spcBef>
              <a:spcAft>
                <a:spcPts val="800"/>
              </a:spcAft>
            </a:pPr>
            <a:r>
              <a:rPr sz="2100" b="0" i="0" lang="ja-JP">
                <a:solidFill>
                  <a:srgbClr val="171717"/>
                </a:solidFill>
                <a:latin typeface="Noto Sans JP"/>
              </a:rPr>
              <a:t>構造集団</a:t>
            </a:r>
          </a:p>
          <a:p>
            <a:pPr>
              <a:lnSpc>
                <a:spcPts val="2730"/>
              </a:lnSpc>
              <a:spcBef>
                <a:spcPts val="0"/>
              </a:spcBef>
              <a:spcAft>
                <a:spcPts val="800"/>
              </a:spcAft>
            </a:pPr>
            <a:r>
              <a:rPr sz="2100" b="0" i="0" lang="ja-JP">
                <a:solidFill>
                  <a:srgbClr val="171717"/>
                </a:solidFill>
                <a:latin typeface="Noto Sans JP"/>
              </a:rPr>
              <a:t>分布と時間変化</a:t>
            </a:r>
          </a:p>
        </p:txBody>
      </p:sp>
      <p:sp>
        <p:nvSpPr>
          <p:cNvPr id="10" name="TextBox 9"/>
          <p:cNvSpPr txBox="1"/>
          <p:nvPr/>
        </p:nvSpPr>
        <p:spPr>
          <a:xfrm>
            <a:off x="8732520" y="2628900"/>
            <a:ext cx="274320" cy="457200"/>
          </a:xfrm>
          <a:prstGeom prst="rect">
            <a:avLst/>
          </a:prstGeom>
          <a:noFill/>
        </p:spPr>
        <p:txBody>
          <a:bodyPr wrap="square" lIns="0" rIns="0" tIns="0" bIns="0" anchor="t">
            <a:spAutoFit/>
          </a:bodyPr>
          <a:lstStyle/>
          <a:p>
            <a:pPr>
              <a:lnSpc>
                <a:spcPts val="3125"/>
              </a:lnSpc>
              <a:spcBef>
                <a:spcPts val="0"/>
              </a:spcBef>
              <a:spcAft>
                <a:spcPts val="0"/>
              </a:spcAft>
            </a:pPr>
            <a:r>
              <a:rPr sz="2500" b="1" i="0" lang="ja-JP">
                <a:solidFill>
                  <a:srgbClr val="171717"/>
                </a:solidFill>
                <a:latin typeface="Noto Sans JP"/>
              </a:rPr>
              <a:t>→</a:t>
            </a:r>
          </a:p>
        </p:txBody>
      </p:sp>
      <p:sp>
        <p:nvSpPr>
          <p:cNvPr id="11" name="Rounded Rectangle 10"/>
          <p:cNvSpPr/>
          <p:nvPr/>
        </p:nvSpPr>
        <p:spPr>
          <a:xfrm>
            <a:off x="9006839" y="1828800"/>
            <a:ext cx="2514600" cy="196596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730"/>
              </a:lnSpc>
              <a:spcBef>
                <a:spcPts val="0"/>
              </a:spcBef>
              <a:spcAft>
                <a:spcPts val="800"/>
              </a:spcAft>
            </a:pPr>
            <a:r>
              <a:rPr sz="2100" b="0" i="0" lang="ja-JP">
                <a:solidFill>
                  <a:srgbClr val="171717"/>
                </a:solidFill>
                <a:latin typeface="Noto Sans JP"/>
              </a:rPr>
              <a:t>観測</a:t>
            </a:r>
          </a:p>
          <a:p>
            <a:pPr>
              <a:lnSpc>
                <a:spcPts val="2730"/>
              </a:lnSpc>
              <a:spcBef>
                <a:spcPts val="0"/>
              </a:spcBef>
              <a:spcAft>
                <a:spcPts val="800"/>
              </a:spcAft>
            </a:pPr>
            <a:r>
              <a:rPr sz="2100" b="0" i="0" lang="ja-JP">
                <a:solidFill>
                  <a:srgbClr val="171717"/>
                </a:solidFill>
                <a:latin typeface="Noto Sans JP"/>
              </a:rPr>
              <a:t>実験との対応</a:t>
            </a:r>
          </a:p>
        </p:txBody>
      </p:sp>
      <p:sp>
        <p:nvSpPr>
          <p:cNvPr id="12" name="TextBox 11"/>
          <p:cNvSpPr txBox="1"/>
          <p:nvPr/>
        </p:nvSpPr>
        <p:spPr>
          <a:xfrm>
            <a:off x="731520" y="4315968"/>
            <a:ext cx="10698480" cy="1508760"/>
          </a:xfrm>
          <a:prstGeom prst="rect">
            <a:avLst/>
          </a:prstGeom>
          <a:noFill/>
        </p:spPr>
        <p:txBody>
          <a:bodyPr wrap="square" lIns="0" rIns="0" tIns="0" bIns="0" anchor="t">
            <a:spAutoFit/>
          </a:bodyPr>
          <a:lstStyle/>
          <a:p>
            <a:pPr>
              <a:lnSpc>
                <a:spcPts val="3168"/>
              </a:lnSpc>
              <a:spcBef>
                <a:spcPts val="0"/>
              </a:spcBef>
              <a:spcAft>
                <a:spcPts val="1300"/>
              </a:spcAft>
            </a:pPr>
            <a:r>
              <a:rPr sz="2400" b="0" i="0" lang="ja-JP">
                <a:solidFill>
                  <a:srgbClr val="171717"/>
                </a:solidFill>
                <a:latin typeface="Noto Sans JP"/>
              </a:rPr>
              <a:t>配列から構造を予測し、目的の構造に合う配列を設計する。</a:t>
            </a:r>
          </a:p>
          <a:p>
            <a:pPr>
              <a:lnSpc>
                <a:spcPts val="3168"/>
              </a:lnSpc>
              <a:spcBef>
                <a:spcPts val="0"/>
              </a:spcBef>
              <a:spcAft>
                <a:spcPts val="1300"/>
              </a:spcAft>
            </a:pPr>
            <a:r>
              <a:rPr sz="2400" b="0" i="0" lang="ja-JP">
                <a:solidFill>
                  <a:srgbClr val="171717"/>
                </a:solidFill>
                <a:latin typeface="Noto Sans JP"/>
              </a:rPr>
              <a:t>相互作用から構造の分布と動きを計算し、観測を通じてモデルを確かめる。</a:t>
            </a:r>
          </a:p>
          <a:p>
            <a:pPr>
              <a:lnSpc>
                <a:spcPts val="3168"/>
              </a:lnSpc>
              <a:spcBef>
                <a:spcPts val="0"/>
              </a:spcBef>
              <a:spcAft>
                <a:spcPts val="1300"/>
              </a:spcAft>
            </a:pPr>
            <a:r>
              <a:rPr sz="2400" b="0" i="0" lang="ja-JP">
                <a:solidFill>
                  <a:srgbClr val="171717"/>
                </a:solidFill>
                <a:latin typeface="Noto Sans JP"/>
              </a:rPr>
              <a:t>エージェントは計算と記録をつなぐ。判断の根拠は、条件のそろったデータと検証に置く。</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まとめ：自動化するほど、根拠を追える記録が要る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444752"/>
            <a:ext cx="6172200" cy="4663440"/>
          </a:xfrm>
          <a:prstGeom prst="rect">
            <a:avLst/>
          </a:prstGeom>
          <a:noFill/>
        </p:spPr>
        <p:txBody>
          <a:bodyPr wrap="square" lIns="0" rIns="0" tIns="0" bIns="0" anchor="t">
            <a:noAutofit/>
          </a:bodyPr>
          <a:lstStyle/>
          <a:p>
            <a:pPr algn="l">
              <a:lnSpc>
                <a:spcPts val="3036"/>
              </a:lnSpc>
              <a:spcBef>
                <a:spcPts val="0"/>
              </a:spcBef>
              <a:spcAft>
                <a:spcPts val="1500"/>
              </a:spcAft>
            </a:pPr>
            <a:r>
              <a:rPr sz="2200" b="0" lang="ja-JP" altLang="en-US" i="0">
                <a:solidFill>
                  <a:srgbClr val="171717"/>
                </a:solidFill>
                <a:latin typeface="Noto Sans JP"/>
                <a:ea typeface="Noto Sans JP"/>
              </a:rPr>
              <a:t>AI Scientistは仮説や手順を広げる。計算・実験が検証の手掛かりを与える。</a:t>
            </a:r>
          </a:p>
          <a:p>
            <a:pPr algn="l">
              <a:lnSpc>
                <a:spcPts val="3036"/>
              </a:lnSpc>
              <a:spcBef>
                <a:spcPts val="0"/>
              </a:spcBef>
              <a:spcAft>
                <a:spcPts val="1500"/>
              </a:spcAft>
            </a:pPr>
            <a:r>
              <a:rPr sz="2200" b="0" lang="ja-JP" altLang="en-US" i="0">
                <a:solidFill>
                  <a:srgbClr val="171717"/>
                </a:solidFill>
                <a:latin typeface="Noto Sans JP"/>
                <a:ea typeface="Noto Sans JP"/>
              </a:rPr>
              <a:t>転移学習ではデータ数に加え、配列の多様性とラベルの意味が重要。</a:t>
            </a:r>
          </a:p>
          <a:p>
            <a:pPr algn="l">
              <a:lnSpc>
                <a:spcPts val="3036"/>
              </a:lnSpc>
              <a:spcBef>
                <a:spcPts val="0"/>
              </a:spcBef>
              <a:spcAft>
                <a:spcPts val="1500"/>
              </a:spcAft>
            </a:pPr>
            <a:r>
              <a:rPr sz="2200" b="0" lang="ja-JP" altLang="en-US" i="0">
                <a:solidFill>
                  <a:srgbClr val="171717"/>
                </a:solidFill>
                <a:latin typeface="Noto Sans JP"/>
                <a:ea typeface="Noto Sans JP"/>
              </a:rPr>
              <a:t>MDClawでは計画・操作・成果物・失敗をつなぎ、同じ条件で比較できる形に残す。</a:t>
            </a:r>
          </a:p>
          <a:p>
            <a:pPr algn="l">
              <a:lnSpc>
                <a:spcPts val="3036"/>
              </a:lnSpc>
              <a:spcBef>
                <a:spcPts val="0"/>
              </a:spcBef>
              <a:spcAft>
                <a:spcPts val="1500"/>
              </a:spcAft>
            </a:pPr>
            <a:r>
              <a:rPr sz="2200" b="0" lang="ja-JP" altLang="en-US" i="0">
                <a:solidFill>
                  <a:srgbClr val="171717"/>
                </a:solidFill>
                <a:latin typeface="Noto Sans JP"/>
                <a:ea typeface="Noto Sans JP"/>
              </a:rPr>
              <a:t>実行成功を、そのまま科学的結論へ置き換えない。</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36</a:t>
            </a:r>
          </a:p>
        </p:txBody>
      </p:sp>
      <p:sp>
        <p:nvSpPr>
          <p:cNvPr id="9" name="Rounded Rectangle 8"/>
          <p:cNvSpPr/>
          <p:nvPr/>
        </p:nvSpPr>
        <p:spPr>
          <a:xfrm>
            <a:off x="7315200" y="1508760"/>
            <a:ext cx="3886200" cy="804672"/>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600"/>
              </a:lnSpc>
              <a:spcBef>
                <a:spcPts val="0"/>
              </a:spcBef>
              <a:spcAft>
                <a:spcPts val="800"/>
              </a:spcAft>
            </a:pPr>
            <a:r>
              <a:rPr sz="2000" b="0" i="0" lang="ja-JP">
                <a:solidFill>
                  <a:srgbClr val="171717"/>
                </a:solidFill>
                <a:latin typeface="Noto Sans JP"/>
              </a:rPr>
              <a:t>入力と設定を読む</a:t>
            </a:r>
          </a:p>
        </p:txBody>
      </p:sp>
      <p:sp>
        <p:nvSpPr>
          <p:cNvPr id="10" name="TextBox 9"/>
          <p:cNvSpPr txBox="1"/>
          <p:nvPr/>
        </p:nvSpPr>
        <p:spPr>
          <a:xfrm>
            <a:off x="8915400" y="2350008"/>
            <a:ext cx="548640" cy="320040"/>
          </a:xfrm>
          <a:prstGeom prst="rect">
            <a:avLst/>
          </a:prstGeom>
          <a:noFill/>
        </p:spPr>
        <p:txBody>
          <a:bodyPr wrap="square" lIns="0" rIns="0" tIns="0" bIns="0" anchor="t">
            <a:spAutoFit/>
          </a:bodyPr>
          <a:lstStyle/>
          <a:p>
            <a:pPr>
              <a:lnSpc>
                <a:spcPts val="2750"/>
              </a:lnSpc>
              <a:spcBef>
                <a:spcPts val="0"/>
              </a:spcBef>
              <a:spcAft>
                <a:spcPts val="0"/>
              </a:spcAft>
            </a:pPr>
            <a:r>
              <a:rPr sz="2200" b="1" i="0" lang="ja-JP">
                <a:solidFill>
                  <a:srgbClr val="171717"/>
                </a:solidFill>
                <a:latin typeface="Noto Sans JP"/>
              </a:rPr>
              <a:t>↓</a:t>
            </a:r>
          </a:p>
        </p:txBody>
      </p:sp>
      <p:sp>
        <p:nvSpPr>
          <p:cNvPr id="11" name="Rounded Rectangle 10"/>
          <p:cNvSpPr/>
          <p:nvPr/>
        </p:nvSpPr>
        <p:spPr>
          <a:xfrm>
            <a:off x="7315200" y="2651760"/>
            <a:ext cx="3886200" cy="804672"/>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600"/>
              </a:lnSpc>
              <a:spcBef>
                <a:spcPts val="0"/>
              </a:spcBef>
              <a:spcAft>
                <a:spcPts val="800"/>
              </a:spcAft>
            </a:pPr>
            <a:r>
              <a:rPr sz="2000" b="0" i="0" lang="ja-JP">
                <a:solidFill>
                  <a:srgbClr val="171717"/>
                </a:solidFill>
                <a:latin typeface="Noto Sans JP"/>
              </a:rPr>
              <a:t>成果物を検査する</a:t>
            </a:r>
          </a:p>
        </p:txBody>
      </p:sp>
      <p:sp>
        <p:nvSpPr>
          <p:cNvPr id="12" name="TextBox 11"/>
          <p:cNvSpPr txBox="1"/>
          <p:nvPr/>
        </p:nvSpPr>
        <p:spPr>
          <a:xfrm>
            <a:off x="8915400" y="3493008"/>
            <a:ext cx="548640" cy="320040"/>
          </a:xfrm>
          <a:prstGeom prst="rect">
            <a:avLst/>
          </a:prstGeom>
          <a:noFill/>
        </p:spPr>
        <p:txBody>
          <a:bodyPr wrap="square" lIns="0" rIns="0" tIns="0" bIns="0" anchor="t">
            <a:spAutoFit/>
          </a:bodyPr>
          <a:lstStyle/>
          <a:p>
            <a:pPr>
              <a:lnSpc>
                <a:spcPts val="2750"/>
              </a:lnSpc>
              <a:spcBef>
                <a:spcPts val="0"/>
              </a:spcBef>
              <a:spcAft>
                <a:spcPts val="0"/>
              </a:spcAft>
            </a:pPr>
            <a:r>
              <a:rPr sz="2200" b="1" i="0" lang="ja-JP">
                <a:solidFill>
                  <a:srgbClr val="171717"/>
                </a:solidFill>
                <a:latin typeface="Noto Sans JP"/>
              </a:rPr>
              <a:t>↓</a:t>
            </a:r>
          </a:p>
        </p:txBody>
      </p:sp>
      <p:sp>
        <p:nvSpPr>
          <p:cNvPr id="13" name="Rounded Rectangle 12"/>
          <p:cNvSpPr/>
          <p:nvPr/>
        </p:nvSpPr>
        <p:spPr>
          <a:xfrm>
            <a:off x="7315200" y="3794760"/>
            <a:ext cx="3886200" cy="804672"/>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600"/>
              </a:lnSpc>
              <a:spcBef>
                <a:spcPts val="0"/>
              </a:spcBef>
              <a:spcAft>
                <a:spcPts val="800"/>
              </a:spcAft>
            </a:pPr>
            <a:r>
              <a:rPr sz="2000" b="0" i="0" lang="ja-JP">
                <a:solidFill>
                  <a:srgbClr val="171717"/>
                </a:solidFill>
                <a:latin typeface="Noto Sans JP"/>
              </a:rPr>
              <a:t>失敗の理由を調べる</a:t>
            </a:r>
          </a:p>
        </p:txBody>
      </p:sp>
      <p:sp>
        <p:nvSpPr>
          <p:cNvPr id="14" name="TextBox 13"/>
          <p:cNvSpPr txBox="1"/>
          <p:nvPr/>
        </p:nvSpPr>
        <p:spPr>
          <a:xfrm>
            <a:off x="8915400" y="4636008"/>
            <a:ext cx="548640" cy="320040"/>
          </a:xfrm>
          <a:prstGeom prst="rect">
            <a:avLst/>
          </a:prstGeom>
          <a:noFill/>
        </p:spPr>
        <p:txBody>
          <a:bodyPr wrap="square" lIns="0" rIns="0" tIns="0" bIns="0" anchor="t">
            <a:spAutoFit/>
          </a:bodyPr>
          <a:lstStyle/>
          <a:p>
            <a:pPr>
              <a:lnSpc>
                <a:spcPts val="2750"/>
              </a:lnSpc>
              <a:spcBef>
                <a:spcPts val="0"/>
              </a:spcBef>
              <a:spcAft>
                <a:spcPts val="0"/>
              </a:spcAft>
            </a:pPr>
            <a:r>
              <a:rPr sz="2200" b="1" i="0" lang="ja-JP">
                <a:solidFill>
                  <a:srgbClr val="171717"/>
                </a:solidFill>
                <a:latin typeface="Noto Sans JP"/>
              </a:rPr>
              <a:t>↓</a:t>
            </a:r>
          </a:p>
        </p:txBody>
      </p:sp>
      <p:sp>
        <p:nvSpPr>
          <p:cNvPr id="15" name="Rounded Rectangle 14"/>
          <p:cNvSpPr/>
          <p:nvPr/>
        </p:nvSpPr>
        <p:spPr>
          <a:xfrm>
            <a:off x="7315200" y="4937760"/>
            <a:ext cx="3886200" cy="804672"/>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600"/>
              </a:lnSpc>
              <a:spcBef>
                <a:spcPts val="0"/>
              </a:spcBef>
              <a:spcAft>
                <a:spcPts val="800"/>
              </a:spcAft>
            </a:pPr>
            <a:r>
              <a:rPr sz="2000" b="0" i="0" lang="ja-JP">
                <a:solidFill>
                  <a:srgbClr val="171717"/>
                </a:solidFill>
                <a:latin typeface="Noto Sans JP"/>
              </a:rPr>
              <a:t>再試行か条件変更かを決める</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付録：導出と補足資料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463040"/>
            <a:ext cx="10881360" cy="4480560"/>
          </a:xfrm>
          <a:prstGeom prst="rect">
            <a:avLst/>
          </a:prstGeom>
          <a:noFill/>
        </p:spPr>
        <p:txBody>
          <a:bodyPr wrap="square" lIns="0" rIns="0" tIns="0" bIns="0" anchor="t">
            <a:noAutofit/>
          </a:bodyPr>
          <a:lstStyle/>
          <a:p>
            <a:pPr algn="l">
              <a:lnSpc>
                <a:spcPts val="3105"/>
              </a:lnSpc>
            </a:pPr>
            <a:r>
              <a:rPr sz="2300" b="0" lang="ja-JP" altLang="en-US">
                <a:solidFill>
                  <a:srgbClr val="333333"/>
                </a:solidFill>
                <a:latin typeface="Noto Sans JP"/>
                <a:ea typeface="Noto Sans JP"/>
              </a:rPr>
              <a:t>ここからは本編の補足です。</a:t>
            </a:r>
          </a:p>
          <a:p>
            <a:pPr algn="l">
              <a:lnSpc>
                <a:spcPts val="3105"/>
              </a:lnSpc>
            </a:pPr>
            <a:r>
              <a:rPr sz="2300" b="0" lang="ja-JP" altLang="en-US">
                <a:solidFill>
                  <a:srgbClr val="333333"/>
                </a:solidFill>
                <a:latin typeface="Noto Sans JP"/>
                <a:ea typeface="Noto Sans JP"/>
              </a:rPr>
              <a:t>導出の途中式、計算条件、研究例の詳細を示します。</a:t>
            </a:r>
          </a:p>
          <a:p>
            <a:pPr algn="l">
              <a:lnSpc>
                <a:spcPts val="3105"/>
              </a:lnSpc>
            </a:pPr>
            <a:r>
              <a:rPr sz="2300" b="0" lang="ja-JP" altLang="en-US">
                <a:solidFill>
                  <a:srgbClr val="333333"/>
                </a:solidFill>
                <a:latin typeface="Noto Sans JP"/>
                <a:ea typeface="Noto Sans JP"/>
              </a:rPr>
              <a:t>本編の各手法の前提と対応させて読んでください。</a:t>
            </a:r>
          </a:p>
        </p:txBody>
      </p:sp>
      <p:sp>
        <p:nvSpPr>
          <p:cNvPr id="7" name="TextBox 6"/>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6" name="正方形/長方形 5">
            <a:extLst>
              <a:ext uri="{FF2B5EF4-FFF2-40B4-BE49-F238E27FC236}">
                <a16:creationId xmlns:a16="http://schemas.microsoft.com/office/drawing/2014/main" id="{5BE11EFB-63CE-4E90-A925-E4A644A9D711}"/>
              </a:ext>
            </a:extLst>
          </p:cNvPr>
          <p:cNvSpPr>
            <a:spLocks noGrp="1"/>
          </p:cNvSpPr>
          <p:nvPr/>
        </p:nvSpPr>
        <p:spPr>
          <a:xfrm>
            <a:off x="594360" y="585216"/>
            <a:ext cx="10972800" cy="594360"/>
          </a:xfrm>
          <a:prstGeom prst="rect">
            <a:avLst/>
          </a:prstGeom>
          <a:solidFill>
            <a:srgbClr val="000000">
              <a:alpha val="0"/>
            </a:srgbClr>
          </a:solidFill>
          <a:ln w="0">
            <a:solidFill>
              <a:srgbClr val="000000">
                <a:alpha val="0"/>
              </a:srgbClr>
            </a:solidFill>
            <a:prstDash val="solid"/>
          </a:ln>
        </p:spPr>
        <p:txBody>
          <a:bodyPr lIns="0" tIns="0" rIns="0" bIns="0" anchor="t" wrap="square"/>
          <a:lstStyle/>
          <a:p>
            <a:pPr algn="l">
              <a:lnSpc>
                <a:spcPts val="3479"/>
              </a:lnSpc>
              <a:spcBef>
                <a:spcPts val="0"/>
              </a:spcBef>
              <a:spcAft>
                <a:spcPts val="0"/>
              </a:spcAft>
            </a:pPr>
            <a:r>
              <a:rPr sz="2900" b="1" i="0" lang="ja-JP">
                <a:solidFill>
                  <a:srgbClr val="171717"/>
                </a:solidFill>
                <a:latin typeface="Noto Sans JP"/>
              </a:rPr>
              <a:t>準備課題 P01〜P13：対象と化学状態を指定する</a:t>
            </a:r>
          </a:p>
        </p:txBody>
      </p:sp>
      <p:pic>
        <p:nvPicPr>
          <p:cNvPr id="76" name="図 75">
            <a:extLst>
              <a:ext uri="{FF2B5EF4-FFF2-40B4-BE49-F238E27FC236}">
                <a16:creationId xmlns:a16="http://schemas.microsoft.com/office/drawing/2014/main" id="{56B15E29-ADA4-CBCC-7E60-ABCAF8198E24}"/>
              </a:ext>
            </a:extLst>
          </p:cNvPr>
          <p:cNvPicPr>
            <a:picLocks noChangeAspect="1"/>
          </p:cNvPicPr>
          <p:nvPr/>
        </p:nvPicPr>
        <p:blipFill>
          <a:blip r:embed="rId3"/>
          <a:stretch>
            <a:fillRect/>
          </a:stretch>
        </p:blipFill>
        <p:spPr>
          <a:xfrm>
            <a:off x="301282" y="1335213"/>
            <a:ext cx="11606084" cy="4103160"/>
          </a:xfrm>
          <a:prstGeom prst="rect">
            <a:avLst/>
          </a:prstGeom>
        </p:spPr>
      </p:pic>
      <p:sp>
        <p:nvSpPr>
          <p:cNvPr id="77" name="TextBox 76"/>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38</a:t>
            </a:r>
          </a:p>
        </p:txBody>
      </p:sp>
      <p:sp>
        <p:nvSpPr>
          <p:cNvPr id="78" name="TextBox 77"/>
          <p:cNvSpPr txBox="1"/>
          <p:nvPr/>
        </p:nvSpPr>
        <p:spPr>
          <a:xfrm>
            <a:off x="640080" y="6080760"/>
            <a:ext cx="10881360" cy="411480"/>
          </a:xfrm>
          <a:prstGeom prst="rect">
            <a:avLst/>
          </a:prstGeom>
          <a:noFill/>
        </p:spPr>
        <p:txBody>
          <a:bodyPr wrap="square" lIns="0" rIns="0" tIns="0" bIns="0" anchor="t">
            <a:spAutoFit/>
          </a:bodyPr>
          <a:lstStyle/>
          <a:p>
            <a:pPr>
              <a:lnSpc>
                <a:spcPts val="2250"/>
              </a:lnSpc>
              <a:spcBef>
                <a:spcPts val="0"/>
              </a:spcBef>
              <a:spcAft>
                <a:spcPts val="0"/>
              </a:spcAft>
            </a:pPr>
            <a:r>
              <a:rPr sz="1800" b="0" i="0" lang="ja-JP">
                <a:solidFill>
                  <a:srgbClr val="171717"/>
                </a:solidFill>
                <a:latin typeface="Noto Sans JP"/>
              </a:rPr>
              <a:t>各行は課題番号・対象の種類・守る条件。課題間で必要な準備が異なる点を読む。</a:t>
            </a:r>
          </a:p>
        </p:txBody>
      </p:sp>
      <p:sp>
        <p:nvSpPr>
          <p:cNvPr id="79" name="TextBox 78"/>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7" name="正方形/長方形 6">
            <a:extLst>
              <a:ext uri="{FF2B5EF4-FFF2-40B4-BE49-F238E27FC236}">
                <a16:creationId xmlns:a16="http://schemas.microsoft.com/office/drawing/2014/main" id="{870748A4-607C-1B04-80B5-AA0478C63857}"/>
              </a:ext>
            </a:extLst>
          </p:cNvPr>
          <p:cNvSpPr>
            <a:spLocks noGrp="1"/>
          </p:cNvSpPr>
          <p:nvPr/>
        </p:nvSpPr>
        <p:spPr>
          <a:xfrm>
            <a:off x="594360" y="585216"/>
            <a:ext cx="10972800" cy="594360"/>
          </a:xfrm>
          <a:prstGeom prst="rect">
            <a:avLst/>
          </a:prstGeom>
          <a:solidFill>
            <a:srgbClr val="000000">
              <a:alpha val="0"/>
            </a:srgbClr>
          </a:solidFill>
          <a:ln w="0">
            <a:solidFill>
              <a:srgbClr val="000000">
                <a:alpha val="0"/>
              </a:srgbClr>
            </a:solidFill>
            <a:prstDash val="solid"/>
          </a:ln>
        </p:spPr>
        <p:txBody>
          <a:bodyPr lIns="0" tIns="0" rIns="0" bIns="0" anchor="t" wrap="square"/>
          <a:lstStyle/>
          <a:p>
            <a:pPr algn="l">
              <a:lnSpc>
                <a:spcPts val="3479"/>
              </a:lnSpc>
              <a:spcBef>
                <a:spcPts val="0"/>
              </a:spcBef>
              <a:spcAft>
                <a:spcPts val="0"/>
              </a:spcAft>
            </a:pPr>
            <a:r>
              <a:rPr sz="2900" b="1" i="0" lang="ja-JP">
                <a:solidFill>
                  <a:srgbClr val="171717"/>
                </a:solidFill>
                <a:latin typeface="Noto Sans JP"/>
              </a:rPr>
              <a:t>準備課題 P14〜P25：膜・核酸・モデル条件を指定する</a:t>
            </a:r>
          </a:p>
        </p:txBody>
      </p:sp>
      <p:pic>
        <p:nvPicPr>
          <p:cNvPr id="70" name="図 69">
            <a:extLst>
              <a:ext uri="{FF2B5EF4-FFF2-40B4-BE49-F238E27FC236}">
                <a16:creationId xmlns:a16="http://schemas.microsoft.com/office/drawing/2014/main" id="{7EC9FFA1-902F-0530-5646-A1CF33F00961}"/>
              </a:ext>
            </a:extLst>
          </p:cNvPr>
          <p:cNvPicPr>
            <a:picLocks noChangeAspect="1"/>
          </p:cNvPicPr>
          <p:nvPr/>
        </p:nvPicPr>
        <p:blipFill>
          <a:blip r:embed="rId3"/>
          <a:stretch>
            <a:fillRect/>
          </a:stretch>
        </p:blipFill>
        <p:spPr>
          <a:xfrm>
            <a:off x="373295" y="1398778"/>
            <a:ext cx="11475643" cy="4057045"/>
          </a:xfrm>
          <a:prstGeom prst="rect">
            <a:avLst/>
          </a:prstGeom>
        </p:spPr>
      </p:pic>
      <p:sp>
        <p:nvSpPr>
          <p:cNvPr id="71" name="TextBox 70"/>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39</a:t>
            </a:r>
          </a:p>
        </p:txBody>
      </p:sp>
      <p:sp>
        <p:nvSpPr>
          <p:cNvPr id="72" name="TextBox 71"/>
          <p:cNvSpPr txBox="1"/>
          <p:nvPr/>
        </p:nvSpPr>
        <p:spPr>
          <a:xfrm>
            <a:off x="640080" y="6080760"/>
            <a:ext cx="10881360" cy="411480"/>
          </a:xfrm>
          <a:prstGeom prst="rect">
            <a:avLst/>
          </a:prstGeom>
          <a:noFill/>
        </p:spPr>
        <p:txBody>
          <a:bodyPr wrap="square" lIns="0" rIns="0" tIns="0" bIns="0" anchor="t">
            <a:spAutoFit/>
          </a:bodyPr>
          <a:lstStyle/>
          <a:p>
            <a:pPr>
              <a:lnSpc>
                <a:spcPts val="2250"/>
              </a:lnSpc>
              <a:spcBef>
                <a:spcPts val="0"/>
              </a:spcBef>
              <a:spcAft>
                <a:spcPts val="0"/>
              </a:spcAft>
            </a:pPr>
            <a:r>
              <a:rPr sz="1800" b="0" i="0" lang="ja-JP">
                <a:solidFill>
                  <a:srgbClr val="171717"/>
                </a:solidFill>
                <a:latin typeface="Noto Sans JP"/>
              </a:rPr>
              <a:t>各行は課題番号・対象の種類・守る条件。課題間で必要な準備が異なる点を読む。</a:t>
            </a:r>
          </a:p>
        </p:txBody>
      </p:sp>
      <p:sp>
        <p:nvSpPr>
          <p:cNvPr id="73" name="TextBox 72"/>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6" name="正方形/長方形 5">
            <a:extLst>
              <a:ext uri="{FF2B5EF4-FFF2-40B4-BE49-F238E27FC236}">
                <a16:creationId xmlns:a16="http://schemas.microsoft.com/office/drawing/2014/main" id="{B29DD40F-DD61-C2EA-FFB1-B4D875A834C6}"/>
              </a:ext>
            </a:extLst>
          </p:cNvPr>
          <p:cNvSpPr>
            <a:spLocks noGrp="1"/>
          </p:cNvSpPr>
          <p:nvPr/>
        </p:nvSpPr>
        <p:spPr>
          <a:xfrm>
            <a:off x="594360" y="585216"/>
            <a:ext cx="10972800" cy="594360"/>
          </a:xfrm>
          <a:prstGeom prst="rect">
            <a:avLst/>
          </a:prstGeom>
          <a:solidFill>
            <a:srgbClr val="000000">
              <a:alpha val="0"/>
            </a:srgbClr>
          </a:solidFill>
          <a:ln w="0">
            <a:solidFill>
              <a:srgbClr val="000000">
                <a:alpha val="0"/>
              </a:srgbClr>
            </a:solidFill>
            <a:prstDash val="solid"/>
          </a:ln>
        </p:spPr>
        <p:txBody>
          <a:bodyPr lIns="0" tIns="0" rIns="0" bIns="0" anchor="t" wrap="square"/>
          <a:lstStyle/>
          <a:p>
            <a:pPr algn="l">
              <a:lnSpc>
                <a:spcPts val="3479"/>
              </a:lnSpc>
              <a:spcBef>
                <a:spcPts val="0"/>
              </a:spcBef>
              <a:spcAft>
                <a:spcPts val="0"/>
              </a:spcAft>
            </a:pPr>
            <a:r>
              <a:rPr sz="2900" b="1" i="0" lang="ja-JP">
                <a:solidFill>
                  <a:srgbClr val="171717"/>
                </a:solidFill>
                <a:latin typeface="Noto Sans JP"/>
              </a:rPr>
              <a:t>依頼文の例：対象・除外対象・提出物を明記する</a:t>
            </a:r>
          </a:p>
        </p:txBody>
      </p:sp>
      <p:sp>
        <p:nvSpPr>
          <p:cNvPr id="7" name="テキスト ボックス 6">
            <a:extLst>
              <a:ext uri="{FF2B5EF4-FFF2-40B4-BE49-F238E27FC236}">
                <a16:creationId xmlns:a16="http://schemas.microsoft.com/office/drawing/2014/main" id="{F02665A9-4117-5C33-355F-B800C831939F}"/>
              </a:ext>
            </a:extLst>
          </p:cNvPr>
          <p:cNvSpPr txBox="1"/>
          <p:nvPr/>
        </p:nvSpPr>
        <p:spPr>
          <a:xfrm>
            <a:off x="777240" y="1508760"/>
            <a:ext cx="10698480" cy="4572000"/>
          </a:xfrm>
          <a:prstGeom prst="rect">
            <a:avLst/>
          </a:prstGeom>
          <a:noFill/>
          <a:ln>
            <a:solidFill>
              <a:srgbClr val="000000"/>
            </a:solidFill>
          </a:ln>
        </p:spPr>
        <p:txBody>
          <a:bodyPr wrap="square" rtlCol="0" lIns="0" rIns="0" tIns="0" bIns="0" anchor="t">
            <a:spAutoFit/>
          </a:bodyPr>
          <a:lstStyle/>
          <a:p>
            <a:pPr>
              <a:lnSpc>
                <a:spcPts val="2360"/>
              </a:lnSpc>
              <a:spcBef>
                <a:spcPts val="0"/>
              </a:spcBef>
              <a:spcAft>
                <a:spcPts val="300"/>
              </a:spcAft>
            </a:pPr>
            <a:r>
              <a:rPr sz="2000" b="0" i="0" lang="ja-JP">
                <a:solidFill>
                  <a:srgbClr val="171717"/>
                </a:solidFill>
                <a:latin typeface="Noto Sans JP"/>
              </a:rPr>
              <a:t>Use this prompt as the task statement. Retrieve public sources as needed, and do not read `truth/` or `scorer/` if those directories exist.</a:t>
            </a:r>
          </a:p>
          <a:p>
            <a:pPr>
              <a:lnSpc>
                <a:spcPts val="2360"/>
              </a:lnSpc>
              <a:spcBef>
                <a:spcPts val="0"/>
              </a:spcBef>
              <a:spcAft>
                <a:spcPts val="300"/>
              </a:spcAft>
            </a:pPr>
            <a:r>
              <a:rPr sz="2000" b="0" i="0" lang="ja-JP">
                <a:solidFill>
                  <a:srgbClr val="171717"/>
                </a:solidFill>
                <a:latin typeface="Noto Sans JP"/>
              </a:rPr>
              <a:t>Task: Simple monomer preparation: retrieve T4 lysozyme chain A, clean it, prepare an explicit-water-compatible topology, and report that no unintended ligands were retained.</a:t>
            </a:r>
          </a:p>
          <a:p>
            <a:pPr>
              <a:lnSpc>
                <a:spcPts val="2360"/>
              </a:lnSpc>
              <a:spcBef>
                <a:spcPts val="0"/>
              </a:spcBef>
              <a:spcAft>
                <a:spcPts val="300"/>
              </a:spcAft>
            </a:pPr>
            <a:r>
              <a:rPr sz="2000" b="0" i="0" lang="ja-JP">
                <a:solidFill>
                  <a:srgbClr val="171717"/>
                </a:solidFill>
                <a:latin typeface="Noto Sans JP"/>
              </a:rPr>
              <a:t>Public source anchors: PDB 2LZM.</a:t>
            </a:r>
          </a:p>
          <a:p>
            <a:pPr>
              <a:lnSpc>
                <a:spcPts val="2360"/>
              </a:lnSpc>
              <a:spcBef>
                <a:spcPts val="0"/>
              </a:spcBef>
              <a:spcAft>
                <a:spcPts val="300"/>
              </a:spcAft>
            </a:pPr>
            <a:r>
              <a:rPr sz="2000" b="0" i="0" lang="ja-JP">
                <a:solidFill>
                  <a:srgbClr val="171717"/>
                </a:solidFill>
                <a:latin typeface="Noto Sans JP"/>
              </a:rPr>
              <a:t>Your submission directory must contain:</a:t>
            </a:r>
          </a:p>
          <a:p>
            <a:pPr>
              <a:lnSpc>
                <a:spcPts val="2360"/>
              </a:lnSpc>
              <a:spcBef>
                <a:spcPts val="0"/>
              </a:spcBef>
              <a:spcAft>
                <a:spcPts val="300"/>
              </a:spcAft>
            </a:pPr>
            <a:r>
              <a:rPr sz="2000" b="0" i="0" lang="ja-JP">
                <a:solidFill>
                  <a:srgbClr val="171717"/>
                </a:solidFill>
                <a:latin typeface="Noto Sans JP"/>
              </a:rPr>
              <a:t>- `manifest.json`</a:t>
            </a:r>
          </a:p>
          <a:p>
            <a:pPr>
              <a:lnSpc>
                <a:spcPts val="2360"/>
              </a:lnSpc>
              <a:spcBef>
                <a:spcPts val="0"/>
              </a:spcBef>
              <a:spcAft>
                <a:spcPts val="300"/>
              </a:spcAft>
            </a:pPr>
            <a:r>
              <a:rPr sz="2000" b="0" i="0" lang="ja-JP">
                <a:solidFill>
                  <a:srgbClr val="171717"/>
                </a:solidFill>
                <a:latin typeface="Noto Sans JP"/>
              </a:rPr>
              <a:t>- `metrics.json`</a:t>
            </a:r>
          </a:p>
          <a:p>
            <a:pPr>
              <a:lnSpc>
                <a:spcPts val="2360"/>
              </a:lnSpc>
              <a:spcBef>
                <a:spcPts val="0"/>
              </a:spcBef>
              <a:spcAft>
                <a:spcPts val="300"/>
              </a:spcAft>
            </a:pPr>
            <a:r>
              <a:rPr sz="2000" b="0" i="0" lang="ja-JP">
                <a:solidFill>
                  <a:srgbClr val="171717"/>
                </a:solidFill>
                <a:latin typeface="Noto Sans JP"/>
              </a:rPr>
              <a:t>- `provenance.json`</a:t>
            </a:r>
          </a:p>
          <a:p>
            <a:pPr>
              <a:lnSpc>
                <a:spcPts val="2360"/>
              </a:lnSpc>
              <a:spcBef>
                <a:spcPts val="0"/>
              </a:spcBef>
              <a:spcAft>
                <a:spcPts val="300"/>
              </a:spcAft>
            </a:pPr>
            <a:r>
              <a:rPr sz="2000" b="0" i="0" lang="ja-JP">
                <a:solidFill>
                  <a:srgbClr val="171717"/>
                </a:solidFill>
                <a:latin typeface="Noto Sans JP"/>
              </a:rPr>
              <a:t>- `evidence_report.json`</a:t>
            </a:r>
          </a:p>
          <a:p>
            <a:pPr>
              <a:lnSpc>
                <a:spcPts val="2360"/>
              </a:lnSpc>
              <a:spcBef>
                <a:spcPts val="0"/>
              </a:spcBef>
              <a:spcAft>
                <a:spcPts val="300"/>
              </a:spcAft>
            </a:pPr>
            <a:r>
              <a:rPr sz="2000" b="0" i="0" lang="ja-JP">
                <a:solidFill>
                  <a:srgbClr val="171717"/>
                </a:solidFill>
                <a:latin typeface="Noto Sans JP"/>
              </a:rPr>
              <a:t>- `prepared_structure.pdb`</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40</a:t>
            </a:r>
          </a:p>
        </p:txBody>
      </p:sp>
      <p:sp>
        <p:nvSpPr>
          <p:cNvPr id="9" name="TextBox 8"/>
          <p:cNvSpPr txBox="1"/>
          <p:nvPr/>
        </p:nvSpPr>
        <p:spPr>
          <a:xfrm>
            <a:off x="640080" y="6382512"/>
            <a:ext cx="10789920" cy="237744"/>
          </a:xfrm>
          <a:prstGeom prst="rect">
            <a:avLst/>
          </a:prstGeom>
          <a:noFill/>
        </p:spPr>
        <p:txBody>
          <a:bodyPr wrap="square" lIns="0" rIns="0" tIns="0" bIns="0" anchor="t">
            <a:spAutoFit/>
          </a:bodyPr>
          <a:lstStyle/>
          <a:p>
            <a:pPr>
              <a:lnSpc>
                <a:spcPts val="1625"/>
              </a:lnSpc>
              <a:spcBef>
                <a:spcPts val="0"/>
              </a:spcBef>
              <a:spcAft>
                <a:spcPts val="0"/>
              </a:spcAft>
            </a:pPr>
            <a:r>
              <a:rPr sz="1300" b="0" i="0" lang="ja-JP">
                <a:solidFill>
                  <a:srgbClr val="171717"/>
                </a:solidFill>
                <a:latin typeface="Noto Sans JP"/>
              </a:rPr>
              <a:t>P01はT4リゾチーム鎖Aの準備。参照元と、混入させない成分・提出ファイルを指定する。</a:t>
            </a:r>
          </a:p>
        </p:txBody>
      </p:sp>
      <p:sp>
        <p:nvSpPr>
          <p:cNvPr id="10" name="TextBox 9"/>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53" name="テキスト ボックス 52">
            <a:extLst>
              <a:ext uri="{FF2B5EF4-FFF2-40B4-BE49-F238E27FC236}">
                <a16:creationId xmlns:a16="http://schemas.microsoft.com/office/drawing/2014/main" id="{D375BE13-2B61-C64D-A072-ABB49CAC8A23}"/>
              </a:ext>
            </a:extLst>
          </p:cNvPr>
          <p:cNvSpPr txBox="1"/>
          <p:nvPr/>
        </p:nvSpPr>
        <p:spPr>
          <a:xfrm>
            <a:off x="594360" y="585216"/>
            <a:ext cx="10972800" cy="594360"/>
          </a:xfrm>
          <a:prstGeom prst="rect">
            <a:avLst/>
          </a:prstGeom>
          <a:noFill/>
        </p:spPr>
        <p:txBody>
          <a:bodyPr vertOverflow="overflow" vert="horz" wrap="square" rtlCol="0" anchor="t" lIns="0" rIns="0" tIns="0" bIns="0">
            <a:normAutofit/>
          </a:bodyPr>
          <a:lstStyle/>
          <a:p>
            <a:pPr algn="l">
              <a:lnSpc>
                <a:spcPts val="3479"/>
              </a:lnSpc>
              <a:spcBef>
                <a:spcPts val="0"/>
              </a:spcBef>
              <a:spcAft>
                <a:spcPts val="0"/>
              </a:spcAft>
            </a:pPr>
            <a:r>
              <a:rPr sz="2900" b="1" i="0" lang="ja-JP">
                <a:solidFill>
                  <a:srgbClr val="171717"/>
                </a:solidFill>
                <a:latin typeface="Noto Sans JP"/>
              </a:rPr>
              <a:t>失敗後の修正と再試行で、合格した例</a:t>
            </a:r>
          </a:p>
        </p:txBody>
      </p:sp>
      <p:sp>
        <p:nvSpPr>
          <p:cNvPr id="59" name="テキスト ボックス 58">
            <a:extLst>
              <a:ext uri="{FF2B5EF4-FFF2-40B4-BE49-F238E27FC236}">
                <a16:creationId xmlns:a16="http://schemas.microsoft.com/office/drawing/2014/main" id="{46AEA404-3181-2744-BD84-4FA5D3A52E52}"/>
              </a:ext>
            </a:extLst>
          </p:cNvPr>
          <p:cNvSpPr txBox="1"/>
          <p:nvPr/>
        </p:nvSpPr>
        <p:spPr>
          <a:xfrm>
            <a:off x="731520" y="1463040"/>
            <a:ext cx="10698480" cy="457200"/>
          </a:xfrm>
          <a:prstGeom prst="rect">
            <a:avLst/>
          </a:prstGeom>
          <a:noFill/>
        </p:spPr>
        <p:txBody>
          <a:bodyPr vertOverflow="overflow" vert="horz" wrap="square" rtlCol="0" anchor="t" lIns="0" rIns="0" tIns="0" bIns="0">
            <a:normAutofit fontScale="92500" lnSpcReduction="10000"/>
          </a:bodyPr>
          <a:lstStyle/>
          <a:p>
            <a:pPr>
              <a:lnSpc>
                <a:spcPts val="2500"/>
              </a:lnSpc>
              <a:spcBef>
                <a:spcPts val="0"/>
              </a:spcBef>
              <a:spcAft>
                <a:spcPts val="0"/>
              </a:spcAft>
            </a:pPr>
            <a:r>
              <a:rPr sz="2000" b="1" i="0" lang="ja-JP">
                <a:solidFill>
                  <a:srgbClr val="171717"/>
                </a:solidFill>
                <a:latin typeface="Noto Sans JP"/>
              </a:rPr>
              <a:t>記録から、失敗点と修正後の結果をたどる</a:t>
            </a:r>
          </a:p>
        </p:txBody>
      </p:sp>
      <p:sp>
        <p:nvSpPr>
          <p:cNvPr id="96" name="正方形/長方形 95">
            <a:extLst>
              <a:ext uri="{FF2B5EF4-FFF2-40B4-BE49-F238E27FC236}">
                <a16:creationId xmlns:a16="http://schemas.microsoft.com/office/drawing/2014/main" id="{C7C99839-F147-69DE-BBC1-54AC5047F53F}"/>
              </a:ext>
            </a:extLst>
          </p:cNvPr>
          <p:cNvSpPr>
            <a:spLocks noGrp="1"/>
          </p:cNvSpPr>
          <p:nvPr/>
        </p:nvSpPr>
        <p:spPr>
          <a:xfrm>
            <a:off x="901801" y="336359"/>
            <a:ext cx="4267835" cy="254254"/>
          </a:xfrm>
          <a:prstGeom prst="rect">
            <a:avLst/>
          </a:prstGeom>
          <a:solidFill>
            <a:srgbClr val="000000">
              <a:alpha val="0"/>
            </a:srgbClr>
          </a:solidFill>
          <a:ln w="0">
            <a:solidFill>
              <a:srgbClr val="000000">
                <a:alpha val="0"/>
              </a:srgbClr>
            </a:solidFill>
            <a:prstDash val="solid"/>
          </a:ln>
        </p:spPr>
        <p:txBody>
          <a:bodyPr lIns="0" tIns="0" rIns="0" bIns="0" anchor="t"/>
          <a:lstStyle/>
          <a:p/>
        </p:txBody>
      </p:sp>
      <p:sp>
        <p:nvSpPr>
          <p:cNvPr id="97" name="正方形/長方形 96">
            <a:extLst>
              <a:ext uri="{FF2B5EF4-FFF2-40B4-BE49-F238E27FC236}">
                <a16:creationId xmlns:a16="http://schemas.microsoft.com/office/drawing/2014/main" id="{5F1F5213-4BAA-064F-DB8D-AB8A6C0B18FA}"/>
              </a:ext>
            </a:extLst>
          </p:cNvPr>
          <p:cNvSpPr>
            <a:spLocks noGrp="1"/>
          </p:cNvSpPr>
          <p:nvPr/>
        </p:nvSpPr>
        <p:spPr>
          <a:xfrm>
            <a:off x="611225" y="363601"/>
            <a:ext cx="163449" cy="163449"/>
          </a:xfrm>
          <a:prstGeom prst="rect">
            <a:avLst/>
          </a:prstGeom>
          <a:solidFill>
            <a:srgbClr val="0E3A75"/>
          </a:solidFill>
          <a:ln w="0">
            <a:solidFill>
              <a:srgbClr val="000000">
                <a:alpha val="0"/>
              </a:srgbClr>
            </a:solidFill>
            <a:prstDash val="solid"/>
          </a:ln>
        </p:spPr>
        <p:txBody>
          <a:bodyPr/>
          <a:lstStyle/>
          <a:p>
            <a:endParaRPr lang="ja-JP" altLang="en-US"/>
          </a:p>
        </p:txBody>
      </p:sp>
      <p:pic>
        <p:nvPicPr>
          <p:cNvPr id="2" name="図 1">
            <a:extLst>
              <a:ext uri="{FF2B5EF4-FFF2-40B4-BE49-F238E27FC236}">
                <a16:creationId xmlns:a16="http://schemas.microsoft.com/office/drawing/2014/main" id="{19A280C0-B61D-B686-F9ED-3A5356DBB497}"/>
              </a:ext>
            </a:extLst>
          </p:cNvPr>
          <p:cNvPicPr>
            <a:picLocks noChangeAspect="1"/>
          </p:cNvPicPr>
          <p:nvPr/>
        </p:nvPicPr>
        <p:blipFill>
          <a:blip r:embed="rId3"/>
          <a:stretch>
            <a:fillRect/>
          </a:stretch>
        </p:blipFill>
        <p:spPr>
          <a:xfrm>
            <a:off x="357297" y="2326858"/>
            <a:ext cx="11477099" cy="2887666"/>
          </a:xfrm>
          <a:prstGeom prst="rect">
            <a:avLst/>
          </a:prstGeom>
        </p:spPr>
      </p:pic>
      <p:sp>
        <p:nvSpPr>
          <p:cNvPr id="99" name="TextBox 9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41</a:t>
            </a:r>
          </a:p>
        </p:txBody>
      </p:sp>
      <p:sp>
        <p:nvSpPr>
          <p:cNvPr id="100" name="TextBox 99"/>
          <p:cNvSpPr txBox="1"/>
          <p:nvPr/>
        </p:nvSpPr>
        <p:spPr>
          <a:xfrm>
            <a:off x="731520" y="5715000"/>
            <a:ext cx="10789920" cy="640080"/>
          </a:xfrm>
          <a:prstGeom prst="rect">
            <a:avLst/>
          </a:prstGeom>
          <a:noFill/>
        </p:spPr>
        <p:txBody>
          <a:bodyPr wrap="square" lIns="0" rIns="0" tIns="0" bIns="0" anchor="t">
            <a:spAutoFit/>
          </a:bodyPr>
          <a:lstStyle/>
          <a:p>
            <a:pPr>
              <a:lnSpc>
                <a:spcPts val="2500"/>
              </a:lnSpc>
              <a:spcBef>
                <a:spcPts val="0"/>
              </a:spcBef>
              <a:spcAft>
                <a:spcPts val="0"/>
              </a:spcAft>
            </a:pPr>
            <a:r>
              <a:rPr sz="2000" b="0" i="0" lang="ja-JP">
                <a:solidFill>
                  <a:srgbClr val="171717"/>
                </a:solidFill>
                <a:latin typeface="Noto Sans JP"/>
              </a:rPr>
              <a:t>この例では、失敗した準備から別の準備へ進み、入力・水和・力場・最小化を再確認している。</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6" name="正方形/長方形 5">
            <a:extLst>
              <a:ext uri="{FF2B5EF4-FFF2-40B4-BE49-F238E27FC236}">
                <a16:creationId xmlns:a16="http://schemas.microsoft.com/office/drawing/2014/main" id="{75C4063E-4F39-4378-8938-DE4A4B86C16F}"/>
              </a:ext>
            </a:extLst>
          </p:cNvPr>
          <p:cNvSpPr>
            <a:spLocks noGrp="1"/>
          </p:cNvSpPr>
          <p:nvPr/>
        </p:nvSpPr>
        <p:spPr>
          <a:xfrm>
            <a:off x="594360" y="585216"/>
            <a:ext cx="10972800" cy="594360"/>
          </a:xfrm>
          <a:prstGeom prst="rect">
            <a:avLst/>
          </a:prstGeom>
          <a:solidFill>
            <a:srgbClr val="000000">
              <a:alpha val="0"/>
            </a:srgbClr>
          </a:solidFill>
          <a:ln w="0">
            <a:solidFill>
              <a:srgbClr val="000000">
                <a:alpha val="0"/>
              </a:srgbClr>
            </a:solidFill>
            <a:prstDash val="solid"/>
          </a:ln>
        </p:spPr>
        <p:txBody>
          <a:bodyPr lIns="0" tIns="0" rIns="0" bIns="0" anchor="t" wrap="square"/>
          <a:lstStyle/>
          <a:p>
            <a:pPr algn="l">
              <a:lnSpc>
                <a:spcPts val="3479"/>
              </a:lnSpc>
              <a:spcBef>
                <a:spcPts val="0"/>
              </a:spcBef>
              <a:spcAft>
                <a:spcPts val="0"/>
              </a:spcAft>
            </a:pPr>
            <a:r>
              <a:rPr sz="2900" b="1" i="0" lang="ja-JP">
                <a:solidFill>
                  <a:srgbClr val="171717"/>
                </a:solidFill>
                <a:latin typeface="Noto Sans JP"/>
              </a:rPr>
              <a:t>基本の利用例：問いと計算条件を、記録に変える</a:t>
            </a:r>
          </a:p>
        </p:txBody>
      </p:sp>
      <p:sp>
        <p:nvSpPr>
          <p:cNvPr id="9" name="正方形/長方形 8">
            <a:extLst>
              <a:ext uri="{FF2B5EF4-FFF2-40B4-BE49-F238E27FC236}">
                <a16:creationId xmlns:a16="http://schemas.microsoft.com/office/drawing/2014/main" id="{9BCCB800-0B7E-47DC-885C-9EA143608D33}"/>
              </a:ext>
            </a:extLst>
          </p:cNvPr>
          <p:cNvSpPr>
            <a:spLocks noGrp="1"/>
          </p:cNvSpPr>
          <p:nvPr/>
        </p:nvSpPr>
        <p:spPr>
          <a:xfrm>
            <a:off x="777240" y="1783080"/>
            <a:ext cx="1947672" cy="4206240"/>
          </a:xfrm>
          <a:prstGeom prst="rect">
            <a:avLst/>
          </a:prstGeom>
          <a:solidFill>
            <a:srgbClr val="F7FAFD"/>
          </a:solidFill>
          <a:ln w="14288">
            <a:solidFill>
              <a:srgbClr val="0E3A75"/>
            </a:solidFill>
            <a:prstDash val="solid"/>
          </a:ln>
        </p:spPr>
        <p:txBody>
          <a:bodyPr/>
          <a:lstStyle/>
          <a:p>
            <a:endParaRPr lang="ja-JP" altLang="en-US"/>
          </a:p>
        </p:txBody>
      </p:sp>
      <p:sp>
        <p:nvSpPr>
          <p:cNvPr id="10" name="正方形/長方形 9">
            <a:extLst>
              <a:ext uri="{FF2B5EF4-FFF2-40B4-BE49-F238E27FC236}">
                <a16:creationId xmlns:a16="http://schemas.microsoft.com/office/drawing/2014/main" id="{385DDE6B-BC53-4EBF-B1DA-6993C58D86F3}"/>
              </a:ext>
            </a:extLst>
          </p:cNvPr>
          <p:cNvSpPr>
            <a:spLocks noGrp="1"/>
          </p:cNvSpPr>
          <p:nvPr/>
        </p:nvSpPr>
        <p:spPr>
          <a:xfrm>
            <a:off x="777240" y="1783080"/>
            <a:ext cx="1947672" cy="64008"/>
          </a:xfrm>
          <a:prstGeom prst="rect">
            <a:avLst/>
          </a:prstGeom>
          <a:solidFill>
            <a:srgbClr val="0E3A75"/>
          </a:solidFill>
          <a:ln w="0">
            <a:solidFill>
              <a:srgbClr val="000000">
                <a:alpha val="0"/>
              </a:srgbClr>
            </a:solidFill>
            <a:prstDash val="solid"/>
          </a:ln>
        </p:spPr>
        <p:txBody>
          <a:bodyPr/>
          <a:lstStyle/>
          <a:p>
            <a:endParaRPr lang="ja-JP" altLang="en-US"/>
          </a:p>
        </p:txBody>
      </p:sp>
      <p:sp>
        <p:nvSpPr>
          <p:cNvPr id="13" name="正方形/長方形 12">
            <a:extLst>
              <a:ext uri="{FF2B5EF4-FFF2-40B4-BE49-F238E27FC236}">
                <a16:creationId xmlns:a16="http://schemas.microsoft.com/office/drawing/2014/main" id="{61C19196-95FC-4BC6-8CCA-F5B0DEF1D09A}"/>
              </a:ext>
            </a:extLst>
          </p:cNvPr>
          <p:cNvSpPr>
            <a:spLocks noGrp="1"/>
          </p:cNvSpPr>
          <p:nvPr/>
        </p:nvSpPr>
        <p:spPr>
          <a:xfrm>
            <a:off x="905256" y="2057400"/>
            <a:ext cx="1691640" cy="640080"/>
          </a:xfrm>
          <a:prstGeom prst="rect">
            <a:avLst/>
          </a:prstGeom>
          <a:solidFill>
            <a:srgbClr val="000000">
              <a:alpha val="0"/>
            </a:srgbClr>
          </a:solidFill>
          <a:ln w="0">
            <a:solidFill>
              <a:srgbClr val="000000">
                <a:alpha val="0"/>
              </a:srgbClr>
            </a:solidFill>
            <a:prstDash val="solid"/>
          </a:ln>
        </p:spPr>
        <p:txBody>
          <a:bodyPr lIns="0" tIns="0" rIns="0" bIns="0" anchor="t" wrap="square"/>
          <a:lstStyle/>
          <a:p>
            <a:pPr>
              <a:lnSpc>
                <a:spcPts val="2375"/>
              </a:lnSpc>
              <a:spcBef>
                <a:spcPts val="0"/>
              </a:spcBef>
              <a:spcAft>
                <a:spcPts val="0"/>
              </a:spcAft>
            </a:pPr>
            <a:r>
              <a:rPr sz="1900" b="1" i="0" lang="ja-JP">
                <a:solidFill>
                  <a:srgbClr val="171717"/>
                </a:solidFill>
                <a:latin typeface="Noto Sans JP"/>
              </a:rPr>
              <a:t>実行</a:t>
            </a:r>
          </a:p>
        </p:txBody>
      </p:sp>
      <p:pic>
        <p:nvPicPr>
          <p:cNvPr id="14" name="グラフィックス 13"/>
          <p:cNvPicPr>
            <a:picLocks noChangeAspect="1"/>
          </p:cNvPicPr>
          <p:nvPr/>
        </p:nvPicPr>
        <p:blipFill>
          <a:blip>
            <a:extLst>
              <a:ext uri="{96DAC541-7B7A-43D3-8B79-37D633B846F1}">
                <asvg:svgBlip xmlns:asvg="http://schemas.microsoft.com/office/drawing/2016/SVG/main" r:embed="rId3"/>
              </a:ext>
            </a:extLst>
          </a:blip>
          <a:stretch/>
        </p:blipFill>
        <p:spPr>
          <a:xfrm>
            <a:off x="1298448" y="2862072"/>
            <a:ext cx="914400" cy="914400"/>
          </a:xfrm>
          <a:prstGeom prst="rect">
            <a:avLst/>
          </a:prstGeom>
        </p:spPr>
      </p:pic>
      <p:sp>
        <p:nvSpPr>
          <p:cNvPr id="15" name="正方形/長方形 14">
            <a:extLst>
              <a:ext uri="{FF2B5EF4-FFF2-40B4-BE49-F238E27FC236}">
                <a16:creationId xmlns:a16="http://schemas.microsoft.com/office/drawing/2014/main" id="{64A1660C-F73B-40ED-BB8D-46B58A91E737}"/>
              </a:ext>
            </a:extLst>
          </p:cNvPr>
          <p:cNvSpPr>
            <a:spLocks noGrp="1"/>
          </p:cNvSpPr>
          <p:nvPr/>
        </p:nvSpPr>
        <p:spPr>
          <a:xfrm>
            <a:off x="932688" y="4251960"/>
            <a:ext cx="1645920" cy="1508760"/>
          </a:xfrm>
          <a:prstGeom prst="rect">
            <a:avLst/>
          </a:prstGeom>
          <a:solidFill>
            <a:srgbClr val="000000">
              <a:alpha val="0"/>
            </a:srgbClr>
          </a:solidFill>
          <a:ln w="0">
            <a:solidFill>
              <a:srgbClr val="000000">
                <a:alpha val="0"/>
              </a:srgbClr>
            </a:solidFill>
            <a:prstDash val="solid"/>
          </a:ln>
        </p:spPr>
        <p:txBody>
          <a:bodyPr lIns="0" tIns="0" rIns="0" bIns="0" anchor="t" wrap="square"/>
          <a:lstStyle/>
          <a:p>
            <a:pPr>
              <a:lnSpc>
                <a:spcPts val="2295"/>
              </a:lnSpc>
              <a:spcBef>
                <a:spcPts val="0"/>
              </a:spcBef>
              <a:spcAft>
                <a:spcPts val="0"/>
              </a:spcAft>
            </a:pPr>
            <a:r>
              <a:rPr sz="1700" b="0" i="0" lang="ja-JP">
                <a:solidFill>
                  <a:srgbClr val="171717"/>
                </a:solidFill>
                <a:latin typeface="Noto Sans JP"/>
              </a:rPr>
              <a:t>一つの系を準備し、計算の依存関係を記録する。</a:t>
            </a:r>
          </a:p>
        </p:txBody>
      </p:sp>
      <p:sp>
        <p:nvSpPr>
          <p:cNvPr id="16" name="正方形/長方形 15">
            <a:extLst>
              <a:ext uri="{FF2B5EF4-FFF2-40B4-BE49-F238E27FC236}">
                <a16:creationId xmlns:a16="http://schemas.microsoft.com/office/drawing/2014/main" id="{B8DC36C0-A3C7-48D3-A5C3-BF4FDEE3CB9D}"/>
              </a:ext>
            </a:extLst>
          </p:cNvPr>
          <p:cNvSpPr>
            <a:spLocks noGrp="1"/>
          </p:cNvSpPr>
          <p:nvPr/>
        </p:nvSpPr>
        <p:spPr>
          <a:xfrm>
            <a:off x="2939796" y="1783080"/>
            <a:ext cx="1947672" cy="4206240"/>
          </a:xfrm>
          <a:prstGeom prst="rect">
            <a:avLst/>
          </a:prstGeom>
          <a:solidFill>
            <a:srgbClr val="F8F7FC"/>
          </a:solidFill>
          <a:ln w="14288">
            <a:solidFill>
              <a:srgbClr val="4D4B7D"/>
            </a:solidFill>
            <a:prstDash val="solid"/>
          </a:ln>
        </p:spPr>
        <p:txBody>
          <a:bodyPr/>
          <a:lstStyle/>
          <a:p>
            <a:endParaRPr lang="ja-JP" altLang="en-US"/>
          </a:p>
        </p:txBody>
      </p:sp>
      <p:sp>
        <p:nvSpPr>
          <p:cNvPr id="17" name="正方形/長方形 16">
            <a:extLst>
              <a:ext uri="{FF2B5EF4-FFF2-40B4-BE49-F238E27FC236}">
                <a16:creationId xmlns:a16="http://schemas.microsoft.com/office/drawing/2014/main" id="{BC78AE03-2587-435C-878C-7CBCCC08E1FA}"/>
              </a:ext>
            </a:extLst>
          </p:cNvPr>
          <p:cNvSpPr>
            <a:spLocks noGrp="1"/>
          </p:cNvSpPr>
          <p:nvPr/>
        </p:nvSpPr>
        <p:spPr>
          <a:xfrm>
            <a:off x="2939796" y="1783080"/>
            <a:ext cx="1947672" cy="64008"/>
          </a:xfrm>
          <a:prstGeom prst="rect">
            <a:avLst/>
          </a:prstGeom>
          <a:solidFill>
            <a:srgbClr val="4D4B7D"/>
          </a:solidFill>
          <a:ln w="0">
            <a:solidFill>
              <a:srgbClr val="000000">
                <a:alpha val="0"/>
              </a:srgbClr>
            </a:solidFill>
            <a:prstDash val="solid"/>
          </a:ln>
        </p:spPr>
        <p:txBody>
          <a:bodyPr/>
          <a:lstStyle/>
          <a:p>
            <a:endParaRPr lang="ja-JP" altLang="en-US"/>
          </a:p>
        </p:txBody>
      </p:sp>
      <p:sp>
        <p:nvSpPr>
          <p:cNvPr id="20" name="正方形/長方形 19">
            <a:extLst>
              <a:ext uri="{FF2B5EF4-FFF2-40B4-BE49-F238E27FC236}">
                <a16:creationId xmlns:a16="http://schemas.microsoft.com/office/drawing/2014/main" id="{98485F93-3287-4B47-B105-47AD2FBA78F5}"/>
              </a:ext>
            </a:extLst>
          </p:cNvPr>
          <p:cNvSpPr>
            <a:spLocks noGrp="1"/>
          </p:cNvSpPr>
          <p:nvPr/>
        </p:nvSpPr>
        <p:spPr>
          <a:xfrm>
            <a:off x="3067812" y="2057400"/>
            <a:ext cx="1691640" cy="640080"/>
          </a:xfrm>
          <a:prstGeom prst="rect">
            <a:avLst/>
          </a:prstGeom>
          <a:solidFill>
            <a:srgbClr val="000000">
              <a:alpha val="0"/>
            </a:srgbClr>
          </a:solidFill>
          <a:ln w="0">
            <a:solidFill>
              <a:srgbClr val="000000">
                <a:alpha val="0"/>
              </a:srgbClr>
            </a:solidFill>
            <a:prstDash val="solid"/>
          </a:ln>
        </p:spPr>
        <p:txBody>
          <a:bodyPr lIns="0" tIns="0" rIns="0" bIns="0" anchor="t" wrap="square"/>
          <a:lstStyle/>
          <a:p>
            <a:pPr>
              <a:lnSpc>
                <a:spcPts val="2375"/>
              </a:lnSpc>
              <a:spcBef>
                <a:spcPts val="0"/>
              </a:spcBef>
              <a:spcAft>
                <a:spcPts val="0"/>
              </a:spcAft>
            </a:pPr>
            <a:r>
              <a:rPr sz="1900" b="1" i="0" lang="ja-JP">
                <a:solidFill>
                  <a:srgbClr val="171717"/>
                </a:solidFill>
                <a:latin typeface="Noto Sans JP"/>
              </a:rPr>
              <a:t>計画</a:t>
            </a:r>
          </a:p>
        </p:txBody>
      </p:sp>
      <p:pic>
        <p:nvPicPr>
          <p:cNvPr id="21" name="グラフィックス 20"/>
          <p:cNvPicPr>
            <a:picLocks noChangeAspect="1"/>
          </p:cNvPicPr>
          <p:nvPr/>
        </p:nvPicPr>
        <p:blipFill>
          <a:blip>
            <a:extLst>
              <a:ext uri="{96DAC541-7B7A-43D3-8B79-37D633B846F1}">
                <asvg:svgBlip xmlns:asvg="http://schemas.microsoft.com/office/drawing/2016/SVG/main" r:embed="rId7"/>
              </a:ext>
            </a:extLst>
          </a:blip>
          <a:stretch/>
        </p:blipFill>
        <p:spPr>
          <a:xfrm>
            <a:off x="3461004" y="2862072"/>
            <a:ext cx="914400" cy="914400"/>
          </a:xfrm>
          <a:prstGeom prst="rect">
            <a:avLst/>
          </a:prstGeom>
        </p:spPr>
      </p:pic>
      <p:sp>
        <p:nvSpPr>
          <p:cNvPr id="22" name="正方形/長方形 21">
            <a:extLst>
              <a:ext uri="{FF2B5EF4-FFF2-40B4-BE49-F238E27FC236}">
                <a16:creationId xmlns:a16="http://schemas.microsoft.com/office/drawing/2014/main" id="{BFC288E5-0B12-4229-AA6A-95A1EFE0BB36}"/>
              </a:ext>
            </a:extLst>
          </p:cNvPr>
          <p:cNvSpPr>
            <a:spLocks noGrp="1"/>
          </p:cNvSpPr>
          <p:nvPr/>
        </p:nvSpPr>
        <p:spPr>
          <a:xfrm>
            <a:off x="3095244" y="4251960"/>
            <a:ext cx="1645920" cy="1508760"/>
          </a:xfrm>
          <a:prstGeom prst="rect">
            <a:avLst/>
          </a:prstGeom>
          <a:solidFill>
            <a:srgbClr val="000000">
              <a:alpha val="0"/>
            </a:srgbClr>
          </a:solidFill>
          <a:ln w="0">
            <a:solidFill>
              <a:srgbClr val="000000">
                <a:alpha val="0"/>
              </a:srgbClr>
            </a:solidFill>
            <a:prstDash val="solid"/>
          </a:ln>
        </p:spPr>
        <p:txBody>
          <a:bodyPr lIns="0" tIns="0" rIns="0" bIns="0" anchor="t" wrap="square"/>
          <a:lstStyle/>
          <a:p>
            <a:pPr>
              <a:lnSpc>
                <a:spcPts val="2295"/>
              </a:lnSpc>
              <a:spcBef>
                <a:spcPts val="0"/>
              </a:spcBef>
              <a:spcAft>
                <a:spcPts val="0"/>
              </a:spcAft>
            </a:pPr>
            <a:r>
              <a:rPr sz="1700" b="0" i="0" lang="ja-JP">
                <a:solidFill>
                  <a:srgbClr val="171717"/>
                </a:solidFill>
                <a:latin typeface="Noto Sans JP"/>
              </a:rPr>
              <a:t>観測量・計算条件・判定基準を明確にする。</a:t>
            </a:r>
          </a:p>
        </p:txBody>
      </p:sp>
      <p:sp>
        <p:nvSpPr>
          <p:cNvPr id="23" name="正方形/長方形 22">
            <a:extLst>
              <a:ext uri="{FF2B5EF4-FFF2-40B4-BE49-F238E27FC236}">
                <a16:creationId xmlns:a16="http://schemas.microsoft.com/office/drawing/2014/main" id="{BD457EFE-D93C-45F6-8A6B-4B655533B227}"/>
              </a:ext>
            </a:extLst>
          </p:cNvPr>
          <p:cNvSpPr>
            <a:spLocks noGrp="1"/>
          </p:cNvSpPr>
          <p:nvPr/>
        </p:nvSpPr>
        <p:spPr>
          <a:xfrm>
            <a:off x="5102352" y="1783080"/>
            <a:ext cx="1947672" cy="4206240"/>
          </a:xfrm>
          <a:prstGeom prst="rect">
            <a:avLst/>
          </a:prstGeom>
          <a:solidFill>
            <a:srgbClr val="F7FBF8"/>
          </a:solidFill>
          <a:ln w="14288">
            <a:solidFill>
              <a:srgbClr val="2D6D4B"/>
            </a:solidFill>
            <a:prstDash val="solid"/>
          </a:ln>
        </p:spPr>
        <p:txBody>
          <a:bodyPr/>
          <a:lstStyle/>
          <a:p>
            <a:endParaRPr lang="ja-JP" altLang="en-US"/>
          </a:p>
        </p:txBody>
      </p:sp>
      <p:sp>
        <p:nvSpPr>
          <p:cNvPr id="24" name="正方形/長方形 23">
            <a:extLst>
              <a:ext uri="{FF2B5EF4-FFF2-40B4-BE49-F238E27FC236}">
                <a16:creationId xmlns:a16="http://schemas.microsoft.com/office/drawing/2014/main" id="{3426B70D-0136-4892-943D-F162F2364FBE}"/>
              </a:ext>
            </a:extLst>
          </p:cNvPr>
          <p:cNvSpPr>
            <a:spLocks noGrp="1"/>
          </p:cNvSpPr>
          <p:nvPr/>
        </p:nvSpPr>
        <p:spPr>
          <a:xfrm>
            <a:off x="5102352" y="1783080"/>
            <a:ext cx="1947672" cy="64008"/>
          </a:xfrm>
          <a:prstGeom prst="rect">
            <a:avLst/>
          </a:prstGeom>
          <a:solidFill>
            <a:srgbClr val="2D6D4B"/>
          </a:solidFill>
          <a:ln w="0">
            <a:solidFill>
              <a:srgbClr val="000000">
                <a:alpha val="0"/>
              </a:srgbClr>
            </a:solidFill>
            <a:prstDash val="solid"/>
          </a:ln>
        </p:spPr>
        <p:txBody>
          <a:bodyPr/>
          <a:lstStyle/>
          <a:p>
            <a:endParaRPr lang="ja-JP" altLang="en-US"/>
          </a:p>
        </p:txBody>
      </p:sp>
      <p:sp>
        <p:nvSpPr>
          <p:cNvPr id="27" name="正方形/長方形 26">
            <a:extLst>
              <a:ext uri="{FF2B5EF4-FFF2-40B4-BE49-F238E27FC236}">
                <a16:creationId xmlns:a16="http://schemas.microsoft.com/office/drawing/2014/main" id="{CCB31B59-A1F3-49E5-AC92-3E4068C86C8C}"/>
              </a:ext>
            </a:extLst>
          </p:cNvPr>
          <p:cNvSpPr>
            <a:spLocks noGrp="1"/>
          </p:cNvSpPr>
          <p:nvPr/>
        </p:nvSpPr>
        <p:spPr>
          <a:xfrm>
            <a:off x="5230368" y="2057400"/>
            <a:ext cx="1691640" cy="640080"/>
          </a:xfrm>
          <a:prstGeom prst="rect">
            <a:avLst/>
          </a:prstGeom>
          <a:solidFill>
            <a:srgbClr val="000000">
              <a:alpha val="0"/>
            </a:srgbClr>
          </a:solidFill>
          <a:ln w="0">
            <a:solidFill>
              <a:srgbClr val="000000">
                <a:alpha val="0"/>
              </a:srgbClr>
            </a:solidFill>
            <a:prstDash val="solid"/>
          </a:ln>
        </p:spPr>
        <p:txBody>
          <a:bodyPr lIns="0" tIns="0" rIns="0" bIns="0" anchor="t" wrap="square"/>
          <a:lstStyle/>
          <a:p>
            <a:pPr>
              <a:lnSpc>
                <a:spcPts val="2375"/>
              </a:lnSpc>
              <a:spcBef>
                <a:spcPts val="0"/>
              </a:spcBef>
              <a:spcAft>
                <a:spcPts val="0"/>
              </a:spcAft>
            </a:pPr>
            <a:r>
              <a:rPr sz="1900" b="1" i="0" lang="ja-JP">
                <a:solidFill>
                  <a:srgbClr val="171717"/>
                </a:solidFill>
                <a:latin typeface="Noto Sans JP"/>
              </a:rPr>
              <a:t>解析</a:t>
            </a:r>
          </a:p>
        </p:txBody>
      </p:sp>
      <p:pic>
        <p:nvPicPr>
          <p:cNvPr id="28" name="グラフィックス 27"/>
          <p:cNvPicPr>
            <a:picLocks noChangeAspect="1"/>
          </p:cNvPicPr>
          <p:nvPr/>
        </p:nvPicPr>
        <p:blipFill>
          <a:blip>
            <a:extLst>
              <a:ext uri="{96DAC541-7B7A-43D3-8B79-37D633B846F1}">
                <asvg:svgBlip xmlns:asvg="http://schemas.microsoft.com/office/drawing/2016/SVG/main" r:embed="rId6"/>
              </a:ext>
            </a:extLst>
          </a:blip>
          <a:stretch/>
        </p:blipFill>
        <p:spPr>
          <a:xfrm>
            <a:off x="5623560" y="2862072"/>
            <a:ext cx="914400" cy="914400"/>
          </a:xfrm>
          <a:prstGeom prst="rect">
            <a:avLst/>
          </a:prstGeom>
        </p:spPr>
      </p:pic>
      <p:sp>
        <p:nvSpPr>
          <p:cNvPr id="29" name="正方形/長方形 28">
            <a:extLst>
              <a:ext uri="{FF2B5EF4-FFF2-40B4-BE49-F238E27FC236}">
                <a16:creationId xmlns:a16="http://schemas.microsoft.com/office/drawing/2014/main" id="{9F62AAFD-F5B0-40E6-A747-3C0D60892C0E}"/>
              </a:ext>
            </a:extLst>
          </p:cNvPr>
          <p:cNvSpPr>
            <a:spLocks noGrp="1"/>
          </p:cNvSpPr>
          <p:nvPr/>
        </p:nvSpPr>
        <p:spPr>
          <a:xfrm>
            <a:off x="5257800" y="4251960"/>
            <a:ext cx="1645920" cy="1508760"/>
          </a:xfrm>
          <a:prstGeom prst="rect">
            <a:avLst/>
          </a:prstGeom>
          <a:solidFill>
            <a:srgbClr val="000000">
              <a:alpha val="0"/>
            </a:srgbClr>
          </a:solidFill>
          <a:ln w="0">
            <a:solidFill>
              <a:srgbClr val="000000">
                <a:alpha val="0"/>
              </a:srgbClr>
            </a:solidFill>
            <a:prstDash val="solid"/>
          </a:ln>
        </p:spPr>
        <p:txBody>
          <a:bodyPr lIns="0" tIns="0" rIns="0" bIns="0" anchor="t" wrap="square"/>
          <a:lstStyle/>
          <a:p>
            <a:pPr>
              <a:lnSpc>
                <a:spcPts val="2295"/>
              </a:lnSpc>
              <a:spcBef>
                <a:spcPts val="0"/>
              </a:spcBef>
              <a:spcAft>
                <a:spcPts val="0"/>
              </a:spcAft>
            </a:pPr>
            <a:r>
              <a:rPr sz="1700" b="0" i="0" lang="ja-JP">
                <a:solidFill>
                  <a:srgbClr val="171717"/>
                </a:solidFill>
                <a:latin typeface="Noto Sans JP"/>
              </a:rPr>
              <a:t>軌道を解析し、不確実性とともに答える。</a:t>
            </a:r>
          </a:p>
        </p:txBody>
      </p:sp>
      <p:sp>
        <p:nvSpPr>
          <p:cNvPr id="30" name="正方形/長方形 29">
            <a:extLst>
              <a:ext uri="{FF2B5EF4-FFF2-40B4-BE49-F238E27FC236}">
                <a16:creationId xmlns:a16="http://schemas.microsoft.com/office/drawing/2014/main" id="{AF05C558-FF27-46A8-B616-33726AA5A6D5}"/>
              </a:ext>
            </a:extLst>
          </p:cNvPr>
          <p:cNvSpPr>
            <a:spLocks noGrp="1"/>
          </p:cNvSpPr>
          <p:nvPr/>
        </p:nvSpPr>
        <p:spPr>
          <a:xfrm>
            <a:off x="7264908" y="1783080"/>
            <a:ext cx="1947672" cy="4206240"/>
          </a:xfrm>
          <a:prstGeom prst="rect">
            <a:avLst/>
          </a:prstGeom>
          <a:solidFill>
            <a:srgbClr val="FCFAF2"/>
          </a:solidFill>
          <a:ln w="14288">
            <a:solidFill>
              <a:srgbClr val="A66A00"/>
            </a:solidFill>
            <a:prstDash val="solid"/>
          </a:ln>
        </p:spPr>
        <p:txBody>
          <a:bodyPr/>
          <a:lstStyle/>
          <a:p>
            <a:endParaRPr lang="ja-JP" altLang="en-US"/>
          </a:p>
        </p:txBody>
      </p:sp>
      <p:sp>
        <p:nvSpPr>
          <p:cNvPr id="31" name="正方形/長方形 30">
            <a:extLst>
              <a:ext uri="{FF2B5EF4-FFF2-40B4-BE49-F238E27FC236}">
                <a16:creationId xmlns:a16="http://schemas.microsoft.com/office/drawing/2014/main" id="{9ECB3F8F-172D-4390-8462-6D0D0178D2CE}"/>
              </a:ext>
            </a:extLst>
          </p:cNvPr>
          <p:cNvSpPr>
            <a:spLocks noGrp="1"/>
          </p:cNvSpPr>
          <p:nvPr/>
        </p:nvSpPr>
        <p:spPr>
          <a:xfrm>
            <a:off x="7264908" y="1783080"/>
            <a:ext cx="1947672" cy="64008"/>
          </a:xfrm>
          <a:prstGeom prst="rect">
            <a:avLst/>
          </a:prstGeom>
          <a:solidFill>
            <a:srgbClr val="A66A00"/>
          </a:solidFill>
          <a:ln w="0">
            <a:solidFill>
              <a:srgbClr val="000000">
                <a:alpha val="0"/>
              </a:srgbClr>
            </a:solidFill>
            <a:prstDash val="solid"/>
          </a:ln>
        </p:spPr>
        <p:txBody>
          <a:bodyPr/>
          <a:lstStyle/>
          <a:p>
            <a:endParaRPr lang="ja-JP" altLang="en-US"/>
          </a:p>
        </p:txBody>
      </p:sp>
      <p:sp>
        <p:nvSpPr>
          <p:cNvPr id="34" name="正方形/長方形 33">
            <a:extLst>
              <a:ext uri="{FF2B5EF4-FFF2-40B4-BE49-F238E27FC236}">
                <a16:creationId xmlns:a16="http://schemas.microsoft.com/office/drawing/2014/main" id="{7639B2C4-BAD6-4955-B59A-83DDDD1C2701}"/>
              </a:ext>
            </a:extLst>
          </p:cNvPr>
          <p:cNvSpPr>
            <a:spLocks noGrp="1"/>
          </p:cNvSpPr>
          <p:nvPr/>
        </p:nvSpPr>
        <p:spPr>
          <a:xfrm>
            <a:off x="7392924" y="2057400"/>
            <a:ext cx="1691640" cy="640080"/>
          </a:xfrm>
          <a:prstGeom prst="rect">
            <a:avLst/>
          </a:prstGeom>
          <a:solidFill>
            <a:srgbClr val="000000">
              <a:alpha val="0"/>
            </a:srgbClr>
          </a:solidFill>
          <a:ln w="0">
            <a:solidFill>
              <a:srgbClr val="000000">
                <a:alpha val="0"/>
              </a:srgbClr>
            </a:solidFill>
            <a:prstDash val="solid"/>
          </a:ln>
        </p:spPr>
        <p:txBody>
          <a:bodyPr lIns="0" tIns="0" rIns="0" bIns="0" anchor="t" wrap="square"/>
          <a:lstStyle/>
          <a:p>
            <a:pPr>
              <a:lnSpc>
                <a:spcPts val="2375"/>
              </a:lnSpc>
              <a:spcBef>
                <a:spcPts val="0"/>
              </a:spcBef>
              <a:spcAft>
                <a:spcPts val="0"/>
              </a:spcAft>
            </a:pPr>
            <a:r>
              <a:rPr sz="1900" b="1" i="0" lang="ja-JP">
                <a:solidFill>
                  <a:srgbClr val="171717"/>
                </a:solidFill>
                <a:latin typeface="Noto Sans JP"/>
              </a:rPr>
              <a:t>変異の比較</a:t>
            </a:r>
          </a:p>
        </p:txBody>
      </p:sp>
      <p:pic>
        <p:nvPicPr>
          <p:cNvPr id="35" name="グラフィックス 34"/>
          <p:cNvPicPr>
            <a:picLocks noChangeAspect="1"/>
          </p:cNvPicPr>
          <p:nvPr/>
        </p:nvPicPr>
        <p:blipFill>
          <a:blip>
            <a:extLst>
              <a:ext uri="{96DAC541-7B7A-43D3-8B79-37D633B846F1}">
                <asvg:svgBlip xmlns:asvg="http://schemas.microsoft.com/office/drawing/2016/SVG/main" r:embed="rId5"/>
              </a:ext>
            </a:extLst>
          </a:blip>
          <a:stretch/>
        </p:blipFill>
        <p:spPr>
          <a:xfrm>
            <a:off x="7786116" y="2862072"/>
            <a:ext cx="914400" cy="914400"/>
          </a:xfrm>
          <a:prstGeom prst="rect">
            <a:avLst/>
          </a:prstGeom>
        </p:spPr>
      </p:pic>
      <p:sp>
        <p:nvSpPr>
          <p:cNvPr id="36" name="正方形/長方形 35">
            <a:extLst>
              <a:ext uri="{FF2B5EF4-FFF2-40B4-BE49-F238E27FC236}">
                <a16:creationId xmlns:a16="http://schemas.microsoft.com/office/drawing/2014/main" id="{D9A53915-78BD-4A2E-9973-C41D12A1835F}"/>
              </a:ext>
            </a:extLst>
          </p:cNvPr>
          <p:cNvSpPr>
            <a:spLocks noGrp="1"/>
          </p:cNvSpPr>
          <p:nvPr/>
        </p:nvSpPr>
        <p:spPr>
          <a:xfrm>
            <a:off x="7420356" y="4251960"/>
            <a:ext cx="1645920" cy="1508760"/>
          </a:xfrm>
          <a:prstGeom prst="rect">
            <a:avLst/>
          </a:prstGeom>
          <a:solidFill>
            <a:srgbClr val="000000">
              <a:alpha val="0"/>
            </a:srgbClr>
          </a:solidFill>
          <a:ln w="0">
            <a:solidFill>
              <a:srgbClr val="000000">
                <a:alpha val="0"/>
              </a:srgbClr>
            </a:solidFill>
            <a:prstDash val="solid"/>
          </a:ln>
        </p:spPr>
        <p:txBody>
          <a:bodyPr lIns="0" tIns="0" rIns="0" bIns="0" anchor="t" wrap="square"/>
          <a:lstStyle/>
          <a:p>
            <a:pPr>
              <a:lnSpc>
                <a:spcPts val="2295"/>
              </a:lnSpc>
              <a:spcBef>
                <a:spcPts val="0"/>
              </a:spcBef>
              <a:spcAft>
                <a:spcPts val="0"/>
              </a:spcAft>
            </a:pPr>
            <a:r>
              <a:rPr sz="1700" b="0" i="0" lang="ja-JP">
                <a:solidFill>
                  <a:srgbClr val="171717"/>
                </a:solidFill>
                <a:latin typeface="Noto Sans JP"/>
              </a:rPr>
              <a:t>共通の準備から分岐し、変更した条件を残す。</a:t>
            </a:r>
          </a:p>
        </p:txBody>
      </p:sp>
      <p:sp>
        <p:nvSpPr>
          <p:cNvPr id="37" name="正方形/長方形 36">
            <a:extLst>
              <a:ext uri="{FF2B5EF4-FFF2-40B4-BE49-F238E27FC236}">
                <a16:creationId xmlns:a16="http://schemas.microsoft.com/office/drawing/2014/main" id="{1D66CCC9-54F7-4B3D-9A73-0E20C07E8888}"/>
              </a:ext>
            </a:extLst>
          </p:cNvPr>
          <p:cNvSpPr>
            <a:spLocks noGrp="1"/>
          </p:cNvSpPr>
          <p:nvPr/>
        </p:nvSpPr>
        <p:spPr>
          <a:xfrm>
            <a:off x="9427464" y="1783080"/>
            <a:ext cx="1947672" cy="4206240"/>
          </a:xfrm>
          <a:prstGeom prst="rect">
            <a:avLst/>
          </a:prstGeom>
          <a:solidFill>
            <a:srgbClr val="E9F7F8"/>
          </a:solidFill>
          <a:ln w="14288">
            <a:solidFill>
              <a:srgbClr val="1F6674"/>
            </a:solidFill>
            <a:prstDash val="solid"/>
          </a:ln>
        </p:spPr>
        <p:txBody>
          <a:bodyPr/>
          <a:lstStyle/>
          <a:p>
            <a:endParaRPr lang="ja-JP" altLang="en-US"/>
          </a:p>
        </p:txBody>
      </p:sp>
      <p:sp>
        <p:nvSpPr>
          <p:cNvPr id="38" name="正方形/長方形 37">
            <a:extLst>
              <a:ext uri="{FF2B5EF4-FFF2-40B4-BE49-F238E27FC236}">
                <a16:creationId xmlns:a16="http://schemas.microsoft.com/office/drawing/2014/main" id="{0AD730A8-3BCA-4826-8D63-89680F64E100}"/>
              </a:ext>
            </a:extLst>
          </p:cNvPr>
          <p:cNvSpPr>
            <a:spLocks noGrp="1"/>
          </p:cNvSpPr>
          <p:nvPr/>
        </p:nvSpPr>
        <p:spPr>
          <a:xfrm>
            <a:off x="9427464" y="1783080"/>
            <a:ext cx="1947672" cy="64008"/>
          </a:xfrm>
          <a:prstGeom prst="rect">
            <a:avLst/>
          </a:prstGeom>
          <a:solidFill>
            <a:srgbClr val="1F6674"/>
          </a:solidFill>
          <a:ln w="0">
            <a:solidFill>
              <a:srgbClr val="000000">
                <a:alpha val="0"/>
              </a:srgbClr>
            </a:solidFill>
            <a:prstDash val="solid"/>
          </a:ln>
        </p:spPr>
        <p:txBody>
          <a:bodyPr/>
          <a:lstStyle/>
          <a:p>
            <a:endParaRPr lang="ja-JP" altLang="en-US"/>
          </a:p>
        </p:txBody>
      </p:sp>
      <p:sp>
        <p:nvSpPr>
          <p:cNvPr id="41" name="正方形/長方形 40">
            <a:extLst>
              <a:ext uri="{FF2B5EF4-FFF2-40B4-BE49-F238E27FC236}">
                <a16:creationId xmlns:a16="http://schemas.microsoft.com/office/drawing/2014/main" id="{6E4F6D12-B295-423E-82DF-5FB01761DFC2}"/>
              </a:ext>
            </a:extLst>
          </p:cNvPr>
          <p:cNvSpPr>
            <a:spLocks noGrp="1"/>
          </p:cNvSpPr>
          <p:nvPr/>
        </p:nvSpPr>
        <p:spPr>
          <a:xfrm>
            <a:off x="9555480" y="2057400"/>
            <a:ext cx="1691640" cy="640080"/>
          </a:xfrm>
          <a:prstGeom prst="rect">
            <a:avLst/>
          </a:prstGeom>
          <a:solidFill>
            <a:srgbClr val="000000">
              <a:alpha val="0"/>
            </a:srgbClr>
          </a:solidFill>
          <a:ln w="0">
            <a:solidFill>
              <a:srgbClr val="000000">
                <a:alpha val="0"/>
              </a:srgbClr>
            </a:solidFill>
            <a:prstDash val="solid"/>
          </a:ln>
        </p:spPr>
        <p:txBody>
          <a:bodyPr lIns="0" tIns="0" rIns="0" bIns="0" anchor="t" wrap="square"/>
          <a:lstStyle/>
          <a:p>
            <a:pPr>
              <a:lnSpc>
                <a:spcPts val="2375"/>
              </a:lnSpc>
              <a:spcBef>
                <a:spcPts val="0"/>
              </a:spcBef>
              <a:spcAft>
                <a:spcPts val="0"/>
              </a:spcAft>
            </a:pPr>
            <a:r>
              <a:rPr sz="1900" b="1" i="0" lang="ja-JP">
                <a:solidFill>
                  <a:srgbClr val="171717"/>
                </a:solidFill>
                <a:latin typeface="Noto Sans JP"/>
              </a:rPr>
              <a:t>成分の指定</a:t>
            </a:r>
          </a:p>
        </p:txBody>
      </p:sp>
      <p:pic>
        <p:nvPicPr>
          <p:cNvPr id="42" name="グラフィックス 41"/>
          <p:cNvPicPr>
            <a:picLocks noChangeAspect="1"/>
          </p:cNvPicPr>
          <p:nvPr/>
        </p:nvPicPr>
        <p:blipFill>
          <a:blip>
            <a:extLst>
              <a:ext uri="{96DAC541-7B7A-43D3-8B79-37D633B846F1}">
                <asvg:svgBlip xmlns:asvg="http://schemas.microsoft.com/office/drawing/2016/SVG/main" r:embed="rId4"/>
              </a:ext>
            </a:extLst>
          </a:blip>
          <a:stretch/>
        </p:blipFill>
        <p:spPr>
          <a:xfrm>
            <a:off x="9948672" y="2862072"/>
            <a:ext cx="914400" cy="914400"/>
          </a:xfrm>
          <a:prstGeom prst="rect">
            <a:avLst/>
          </a:prstGeom>
        </p:spPr>
      </p:pic>
      <p:sp>
        <p:nvSpPr>
          <p:cNvPr id="43" name="正方形/長方形 42">
            <a:extLst>
              <a:ext uri="{FF2B5EF4-FFF2-40B4-BE49-F238E27FC236}">
                <a16:creationId xmlns:a16="http://schemas.microsoft.com/office/drawing/2014/main" id="{5A353B3E-FE6A-47CF-A329-D2870D7749ED}"/>
              </a:ext>
            </a:extLst>
          </p:cNvPr>
          <p:cNvSpPr>
            <a:spLocks noGrp="1"/>
          </p:cNvSpPr>
          <p:nvPr/>
        </p:nvSpPr>
        <p:spPr>
          <a:xfrm>
            <a:off x="9582912" y="4251960"/>
            <a:ext cx="1645920" cy="1508760"/>
          </a:xfrm>
          <a:prstGeom prst="rect">
            <a:avLst/>
          </a:prstGeom>
          <a:solidFill>
            <a:srgbClr val="000000">
              <a:alpha val="0"/>
            </a:srgbClr>
          </a:solidFill>
          <a:ln w="0">
            <a:solidFill>
              <a:srgbClr val="000000">
                <a:alpha val="0"/>
              </a:srgbClr>
            </a:solidFill>
            <a:prstDash val="solid"/>
          </a:ln>
        </p:spPr>
        <p:txBody>
          <a:bodyPr lIns="0" tIns="0" rIns="0" bIns="0" anchor="t" wrap="square"/>
          <a:lstStyle/>
          <a:p>
            <a:pPr>
              <a:lnSpc>
                <a:spcPts val="2295"/>
              </a:lnSpc>
              <a:spcBef>
                <a:spcPts val="0"/>
              </a:spcBef>
              <a:spcAft>
                <a:spcPts val="0"/>
              </a:spcAft>
            </a:pPr>
            <a:r>
              <a:rPr sz="1700" b="0" i="0" lang="ja-JP">
                <a:solidFill>
                  <a:srgbClr val="171717"/>
                </a:solidFill>
                <a:latin typeface="Noto Sans JP"/>
              </a:rPr>
              <a:t>リガンドやイオンを保持し、化学状態を記録する。</a:t>
            </a:r>
          </a:p>
        </p:txBody>
      </p:sp>
      <p:sp>
        <p:nvSpPr>
          <p:cNvPr id="44" name="TextBox 43"/>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42</a:t>
            </a:r>
          </a:p>
        </p:txBody>
      </p:sp>
      <p:sp>
        <p:nvSpPr>
          <p:cNvPr id="45" name="TextBox 44"/>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6" name="正方形/長方形 5">
            <a:extLst>
              <a:ext uri="{FF2B5EF4-FFF2-40B4-BE49-F238E27FC236}">
                <a16:creationId xmlns:a16="http://schemas.microsoft.com/office/drawing/2014/main" id="{65B3F97A-B5F8-49F6-A79D-0FA027822171}"/>
              </a:ext>
            </a:extLst>
          </p:cNvPr>
          <p:cNvSpPr>
            <a:spLocks noGrp="1"/>
          </p:cNvSpPr>
          <p:nvPr/>
        </p:nvSpPr>
        <p:spPr>
          <a:xfrm>
            <a:off x="594360" y="585216"/>
            <a:ext cx="10972800" cy="594360"/>
          </a:xfrm>
          <a:prstGeom prst="rect">
            <a:avLst/>
          </a:prstGeom>
          <a:solidFill>
            <a:srgbClr val="000000">
              <a:alpha val="0"/>
            </a:srgbClr>
          </a:solidFill>
          <a:ln w="0">
            <a:solidFill>
              <a:srgbClr val="000000">
                <a:alpha val="0"/>
              </a:srgbClr>
            </a:solidFill>
            <a:prstDash val="solid"/>
          </a:ln>
        </p:spPr>
        <p:txBody>
          <a:bodyPr lIns="0" tIns="0" rIns="0" bIns="0" anchor="t" wrap="square"/>
          <a:lstStyle/>
          <a:p>
            <a:pPr algn="l">
              <a:lnSpc>
                <a:spcPts val="3479"/>
              </a:lnSpc>
              <a:spcBef>
                <a:spcPts val="0"/>
              </a:spcBef>
              <a:spcAft>
                <a:spcPts val="0"/>
              </a:spcAft>
            </a:pPr>
            <a:r>
              <a:rPr sz="2900" b="1" i="0" lang="ja-JP">
                <a:solidFill>
                  <a:srgbClr val="171717"/>
                </a:solidFill>
                <a:latin typeface="Noto Sans JP"/>
              </a:rPr>
              <a:t>応用の利用例：異なる準備と計算を、分岐に残す</a:t>
            </a:r>
          </a:p>
        </p:txBody>
      </p:sp>
      <p:sp>
        <p:nvSpPr>
          <p:cNvPr id="9" name="正方形/長方形 8">
            <a:extLst>
              <a:ext uri="{FF2B5EF4-FFF2-40B4-BE49-F238E27FC236}">
                <a16:creationId xmlns:a16="http://schemas.microsoft.com/office/drawing/2014/main" id="{3EBAA3AF-BB66-4877-BEB7-A986518C6457}"/>
              </a:ext>
            </a:extLst>
          </p:cNvPr>
          <p:cNvSpPr>
            <a:spLocks noGrp="1"/>
          </p:cNvSpPr>
          <p:nvPr/>
        </p:nvSpPr>
        <p:spPr>
          <a:xfrm>
            <a:off x="777240" y="1783080"/>
            <a:ext cx="1947672" cy="4206240"/>
          </a:xfrm>
          <a:prstGeom prst="rect">
            <a:avLst/>
          </a:prstGeom>
          <a:solidFill>
            <a:srgbClr val="F8F7FC"/>
          </a:solidFill>
          <a:ln w="14288">
            <a:solidFill>
              <a:srgbClr val="4D4B7D"/>
            </a:solidFill>
            <a:prstDash val="solid"/>
          </a:ln>
        </p:spPr>
        <p:txBody>
          <a:bodyPr/>
          <a:lstStyle/>
          <a:p>
            <a:endParaRPr lang="ja-JP" altLang="en-US"/>
          </a:p>
        </p:txBody>
      </p:sp>
      <p:sp>
        <p:nvSpPr>
          <p:cNvPr id="10" name="正方形/長方形 9">
            <a:extLst>
              <a:ext uri="{FF2B5EF4-FFF2-40B4-BE49-F238E27FC236}">
                <a16:creationId xmlns:a16="http://schemas.microsoft.com/office/drawing/2014/main" id="{CFA1C3D8-7BAD-4A90-8BD8-5EA74E725297}"/>
              </a:ext>
            </a:extLst>
          </p:cNvPr>
          <p:cNvSpPr>
            <a:spLocks noGrp="1"/>
          </p:cNvSpPr>
          <p:nvPr/>
        </p:nvSpPr>
        <p:spPr>
          <a:xfrm>
            <a:off x="777240" y="1783080"/>
            <a:ext cx="1947672" cy="64008"/>
          </a:xfrm>
          <a:prstGeom prst="rect">
            <a:avLst/>
          </a:prstGeom>
          <a:solidFill>
            <a:srgbClr val="4D4B7D"/>
          </a:solidFill>
          <a:ln w="0">
            <a:solidFill>
              <a:srgbClr val="000000">
                <a:alpha val="0"/>
              </a:srgbClr>
            </a:solidFill>
            <a:prstDash val="solid"/>
          </a:ln>
        </p:spPr>
        <p:txBody>
          <a:bodyPr/>
          <a:lstStyle/>
          <a:p>
            <a:endParaRPr lang="ja-JP" altLang="en-US"/>
          </a:p>
        </p:txBody>
      </p:sp>
      <p:sp>
        <p:nvSpPr>
          <p:cNvPr id="13" name="正方形/長方形 12">
            <a:extLst>
              <a:ext uri="{FF2B5EF4-FFF2-40B4-BE49-F238E27FC236}">
                <a16:creationId xmlns:a16="http://schemas.microsoft.com/office/drawing/2014/main" id="{7C468FBB-A7D0-45A8-9999-84C1B1CC5C4D}"/>
              </a:ext>
            </a:extLst>
          </p:cNvPr>
          <p:cNvSpPr>
            <a:spLocks noGrp="1"/>
          </p:cNvSpPr>
          <p:nvPr/>
        </p:nvSpPr>
        <p:spPr>
          <a:xfrm>
            <a:off x="905256" y="2057400"/>
            <a:ext cx="1691640" cy="640080"/>
          </a:xfrm>
          <a:prstGeom prst="rect">
            <a:avLst/>
          </a:prstGeom>
          <a:solidFill>
            <a:srgbClr val="000000">
              <a:alpha val="0"/>
            </a:srgbClr>
          </a:solidFill>
          <a:ln w="0">
            <a:solidFill>
              <a:srgbClr val="000000">
                <a:alpha val="0"/>
              </a:srgbClr>
            </a:solidFill>
            <a:prstDash val="solid"/>
          </a:ln>
        </p:spPr>
        <p:txBody>
          <a:bodyPr lIns="0" tIns="0" rIns="0" bIns="0" anchor="t" wrap="square"/>
          <a:lstStyle/>
          <a:p>
            <a:pPr>
              <a:lnSpc>
                <a:spcPts val="2375"/>
              </a:lnSpc>
              <a:spcBef>
                <a:spcPts val="0"/>
              </a:spcBef>
              <a:spcAft>
                <a:spcPts val="0"/>
              </a:spcAft>
            </a:pPr>
            <a:r>
              <a:rPr sz="1900" b="1" i="0" lang="ja-JP">
                <a:solidFill>
                  <a:srgbClr val="171717"/>
                </a:solidFill>
                <a:latin typeface="Noto Sans JP"/>
              </a:rPr>
              <a:t>修飾の準備</a:t>
            </a:r>
          </a:p>
        </p:txBody>
      </p:sp>
      <p:pic>
        <p:nvPicPr>
          <p:cNvPr id="14" name="グラフィックス 13"/>
          <p:cNvPicPr>
            <a:picLocks noChangeAspect="1"/>
          </p:cNvPicPr>
          <p:nvPr/>
        </p:nvPicPr>
        <p:blipFill>
          <a:blip>
            <a:extLst>
              <a:ext uri="{96DAC541-7B7A-43D3-8B79-37D633B846F1}">
                <asvg:svgBlip xmlns:asvg="http://schemas.microsoft.com/office/drawing/2016/SVG/main" r:embed="rId3"/>
              </a:ext>
            </a:extLst>
          </a:blip>
          <a:stretch/>
        </p:blipFill>
        <p:spPr>
          <a:xfrm>
            <a:off x="1298448" y="2862072"/>
            <a:ext cx="914400" cy="914400"/>
          </a:xfrm>
          <a:prstGeom prst="rect">
            <a:avLst/>
          </a:prstGeom>
        </p:spPr>
      </p:pic>
      <p:sp>
        <p:nvSpPr>
          <p:cNvPr id="15" name="正方形/長方形 14">
            <a:extLst>
              <a:ext uri="{FF2B5EF4-FFF2-40B4-BE49-F238E27FC236}">
                <a16:creationId xmlns:a16="http://schemas.microsoft.com/office/drawing/2014/main" id="{2C03F688-61AC-4FC6-90D3-3DF551EF5ADC}"/>
              </a:ext>
            </a:extLst>
          </p:cNvPr>
          <p:cNvSpPr>
            <a:spLocks noGrp="1"/>
          </p:cNvSpPr>
          <p:nvPr/>
        </p:nvSpPr>
        <p:spPr>
          <a:xfrm>
            <a:off x="932688" y="4251960"/>
            <a:ext cx="1645920" cy="1508760"/>
          </a:xfrm>
          <a:prstGeom prst="rect">
            <a:avLst/>
          </a:prstGeom>
          <a:solidFill>
            <a:srgbClr val="000000">
              <a:alpha val="0"/>
            </a:srgbClr>
          </a:solidFill>
          <a:ln w="0">
            <a:solidFill>
              <a:srgbClr val="000000">
                <a:alpha val="0"/>
              </a:srgbClr>
            </a:solidFill>
            <a:prstDash val="solid"/>
          </a:ln>
        </p:spPr>
        <p:txBody>
          <a:bodyPr lIns="0" tIns="0" rIns="0" bIns="0" anchor="t" wrap="square"/>
          <a:lstStyle/>
          <a:p>
            <a:pPr>
              <a:lnSpc>
                <a:spcPts val="2295"/>
              </a:lnSpc>
              <a:spcBef>
                <a:spcPts val="0"/>
              </a:spcBef>
              <a:spcAft>
                <a:spcPts val="0"/>
              </a:spcAft>
            </a:pPr>
            <a:r>
              <a:rPr sz="1700" b="0" i="0" lang="ja-JP">
                <a:solidFill>
                  <a:srgbClr val="171717"/>
                </a:solidFill>
                <a:latin typeface="Noto Sans JP"/>
              </a:rPr>
              <a:t>記録された修飾や、指定された化学状態を準備する。</a:t>
            </a:r>
          </a:p>
        </p:txBody>
      </p:sp>
      <p:sp>
        <p:nvSpPr>
          <p:cNvPr id="16" name="正方形/長方形 15">
            <a:extLst>
              <a:ext uri="{FF2B5EF4-FFF2-40B4-BE49-F238E27FC236}">
                <a16:creationId xmlns:a16="http://schemas.microsoft.com/office/drawing/2014/main" id="{3B94E65B-ACCC-41A9-B7A0-C8B71E0E80CF}"/>
              </a:ext>
            </a:extLst>
          </p:cNvPr>
          <p:cNvSpPr>
            <a:spLocks noGrp="1"/>
          </p:cNvSpPr>
          <p:nvPr/>
        </p:nvSpPr>
        <p:spPr>
          <a:xfrm>
            <a:off x="2939796" y="1783080"/>
            <a:ext cx="1947672" cy="4206240"/>
          </a:xfrm>
          <a:prstGeom prst="rect">
            <a:avLst/>
          </a:prstGeom>
          <a:solidFill>
            <a:srgbClr val="E9F7F8"/>
          </a:solidFill>
          <a:ln w="14288">
            <a:solidFill>
              <a:srgbClr val="1F6674"/>
            </a:solidFill>
            <a:prstDash val="solid"/>
          </a:ln>
        </p:spPr>
        <p:txBody>
          <a:bodyPr/>
          <a:lstStyle/>
          <a:p>
            <a:endParaRPr lang="ja-JP" altLang="en-US"/>
          </a:p>
        </p:txBody>
      </p:sp>
      <p:sp>
        <p:nvSpPr>
          <p:cNvPr id="17" name="正方形/長方形 16">
            <a:extLst>
              <a:ext uri="{FF2B5EF4-FFF2-40B4-BE49-F238E27FC236}">
                <a16:creationId xmlns:a16="http://schemas.microsoft.com/office/drawing/2014/main" id="{0DBA2227-AEE9-4C45-8747-16A350EC1CAE}"/>
              </a:ext>
            </a:extLst>
          </p:cNvPr>
          <p:cNvSpPr>
            <a:spLocks noGrp="1"/>
          </p:cNvSpPr>
          <p:nvPr/>
        </p:nvSpPr>
        <p:spPr>
          <a:xfrm>
            <a:off x="2939796" y="1783080"/>
            <a:ext cx="1947672" cy="64008"/>
          </a:xfrm>
          <a:prstGeom prst="rect">
            <a:avLst/>
          </a:prstGeom>
          <a:solidFill>
            <a:srgbClr val="1F6674"/>
          </a:solidFill>
          <a:ln w="0">
            <a:solidFill>
              <a:srgbClr val="000000">
                <a:alpha val="0"/>
              </a:srgbClr>
            </a:solidFill>
            <a:prstDash val="solid"/>
          </a:ln>
        </p:spPr>
        <p:txBody>
          <a:bodyPr/>
          <a:lstStyle/>
          <a:p>
            <a:endParaRPr lang="ja-JP" altLang="en-US"/>
          </a:p>
        </p:txBody>
      </p:sp>
      <p:sp>
        <p:nvSpPr>
          <p:cNvPr id="20" name="正方形/長方形 19">
            <a:extLst>
              <a:ext uri="{FF2B5EF4-FFF2-40B4-BE49-F238E27FC236}">
                <a16:creationId xmlns:a16="http://schemas.microsoft.com/office/drawing/2014/main" id="{FF2F059C-2D2B-4DBD-9F5B-82DB842D5804}"/>
              </a:ext>
            </a:extLst>
          </p:cNvPr>
          <p:cNvSpPr>
            <a:spLocks noGrp="1"/>
          </p:cNvSpPr>
          <p:nvPr/>
        </p:nvSpPr>
        <p:spPr>
          <a:xfrm>
            <a:off x="3067812" y="2057400"/>
            <a:ext cx="1691640" cy="640080"/>
          </a:xfrm>
          <a:prstGeom prst="rect">
            <a:avLst/>
          </a:prstGeom>
          <a:solidFill>
            <a:srgbClr val="000000">
              <a:alpha val="0"/>
            </a:srgbClr>
          </a:solidFill>
          <a:ln w="0">
            <a:solidFill>
              <a:srgbClr val="000000">
                <a:alpha val="0"/>
              </a:srgbClr>
            </a:solidFill>
            <a:prstDash val="solid"/>
          </a:ln>
        </p:spPr>
        <p:txBody>
          <a:bodyPr lIns="0" tIns="0" rIns="0" bIns="0" anchor="t" wrap="square"/>
          <a:lstStyle/>
          <a:p>
            <a:pPr>
              <a:lnSpc>
                <a:spcPts val="2375"/>
              </a:lnSpc>
              <a:spcBef>
                <a:spcPts val="0"/>
              </a:spcBef>
              <a:spcAft>
                <a:spcPts val="0"/>
              </a:spcAft>
            </a:pPr>
            <a:r>
              <a:rPr sz="1900" b="1" i="0" lang="ja-JP">
                <a:solidFill>
                  <a:srgbClr val="171717"/>
                </a:solidFill>
                <a:latin typeface="Noto Sans JP"/>
              </a:rPr>
              <a:t>膜の準備</a:t>
            </a:r>
          </a:p>
        </p:txBody>
      </p:sp>
      <p:pic>
        <p:nvPicPr>
          <p:cNvPr id="21" name="グラフィックス 20"/>
          <p:cNvPicPr>
            <a:picLocks noChangeAspect="1"/>
          </p:cNvPicPr>
          <p:nvPr/>
        </p:nvPicPr>
        <p:blipFill>
          <a:blip>
            <a:extLst>
              <a:ext uri="{96DAC541-7B7A-43D3-8B79-37D633B846F1}">
                <asvg:svgBlip xmlns:asvg="http://schemas.microsoft.com/office/drawing/2016/SVG/main" r:embed="rId7"/>
              </a:ext>
            </a:extLst>
          </a:blip>
          <a:stretch/>
        </p:blipFill>
        <p:spPr>
          <a:xfrm>
            <a:off x="3461004" y="2862072"/>
            <a:ext cx="914400" cy="914400"/>
          </a:xfrm>
          <a:prstGeom prst="rect">
            <a:avLst/>
          </a:prstGeom>
        </p:spPr>
      </p:pic>
      <p:sp>
        <p:nvSpPr>
          <p:cNvPr id="22" name="正方形/長方形 21">
            <a:extLst>
              <a:ext uri="{FF2B5EF4-FFF2-40B4-BE49-F238E27FC236}">
                <a16:creationId xmlns:a16="http://schemas.microsoft.com/office/drawing/2014/main" id="{C89CDF72-3843-4B4F-B5EE-498BC971A423}"/>
              </a:ext>
            </a:extLst>
          </p:cNvPr>
          <p:cNvSpPr>
            <a:spLocks noGrp="1"/>
          </p:cNvSpPr>
          <p:nvPr/>
        </p:nvSpPr>
        <p:spPr>
          <a:xfrm>
            <a:off x="3095244" y="4251960"/>
            <a:ext cx="1645920" cy="1508760"/>
          </a:xfrm>
          <a:prstGeom prst="rect">
            <a:avLst/>
          </a:prstGeom>
          <a:solidFill>
            <a:srgbClr val="000000">
              <a:alpha val="0"/>
            </a:srgbClr>
          </a:solidFill>
          <a:ln w="0">
            <a:solidFill>
              <a:srgbClr val="000000">
                <a:alpha val="0"/>
              </a:srgbClr>
            </a:solidFill>
            <a:prstDash val="solid"/>
          </a:ln>
        </p:spPr>
        <p:txBody>
          <a:bodyPr lIns="0" tIns="0" rIns="0" bIns="0" anchor="t" wrap="square"/>
          <a:lstStyle/>
          <a:p>
            <a:pPr>
              <a:lnSpc>
                <a:spcPts val="2295"/>
              </a:lnSpc>
              <a:spcBef>
                <a:spcPts val="0"/>
              </a:spcBef>
              <a:spcAft>
                <a:spcPts val="0"/>
              </a:spcAft>
            </a:pPr>
            <a:r>
              <a:rPr sz="1700" b="0" i="0" lang="ja-JP">
                <a:solidFill>
                  <a:srgbClr val="171717"/>
                </a:solidFill>
                <a:latin typeface="Noto Sans JP"/>
              </a:rPr>
              <a:t>膜と水を含む系として準備する。</a:t>
            </a:r>
          </a:p>
        </p:txBody>
      </p:sp>
      <p:sp>
        <p:nvSpPr>
          <p:cNvPr id="23" name="正方形/長方形 22">
            <a:extLst>
              <a:ext uri="{FF2B5EF4-FFF2-40B4-BE49-F238E27FC236}">
                <a16:creationId xmlns:a16="http://schemas.microsoft.com/office/drawing/2014/main" id="{C3B19BA5-7AB3-4A63-8455-767DC61C8865}"/>
              </a:ext>
            </a:extLst>
          </p:cNvPr>
          <p:cNvSpPr>
            <a:spLocks noGrp="1"/>
          </p:cNvSpPr>
          <p:nvPr/>
        </p:nvSpPr>
        <p:spPr>
          <a:xfrm>
            <a:off x="5102352" y="1783080"/>
            <a:ext cx="1947672" cy="4206240"/>
          </a:xfrm>
          <a:prstGeom prst="rect">
            <a:avLst/>
          </a:prstGeom>
          <a:solidFill>
            <a:srgbClr val="F7FAFD"/>
          </a:solidFill>
          <a:ln w="14288">
            <a:solidFill>
              <a:srgbClr val="0E3A75"/>
            </a:solidFill>
            <a:prstDash val="solid"/>
          </a:ln>
        </p:spPr>
        <p:txBody>
          <a:bodyPr/>
          <a:lstStyle/>
          <a:p>
            <a:endParaRPr lang="ja-JP" altLang="en-US"/>
          </a:p>
        </p:txBody>
      </p:sp>
      <p:sp>
        <p:nvSpPr>
          <p:cNvPr id="24" name="正方形/長方形 23">
            <a:extLst>
              <a:ext uri="{FF2B5EF4-FFF2-40B4-BE49-F238E27FC236}">
                <a16:creationId xmlns:a16="http://schemas.microsoft.com/office/drawing/2014/main" id="{B545FD29-ED75-4B99-A171-CF5D516C9E4E}"/>
              </a:ext>
            </a:extLst>
          </p:cNvPr>
          <p:cNvSpPr>
            <a:spLocks noGrp="1"/>
          </p:cNvSpPr>
          <p:nvPr/>
        </p:nvSpPr>
        <p:spPr>
          <a:xfrm>
            <a:off x="5102352" y="1783080"/>
            <a:ext cx="1947672" cy="64008"/>
          </a:xfrm>
          <a:prstGeom prst="rect">
            <a:avLst/>
          </a:prstGeom>
          <a:solidFill>
            <a:srgbClr val="0E3A75"/>
          </a:solidFill>
          <a:ln w="0">
            <a:solidFill>
              <a:srgbClr val="000000">
                <a:alpha val="0"/>
              </a:srgbClr>
            </a:solidFill>
            <a:prstDash val="solid"/>
          </a:ln>
        </p:spPr>
        <p:txBody>
          <a:bodyPr/>
          <a:lstStyle/>
          <a:p>
            <a:endParaRPr lang="ja-JP" altLang="en-US"/>
          </a:p>
        </p:txBody>
      </p:sp>
      <p:sp>
        <p:nvSpPr>
          <p:cNvPr id="27" name="正方形/長方形 26">
            <a:extLst>
              <a:ext uri="{FF2B5EF4-FFF2-40B4-BE49-F238E27FC236}">
                <a16:creationId xmlns:a16="http://schemas.microsoft.com/office/drawing/2014/main" id="{2E592E7E-D141-47EB-8B5C-7E964C786F2F}"/>
              </a:ext>
            </a:extLst>
          </p:cNvPr>
          <p:cNvSpPr>
            <a:spLocks noGrp="1"/>
          </p:cNvSpPr>
          <p:nvPr/>
        </p:nvSpPr>
        <p:spPr>
          <a:xfrm>
            <a:off x="5230368" y="2057400"/>
            <a:ext cx="1691640" cy="640080"/>
          </a:xfrm>
          <a:prstGeom prst="rect">
            <a:avLst/>
          </a:prstGeom>
          <a:solidFill>
            <a:srgbClr val="000000">
              <a:alpha val="0"/>
            </a:srgbClr>
          </a:solidFill>
          <a:ln w="0">
            <a:solidFill>
              <a:srgbClr val="000000">
                <a:alpha val="0"/>
              </a:srgbClr>
            </a:solidFill>
            <a:prstDash val="solid"/>
          </a:ln>
        </p:spPr>
        <p:txBody>
          <a:bodyPr lIns="0" tIns="0" rIns="0" bIns="0" anchor="t" wrap="square"/>
          <a:lstStyle/>
          <a:p>
            <a:pPr>
              <a:lnSpc>
                <a:spcPts val="2375"/>
              </a:lnSpc>
              <a:spcBef>
                <a:spcPts val="0"/>
              </a:spcBef>
              <a:spcAft>
                <a:spcPts val="0"/>
              </a:spcAft>
            </a:pPr>
            <a:r>
              <a:rPr sz="1900" b="1" i="0" lang="ja-JP">
                <a:solidFill>
                  <a:srgbClr val="171717"/>
                </a:solidFill>
                <a:latin typeface="Noto Sans JP"/>
              </a:rPr>
              <a:t>構造候補</a:t>
            </a:r>
          </a:p>
        </p:txBody>
      </p:sp>
      <p:pic>
        <p:nvPicPr>
          <p:cNvPr id="28" name="グラフィックス 27"/>
          <p:cNvPicPr>
            <a:picLocks noChangeAspect="1"/>
          </p:cNvPicPr>
          <p:nvPr/>
        </p:nvPicPr>
        <p:blipFill>
          <a:blip>
            <a:extLst>
              <a:ext uri="{96DAC541-7B7A-43D3-8B79-37D633B846F1}">
                <asvg:svgBlip xmlns:asvg="http://schemas.microsoft.com/office/drawing/2016/SVG/main" r:embed="rId6"/>
              </a:ext>
            </a:extLst>
          </a:blip>
          <a:stretch/>
        </p:blipFill>
        <p:spPr>
          <a:xfrm>
            <a:off x="5623560" y="2862072"/>
            <a:ext cx="914400" cy="914400"/>
          </a:xfrm>
          <a:prstGeom prst="rect">
            <a:avLst/>
          </a:prstGeom>
        </p:spPr>
      </p:pic>
      <p:sp>
        <p:nvSpPr>
          <p:cNvPr id="29" name="正方形/長方形 28">
            <a:extLst>
              <a:ext uri="{FF2B5EF4-FFF2-40B4-BE49-F238E27FC236}">
                <a16:creationId xmlns:a16="http://schemas.microsoft.com/office/drawing/2014/main" id="{8A3A059E-3A9C-4219-B27C-E27D8CD9F98C}"/>
              </a:ext>
            </a:extLst>
          </p:cNvPr>
          <p:cNvSpPr>
            <a:spLocks noGrp="1"/>
          </p:cNvSpPr>
          <p:nvPr/>
        </p:nvSpPr>
        <p:spPr>
          <a:xfrm>
            <a:off x="5257800" y="4251960"/>
            <a:ext cx="1645920" cy="1508760"/>
          </a:xfrm>
          <a:prstGeom prst="rect">
            <a:avLst/>
          </a:prstGeom>
          <a:solidFill>
            <a:srgbClr val="000000">
              <a:alpha val="0"/>
            </a:srgbClr>
          </a:solidFill>
          <a:ln w="0">
            <a:solidFill>
              <a:srgbClr val="000000">
                <a:alpha val="0"/>
              </a:srgbClr>
            </a:solidFill>
            <a:prstDash val="solid"/>
          </a:ln>
        </p:spPr>
        <p:txBody>
          <a:bodyPr lIns="0" tIns="0" rIns="0" bIns="0" anchor="t" wrap="square"/>
          <a:lstStyle/>
          <a:p>
            <a:pPr>
              <a:lnSpc>
                <a:spcPts val="2295"/>
              </a:lnSpc>
              <a:spcBef>
                <a:spcPts val="0"/>
              </a:spcBef>
              <a:spcAft>
                <a:spcPts val="0"/>
              </a:spcAft>
            </a:pPr>
            <a:r>
              <a:rPr sz="1700" b="0" i="0" lang="ja-JP">
                <a:solidFill>
                  <a:srgbClr val="171717"/>
                </a:solidFill>
                <a:latin typeface="Noto Sans JP"/>
              </a:rPr>
              <a:t>生成モデルの候補を、初期構造として比較する。</a:t>
            </a:r>
          </a:p>
        </p:txBody>
      </p:sp>
      <p:sp>
        <p:nvSpPr>
          <p:cNvPr id="30" name="正方形/長方形 29">
            <a:extLst>
              <a:ext uri="{FF2B5EF4-FFF2-40B4-BE49-F238E27FC236}">
                <a16:creationId xmlns:a16="http://schemas.microsoft.com/office/drawing/2014/main" id="{E2BCF735-C557-4EBB-B5FC-B49B2C2BB657}"/>
              </a:ext>
            </a:extLst>
          </p:cNvPr>
          <p:cNvSpPr>
            <a:spLocks noGrp="1"/>
          </p:cNvSpPr>
          <p:nvPr/>
        </p:nvSpPr>
        <p:spPr>
          <a:xfrm>
            <a:off x="7264908" y="1783080"/>
            <a:ext cx="1947672" cy="4206240"/>
          </a:xfrm>
          <a:prstGeom prst="rect">
            <a:avLst/>
          </a:prstGeom>
          <a:solidFill>
            <a:srgbClr val="FCFAF2"/>
          </a:solidFill>
          <a:ln w="14288">
            <a:solidFill>
              <a:srgbClr val="A66A00"/>
            </a:solidFill>
            <a:prstDash val="solid"/>
          </a:ln>
        </p:spPr>
        <p:txBody>
          <a:bodyPr/>
          <a:lstStyle/>
          <a:p>
            <a:endParaRPr lang="ja-JP" altLang="en-US"/>
          </a:p>
        </p:txBody>
      </p:sp>
      <p:sp>
        <p:nvSpPr>
          <p:cNvPr id="31" name="正方形/長方形 30">
            <a:extLst>
              <a:ext uri="{FF2B5EF4-FFF2-40B4-BE49-F238E27FC236}">
                <a16:creationId xmlns:a16="http://schemas.microsoft.com/office/drawing/2014/main" id="{AFB8826B-BBDB-4892-8A82-3F1D271D427E}"/>
              </a:ext>
            </a:extLst>
          </p:cNvPr>
          <p:cNvSpPr>
            <a:spLocks noGrp="1"/>
          </p:cNvSpPr>
          <p:nvPr/>
        </p:nvSpPr>
        <p:spPr>
          <a:xfrm>
            <a:off x="7264908" y="1783080"/>
            <a:ext cx="1947672" cy="64008"/>
          </a:xfrm>
          <a:prstGeom prst="rect">
            <a:avLst/>
          </a:prstGeom>
          <a:solidFill>
            <a:srgbClr val="A66A00"/>
          </a:solidFill>
          <a:ln w="0">
            <a:solidFill>
              <a:srgbClr val="000000">
                <a:alpha val="0"/>
              </a:srgbClr>
            </a:solidFill>
            <a:prstDash val="solid"/>
          </a:ln>
        </p:spPr>
        <p:txBody>
          <a:bodyPr/>
          <a:lstStyle/>
          <a:p>
            <a:endParaRPr lang="ja-JP" altLang="en-US"/>
          </a:p>
        </p:txBody>
      </p:sp>
      <p:sp>
        <p:nvSpPr>
          <p:cNvPr id="34" name="正方形/長方形 33">
            <a:extLst>
              <a:ext uri="{FF2B5EF4-FFF2-40B4-BE49-F238E27FC236}">
                <a16:creationId xmlns:a16="http://schemas.microsoft.com/office/drawing/2014/main" id="{14979697-32A1-48B4-9D68-E07F02C9298D}"/>
              </a:ext>
            </a:extLst>
          </p:cNvPr>
          <p:cNvSpPr>
            <a:spLocks noGrp="1"/>
          </p:cNvSpPr>
          <p:nvPr/>
        </p:nvSpPr>
        <p:spPr>
          <a:xfrm>
            <a:off x="7392924" y="2057400"/>
            <a:ext cx="1691640" cy="640080"/>
          </a:xfrm>
          <a:prstGeom prst="rect">
            <a:avLst/>
          </a:prstGeom>
          <a:solidFill>
            <a:srgbClr val="000000">
              <a:alpha val="0"/>
            </a:srgbClr>
          </a:solidFill>
          <a:ln w="0">
            <a:solidFill>
              <a:srgbClr val="000000">
                <a:alpha val="0"/>
              </a:srgbClr>
            </a:solidFill>
            <a:prstDash val="solid"/>
          </a:ln>
        </p:spPr>
        <p:txBody>
          <a:bodyPr lIns="0" tIns="0" rIns="0" bIns="0" anchor="t" wrap="square"/>
          <a:lstStyle/>
          <a:p>
            <a:pPr>
              <a:lnSpc>
                <a:spcPts val="2375"/>
              </a:lnSpc>
              <a:spcBef>
                <a:spcPts val="0"/>
              </a:spcBef>
              <a:spcAft>
                <a:spcPts val="0"/>
              </a:spcAft>
            </a:pPr>
            <a:r>
              <a:rPr sz="1900" b="1" i="0" lang="ja-JP">
                <a:solidFill>
                  <a:srgbClr val="171717"/>
                </a:solidFill>
                <a:latin typeface="Noto Sans JP"/>
              </a:rPr>
              <a:t>計算の延長</a:t>
            </a:r>
          </a:p>
        </p:txBody>
      </p:sp>
      <p:pic>
        <p:nvPicPr>
          <p:cNvPr id="35" name="グラフィックス 34"/>
          <p:cNvPicPr>
            <a:picLocks noChangeAspect="1"/>
          </p:cNvPicPr>
          <p:nvPr/>
        </p:nvPicPr>
        <p:blipFill>
          <a:blip>
            <a:extLst>
              <a:ext uri="{96DAC541-7B7A-43D3-8B79-37D633B846F1}">
                <asvg:svgBlip xmlns:asvg="http://schemas.microsoft.com/office/drawing/2016/SVG/main" r:embed="rId5"/>
              </a:ext>
            </a:extLst>
          </a:blip>
          <a:stretch/>
        </p:blipFill>
        <p:spPr>
          <a:xfrm>
            <a:off x="7786116" y="2862072"/>
            <a:ext cx="914400" cy="914400"/>
          </a:xfrm>
          <a:prstGeom prst="rect">
            <a:avLst/>
          </a:prstGeom>
        </p:spPr>
      </p:pic>
      <p:sp>
        <p:nvSpPr>
          <p:cNvPr id="36" name="正方形/長方形 35">
            <a:extLst>
              <a:ext uri="{FF2B5EF4-FFF2-40B4-BE49-F238E27FC236}">
                <a16:creationId xmlns:a16="http://schemas.microsoft.com/office/drawing/2014/main" id="{3088DB6B-4B16-43A7-83B7-C09D7F1A8A09}"/>
              </a:ext>
            </a:extLst>
          </p:cNvPr>
          <p:cNvSpPr>
            <a:spLocks noGrp="1"/>
          </p:cNvSpPr>
          <p:nvPr/>
        </p:nvSpPr>
        <p:spPr>
          <a:xfrm>
            <a:off x="7420356" y="4251960"/>
            <a:ext cx="1645920" cy="1508760"/>
          </a:xfrm>
          <a:prstGeom prst="rect">
            <a:avLst/>
          </a:prstGeom>
          <a:solidFill>
            <a:srgbClr val="000000">
              <a:alpha val="0"/>
            </a:srgbClr>
          </a:solidFill>
          <a:ln w="0">
            <a:solidFill>
              <a:srgbClr val="000000">
                <a:alpha val="0"/>
              </a:srgbClr>
            </a:solidFill>
            <a:prstDash val="solid"/>
          </a:ln>
        </p:spPr>
        <p:txBody>
          <a:bodyPr lIns="0" tIns="0" rIns="0" bIns="0" anchor="t" wrap="square"/>
          <a:lstStyle/>
          <a:p>
            <a:pPr>
              <a:lnSpc>
                <a:spcPts val="2295"/>
              </a:lnSpc>
              <a:spcBef>
                <a:spcPts val="0"/>
              </a:spcBef>
              <a:spcAft>
                <a:spcPts val="0"/>
              </a:spcAft>
            </a:pPr>
            <a:r>
              <a:rPr sz="1700" b="0" i="0" lang="ja-JP">
                <a:solidFill>
                  <a:srgbClr val="171717"/>
                </a:solidFill>
                <a:latin typeface="Noto Sans JP"/>
              </a:rPr>
              <a:t>本計算を区切り、再開のつながりを記録する。</a:t>
            </a:r>
          </a:p>
        </p:txBody>
      </p:sp>
      <p:sp>
        <p:nvSpPr>
          <p:cNvPr id="37" name="正方形/長方形 36">
            <a:extLst>
              <a:ext uri="{FF2B5EF4-FFF2-40B4-BE49-F238E27FC236}">
                <a16:creationId xmlns:a16="http://schemas.microsoft.com/office/drawing/2014/main" id="{83D94D0A-6946-4998-9F23-A31B9A74354A}"/>
              </a:ext>
            </a:extLst>
          </p:cNvPr>
          <p:cNvSpPr>
            <a:spLocks noGrp="1"/>
          </p:cNvSpPr>
          <p:nvPr/>
        </p:nvSpPr>
        <p:spPr>
          <a:xfrm>
            <a:off x="9427464" y="1783080"/>
            <a:ext cx="1947672" cy="4206240"/>
          </a:xfrm>
          <a:prstGeom prst="rect">
            <a:avLst/>
          </a:prstGeom>
          <a:solidFill>
            <a:srgbClr val="F7FBF8"/>
          </a:solidFill>
          <a:ln w="14288">
            <a:solidFill>
              <a:srgbClr val="2D6D4B"/>
            </a:solidFill>
            <a:prstDash val="solid"/>
          </a:ln>
        </p:spPr>
        <p:txBody>
          <a:bodyPr/>
          <a:lstStyle/>
          <a:p>
            <a:endParaRPr lang="ja-JP" altLang="en-US"/>
          </a:p>
        </p:txBody>
      </p:sp>
      <p:sp>
        <p:nvSpPr>
          <p:cNvPr id="38" name="正方形/長方形 37">
            <a:extLst>
              <a:ext uri="{FF2B5EF4-FFF2-40B4-BE49-F238E27FC236}">
                <a16:creationId xmlns:a16="http://schemas.microsoft.com/office/drawing/2014/main" id="{03EB512C-35ED-442D-8A3A-13914F8EF61C}"/>
              </a:ext>
            </a:extLst>
          </p:cNvPr>
          <p:cNvSpPr>
            <a:spLocks noGrp="1"/>
          </p:cNvSpPr>
          <p:nvPr/>
        </p:nvSpPr>
        <p:spPr>
          <a:xfrm>
            <a:off x="9427464" y="1783080"/>
            <a:ext cx="1947672" cy="64008"/>
          </a:xfrm>
          <a:prstGeom prst="rect">
            <a:avLst/>
          </a:prstGeom>
          <a:solidFill>
            <a:srgbClr val="2D6D4B"/>
          </a:solidFill>
          <a:ln w="0">
            <a:solidFill>
              <a:srgbClr val="000000">
                <a:alpha val="0"/>
              </a:srgbClr>
            </a:solidFill>
            <a:prstDash val="solid"/>
          </a:ln>
        </p:spPr>
        <p:txBody>
          <a:bodyPr/>
          <a:lstStyle/>
          <a:p>
            <a:endParaRPr lang="ja-JP" altLang="en-US"/>
          </a:p>
        </p:txBody>
      </p:sp>
      <p:sp>
        <p:nvSpPr>
          <p:cNvPr id="41" name="正方形/長方形 40">
            <a:extLst>
              <a:ext uri="{FF2B5EF4-FFF2-40B4-BE49-F238E27FC236}">
                <a16:creationId xmlns:a16="http://schemas.microsoft.com/office/drawing/2014/main" id="{373E6711-71BB-4B99-BB0D-C799BCFCE5D1}"/>
              </a:ext>
            </a:extLst>
          </p:cNvPr>
          <p:cNvSpPr>
            <a:spLocks noGrp="1"/>
          </p:cNvSpPr>
          <p:nvPr/>
        </p:nvSpPr>
        <p:spPr>
          <a:xfrm>
            <a:off x="9555480" y="2057400"/>
            <a:ext cx="1691640" cy="640080"/>
          </a:xfrm>
          <a:prstGeom prst="rect">
            <a:avLst/>
          </a:prstGeom>
          <a:solidFill>
            <a:srgbClr val="000000">
              <a:alpha val="0"/>
            </a:srgbClr>
          </a:solidFill>
          <a:ln w="0">
            <a:solidFill>
              <a:srgbClr val="000000">
                <a:alpha val="0"/>
              </a:srgbClr>
            </a:solidFill>
            <a:prstDash val="solid"/>
          </a:ln>
        </p:spPr>
        <p:txBody>
          <a:bodyPr lIns="0" tIns="0" rIns="0" bIns="0" anchor="t" wrap="square"/>
          <a:lstStyle/>
          <a:p>
            <a:pPr>
              <a:lnSpc>
                <a:spcPts val="2375"/>
              </a:lnSpc>
              <a:spcBef>
                <a:spcPts val="0"/>
              </a:spcBef>
              <a:spcAft>
                <a:spcPts val="0"/>
              </a:spcAft>
            </a:pPr>
            <a:r>
              <a:rPr sz="1900" b="1" i="0" lang="ja-JP">
                <a:solidFill>
                  <a:srgbClr val="171717"/>
                </a:solidFill>
                <a:latin typeface="Noto Sans JP"/>
              </a:rPr>
              <a:t>評価課題</a:t>
            </a:r>
          </a:p>
        </p:txBody>
      </p:sp>
      <p:pic>
        <p:nvPicPr>
          <p:cNvPr id="42" name="グラフィックス 41"/>
          <p:cNvPicPr>
            <a:picLocks noChangeAspect="1"/>
          </p:cNvPicPr>
          <p:nvPr/>
        </p:nvPicPr>
        <p:blipFill>
          <a:blip>
            <a:extLst>
              <a:ext uri="{96DAC541-7B7A-43D3-8B79-37D633B846F1}">
                <asvg:svgBlip xmlns:asvg="http://schemas.microsoft.com/office/drawing/2016/SVG/main" r:embed="rId4"/>
              </a:ext>
            </a:extLst>
          </a:blip>
          <a:stretch/>
        </p:blipFill>
        <p:spPr>
          <a:xfrm>
            <a:off x="9948672" y="2862072"/>
            <a:ext cx="914400" cy="914400"/>
          </a:xfrm>
          <a:prstGeom prst="rect">
            <a:avLst/>
          </a:prstGeom>
        </p:spPr>
      </p:pic>
      <p:sp>
        <p:nvSpPr>
          <p:cNvPr id="43" name="正方形/長方形 42">
            <a:extLst>
              <a:ext uri="{FF2B5EF4-FFF2-40B4-BE49-F238E27FC236}">
                <a16:creationId xmlns:a16="http://schemas.microsoft.com/office/drawing/2014/main" id="{B796D613-98AB-43ED-9920-31F470094527}"/>
              </a:ext>
            </a:extLst>
          </p:cNvPr>
          <p:cNvSpPr>
            <a:spLocks noGrp="1"/>
          </p:cNvSpPr>
          <p:nvPr/>
        </p:nvSpPr>
        <p:spPr>
          <a:xfrm>
            <a:off x="9582912" y="4251960"/>
            <a:ext cx="1645920" cy="1508760"/>
          </a:xfrm>
          <a:prstGeom prst="rect">
            <a:avLst/>
          </a:prstGeom>
          <a:solidFill>
            <a:srgbClr val="000000">
              <a:alpha val="0"/>
            </a:srgbClr>
          </a:solidFill>
          <a:ln w="0">
            <a:solidFill>
              <a:srgbClr val="000000">
                <a:alpha val="0"/>
              </a:srgbClr>
            </a:solidFill>
            <a:prstDash val="solid"/>
          </a:ln>
        </p:spPr>
        <p:txBody>
          <a:bodyPr lIns="0" tIns="0" rIns="0" bIns="0" anchor="t" wrap="square"/>
          <a:lstStyle/>
          <a:p>
            <a:pPr>
              <a:lnSpc>
                <a:spcPts val="2295"/>
              </a:lnSpc>
              <a:spcBef>
                <a:spcPts val="0"/>
              </a:spcBef>
              <a:spcAft>
                <a:spcPts val="0"/>
              </a:spcAft>
            </a:pPr>
            <a:r>
              <a:rPr sz="1700" b="0" i="0" lang="ja-JP">
                <a:solidFill>
                  <a:srgbClr val="171717"/>
                </a:solidFill>
                <a:latin typeface="Noto Sans JP"/>
              </a:rPr>
              <a:t>依頼文・提出物・採点結果を対応させる。</a:t>
            </a:r>
          </a:p>
        </p:txBody>
      </p:sp>
      <p:sp>
        <p:nvSpPr>
          <p:cNvPr id="44" name="TextBox 43"/>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43</a:t>
            </a:r>
          </a:p>
        </p:txBody>
      </p:sp>
      <p:sp>
        <p:nvSpPr>
          <p:cNvPr id="45" name="TextBox 44"/>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
        <p:nvSpPr>
          <p:cNvPr id="3" name="TextBox 2"/>
          <p:cNvSpPr txBox="1"/>
          <p:nvPr/>
        </p:nvSpPr>
        <p:spPr>
          <a:xfrm>
            <a:off x="594360" y="667512"/>
            <a:ext cx="10972800" cy="658368"/>
          </a:xfrm>
          <a:prstGeom prst="rect">
            <a:avLst/>
          </a:prstGeom>
          <a:noFill/>
        </p:spPr>
        <p:txBody>
          <a:bodyPr wrap="square" lIns="0" rIns="0" tIns="0" bIns="0" anchor="t">
            <a:spAutoFit/>
          </a:bodyPr>
          <a:lstStyle/>
          <a:p>
            <a:pPr>
              <a:lnSpc>
                <a:spcPts val="3625"/>
              </a:lnSpc>
              <a:spcBef>
                <a:spcPts val="0"/>
              </a:spcBef>
              <a:spcAft>
                <a:spcPts val="0"/>
              </a:spcAft>
            </a:pPr>
            <a:r>
              <a:rPr sz="2900" b="1" i="0" lang="ja-JP">
                <a:solidFill>
                  <a:srgbClr val="171717"/>
                </a:solidFill>
                <a:latin typeface="Noto Sans JP"/>
              </a:rPr>
              <a:t>問い・比較条件・出力・解釈を、一つずつ対応させる</a:t>
            </a:r>
          </a:p>
        </p:txBody>
      </p:sp>
      <p:sp>
        <p:nvSpPr>
          <p:cNvPr id="4" name="TextBox 3"/>
          <p:cNvSpPr txBox="1"/>
          <p:nvPr/>
        </p:nvSpPr>
        <p:spPr>
          <a:xfrm>
            <a:off x="11247120" y="6519672"/>
            <a:ext cx="502920" cy="228600"/>
          </a:xfrm>
          <a:prstGeom prst="rect">
            <a:avLst/>
          </a:prstGeom>
          <a:noFill/>
        </p:spPr>
        <p:txBody>
          <a:bodyPr wrap="square" lIns="0" rIns="0" tIns="0" bIns="0" anchor="t">
            <a:spAutoFit/>
          </a:bodyPr>
          <a:lstStyle/>
          <a:p>
            <a:pPr>
              <a:lnSpc>
                <a:spcPts val="1375"/>
              </a:lnSpc>
              <a:spcBef>
                <a:spcPts val="0"/>
              </a:spcBef>
              <a:spcAft>
                <a:spcPts val="0"/>
              </a:spcAft>
            </a:pPr>
            <a:r>
              <a:rPr sz="1100" b="0" i="0" lang="ja-JP">
                <a:solidFill>
                  <a:srgbClr val="171717"/>
                </a:solidFill>
                <a:latin typeface="Noto Sans JP"/>
              </a:rPr>
              <a:t>44</a:t>
            </a:r>
          </a:p>
        </p:txBody>
      </p:sp>
      <p:sp>
        <p:nvSpPr>
          <p:cNvPr id="5" name="Rounded Rectangle 4"/>
          <p:cNvSpPr/>
          <p:nvPr/>
        </p:nvSpPr>
        <p:spPr>
          <a:xfrm>
            <a:off x="640080" y="1691640"/>
            <a:ext cx="2514600" cy="283464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730"/>
              </a:lnSpc>
              <a:spcBef>
                <a:spcPts val="0"/>
              </a:spcBef>
              <a:spcAft>
                <a:spcPts val="800"/>
              </a:spcAft>
            </a:pPr>
            <a:r>
              <a:rPr sz="2100" b="0" i="0" lang="ja-JP">
                <a:solidFill>
                  <a:srgbClr val="171717"/>
                </a:solidFill>
                <a:latin typeface="Noto Sans JP"/>
              </a:rPr>
              <a:t>問い</a:t>
            </a:r>
          </a:p>
          <a:p>
            <a:pPr>
              <a:lnSpc>
                <a:spcPts val="2730"/>
              </a:lnSpc>
              <a:spcBef>
                <a:spcPts val="0"/>
              </a:spcBef>
              <a:spcAft>
                <a:spcPts val="800"/>
              </a:spcAft>
            </a:pPr>
            <a:r>
              <a:rPr sz="2100" b="0" i="0" lang="ja-JP">
                <a:solidFill>
                  <a:srgbClr val="171717"/>
                </a:solidFill>
                <a:latin typeface="Noto Sans JP"/>
              </a:rPr>
              <a:t>変異で分子の</a:t>
            </a:r>
          </a:p>
          <a:p>
            <a:pPr>
              <a:lnSpc>
                <a:spcPts val="2730"/>
              </a:lnSpc>
              <a:spcBef>
                <a:spcPts val="0"/>
              </a:spcBef>
              <a:spcAft>
                <a:spcPts val="800"/>
              </a:spcAft>
            </a:pPr>
            <a:r>
              <a:rPr sz="2100" b="0" i="0" lang="ja-JP">
                <a:solidFill>
                  <a:srgbClr val="171717"/>
                </a:solidFill>
                <a:latin typeface="Noto Sans JP"/>
              </a:rPr>
              <a:t>動きが変わるか</a:t>
            </a:r>
          </a:p>
        </p:txBody>
      </p:sp>
      <p:sp>
        <p:nvSpPr>
          <p:cNvPr id="6" name="TextBox 5"/>
          <p:cNvSpPr txBox="1"/>
          <p:nvPr/>
        </p:nvSpPr>
        <p:spPr>
          <a:xfrm>
            <a:off x="3154680" y="2926080"/>
            <a:ext cx="274320" cy="457200"/>
          </a:xfrm>
          <a:prstGeom prst="rect">
            <a:avLst/>
          </a:prstGeom>
          <a:noFill/>
        </p:spPr>
        <p:txBody>
          <a:bodyPr wrap="square" lIns="0" rIns="0" tIns="0" bIns="0" anchor="t">
            <a:spAutoFit/>
          </a:bodyPr>
          <a:lstStyle/>
          <a:p>
            <a:pPr>
              <a:lnSpc>
                <a:spcPts val="3125"/>
              </a:lnSpc>
              <a:spcBef>
                <a:spcPts val="0"/>
              </a:spcBef>
              <a:spcAft>
                <a:spcPts val="0"/>
              </a:spcAft>
            </a:pPr>
            <a:r>
              <a:rPr sz="2500" b="1" i="0" lang="ja-JP">
                <a:solidFill>
                  <a:srgbClr val="171717"/>
                </a:solidFill>
                <a:latin typeface="Noto Sans JP"/>
              </a:rPr>
              <a:t>→</a:t>
            </a:r>
          </a:p>
        </p:txBody>
      </p:sp>
      <p:sp>
        <p:nvSpPr>
          <p:cNvPr id="7" name="Rounded Rectangle 6"/>
          <p:cNvSpPr/>
          <p:nvPr/>
        </p:nvSpPr>
        <p:spPr>
          <a:xfrm>
            <a:off x="3429000" y="1691640"/>
            <a:ext cx="2514600" cy="283464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730"/>
              </a:lnSpc>
              <a:spcBef>
                <a:spcPts val="0"/>
              </a:spcBef>
              <a:spcAft>
                <a:spcPts val="800"/>
              </a:spcAft>
            </a:pPr>
            <a:r>
              <a:rPr sz="2100" b="0" i="0" lang="ja-JP">
                <a:solidFill>
                  <a:srgbClr val="171717"/>
                </a:solidFill>
                <a:latin typeface="Noto Sans JP"/>
              </a:rPr>
              <a:t>計画</a:t>
            </a:r>
          </a:p>
          <a:p>
            <a:pPr>
              <a:lnSpc>
                <a:spcPts val="2730"/>
              </a:lnSpc>
              <a:spcBef>
                <a:spcPts val="0"/>
              </a:spcBef>
              <a:spcAft>
                <a:spcPts val="800"/>
              </a:spcAft>
            </a:pPr>
            <a:r>
              <a:rPr sz="2100" b="0" i="0" lang="ja-JP">
                <a:solidFill>
                  <a:srgbClr val="171717"/>
                </a:solidFill>
                <a:latin typeface="Noto Sans JP"/>
              </a:rPr>
              <a:t>野生型と変異体</a:t>
            </a:r>
          </a:p>
          <a:p>
            <a:pPr>
              <a:lnSpc>
                <a:spcPts val="2730"/>
              </a:lnSpc>
              <a:spcBef>
                <a:spcPts val="0"/>
              </a:spcBef>
              <a:spcAft>
                <a:spcPts val="800"/>
              </a:spcAft>
            </a:pPr>
            <a:r>
              <a:rPr sz="2100" b="0" i="0" lang="ja-JP">
                <a:solidFill>
                  <a:srgbClr val="171717"/>
                </a:solidFill>
                <a:latin typeface="Noto Sans JP"/>
              </a:rPr>
              <a:t>観測量・判定基準</a:t>
            </a:r>
          </a:p>
        </p:txBody>
      </p:sp>
      <p:sp>
        <p:nvSpPr>
          <p:cNvPr id="8" name="TextBox 7"/>
          <p:cNvSpPr txBox="1"/>
          <p:nvPr/>
        </p:nvSpPr>
        <p:spPr>
          <a:xfrm>
            <a:off x="5943600" y="2926080"/>
            <a:ext cx="274320" cy="457200"/>
          </a:xfrm>
          <a:prstGeom prst="rect">
            <a:avLst/>
          </a:prstGeom>
          <a:noFill/>
        </p:spPr>
        <p:txBody>
          <a:bodyPr wrap="square" lIns="0" rIns="0" tIns="0" bIns="0" anchor="t">
            <a:spAutoFit/>
          </a:bodyPr>
          <a:lstStyle/>
          <a:p>
            <a:pPr>
              <a:lnSpc>
                <a:spcPts val="3125"/>
              </a:lnSpc>
              <a:spcBef>
                <a:spcPts val="0"/>
              </a:spcBef>
              <a:spcAft>
                <a:spcPts val="0"/>
              </a:spcAft>
            </a:pPr>
            <a:r>
              <a:rPr sz="2500" b="1" i="0" lang="ja-JP">
                <a:solidFill>
                  <a:srgbClr val="171717"/>
                </a:solidFill>
                <a:latin typeface="Noto Sans JP"/>
              </a:rPr>
              <a:t>→</a:t>
            </a:r>
          </a:p>
        </p:txBody>
      </p:sp>
      <p:sp>
        <p:nvSpPr>
          <p:cNvPr id="9" name="Rounded Rectangle 8"/>
          <p:cNvSpPr/>
          <p:nvPr/>
        </p:nvSpPr>
        <p:spPr>
          <a:xfrm>
            <a:off x="6217920" y="1691640"/>
            <a:ext cx="2514600" cy="283464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730"/>
              </a:lnSpc>
              <a:spcBef>
                <a:spcPts val="0"/>
              </a:spcBef>
              <a:spcAft>
                <a:spcPts val="800"/>
              </a:spcAft>
            </a:pPr>
            <a:r>
              <a:rPr sz="2100" b="0" i="0" lang="ja-JP">
                <a:solidFill>
                  <a:srgbClr val="171717"/>
                </a:solidFill>
                <a:latin typeface="Noto Sans JP"/>
              </a:rPr>
              <a:t>実行</a:t>
            </a:r>
          </a:p>
          <a:p>
            <a:pPr>
              <a:lnSpc>
                <a:spcPts val="2730"/>
              </a:lnSpc>
              <a:spcBef>
                <a:spcPts val="0"/>
              </a:spcBef>
              <a:spcAft>
                <a:spcPts val="800"/>
              </a:spcAft>
            </a:pPr>
            <a:r>
              <a:rPr sz="2100" b="0" i="0" lang="ja-JP">
                <a:solidFill>
                  <a:srgbClr val="171717"/>
                </a:solidFill>
                <a:latin typeface="Noto Sans JP"/>
              </a:rPr>
              <a:t>準備 → 平衡化</a:t>
            </a:r>
          </a:p>
          <a:p>
            <a:pPr>
              <a:lnSpc>
                <a:spcPts val="2730"/>
              </a:lnSpc>
              <a:spcBef>
                <a:spcPts val="0"/>
              </a:spcBef>
              <a:spcAft>
                <a:spcPts val="800"/>
              </a:spcAft>
            </a:pPr>
            <a:r>
              <a:rPr sz="2100" b="0" i="0" lang="ja-JP">
                <a:solidFill>
                  <a:srgbClr val="171717"/>
                </a:solidFill>
                <a:latin typeface="Noto Sans JP"/>
              </a:rPr>
              <a:t>本計算 → 解析</a:t>
            </a:r>
          </a:p>
        </p:txBody>
      </p:sp>
      <p:sp>
        <p:nvSpPr>
          <p:cNvPr id="10" name="TextBox 9"/>
          <p:cNvSpPr txBox="1"/>
          <p:nvPr/>
        </p:nvSpPr>
        <p:spPr>
          <a:xfrm>
            <a:off x="8732520" y="2926080"/>
            <a:ext cx="274320" cy="457200"/>
          </a:xfrm>
          <a:prstGeom prst="rect">
            <a:avLst/>
          </a:prstGeom>
          <a:noFill/>
        </p:spPr>
        <p:txBody>
          <a:bodyPr wrap="square" lIns="0" rIns="0" tIns="0" bIns="0" anchor="t">
            <a:spAutoFit/>
          </a:bodyPr>
          <a:lstStyle/>
          <a:p>
            <a:pPr>
              <a:lnSpc>
                <a:spcPts val="3125"/>
              </a:lnSpc>
              <a:spcBef>
                <a:spcPts val="0"/>
              </a:spcBef>
              <a:spcAft>
                <a:spcPts val="0"/>
              </a:spcAft>
            </a:pPr>
            <a:r>
              <a:rPr sz="2500" b="1" i="0" lang="ja-JP">
                <a:solidFill>
                  <a:srgbClr val="171717"/>
                </a:solidFill>
                <a:latin typeface="Noto Sans JP"/>
              </a:rPr>
              <a:t>→</a:t>
            </a:r>
          </a:p>
        </p:txBody>
      </p:sp>
      <p:sp>
        <p:nvSpPr>
          <p:cNvPr id="11" name="Rounded Rectangle 10"/>
          <p:cNvSpPr/>
          <p:nvPr/>
        </p:nvSpPr>
        <p:spPr>
          <a:xfrm>
            <a:off x="9006839" y="1691640"/>
            <a:ext cx="2514600" cy="283464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730"/>
              </a:lnSpc>
              <a:spcBef>
                <a:spcPts val="0"/>
              </a:spcBef>
              <a:spcAft>
                <a:spcPts val="800"/>
              </a:spcAft>
            </a:pPr>
            <a:r>
              <a:rPr sz="2100" b="0" i="0" lang="ja-JP">
                <a:solidFill>
                  <a:srgbClr val="171717"/>
                </a:solidFill>
                <a:latin typeface="Noto Sans JP"/>
              </a:rPr>
              <a:t>解釈</a:t>
            </a:r>
          </a:p>
          <a:p>
            <a:pPr>
              <a:lnSpc>
                <a:spcPts val="2730"/>
              </a:lnSpc>
              <a:spcBef>
                <a:spcPts val="0"/>
              </a:spcBef>
              <a:spcAft>
                <a:spcPts val="800"/>
              </a:spcAft>
            </a:pPr>
            <a:r>
              <a:rPr sz="2100" b="0" i="0" lang="ja-JP">
                <a:solidFill>
                  <a:srgbClr val="171717"/>
                </a:solidFill>
                <a:latin typeface="Noto Sans JP"/>
              </a:rPr>
              <a:t>差の向き・大きさ</a:t>
            </a:r>
          </a:p>
          <a:p>
            <a:pPr>
              <a:lnSpc>
                <a:spcPts val="2730"/>
              </a:lnSpc>
              <a:spcBef>
                <a:spcPts val="0"/>
              </a:spcBef>
              <a:spcAft>
                <a:spcPts val="800"/>
              </a:spcAft>
            </a:pPr>
            <a:r>
              <a:rPr sz="2100" b="0" i="0" lang="ja-JP">
                <a:solidFill>
                  <a:srgbClr val="171717"/>
                </a:solidFill>
                <a:latin typeface="Noto Sans JP"/>
              </a:rPr>
              <a:t>誤差・次の計算</a:t>
            </a:r>
          </a:p>
        </p:txBody>
      </p:sp>
      <p:sp>
        <p:nvSpPr>
          <p:cNvPr id="12" name="TextBox 11"/>
          <p:cNvSpPr txBox="1"/>
          <p:nvPr/>
        </p:nvSpPr>
        <p:spPr>
          <a:xfrm>
            <a:off x="731520" y="4983480"/>
            <a:ext cx="10698480" cy="1005840"/>
          </a:xfrm>
          <a:prstGeom prst="rect">
            <a:avLst/>
          </a:prstGeom>
          <a:noFill/>
        </p:spPr>
        <p:txBody>
          <a:bodyPr wrap="square" lIns="0" rIns="0" tIns="0" bIns="0" anchor="t">
            <a:spAutoFit/>
          </a:bodyPr>
          <a:lstStyle/>
          <a:p>
            <a:pPr>
              <a:lnSpc>
                <a:spcPts val="3219"/>
              </a:lnSpc>
              <a:spcBef>
                <a:spcPts val="0"/>
              </a:spcBef>
              <a:spcAft>
                <a:spcPts val="1200"/>
              </a:spcAft>
            </a:pPr>
            <a:r>
              <a:rPr sz="2300" b="0" i="0" lang="ja-JP">
                <a:solidFill>
                  <a:srgbClr val="171717"/>
                </a:solidFill>
                <a:latin typeface="Noto Sans JP"/>
              </a:rPr>
              <a:t>文章による回答だけでなく、構造・設定・軌道・解析結果を対応させる。</a:t>
            </a:r>
          </a:p>
          <a:p>
            <a:pPr>
              <a:lnSpc>
                <a:spcPts val="3219"/>
              </a:lnSpc>
              <a:spcBef>
                <a:spcPts val="0"/>
              </a:spcBef>
              <a:spcAft>
                <a:spcPts val="1200"/>
              </a:spcAft>
            </a:pPr>
            <a:r>
              <a:rPr sz="2300" b="0" i="0" lang="ja-JP">
                <a:solidFill>
                  <a:srgbClr val="171717"/>
                </a:solidFill>
                <a:latin typeface="Noto Sans JP"/>
              </a:rPr>
              <a:t>比較では、原子や残基の対応と、共通条件・変更条件を明示する。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
        <p:nvSpPr>
          <p:cNvPr id="3" name="TextBox 2"/>
          <p:cNvSpPr txBox="1"/>
          <p:nvPr/>
        </p:nvSpPr>
        <p:spPr>
          <a:xfrm>
            <a:off x="594360" y="667512"/>
            <a:ext cx="10972800" cy="658368"/>
          </a:xfrm>
          <a:prstGeom prst="rect">
            <a:avLst/>
          </a:prstGeom>
          <a:noFill/>
        </p:spPr>
        <p:txBody>
          <a:bodyPr wrap="square" lIns="0" rIns="0" tIns="0" bIns="0" anchor="t">
            <a:spAutoFit/>
          </a:bodyPr>
          <a:lstStyle/>
          <a:p>
            <a:pPr>
              <a:lnSpc>
                <a:spcPts val="3625"/>
              </a:lnSpc>
              <a:spcBef>
                <a:spcPts val="0"/>
              </a:spcBef>
              <a:spcAft>
                <a:spcPts val="0"/>
              </a:spcAft>
            </a:pPr>
            <a:r>
              <a:rPr sz="2900" b="1" i="0" lang="ja-JP">
                <a:solidFill>
                  <a:srgbClr val="171717"/>
                </a:solidFill>
                <a:latin typeface="Noto Sans JP"/>
              </a:rPr>
              <a:t>実行中のノードは、完了か失敗のいずれかへ進む</a:t>
            </a:r>
          </a:p>
        </p:txBody>
      </p:sp>
      <p:sp>
        <p:nvSpPr>
          <p:cNvPr id="4" name="TextBox 3"/>
          <p:cNvSpPr txBox="1"/>
          <p:nvPr/>
        </p:nvSpPr>
        <p:spPr>
          <a:xfrm>
            <a:off x="11247120" y="6519672"/>
            <a:ext cx="502920" cy="228600"/>
          </a:xfrm>
          <a:prstGeom prst="rect">
            <a:avLst/>
          </a:prstGeom>
          <a:noFill/>
        </p:spPr>
        <p:txBody>
          <a:bodyPr wrap="square" lIns="0" rIns="0" tIns="0" bIns="0" anchor="t">
            <a:spAutoFit/>
          </a:bodyPr>
          <a:lstStyle/>
          <a:p>
            <a:pPr>
              <a:lnSpc>
                <a:spcPts val="1375"/>
              </a:lnSpc>
              <a:spcBef>
                <a:spcPts val="0"/>
              </a:spcBef>
              <a:spcAft>
                <a:spcPts val="0"/>
              </a:spcAft>
            </a:pPr>
            <a:r>
              <a:rPr sz="1100" b="0" i="0" lang="ja-JP">
                <a:solidFill>
                  <a:srgbClr val="171717"/>
                </a:solidFill>
                <a:latin typeface="Noto Sans JP"/>
              </a:rPr>
              <a:t>45</a:t>
            </a:r>
          </a:p>
        </p:txBody>
      </p:sp>
      <p:sp>
        <p:nvSpPr>
          <p:cNvPr id="5" name="Rounded Rectangle 4"/>
          <p:cNvSpPr/>
          <p:nvPr/>
        </p:nvSpPr>
        <p:spPr>
          <a:xfrm>
            <a:off x="685800" y="2286000"/>
            <a:ext cx="2423160" cy="109728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860"/>
              </a:lnSpc>
              <a:spcBef>
                <a:spcPts val="0"/>
              </a:spcBef>
              <a:spcAft>
                <a:spcPts val="800"/>
              </a:spcAft>
            </a:pPr>
            <a:r>
              <a:rPr sz="2200" b="0" i="0" lang="ja-JP">
                <a:solidFill>
                  <a:srgbClr val="171717"/>
                </a:solidFill>
                <a:latin typeface="Noto Sans JP"/>
              </a:rPr>
              <a:t>作成</a:t>
            </a:r>
          </a:p>
          <a:p>
            <a:pPr>
              <a:lnSpc>
                <a:spcPts val="2860"/>
              </a:lnSpc>
              <a:spcBef>
                <a:spcPts val="0"/>
              </a:spcBef>
              <a:spcAft>
                <a:spcPts val="800"/>
              </a:spcAft>
            </a:pPr>
            <a:r>
              <a:rPr sz="2200" b="0" i="0" lang="ja-JP">
                <a:solidFill>
                  <a:srgbClr val="171717"/>
                </a:solidFill>
                <a:latin typeface="Noto Sans JP"/>
              </a:rPr>
              <a:t>create_node</a:t>
            </a:r>
          </a:p>
        </p:txBody>
      </p:sp>
      <p:sp>
        <p:nvSpPr>
          <p:cNvPr id="6" name="TextBox 5"/>
          <p:cNvSpPr txBox="1"/>
          <p:nvPr/>
        </p:nvSpPr>
        <p:spPr>
          <a:xfrm>
            <a:off x="3218688" y="2560320"/>
            <a:ext cx="457200" cy="457200"/>
          </a:xfrm>
          <a:prstGeom prst="rect">
            <a:avLst/>
          </a:prstGeom>
          <a:noFill/>
        </p:spPr>
        <p:txBody>
          <a:bodyPr wrap="square" lIns="0" rIns="0" tIns="0" bIns="0" anchor="t">
            <a:spAutoFit/>
          </a:bodyPr>
          <a:lstStyle/>
          <a:p>
            <a:pPr>
              <a:lnSpc>
                <a:spcPts val="3125"/>
              </a:lnSpc>
              <a:spcBef>
                <a:spcPts val="0"/>
              </a:spcBef>
              <a:spcAft>
                <a:spcPts val="0"/>
              </a:spcAft>
            </a:pPr>
            <a:r>
              <a:rPr sz="2500" b="1" i="0" lang="ja-JP">
                <a:solidFill>
                  <a:srgbClr val="171717"/>
                </a:solidFill>
                <a:latin typeface="Noto Sans JP"/>
              </a:rPr>
              <a:t>→</a:t>
            </a:r>
          </a:p>
        </p:txBody>
      </p:sp>
      <p:sp>
        <p:nvSpPr>
          <p:cNvPr id="7" name="Rounded Rectangle 6"/>
          <p:cNvSpPr/>
          <p:nvPr/>
        </p:nvSpPr>
        <p:spPr>
          <a:xfrm>
            <a:off x="3749039" y="2286000"/>
            <a:ext cx="2743200" cy="109728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860"/>
              </a:lnSpc>
              <a:spcBef>
                <a:spcPts val="0"/>
              </a:spcBef>
              <a:spcAft>
                <a:spcPts val="800"/>
              </a:spcAft>
            </a:pPr>
            <a:r>
              <a:rPr sz="2200" b="0" i="0" lang="ja-JP">
                <a:solidFill>
                  <a:srgbClr val="171717"/>
                </a:solidFill>
                <a:latin typeface="Noto Sans JP"/>
              </a:rPr>
              <a:t>実行中</a:t>
            </a:r>
          </a:p>
          <a:p>
            <a:pPr>
              <a:lnSpc>
                <a:spcPts val="2860"/>
              </a:lnSpc>
              <a:spcBef>
                <a:spcPts val="0"/>
              </a:spcBef>
              <a:spcAft>
                <a:spcPts val="800"/>
              </a:spcAft>
            </a:pPr>
            <a:r>
              <a:rPr sz="2200" b="0" i="0" lang="ja-JP">
                <a:solidFill>
                  <a:srgbClr val="171717"/>
                </a:solidFill>
                <a:latin typeface="Noto Sans JP"/>
              </a:rPr>
              <a:t>running</a:t>
            </a:r>
          </a:p>
        </p:txBody>
      </p:sp>
      <p:sp>
        <p:nvSpPr>
          <p:cNvPr id="8" name="Rounded Rectangle 7"/>
          <p:cNvSpPr/>
          <p:nvPr/>
        </p:nvSpPr>
        <p:spPr>
          <a:xfrm>
            <a:off x="7589520" y="1572768"/>
            <a:ext cx="3611880" cy="1097280"/>
          </a:xfrm>
          <a:prstGeom prst="roundRect">
            <a:avLst/>
          </a:prstGeom>
          <a:solidFill>
            <a:srgbClr val="EAF5E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860"/>
              </a:lnSpc>
              <a:spcBef>
                <a:spcPts val="0"/>
              </a:spcBef>
              <a:spcAft>
                <a:spcPts val="800"/>
              </a:spcAft>
            </a:pPr>
            <a:r>
              <a:rPr sz="2200" b="0" i="0" lang="ja-JP">
                <a:solidFill>
                  <a:srgbClr val="171717"/>
                </a:solidFill>
                <a:latin typeface="Noto Sans JP"/>
              </a:rPr>
              <a:t>完了：出力を登録</a:t>
            </a:r>
          </a:p>
          <a:p>
            <a:pPr>
              <a:lnSpc>
                <a:spcPts val="2860"/>
              </a:lnSpc>
              <a:spcBef>
                <a:spcPts val="0"/>
              </a:spcBef>
              <a:spcAft>
                <a:spcPts val="800"/>
              </a:spcAft>
            </a:pPr>
            <a:r>
              <a:rPr sz="2200" b="0" i="0" lang="ja-JP">
                <a:solidFill>
                  <a:srgbClr val="171717"/>
                </a:solidFill>
                <a:latin typeface="Noto Sans JP"/>
              </a:rPr>
              <a:t>completed</a:t>
            </a:r>
          </a:p>
        </p:txBody>
      </p:sp>
      <p:sp>
        <p:nvSpPr>
          <p:cNvPr id="9" name="Rounded Rectangle 8"/>
          <p:cNvSpPr/>
          <p:nvPr/>
        </p:nvSpPr>
        <p:spPr>
          <a:xfrm>
            <a:off x="7589520" y="3154680"/>
            <a:ext cx="3611880" cy="1097280"/>
          </a:xfrm>
          <a:prstGeom prst="roundRect">
            <a:avLst/>
          </a:prstGeom>
          <a:solidFill>
            <a:srgbClr val="FBEFE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860"/>
              </a:lnSpc>
              <a:spcBef>
                <a:spcPts val="0"/>
              </a:spcBef>
              <a:spcAft>
                <a:spcPts val="800"/>
              </a:spcAft>
            </a:pPr>
            <a:r>
              <a:rPr sz="2200" b="0" i="0" lang="ja-JP">
                <a:solidFill>
                  <a:srgbClr val="171717"/>
                </a:solidFill>
                <a:latin typeface="Noto Sans JP"/>
              </a:rPr>
              <a:t>失敗：理由を記録</a:t>
            </a:r>
          </a:p>
          <a:p>
            <a:pPr>
              <a:lnSpc>
                <a:spcPts val="2860"/>
              </a:lnSpc>
              <a:spcBef>
                <a:spcPts val="0"/>
              </a:spcBef>
              <a:spcAft>
                <a:spcPts val="800"/>
              </a:spcAft>
            </a:pPr>
            <a:r>
              <a:rPr sz="2200" b="0" i="0" lang="ja-JP">
                <a:solidFill>
                  <a:srgbClr val="171717"/>
                </a:solidFill>
                <a:latin typeface="Noto Sans JP"/>
              </a:rPr>
              <a:t>failed</a:t>
            </a:r>
          </a:p>
        </p:txBody>
      </p:sp>
      <p:sp>
        <p:nvSpPr>
          <p:cNvPr id="10" name="TextBox 9"/>
          <p:cNvSpPr txBox="1"/>
          <p:nvPr/>
        </p:nvSpPr>
        <p:spPr>
          <a:xfrm>
            <a:off x="6720840" y="2039112"/>
            <a:ext cx="548640" cy="457200"/>
          </a:xfrm>
          <a:prstGeom prst="rect">
            <a:avLst/>
          </a:prstGeom>
          <a:noFill/>
        </p:spPr>
        <p:txBody>
          <a:bodyPr wrap="square" lIns="0" rIns="0" tIns="0" bIns="0" anchor="t">
            <a:spAutoFit/>
          </a:bodyPr>
          <a:lstStyle/>
          <a:p>
            <a:pPr>
              <a:lnSpc>
                <a:spcPts val="4000"/>
              </a:lnSpc>
              <a:spcBef>
                <a:spcPts val="0"/>
              </a:spcBef>
              <a:spcAft>
                <a:spcPts val="0"/>
              </a:spcAft>
            </a:pPr>
            <a:r>
              <a:rPr sz="3200" b="1" i="0" lang="ja-JP">
                <a:solidFill>
                  <a:srgbClr val="171717"/>
                </a:solidFill>
                <a:latin typeface="Noto Sans JP"/>
              </a:rPr>
              <a:t>↗</a:t>
            </a:r>
          </a:p>
        </p:txBody>
      </p:sp>
      <p:sp>
        <p:nvSpPr>
          <p:cNvPr id="11" name="TextBox 10"/>
          <p:cNvSpPr txBox="1"/>
          <p:nvPr/>
        </p:nvSpPr>
        <p:spPr>
          <a:xfrm>
            <a:off x="6720840" y="3127248"/>
            <a:ext cx="548640" cy="457200"/>
          </a:xfrm>
          <a:prstGeom prst="rect">
            <a:avLst/>
          </a:prstGeom>
          <a:noFill/>
        </p:spPr>
        <p:txBody>
          <a:bodyPr wrap="square" lIns="0" rIns="0" tIns="0" bIns="0" anchor="t">
            <a:spAutoFit/>
          </a:bodyPr>
          <a:lstStyle/>
          <a:p>
            <a:pPr>
              <a:lnSpc>
                <a:spcPts val="4000"/>
              </a:lnSpc>
              <a:spcBef>
                <a:spcPts val="0"/>
              </a:spcBef>
              <a:spcAft>
                <a:spcPts val="0"/>
              </a:spcAft>
            </a:pPr>
            <a:r>
              <a:rPr sz="3200" b="1" i="0" lang="ja-JP">
                <a:solidFill>
                  <a:srgbClr val="171717"/>
                </a:solidFill>
                <a:latin typeface="Noto Sans JP"/>
              </a:rPr>
              <a:t>↘</a:t>
            </a:r>
          </a:p>
        </p:txBody>
      </p:sp>
      <p:sp>
        <p:nvSpPr>
          <p:cNvPr id="12" name="TextBox 11"/>
          <p:cNvSpPr txBox="1"/>
          <p:nvPr/>
        </p:nvSpPr>
        <p:spPr>
          <a:xfrm>
            <a:off x="731520" y="4800600"/>
            <a:ext cx="10698480" cy="1298448"/>
          </a:xfrm>
          <a:prstGeom prst="rect">
            <a:avLst/>
          </a:prstGeom>
          <a:noFill/>
        </p:spPr>
        <p:txBody>
          <a:bodyPr wrap="square" lIns="0" rIns="0" tIns="0" bIns="0" anchor="t">
            <a:spAutoFit/>
          </a:bodyPr>
          <a:lstStyle/>
          <a:p>
            <a:pPr>
              <a:lnSpc>
                <a:spcPts val="2990"/>
              </a:lnSpc>
              <a:spcBef>
                <a:spcPts val="0"/>
              </a:spcBef>
              <a:spcAft>
                <a:spcPts val="1200"/>
              </a:spcAft>
            </a:pPr>
            <a:r>
              <a:rPr sz="2300" b="0" i="0" lang="ja-JP">
                <a:solidFill>
                  <a:srgbClr val="171717"/>
                </a:solidFill>
                <a:latin typeface="Noto Sans JP"/>
              </a:rPr>
              <a:t>完了した記録は根拠として保存し、後からの所見は追記する。</a:t>
            </a:r>
          </a:p>
          <a:p>
            <a:pPr>
              <a:lnSpc>
                <a:spcPts val="2990"/>
              </a:lnSpc>
              <a:spcBef>
                <a:spcPts val="0"/>
              </a:spcBef>
              <a:spcAft>
                <a:spcPts val="1200"/>
              </a:spcAft>
            </a:pPr>
            <a:r>
              <a:rPr sz="2300" b="0" i="0" lang="ja-JP">
                <a:solidFill>
                  <a:srgbClr val="171717"/>
                </a:solidFill>
                <a:latin typeface="Noto Sans JP"/>
              </a:rPr>
              <a:t>同じ条件の再試行は、同じノードの新しいAttempt（試行）として残す。</a:t>
            </a:r>
          </a:p>
          <a:p>
            <a:pPr>
              <a:lnSpc>
                <a:spcPts val="2990"/>
              </a:lnSpc>
              <a:spcBef>
                <a:spcPts val="0"/>
              </a:spcBef>
              <a:spcAft>
                <a:spcPts val="1200"/>
              </a:spcAft>
            </a:pPr>
            <a:r>
              <a:rPr sz="2300" b="0" i="0" lang="ja-JP">
                <a:solidFill>
                  <a:srgbClr val="171717"/>
                </a:solidFill>
                <a:latin typeface="Noto Sans JP"/>
              </a:rPr>
              <a:t>条件を変える場合は、新しいノードや分岐として区別する。</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
        <p:nvSpPr>
          <p:cNvPr id="3" name="TextBox 2"/>
          <p:cNvSpPr txBox="1"/>
          <p:nvPr/>
        </p:nvSpPr>
        <p:spPr>
          <a:xfrm>
            <a:off x="594360" y="667512"/>
            <a:ext cx="10972800" cy="658368"/>
          </a:xfrm>
          <a:prstGeom prst="rect">
            <a:avLst/>
          </a:prstGeom>
          <a:noFill/>
        </p:spPr>
        <p:txBody>
          <a:bodyPr wrap="square" lIns="0" rIns="0" tIns="0" bIns="0" anchor="t">
            <a:spAutoFit/>
          </a:bodyPr>
          <a:lstStyle/>
          <a:p>
            <a:pPr>
              <a:lnSpc>
                <a:spcPts val="3625"/>
              </a:lnSpc>
              <a:spcBef>
                <a:spcPts val="0"/>
              </a:spcBef>
              <a:spcAft>
                <a:spcPts val="0"/>
              </a:spcAft>
            </a:pPr>
            <a:r>
              <a:rPr sz="2900" b="1" i="0" lang="ja-JP">
                <a:solidFill>
                  <a:srgbClr val="171717"/>
                </a:solidFill>
                <a:latin typeface="Noto Sans JP"/>
              </a:rPr>
              <a:t>問い・一連の計算・段階・試行を分けて記録する</a:t>
            </a:r>
          </a:p>
        </p:txBody>
      </p:sp>
      <p:sp>
        <p:nvSpPr>
          <p:cNvPr id="4" name="TextBox 3"/>
          <p:cNvSpPr txBox="1"/>
          <p:nvPr/>
        </p:nvSpPr>
        <p:spPr>
          <a:xfrm>
            <a:off x="11247120" y="6519672"/>
            <a:ext cx="502920" cy="228600"/>
          </a:xfrm>
          <a:prstGeom prst="rect">
            <a:avLst/>
          </a:prstGeom>
          <a:noFill/>
        </p:spPr>
        <p:txBody>
          <a:bodyPr wrap="square" lIns="0" rIns="0" tIns="0" bIns="0" anchor="t">
            <a:spAutoFit/>
          </a:bodyPr>
          <a:lstStyle/>
          <a:p>
            <a:pPr>
              <a:lnSpc>
                <a:spcPts val="1375"/>
              </a:lnSpc>
              <a:spcBef>
                <a:spcPts val="0"/>
              </a:spcBef>
              <a:spcAft>
                <a:spcPts val="0"/>
              </a:spcAft>
            </a:pPr>
            <a:r>
              <a:rPr sz="1100" b="0" i="0" lang="ja-JP">
                <a:solidFill>
                  <a:srgbClr val="171717"/>
                </a:solidFill>
                <a:latin typeface="Noto Sans JP"/>
              </a:rPr>
              <a:t>46</a:t>
            </a:r>
          </a:p>
        </p:txBody>
      </p:sp>
      <p:sp>
        <p:nvSpPr>
          <p:cNvPr id="5" name="Rounded Rectangle 4"/>
          <p:cNvSpPr/>
          <p:nvPr/>
        </p:nvSpPr>
        <p:spPr>
          <a:xfrm>
            <a:off x="640080" y="1828800"/>
            <a:ext cx="2514600" cy="310896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730"/>
              </a:lnSpc>
              <a:spcBef>
                <a:spcPts val="0"/>
              </a:spcBef>
              <a:spcAft>
                <a:spcPts val="800"/>
              </a:spcAft>
            </a:pPr>
            <a:r>
              <a:rPr sz="2100" b="0" i="0" lang="ja-JP">
                <a:solidFill>
                  <a:srgbClr val="171717"/>
                </a:solidFill>
                <a:latin typeface="Noto Sans JP"/>
              </a:rPr>
              <a:t>Study</a:t>
            </a:r>
          </a:p>
          <a:p>
            <a:pPr>
              <a:lnSpc>
                <a:spcPts val="2730"/>
              </a:lnSpc>
              <a:spcBef>
                <a:spcPts val="0"/>
              </a:spcBef>
              <a:spcAft>
                <a:spcPts val="800"/>
              </a:spcAft>
            </a:pPr>
            <a:r>
              <a:rPr sz="2100" b="0" i="0" lang="ja-JP">
                <a:solidFill>
                  <a:srgbClr val="171717"/>
                </a:solidFill>
                <a:latin typeface="Noto Sans JP"/>
              </a:rPr>
              <a:t>研究の問い</a:t>
            </a:r>
          </a:p>
          <a:p>
            <a:pPr>
              <a:lnSpc>
                <a:spcPts val="2730"/>
              </a:lnSpc>
              <a:spcBef>
                <a:spcPts val="0"/>
              </a:spcBef>
              <a:spcAft>
                <a:spcPts val="800"/>
              </a:spcAft>
            </a:pPr>
            <a:r>
              <a:rPr sz="2100" b="0" i="0" lang="ja-JP">
                <a:solidFill>
                  <a:srgbClr val="171717"/>
                </a:solidFill>
                <a:latin typeface="Noto Sans JP"/>
              </a:rPr>
              <a:t>目的・計画</a:t>
            </a:r>
          </a:p>
          <a:p>
            <a:pPr>
              <a:lnSpc>
                <a:spcPts val="2730"/>
              </a:lnSpc>
              <a:spcBef>
                <a:spcPts val="0"/>
              </a:spcBef>
              <a:spcAft>
                <a:spcPts val="800"/>
              </a:spcAft>
            </a:pPr>
            <a:r>
              <a:rPr sz="2100" b="0" i="0" lang="ja-JP">
                <a:solidFill>
                  <a:srgbClr val="171717"/>
                </a:solidFill>
                <a:latin typeface="Noto Sans JP"/>
              </a:rPr>
              <a:t>解析方針</a:t>
            </a:r>
          </a:p>
        </p:txBody>
      </p:sp>
      <p:sp>
        <p:nvSpPr>
          <p:cNvPr id="6" name="TextBox 5"/>
          <p:cNvSpPr txBox="1"/>
          <p:nvPr/>
        </p:nvSpPr>
        <p:spPr>
          <a:xfrm>
            <a:off x="3154680" y="3200400"/>
            <a:ext cx="274320" cy="457200"/>
          </a:xfrm>
          <a:prstGeom prst="rect">
            <a:avLst/>
          </a:prstGeom>
          <a:noFill/>
        </p:spPr>
        <p:txBody>
          <a:bodyPr wrap="square" lIns="0" rIns="0" tIns="0" bIns="0" anchor="t">
            <a:spAutoFit/>
          </a:bodyPr>
          <a:lstStyle/>
          <a:p>
            <a:pPr>
              <a:lnSpc>
                <a:spcPts val="3125"/>
              </a:lnSpc>
              <a:spcBef>
                <a:spcPts val="0"/>
              </a:spcBef>
              <a:spcAft>
                <a:spcPts val="0"/>
              </a:spcAft>
            </a:pPr>
            <a:r>
              <a:rPr sz="2500" b="1" i="0" lang="ja-JP">
                <a:solidFill>
                  <a:srgbClr val="171717"/>
                </a:solidFill>
                <a:latin typeface="Noto Sans JP"/>
              </a:rPr>
              <a:t>→</a:t>
            </a:r>
          </a:p>
        </p:txBody>
      </p:sp>
      <p:sp>
        <p:nvSpPr>
          <p:cNvPr id="7" name="Rounded Rectangle 6"/>
          <p:cNvSpPr/>
          <p:nvPr/>
        </p:nvSpPr>
        <p:spPr>
          <a:xfrm>
            <a:off x="3429000" y="1828800"/>
            <a:ext cx="2514600" cy="310896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730"/>
              </a:lnSpc>
              <a:spcBef>
                <a:spcPts val="0"/>
              </a:spcBef>
              <a:spcAft>
                <a:spcPts val="800"/>
              </a:spcAft>
            </a:pPr>
            <a:r>
              <a:rPr sz="2100" b="0" i="0" lang="ja-JP">
                <a:solidFill>
                  <a:srgbClr val="171717"/>
                </a:solidFill>
                <a:latin typeface="Noto Sans JP"/>
              </a:rPr>
              <a:t>Job</a:t>
            </a:r>
          </a:p>
          <a:p>
            <a:pPr>
              <a:lnSpc>
                <a:spcPts val="2730"/>
              </a:lnSpc>
              <a:spcBef>
                <a:spcPts val="0"/>
              </a:spcBef>
              <a:spcAft>
                <a:spcPts val="800"/>
              </a:spcAft>
            </a:pPr>
            <a:r>
              <a:rPr sz="2100" b="0" i="0" lang="ja-JP">
                <a:solidFill>
                  <a:srgbClr val="171717"/>
                </a:solidFill>
                <a:latin typeface="Noto Sans JP"/>
              </a:rPr>
              <a:t>入力から始まる</a:t>
            </a:r>
          </a:p>
          <a:p>
            <a:pPr>
              <a:lnSpc>
                <a:spcPts val="2730"/>
              </a:lnSpc>
              <a:spcBef>
                <a:spcPts val="0"/>
              </a:spcBef>
              <a:spcAft>
                <a:spcPts val="800"/>
              </a:spcAft>
            </a:pPr>
            <a:r>
              <a:rPr sz="2100" b="0" i="0" lang="ja-JP">
                <a:solidFill>
                  <a:srgbClr val="171717"/>
                </a:solidFill>
                <a:latin typeface="Noto Sans JP"/>
              </a:rPr>
              <a:t>計算の流れ</a:t>
            </a:r>
          </a:p>
        </p:txBody>
      </p:sp>
      <p:sp>
        <p:nvSpPr>
          <p:cNvPr id="8" name="TextBox 7"/>
          <p:cNvSpPr txBox="1"/>
          <p:nvPr/>
        </p:nvSpPr>
        <p:spPr>
          <a:xfrm>
            <a:off x="5943600" y="3200400"/>
            <a:ext cx="274320" cy="457200"/>
          </a:xfrm>
          <a:prstGeom prst="rect">
            <a:avLst/>
          </a:prstGeom>
          <a:noFill/>
        </p:spPr>
        <p:txBody>
          <a:bodyPr wrap="square" lIns="0" rIns="0" tIns="0" bIns="0" anchor="t">
            <a:spAutoFit/>
          </a:bodyPr>
          <a:lstStyle/>
          <a:p>
            <a:pPr>
              <a:lnSpc>
                <a:spcPts val="3125"/>
              </a:lnSpc>
              <a:spcBef>
                <a:spcPts val="0"/>
              </a:spcBef>
              <a:spcAft>
                <a:spcPts val="0"/>
              </a:spcAft>
            </a:pPr>
            <a:r>
              <a:rPr sz="2500" b="1" i="0" lang="ja-JP">
                <a:solidFill>
                  <a:srgbClr val="171717"/>
                </a:solidFill>
                <a:latin typeface="Noto Sans JP"/>
              </a:rPr>
              <a:t>→</a:t>
            </a:r>
          </a:p>
        </p:txBody>
      </p:sp>
      <p:sp>
        <p:nvSpPr>
          <p:cNvPr id="9" name="Rounded Rectangle 8"/>
          <p:cNvSpPr/>
          <p:nvPr/>
        </p:nvSpPr>
        <p:spPr>
          <a:xfrm>
            <a:off x="6217920" y="1828800"/>
            <a:ext cx="2514600" cy="310896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730"/>
              </a:lnSpc>
              <a:spcBef>
                <a:spcPts val="0"/>
              </a:spcBef>
              <a:spcAft>
                <a:spcPts val="800"/>
              </a:spcAft>
            </a:pPr>
            <a:r>
              <a:rPr sz="2100" b="0" i="0" lang="ja-JP">
                <a:solidFill>
                  <a:srgbClr val="171717"/>
                </a:solidFill>
                <a:latin typeface="Noto Sans JP"/>
              </a:rPr>
              <a:t>Node</a:t>
            </a:r>
          </a:p>
          <a:p>
            <a:pPr>
              <a:lnSpc>
                <a:spcPts val="2730"/>
              </a:lnSpc>
              <a:spcBef>
                <a:spcPts val="0"/>
              </a:spcBef>
              <a:spcAft>
                <a:spcPts val="800"/>
              </a:spcAft>
            </a:pPr>
            <a:r>
              <a:rPr sz="2100" b="0" i="0" lang="ja-JP">
                <a:solidFill>
                  <a:srgbClr val="171717"/>
                </a:solidFill>
                <a:latin typeface="Noto Sans JP"/>
              </a:rPr>
              <a:t>準備・水和</a:t>
            </a:r>
          </a:p>
          <a:p>
            <a:pPr>
              <a:lnSpc>
                <a:spcPts val="2730"/>
              </a:lnSpc>
              <a:spcBef>
                <a:spcPts val="0"/>
              </a:spcBef>
              <a:spcAft>
                <a:spcPts val="800"/>
              </a:spcAft>
            </a:pPr>
            <a:r>
              <a:rPr sz="2100" b="0" i="0" lang="ja-JP">
                <a:solidFill>
                  <a:srgbClr val="171717"/>
                </a:solidFill>
                <a:latin typeface="Noto Sans JP"/>
              </a:rPr>
              <a:t>計算の一段階</a:t>
            </a:r>
          </a:p>
        </p:txBody>
      </p:sp>
      <p:sp>
        <p:nvSpPr>
          <p:cNvPr id="10" name="TextBox 9"/>
          <p:cNvSpPr txBox="1"/>
          <p:nvPr/>
        </p:nvSpPr>
        <p:spPr>
          <a:xfrm>
            <a:off x="8732520" y="3200400"/>
            <a:ext cx="274320" cy="457200"/>
          </a:xfrm>
          <a:prstGeom prst="rect">
            <a:avLst/>
          </a:prstGeom>
          <a:noFill/>
        </p:spPr>
        <p:txBody>
          <a:bodyPr wrap="square" lIns="0" rIns="0" tIns="0" bIns="0" anchor="t">
            <a:spAutoFit/>
          </a:bodyPr>
          <a:lstStyle/>
          <a:p>
            <a:pPr>
              <a:lnSpc>
                <a:spcPts val="3125"/>
              </a:lnSpc>
              <a:spcBef>
                <a:spcPts val="0"/>
              </a:spcBef>
              <a:spcAft>
                <a:spcPts val="0"/>
              </a:spcAft>
            </a:pPr>
            <a:r>
              <a:rPr sz="2500" b="1" i="0" lang="ja-JP">
                <a:solidFill>
                  <a:srgbClr val="171717"/>
                </a:solidFill>
                <a:latin typeface="Noto Sans JP"/>
              </a:rPr>
              <a:t>→</a:t>
            </a:r>
          </a:p>
        </p:txBody>
      </p:sp>
      <p:sp>
        <p:nvSpPr>
          <p:cNvPr id="11" name="Rounded Rectangle 10"/>
          <p:cNvSpPr/>
          <p:nvPr/>
        </p:nvSpPr>
        <p:spPr>
          <a:xfrm>
            <a:off x="9006839" y="1828800"/>
            <a:ext cx="2514600" cy="310896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730"/>
              </a:lnSpc>
              <a:spcBef>
                <a:spcPts val="0"/>
              </a:spcBef>
              <a:spcAft>
                <a:spcPts val="800"/>
              </a:spcAft>
            </a:pPr>
            <a:r>
              <a:rPr sz="2100" b="0" i="0" lang="ja-JP">
                <a:solidFill>
                  <a:srgbClr val="171717"/>
                </a:solidFill>
                <a:latin typeface="Noto Sans JP"/>
              </a:rPr>
              <a:t>Attempt</a:t>
            </a:r>
          </a:p>
          <a:p>
            <a:pPr>
              <a:lnSpc>
                <a:spcPts val="2730"/>
              </a:lnSpc>
              <a:spcBef>
                <a:spcPts val="0"/>
              </a:spcBef>
              <a:spcAft>
                <a:spcPts val="800"/>
              </a:spcAft>
            </a:pPr>
            <a:r>
              <a:rPr sz="2100" b="0" i="0" lang="ja-JP">
                <a:solidFill>
                  <a:srgbClr val="171717"/>
                </a:solidFill>
                <a:latin typeface="Noto Sans JP"/>
              </a:rPr>
              <a:t>同条件での実行</a:t>
            </a:r>
          </a:p>
          <a:p>
            <a:pPr>
              <a:lnSpc>
                <a:spcPts val="2730"/>
              </a:lnSpc>
              <a:spcBef>
                <a:spcPts val="0"/>
              </a:spcBef>
              <a:spcAft>
                <a:spcPts val="800"/>
              </a:spcAft>
            </a:pPr>
            <a:r>
              <a:rPr sz="2100" b="0" i="0" lang="ja-JP">
                <a:solidFill>
                  <a:srgbClr val="171717"/>
                </a:solidFill>
                <a:latin typeface="Noto Sans JP"/>
              </a:rPr>
              <a:t>または再試行</a:t>
            </a:r>
          </a:p>
        </p:txBody>
      </p:sp>
      <p:sp>
        <p:nvSpPr>
          <p:cNvPr id="12" name="TextBox 11"/>
          <p:cNvSpPr txBox="1"/>
          <p:nvPr/>
        </p:nvSpPr>
        <p:spPr>
          <a:xfrm>
            <a:off x="731520" y="5394960"/>
            <a:ext cx="10698480" cy="731520"/>
          </a:xfrm>
          <a:prstGeom prst="rect">
            <a:avLst/>
          </a:prstGeom>
          <a:noFill/>
        </p:spPr>
        <p:txBody>
          <a:bodyPr wrap="square" lIns="0" rIns="0" tIns="0" bIns="0" anchor="t">
            <a:spAutoFit/>
          </a:bodyPr>
          <a:lstStyle/>
          <a:p>
            <a:pPr>
              <a:lnSpc>
                <a:spcPts val="3240"/>
              </a:lnSpc>
              <a:spcBef>
                <a:spcPts val="0"/>
              </a:spcBef>
              <a:spcAft>
                <a:spcPts val="0"/>
              </a:spcAft>
            </a:pPr>
            <a:r>
              <a:rPr sz="2400" b="0" i="0" lang="ja-JP">
                <a:solidFill>
                  <a:srgbClr val="171717"/>
                </a:solidFill>
                <a:latin typeface="Noto Sans JP"/>
              </a:rPr>
              <a:t>「研究全体」と「同じ条件での再試行」を混同せず、どこを変更したかを追えるようにする。</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
        <p:nvSpPr>
          <p:cNvPr id="3" name="TextBox 2"/>
          <p:cNvSpPr txBox="1"/>
          <p:nvPr/>
        </p:nvSpPr>
        <p:spPr>
          <a:xfrm>
            <a:off x="594360" y="667512"/>
            <a:ext cx="10972800" cy="658368"/>
          </a:xfrm>
          <a:prstGeom prst="rect">
            <a:avLst/>
          </a:prstGeom>
          <a:noFill/>
        </p:spPr>
        <p:txBody>
          <a:bodyPr wrap="square" lIns="0" rIns="0" tIns="0" bIns="0" anchor="t">
            <a:spAutoFit/>
          </a:bodyPr>
          <a:lstStyle/>
          <a:p>
            <a:pPr>
              <a:lnSpc>
                <a:spcPts val="3625"/>
              </a:lnSpc>
              <a:spcBef>
                <a:spcPts val="0"/>
              </a:spcBef>
              <a:spcAft>
                <a:spcPts val="0"/>
              </a:spcAft>
            </a:pPr>
            <a:r>
              <a:rPr sz="2900" b="1" i="0" lang="ja-JP">
                <a:solidFill>
                  <a:srgbClr val="171717"/>
                </a:solidFill>
                <a:latin typeface="Noto Sans JP"/>
              </a:rPr>
              <a:t>今後の構想：生成モデルで候補を絞り、MDで確かめる</a:t>
            </a:r>
          </a:p>
        </p:txBody>
      </p:sp>
      <p:sp>
        <p:nvSpPr>
          <p:cNvPr id="4" name="TextBox 3"/>
          <p:cNvSpPr txBox="1"/>
          <p:nvPr/>
        </p:nvSpPr>
        <p:spPr>
          <a:xfrm>
            <a:off x="11247120" y="6519672"/>
            <a:ext cx="502920" cy="228600"/>
          </a:xfrm>
          <a:prstGeom prst="rect">
            <a:avLst/>
          </a:prstGeom>
          <a:noFill/>
        </p:spPr>
        <p:txBody>
          <a:bodyPr wrap="square" lIns="0" rIns="0" tIns="0" bIns="0" anchor="t">
            <a:spAutoFit/>
          </a:bodyPr>
          <a:lstStyle/>
          <a:p>
            <a:pPr>
              <a:lnSpc>
                <a:spcPts val="1375"/>
              </a:lnSpc>
              <a:spcBef>
                <a:spcPts val="0"/>
              </a:spcBef>
              <a:spcAft>
                <a:spcPts val="0"/>
              </a:spcAft>
            </a:pPr>
            <a:r>
              <a:rPr sz="1100" b="0" i="0" lang="ja-JP">
                <a:solidFill>
                  <a:srgbClr val="171717"/>
                </a:solidFill>
                <a:latin typeface="Noto Sans JP"/>
              </a:rPr>
              <a:t>47</a:t>
            </a:r>
          </a:p>
        </p:txBody>
      </p:sp>
      <p:sp>
        <p:nvSpPr>
          <p:cNvPr id="5" name="Rounded Rectangle 4"/>
          <p:cNvSpPr/>
          <p:nvPr/>
        </p:nvSpPr>
        <p:spPr>
          <a:xfrm>
            <a:off x="640080" y="1828800"/>
            <a:ext cx="2514600" cy="228600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730"/>
              </a:lnSpc>
              <a:spcBef>
                <a:spcPts val="0"/>
              </a:spcBef>
              <a:spcAft>
                <a:spcPts val="800"/>
              </a:spcAft>
            </a:pPr>
            <a:r>
              <a:rPr sz="2100" b="0" i="0" lang="ja-JP">
                <a:solidFill>
                  <a:srgbClr val="171717"/>
                </a:solidFill>
                <a:latin typeface="Noto Sans JP"/>
              </a:rPr>
              <a:t>研究の問い</a:t>
            </a:r>
          </a:p>
        </p:txBody>
      </p:sp>
      <p:sp>
        <p:nvSpPr>
          <p:cNvPr id="6" name="TextBox 5"/>
          <p:cNvSpPr txBox="1"/>
          <p:nvPr/>
        </p:nvSpPr>
        <p:spPr>
          <a:xfrm>
            <a:off x="3154680" y="2788920"/>
            <a:ext cx="274320" cy="457200"/>
          </a:xfrm>
          <a:prstGeom prst="rect">
            <a:avLst/>
          </a:prstGeom>
          <a:noFill/>
        </p:spPr>
        <p:txBody>
          <a:bodyPr wrap="square" lIns="0" rIns="0" tIns="0" bIns="0" anchor="t">
            <a:spAutoFit/>
          </a:bodyPr>
          <a:lstStyle/>
          <a:p>
            <a:pPr>
              <a:lnSpc>
                <a:spcPts val="3125"/>
              </a:lnSpc>
              <a:spcBef>
                <a:spcPts val="0"/>
              </a:spcBef>
              <a:spcAft>
                <a:spcPts val="0"/>
              </a:spcAft>
            </a:pPr>
            <a:r>
              <a:rPr sz="2500" b="1" i="0" lang="ja-JP">
                <a:solidFill>
                  <a:srgbClr val="171717"/>
                </a:solidFill>
                <a:latin typeface="Noto Sans JP"/>
              </a:rPr>
              <a:t>→</a:t>
            </a:r>
          </a:p>
        </p:txBody>
      </p:sp>
      <p:sp>
        <p:nvSpPr>
          <p:cNvPr id="7" name="Rounded Rectangle 6"/>
          <p:cNvSpPr/>
          <p:nvPr/>
        </p:nvSpPr>
        <p:spPr>
          <a:xfrm>
            <a:off x="3429000" y="1828800"/>
            <a:ext cx="2514600" cy="228600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730"/>
              </a:lnSpc>
              <a:spcBef>
                <a:spcPts val="0"/>
              </a:spcBef>
              <a:spcAft>
                <a:spcPts val="800"/>
              </a:spcAft>
            </a:pPr>
            <a:r>
              <a:rPr sz="2100" b="0" i="0" lang="ja-JP">
                <a:solidFill>
                  <a:srgbClr val="171717"/>
                </a:solidFill>
                <a:latin typeface="Noto Sans JP"/>
              </a:rPr>
              <a:t>生成モデル</a:t>
            </a:r>
          </a:p>
          <a:p>
            <a:pPr>
              <a:lnSpc>
                <a:spcPts val="2730"/>
              </a:lnSpc>
              <a:spcBef>
                <a:spcPts val="0"/>
              </a:spcBef>
              <a:spcAft>
                <a:spcPts val="800"/>
              </a:spcAft>
            </a:pPr>
            <a:r>
              <a:rPr sz="2100" b="0" i="0" lang="ja-JP">
                <a:solidFill>
                  <a:srgbClr val="171717"/>
                </a:solidFill>
                <a:latin typeface="Noto Sans JP"/>
              </a:rPr>
              <a:t>候補を生成する</a:t>
            </a:r>
          </a:p>
        </p:txBody>
      </p:sp>
      <p:sp>
        <p:nvSpPr>
          <p:cNvPr id="8" name="TextBox 7"/>
          <p:cNvSpPr txBox="1"/>
          <p:nvPr/>
        </p:nvSpPr>
        <p:spPr>
          <a:xfrm>
            <a:off x="5943600" y="2788920"/>
            <a:ext cx="274320" cy="457200"/>
          </a:xfrm>
          <a:prstGeom prst="rect">
            <a:avLst/>
          </a:prstGeom>
          <a:noFill/>
        </p:spPr>
        <p:txBody>
          <a:bodyPr wrap="square" lIns="0" rIns="0" tIns="0" bIns="0" anchor="t">
            <a:spAutoFit/>
          </a:bodyPr>
          <a:lstStyle/>
          <a:p>
            <a:pPr>
              <a:lnSpc>
                <a:spcPts val="3125"/>
              </a:lnSpc>
              <a:spcBef>
                <a:spcPts val="0"/>
              </a:spcBef>
              <a:spcAft>
                <a:spcPts val="0"/>
              </a:spcAft>
            </a:pPr>
            <a:r>
              <a:rPr sz="2500" b="1" i="0" lang="ja-JP">
                <a:solidFill>
                  <a:srgbClr val="171717"/>
                </a:solidFill>
                <a:latin typeface="Noto Sans JP"/>
              </a:rPr>
              <a:t>→</a:t>
            </a:r>
          </a:p>
        </p:txBody>
      </p:sp>
      <p:sp>
        <p:nvSpPr>
          <p:cNvPr id="9" name="Rounded Rectangle 8"/>
          <p:cNvSpPr/>
          <p:nvPr/>
        </p:nvSpPr>
        <p:spPr>
          <a:xfrm>
            <a:off x="6217920" y="1828800"/>
            <a:ext cx="2514600" cy="228600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730"/>
              </a:lnSpc>
              <a:spcBef>
                <a:spcPts val="0"/>
              </a:spcBef>
              <a:spcAft>
                <a:spcPts val="800"/>
              </a:spcAft>
            </a:pPr>
            <a:r>
              <a:rPr sz="2100" b="0" i="0" lang="ja-JP">
                <a:solidFill>
                  <a:srgbClr val="171717"/>
                </a:solidFill>
                <a:latin typeface="Noto Sans JP"/>
              </a:rPr>
              <a:t>MD</a:t>
            </a:r>
          </a:p>
          <a:p>
            <a:pPr>
              <a:lnSpc>
                <a:spcPts val="2730"/>
              </a:lnSpc>
              <a:spcBef>
                <a:spcPts val="0"/>
              </a:spcBef>
              <a:spcAft>
                <a:spcPts val="800"/>
              </a:spcAft>
            </a:pPr>
            <a:r>
              <a:rPr sz="2100" b="0" i="0" lang="ja-JP">
                <a:solidFill>
                  <a:srgbClr val="171717"/>
                </a:solidFill>
                <a:latin typeface="Noto Sans JP"/>
              </a:rPr>
              <a:t>選んだ候補を計算する</a:t>
            </a:r>
          </a:p>
        </p:txBody>
      </p:sp>
      <p:sp>
        <p:nvSpPr>
          <p:cNvPr id="10" name="TextBox 9"/>
          <p:cNvSpPr txBox="1"/>
          <p:nvPr/>
        </p:nvSpPr>
        <p:spPr>
          <a:xfrm>
            <a:off x="8732520" y="2788920"/>
            <a:ext cx="274320" cy="457200"/>
          </a:xfrm>
          <a:prstGeom prst="rect">
            <a:avLst/>
          </a:prstGeom>
          <a:noFill/>
        </p:spPr>
        <p:txBody>
          <a:bodyPr wrap="square" lIns="0" rIns="0" tIns="0" bIns="0" anchor="t">
            <a:spAutoFit/>
          </a:bodyPr>
          <a:lstStyle/>
          <a:p>
            <a:pPr>
              <a:lnSpc>
                <a:spcPts val="3125"/>
              </a:lnSpc>
              <a:spcBef>
                <a:spcPts val="0"/>
              </a:spcBef>
              <a:spcAft>
                <a:spcPts val="0"/>
              </a:spcAft>
            </a:pPr>
            <a:r>
              <a:rPr sz="2500" b="1" i="0" lang="ja-JP">
                <a:solidFill>
                  <a:srgbClr val="171717"/>
                </a:solidFill>
                <a:latin typeface="Noto Sans JP"/>
              </a:rPr>
              <a:t>→</a:t>
            </a:r>
          </a:p>
        </p:txBody>
      </p:sp>
      <p:sp>
        <p:nvSpPr>
          <p:cNvPr id="11" name="Rounded Rectangle 10"/>
          <p:cNvSpPr/>
          <p:nvPr/>
        </p:nvSpPr>
        <p:spPr>
          <a:xfrm>
            <a:off x="9006839" y="1828800"/>
            <a:ext cx="2514600" cy="228600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730"/>
              </a:lnSpc>
              <a:spcBef>
                <a:spcPts val="0"/>
              </a:spcBef>
              <a:spcAft>
                <a:spcPts val="800"/>
              </a:spcAft>
            </a:pPr>
            <a:r>
              <a:rPr sz="2100" b="0" i="0" lang="ja-JP">
                <a:solidFill>
                  <a:srgbClr val="171717"/>
                </a:solidFill>
                <a:latin typeface="Noto Sans JP"/>
              </a:rPr>
              <a:t>根拠</a:t>
            </a:r>
          </a:p>
          <a:p>
            <a:pPr>
              <a:lnSpc>
                <a:spcPts val="2730"/>
              </a:lnSpc>
              <a:spcBef>
                <a:spcPts val="0"/>
              </a:spcBef>
              <a:spcAft>
                <a:spcPts val="800"/>
              </a:spcAft>
            </a:pPr>
            <a:r>
              <a:rPr sz="2100" b="0" i="0" lang="ja-JP">
                <a:solidFill>
                  <a:srgbClr val="171717"/>
                </a:solidFill>
                <a:latin typeface="Noto Sans JP"/>
              </a:rPr>
              <a:t>不確実性とともに示す</a:t>
            </a:r>
          </a:p>
        </p:txBody>
      </p:sp>
      <p:sp>
        <p:nvSpPr>
          <p:cNvPr id="12" name="TextBox 11"/>
          <p:cNvSpPr txBox="1"/>
          <p:nvPr/>
        </p:nvSpPr>
        <p:spPr>
          <a:xfrm>
            <a:off x="731520" y="4572000"/>
            <a:ext cx="10698480" cy="1490472"/>
          </a:xfrm>
          <a:prstGeom prst="rect">
            <a:avLst/>
          </a:prstGeom>
          <a:noFill/>
        </p:spPr>
        <p:txBody>
          <a:bodyPr wrap="square" lIns="0" rIns="0" tIns="0" bIns="0" anchor="t">
            <a:spAutoFit/>
          </a:bodyPr>
          <a:lstStyle/>
          <a:p>
            <a:pPr>
              <a:lnSpc>
                <a:spcPts val="2990"/>
              </a:lnSpc>
              <a:spcBef>
                <a:spcPts val="0"/>
              </a:spcBef>
              <a:spcAft>
                <a:spcPts val="1200"/>
              </a:spcAft>
            </a:pPr>
            <a:r>
              <a:rPr sz="2300" b="0" i="0" lang="ja-JP">
                <a:solidFill>
                  <a:srgbClr val="171717"/>
                </a:solidFill>
                <a:latin typeface="Noto Sans JP"/>
              </a:rPr>
              <a:t>候補構造、初期構造集団、追加の探索が必要な領域を選ぶために、生成モデルを使う構想。</a:t>
            </a:r>
          </a:p>
          <a:p>
            <a:pPr>
              <a:lnSpc>
                <a:spcPts val="2990"/>
              </a:lnSpc>
              <a:spcBef>
                <a:spcPts val="0"/>
              </a:spcBef>
              <a:spcAft>
                <a:spcPts val="1200"/>
              </a:spcAft>
            </a:pPr>
            <a:r>
              <a:rPr sz="2300" b="0" i="0" lang="ja-JP">
                <a:solidFill>
                  <a:srgbClr val="171717"/>
                </a:solidFill>
                <a:latin typeface="Noto Sans JP"/>
              </a:rPr>
              <a:t>MDを重点的に使う対象を選び、その選択と結果を記録する。</a:t>
            </a:r>
          </a:p>
          <a:p>
            <a:pPr>
              <a:lnSpc>
                <a:spcPts val="2990"/>
              </a:lnSpc>
              <a:spcBef>
                <a:spcPts val="0"/>
              </a:spcBef>
              <a:spcAft>
                <a:spcPts val="1200"/>
              </a:spcAft>
            </a:pPr>
            <a:r>
              <a:rPr sz="2300" b="0" i="0" lang="ja-JP">
                <a:solidFill>
                  <a:srgbClr val="171717"/>
                </a:solidFill>
                <a:latin typeface="Noto Sans JP"/>
              </a:rPr>
              <a:t>この図全体の自動実行が実装・検証済みであることを示すものではない。</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
        <p:nvSpPr>
          <p:cNvPr id="3" name="TextBox 2"/>
          <p:cNvSpPr txBox="1"/>
          <p:nvPr/>
        </p:nvSpPr>
        <p:spPr>
          <a:xfrm>
            <a:off x="594360" y="667512"/>
            <a:ext cx="10972800" cy="658368"/>
          </a:xfrm>
          <a:prstGeom prst="rect">
            <a:avLst/>
          </a:prstGeom>
          <a:noFill/>
        </p:spPr>
        <p:txBody>
          <a:bodyPr wrap="square" lIns="0" rIns="0" tIns="0" bIns="0" anchor="t">
            <a:spAutoFit/>
          </a:bodyPr>
          <a:lstStyle/>
          <a:p>
            <a:pPr>
              <a:lnSpc>
                <a:spcPts val="3625"/>
              </a:lnSpc>
              <a:spcBef>
                <a:spcPts val="0"/>
              </a:spcBef>
              <a:spcAft>
                <a:spcPts val="0"/>
              </a:spcAft>
            </a:pPr>
            <a:r>
              <a:rPr sz="2900" b="1" i="0" lang="ja-JP">
                <a:solidFill>
                  <a:srgbClr val="171717"/>
                </a:solidFill>
                <a:latin typeface="Noto Sans JP"/>
              </a:rPr>
              <a:t>今後の構想：探索方法と力場の選択を、比較可能にする</a:t>
            </a:r>
          </a:p>
        </p:txBody>
      </p:sp>
      <p:sp>
        <p:nvSpPr>
          <p:cNvPr id="4" name="TextBox 3"/>
          <p:cNvSpPr txBox="1"/>
          <p:nvPr/>
        </p:nvSpPr>
        <p:spPr>
          <a:xfrm>
            <a:off x="11247120" y="6519672"/>
            <a:ext cx="502920" cy="228600"/>
          </a:xfrm>
          <a:prstGeom prst="rect">
            <a:avLst/>
          </a:prstGeom>
          <a:noFill/>
        </p:spPr>
        <p:txBody>
          <a:bodyPr wrap="square" lIns="0" rIns="0" tIns="0" bIns="0" anchor="t">
            <a:spAutoFit/>
          </a:bodyPr>
          <a:lstStyle/>
          <a:p>
            <a:pPr>
              <a:lnSpc>
                <a:spcPts val="1375"/>
              </a:lnSpc>
              <a:spcBef>
                <a:spcPts val="0"/>
              </a:spcBef>
              <a:spcAft>
                <a:spcPts val="0"/>
              </a:spcAft>
            </a:pPr>
            <a:r>
              <a:rPr sz="1100" b="0" i="0" lang="ja-JP">
                <a:solidFill>
                  <a:srgbClr val="171717"/>
                </a:solidFill>
                <a:latin typeface="Noto Sans JP"/>
              </a:rPr>
              <a:t>48</a:t>
            </a:r>
          </a:p>
        </p:txBody>
      </p:sp>
      <p:sp>
        <p:nvSpPr>
          <p:cNvPr id="5" name="Rounded Rectangle 4"/>
          <p:cNvSpPr/>
          <p:nvPr/>
        </p:nvSpPr>
        <p:spPr>
          <a:xfrm>
            <a:off x="685800" y="1691640"/>
            <a:ext cx="5212080" cy="356616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990"/>
              </a:lnSpc>
              <a:spcBef>
                <a:spcPts val="0"/>
              </a:spcBef>
              <a:spcAft>
                <a:spcPts val="800"/>
              </a:spcAft>
            </a:pPr>
            <a:r>
              <a:rPr sz="2300" b="0" i="0" lang="ja-JP">
                <a:solidFill>
                  <a:srgbClr val="171717"/>
                </a:solidFill>
                <a:latin typeface="Noto Sans JP"/>
              </a:rPr>
              <a:t>探索方法の比較</a:t>
            </a:r>
          </a:p>
          <a:p>
            <a:pPr>
              <a:lnSpc>
                <a:spcPts val="2990"/>
              </a:lnSpc>
              <a:spcBef>
                <a:spcPts val="0"/>
              </a:spcBef>
              <a:spcAft>
                <a:spcPts val="800"/>
              </a:spcAft>
            </a:pPr>
            <a:r>
              <a:rPr sz="2300" b="0" i="0" lang="ja-JP">
                <a:solidFill>
                  <a:srgbClr val="171717"/>
                </a:solidFill>
                <a:latin typeface="Noto Sans JP"/>
              </a:rPr>
              <a:t>OpenMMのTorchForceなどを使う拘束を候補とする。</a:t>
            </a:r>
          </a:p>
          <a:p>
            <a:pPr>
              <a:lnSpc>
                <a:spcPts val="2990"/>
              </a:lnSpc>
              <a:spcBef>
                <a:spcPts val="0"/>
              </a:spcBef>
              <a:spcAft>
                <a:spcPts val="800"/>
              </a:spcAft>
            </a:pPr>
            <a:r>
              <a:rPr sz="2300" b="0" i="0" lang="ja-JP">
                <a:solidFill>
                  <a:srgbClr val="171717"/>
                </a:solidFill>
                <a:latin typeface="Noto Sans JP"/>
              </a:rPr>
              <a:t>定義・係数・出力を記録し、どの条件で探索が改善するかを調べる。</a:t>
            </a:r>
          </a:p>
        </p:txBody>
      </p:sp>
      <p:sp>
        <p:nvSpPr>
          <p:cNvPr id="6" name="Rounded Rectangle 5"/>
          <p:cNvSpPr/>
          <p:nvPr/>
        </p:nvSpPr>
        <p:spPr>
          <a:xfrm>
            <a:off x="6217920" y="1691640"/>
            <a:ext cx="5212080" cy="356616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990"/>
              </a:lnSpc>
              <a:spcBef>
                <a:spcPts val="0"/>
              </a:spcBef>
              <a:spcAft>
                <a:spcPts val="800"/>
              </a:spcAft>
            </a:pPr>
            <a:r>
              <a:rPr sz="2300" b="0" i="0" lang="ja-JP">
                <a:solidFill>
                  <a:srgbClr val="171717"/>
                </a:solidFill>
                <a:latin typeface="Noto Sans JP"/>
              </a:rPr>
              <a:t>力場・モデルの比較</a:t>
            </a:r>
          </a:p>
          <a:p>
            <a:pPr>
              <a:lnSpc>
                <a:spcPts val="2990"/>
              </a:lnSpc>
              <a:spcBef>
                <a:spcPts val="0"/>
              </a:spcBef>
              <a:spcAft>
                <a:spcPts val="800"/>
              </a:spcAft>
            </a:pPr>
            <a:r>
              <a:rPr sz="2300" b="0" i="0" lang="ja-JP">
                <a:solidFill>
                  <a:srgbClr val="171717"/>
                </a:solidFill>
                <a:latin typeface="Noto Sans JP"/>
              </a:rPr>
              <a:t>同じ系から条件を分岐する。</a:t>
            </a:r>
          </a:p>
          <a:p>
            <a:pPr>
              <a:lnSpc>
                <a:spcPts val="2990"/>
              </a:lnSpc>
              <a:spcBef>
                <a:spcPts val="0"/>
              </a:spcBef>
              <a:spcAft>
                <a:spcPts val="800"/>
              </a:spcAft>
            </a:pPr>
            <a:r>
              <a:rPr sz="2300" b="0" i="0" lang="ja-JP">
                <a:solidFill>
                  <a:srgbClr val="171717"/>
                </a:solidFill>
                <a:latin typeface="Noto Sans JP"/>
              </a:rPr>
              <a:t>力場・水モデル・イオンモデルを変え、共通の観測量で評価する。</a:t>
            </a:r>
          </a:p>
        </p:txBody>
      </p:sp>
      <p:sp>
        <p:nvSpPr>
          <p:cNvPr id="7" name="TextBox 6"/>
          <p:cNvSpPr txBox="1"/>
          <p:nvPr/>
        </p:nvSpPr>
        <p:spPr>
          <a:xfrm>
            <a:off x="731520" y="5669280"/>
            <a:ext cx="10698480" cy="777240"/>
          </a:xfrm>
          <a:prstGeom prst="rect">
            <a:avLst/>
          </a:prstGeom>
          <a:noFill/>
        </p:spPr>
        <p:txBody>
          <a:bodyPr wrap="square" lIns="0" rIns="0" tIns="0" bIns="0" anchor="t">
            <a:spAutoFit/>
          </a:bodyPr>
          <a:lstStyle/>
          <a:p>
            <a:pPr>
              <a:lnSpc>
                <a:spcPts val="2990"/>
              </a:lnSpc>
              <a:spcBef>
                <a:spcPts val="0"/>
              </a:spcBef>
              <a:spcAft>
                <a:spcPts val="0"/>
              </a:spcAft>
            </a:pPr>
            <a:r>
              <a:rPr sz="2300" b="0" i="0" lang="ja-JP">
                <a:solidFill>
                  <a:srgbClr val="171717"/>
                </a:solidFill>
                <a:latin typeface="Noto Sans JP"/>
              </a:rPr>
              <a:t>検討中の方向性。分岐を記録できることと、最適な条件を自動で発見できることは別。</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
        <p:nvSpPr>
          <p:cNvPr id="3" name="TextBox 2"/>
          <p:cNvSpPr txBox="1"/>
          <p:nvPr/>
        </p:nvSpPr>
        <p:spPr>
          <a:xfrm>
            <a:off x="594360" y="667512"/>
            <a:ext cx="10972800" cy="658368"/>
          </a:xfrm>
          <a:prstGeom prst="rect">
            <a:avLst/>
          </a:prstGeom>
          <a:noFill/>
        </p:spPr>
        <p:txBody>
          <a:bodyPr wrap="square" lIns="0" rIns="0" tIns="0" bIns="0" anchor="t">
            <a:spAutoFit/>
          </a:bodyPr>
          <a:lstStyle/>
          <a:p>
            <a:pPr>
              <a:lnSpc>
                <a:spcPts val="3625"/>
              </a:lnSpc>
              <a:spcBef>
                <a:spcPts val="0"/>
              </a:spcBef>
              <a:spcAft>
                <a:spcPts val="0"/>
              </a:spcAft>
            </a:pPr>
            <a:r>
              <a:rPr sz="2900" b="1" i="0" lang="ja-JP">
                <a:solidFill>
                  <a:srgbClr val="171717"/>
                </a:solidFill>
                <a:latin typeface="Noto Sans JP"/>
              </a:rPr>
              <a:t>既存の科学計算ソフトウェアを、記録付きで呼び出す</a:t>
            </a:r>
          </a:p>
        </p:txBody>
      </p:sp>
      <p:sp>
        <p:nvSpPr>
          <p:cNvPr id="4" name="TextBox 3"/>
          <p:cNvSpPr txBox="1"/>
          <p:nvPr/>
        </p:nvSpPr>
        <p:spPr>
          <a:xfrm>
            <a:off x="11247120" y="6519672"/>
            <a:ext cx="502920" cy="228600"/>
          </a:xfrm>
          <a:prstGeom prst="rect">
            <a:avLst/>
          </a:prstGeom>
          <a:noFill/>
        </p:spPr>
        <p:txBody>
          <a:bodyPr wrap="square" lIns="0" rIns="0" tIns="0" bIns="0" anchor="t">
            <a:spAutoFit/>
          </a:bodyPr>
          <a:lstStyle/>
          <a:p>
            <a:pPr>
              <a:lnSpc>
                <a:spcPts val="1375"/>
              </a:lnSpc>
              <a:spcBef>
                <a:spcPts val="0"/>
              </a:spcBef>
              <a:spcAft>
                <a:spcPts val="0"/>
              </a:spcAft>
            </a:pPr>
            <a:r>
              <a:rPr sz="1100" b="0" i="0" lang="ja-JP">
                <a:solidFill>
                  <a:srgbClr val="171717"/>
                </a:solidFill>
                <a:latin typeface="Noto Sans JP"/>
              </a:rPr>
              <a:t>49</a:t>
            </a:r>
          </a:p>
        </p:txBody>
      </p:sp>
      <p:sp>
        <p:nvSpPr>
          <p:cNvPr id="5" name="TextBox 4"/>
          <p:cNvSpPr txBox="1"/>
          <p:nvPr/>
        </p:nvSpPr>
        <p:spPr>
          <a:xfrm>
            <a:off x="685800" y="1508760"/>
            <a:ext cx="5532120" cy="4526280"/>
          </a:xfrm>
          <a:prstGeom prst="rect">
            <a:avLst/>
          </a:prstGeom>
          <a:noFill/>
        </p:spPr>
        <p:txBody>
          <a:bodyPr wrap="square" lIns="0" rIns="0" tIns="0" bIns="0" anchor="t">
            <a:spAutoFit/>
          </a:bodyPr>
          <a:lstStyle/>
          <a:p>
            <a:pPr>
              <a:lnSpc>
                <a:spcPts val="2970"/>
              </a:lnSpc>
              <a:spcBef>
                <a:spcPts val="0"/>
              </a:spcBef>
              <a:spcAft>
                <a:spcPts val="1500"/>
              </a:spcAft>
            </a:pPr>
            <a:r>
              <a:rPr sz="2200" b="0" i="0" lang="ja-JP">
                <a:solidFill>
                  <a:srgbClr val="171717"/>
                </a:solidFill>
                <a:latin typeface="Noto Sans JP"/>
              </a:rPr>
              <a:t>入力・知識：PDB、UniProt、PubChemなど。</a:t>
            </a:r>
          </a:p>
          <a:p>
            <a:pPr>
              <a:lnSpc>
                <a:spcPts val="2970"/>
              </a:lnSpc>
              <a:spcBef>
                <a:spcPts val="0"/>
              </a:spcBef>
              <a:spcAft>
                <a:spcPts val="1500"/>
              </a:spcAft>
            </a:pPr>
            <a:r>
              <a:rPr sz="2200" b="0" i="0" lang="ja-JP">
                <a:solidFill>
                  <a:srgbClr val="171717"/>
                </a:solidFill>
                <a:latin typeface="Noto Sans JP"/>
              </a:rPr>
              <a:t>準備：PDBFixer、PROPKA、RDKitなど。</a:t>
            </a:r>
          </a:p>
          <a:p>
            <a:pPr>
              <a:lnSpc>
                <a:spcPts val="2970"/>
              </a:lnSpc>
              <a:spcBef>
                <a:spcPts val="0"/>
              </a:spcBef>
              <a:spcAft>
                <a:spcPts val="1500"/>
              </a:spcAft>
            </a:pPr>
            <a:r>
              <a:rPr sz="2200" b="0" i="0" lang="ja-JP">
                <a:solidFill>
                  <a:srgbClr val="171717"/>
                </a:solidFill>
                <a:latin typeface="Noto Sans JP"/>
              </a:rPr>
              <a:t>水和・膜：Packmolなど。</a:t>
            </a:r>
          </a:p>
          <a:p>
            <a:pPr>
              <a:lnSpc>
                <a:spcPts val="2970"/>
              </a:lnSpc>
              <a:spcBef>
                <a:spcPts val="0"/>
              </a:spcBef>
              <a:spcAft>
                <a:spcPts val="1500"/>
              </a:spcAft>
            </a:pPr>
            <a:r>
              <a:rPr sz="2200" b="0" i="0" lang="ja-JP">
                <a:solidFill>
                  <a:srgbClr val="171717"/>
                </a:solidFill>
                <a:latin typeface="Noto Sans JP"/>
              </a:rPr>
              <a:t>力場・計算：AmberTools、OpenMMなど。</a:t>
            </a:r>
          </a:p>
          <a:p>
            <a:pPr>
              <a:lnSpc>
                <a:spcPts val="2970"/>
              </a:lnSpc>
              <a:spcBef>
                <a:spcPts val="0"/>
              </a:spcBef>
              <a:spcAft>
                <a:spcPts val="1500"/>
              </a:spcAft>
            </a:pPr>
            <a:r>
              <a:rPr sz="2200" b="0" i="0" lang="ja-JP">
                <a:solidFill>
                  <a:srgbClr val="171717"/>
                </a:solidFill>
                <a:latin typeface="Noto Sans JP"/>
              </a:rPr>
              <a:t>解析・可視化：MDTraj、PyMOLなど。</a:t>
            </a:r>
          </a:p>
          <a:p>
            <a:pPr>
              <a:lnSpc>
                <a:spcPts val="2970"/>
              </a:lnSpc>
              <a:spcBef>
                <a:spcPts val="0"/>
              </a:spcBef>
              <a:spcAft>
                <a:spcPts val="1500"/>
              </a:spcAft>
            </a:pPr>
            <a:r>
              <a:rPr sz="2200" b="0" i="0" lang="ja-JP">
                <a:solidFill>
                  <a:srgbClr val="171717"/>
                </a:solidFill>
                <a:latin typeface="Noto Sans JP"/>
              </a:rPr>
              <a:t>実行環境：コンテナやSLURMなど。</a:t>
            </a:r>
          </a:p>
        </p:txBody>
      </p:sp>
      <p:pic>
        <p:nvPicPr>
          <p:cNvPr id="6" name="Picture 5" descr="image.png"/>
          <p:cNvPicPr>
            <a:picLocks noChangeAspect="1"/>
          </p:cNvPicPr>
          <p:nvPr/>
        </p:nvPicPr>
        <p:blipFill>
          <a:blip r:embed="rId3"/>
          <a:stretch>
            <a:fillRect/>
          </a:stretch>
        </p:blipFill>
        <p:spPr>
          <a:xfrm>
            <a:off x="6492240" y="1984248"/>
            <a:ext cx="5029200" cy="3621024"/>
          </a:xfrm>
          <a:prstGeom prst="rect">
            <a:avLst/>
          </a:prstGeom>
        </p:spPr>
      </p:pic>
      <p:sp>
        <p:nvSpPr>
          <p:cNvPr id="7" name="TextBox 6"/>
          <p:cNvSpPr txBox="1"/>
          <p:nvPr/>
        </p:nvSpPr>
        <p:spPr>
          <a:xfrm>
            <a:off x="731520" y="6199632"/>
            <a:ext cx="10789920" cy="320040"/>
          </a:xfrm>
          <a:prstGeom prst="rect">
            <a:avLst/>
          </a:prstGeom>
          <a:noFill/>
        </p:spPr>
        <p:txBody>
          <a:bodyPr wrap="square" lIns="0" rIns="0" tIns="0" bIns="0" anchor="t">
            <a:spAutoFit/>
          </a:bodyPr>
          <a:lstStyle/>
          <a:p>
            <a:pPr>
              <a:lnSpc>
                <a:spcPts val="2125"/>
              </a:lnSpc>
              <a:spcBef>
                <a:spcPts val="0"/>
              </a:spcBef>
              <a:spcAft>
                <a:spcPts val="0"/>
              </a:spcAft>
            </a:pPr>
            <a:r>
              <a:rPr sz="1700" b="0" i="0" lang="ja-JP">
                <a:solidFill>
                  <a:srgbClr val="171717"/>
                </a:solidFill>
                <a:latin typeface="Noto Sans JP"/>
              </a:rPr>
              <a:t>エージェントが物理計算を置き換えるのではなく、既存の道具を呼び、条件と結果を記録する。</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
        <p:nvSpPr>
          <p:cNvPr id="3" name="TextBox 2"/>
          <p:cNvSpPr txBox="1"/>
          <p:nvPr/>
        </p:nvSpPr>
        <p:spPr>
          <a:xfrm>
            <a:off x="594360" y="667512"/>
            <a:ext cx="10972800" cy="658368"/>
          </a:xfrm>
          <a:prstGeom prst="rect">
            <a:avLst/>
          </a:prstGeom>
          <a:noFill/>
        </p:spPr>
        <p:txBody>
          <a:bodyPr wrap="square" lIns="0" rIns="0" tIns="0" bIns="0" anchor="t">
            <a:spAutoFit/>
          </a:bodyPr>
          <a:lstStyle/>
          <a:p>
            <a:pPr>
              <a:lnSpc>
                <a:spcPts val="3625"/>
              </a:lnSpc>
              <a:spcBef>
                <a:spcPts val="0"/>
              </a:spcBef>
              <a:spcAft>
                <a:spcPts val="0"/>
              </a:spcAft>
            </a:pPr>
            <a:r>
              <a:rPr sz="2900" b="1" i="0" lang="ja-JP">
                <a:solidFill>
                  <a:srgbClr val="171717"/>
                </a:solidFill>
                <a:latin typeface="Noto Sans JP"/>
              </a:rPr>
              <a:t>実行前の検査で、不整合と運用上の制約を伝える</a:t>
            </a:r>
          </a:p>
        </p:txBody>
      </p:sp>
      <p:sp>
        <p:nvSpPr>
          <p:cNvPr id="4" name="TextBox 3"/>
          <p:cNvSpPr txBox="1"/>
          <p:nvPr/>
        </p:nvSpPr>
        <p:spPr>
          <a:xfrm>
            <a:off x="11247120" y="6519672"/>
            <a:ext cx="502920" cy="228600"/>
          </a:xfrm>
          <a:prstGeom prst="rect">
            <a:avLst/>
          </a:prstGeom>
          <a:noFill/>
        </p:spPr>
        <p:txBody>
          <a:bodyPr wrap="square" lIns="0" rIns="0" tIns="0" bIns="0" anchor="t">
            <a:spAutoFit/>
          </a:bodyPr>
          <a:lstStyle/>
          <a:p>
            <a:pPr>
              <a:lnSpc>
                <a:spcPts val="1375"/>
              </a:lnSpc>
              <a:spcBef>
                <a:spcPts val="0"/>
              </a:spcBef>
              <a:spcAft>
                <a:spcPts val="0"/>
              </a:spcAft>
            </a:pPr>
            <a:r>
              <a:rPr sz="1100" b="0" i="0" lang="ja-JP">
                <a:solidFill>
                  <a:srgbClr val="171717"/>
                </a:solidFill>
                <a:latin typeface="Noto Sans JP"/>
              </a:rPr>
              <a:t>50</a:t>
            </a:r>
          </a:p>
        </p:txBody>
      </p:sp>
      <p:sp>
        <p:nvSpPr>
          <p:cNvPr id="5" name="Rounded Rectangle 4"/>
          <p:cNvSpPr/>
          <p:nvPr/>
        </p:nvSpPr>
        <p:spPr>
          <a:xfrm>
            <a:off x="685800" y="1600200"/>
            <a:ext cx="5212080" cy="292608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990"/>
              </a:lnSpc>
              <a:spcBef>
                <a:spcPts val="0"/>
              </a:spcBef>
              <a:spcAft>
                <a:spcPts val="800"/>
              </a:spcAft>
            </a:pPr>
            <a:r>
              <a:rPr sz="2300" b="0" i="0" lang="ja-JP">
                <a:solidFill>
                  <a:srgbClr val="171717"/>
                </a:solidFill>
                <a:latin typeface="Noto Sans JP"/>
              </a:rPr>
              <a:t>検査結果を構造化する</a:t>
            </a:r>
          </a:p>
          <a:p>
            <a:pPr>
              <a:lnSpc>
                <a:spcPts val="2990"/>
              </a:lnSpc>
              <a:spcBef>
                <a:spcPts val="0"/>
              </a:spcBef>
              <a:spcAft>
                <a:spcPts val="800"/>
              </a:spcAft>
            </a:pPr>
            <a:r>
              <a:rPr sz="2300" b="0" i="0" lang="ja-JP">
                <a:solidFill>
                  <a:srgbClr val="171717"/>
                </a:solidFill>
                <a:latin typeface="Noto Sans JP"/>
              </a:rPr>
              <a:t>対象項目／理由／重要度</a:t>
            </a:r>
          </a:p>
          <a:p>
            <a:pPr>
              <a:lnSpc>
                <a:spcPts val="2990"/>
              </a:lnSpc>
              <a:spcBef>
                <a:spcPts val="0"/>
              </a:spcBef>
              <a:spcAft>
                <a:spcPts val="800"/>
              </a:spcAft>
            </a:pPr>
            <a:r>
              <a:rPr sz="2300" b="0" i="0" lang="ja-JP">
                <a:solidFill>
                  <a:srgbClr val="171717"/>
                </a:solidFill>
                <a:latin typeface="Noto Sans JP"/>
              </a:rPr>
              <a:t>実際の値と期待する値</a:t>
            </a:r>
          </a:p>
          <a:p>
            <a:pPr>
              <a:lnSpc>
                <a:spcPts val="2990"/>
              </a:lnSpc>
              <a:spcBef>
                <a:spcPts val="0"/>
              </a:spcBef>
              <a:spcAft>
                <a:spcPts val="800"/>
              </a:spcAft>
            </a:pPr>
            <a:r>
              <a:rPr sz="2300" b="0" i="0" lang="ja-JP">
                <a:solidFill>
                  <a:srgbClr val="171717"/>
                </a:solidFill>
                <a:latin typeface="Noto Sans JP"/>
              </a:rPr>
              <a:t>修正候補／エラーコード</a:t>
            </a:r>
          </a:p>
        </p:txBody>
      </p:sp>
      <p:sp>
        <p:nvSpPr>
          <p:cNvPr id="6" name="Rounded Rectangle 5"/>
          <p:cNvSpPr/>
          <p:nvPr/>
        </p:nvSpPr>
        <p:spPr>
          <a:xfrm>
            <a:off x="6217920" y="1600200"/>
            <a:ext cx="5212080" cy="292608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990"/>
              </a:lnSpc>
              <a:spcBef>
                <a:spcPts val="0"/>
              </a:spcBef>
              <a:spcAft>
                <a:spcPts val="800"/>
              </a:spcAft>
            </a:pPr>
            <a:r>
              <a:rPr sz="2300" b="0" i="0" lang="ja-JP">
                <a:solidFill>
                  <a:srgbClr val="171717"/>
                </a:solidFill>
                <a:latin typeface="Noto Sans JP"/>
              </a:rPr>
              <a:t>次の段階への入力を明確にする</a:t>
            </a:r>
          </a:p>
          <a:p>
            <a:pPr>
              <a:lnSpc>
                <a:spcPts val="2990"/>
              </a:lnSpc>
              <a:spcBef>
                <a:spcPts val="0"/>
              </a:spcBef>
              <a:spcAft>
                <a:spcPts val="800"/>
              </a:spcAft>
            </a:pPr>
            <a:r>
              <a:rPr sz="2300" b="0" i="0" lang="ja-JP">
                <a:solidFill>
                  <a:srgbClr val="171717"/>
                </a:solidFill>
                <a:latin typeface="Noto Sans JP"/>
              </a:rPr>
              <a:t>準備：化学状態と判断を記録</a:t>
            </a:r>
          </a:p>
          <a:p>
            <a:pPr>
              <a:lnSpc>
                <a:spcPts val="2990"/>
              </a:lnSpc>
              <a:spcBef>
                <a:spcPts val="0"/>
              </a:spcBef>
              <a:spcAft>
                <a:spcPts val="800"/>
              </a:spcAft>
            </a:pPr>
            <a:r>
              <a:rPr sz="2300" b="0" i="0" lang="ja-JP">
                <a:solidFill>
                  <a:srgbClr val="171717"/>
                </a:solidFill>
                <a:latin typeface="Noto Sans JP"/>
              </a:rPr>
              <a:t>力場設定：相互作用を定義</a:t>
            </a:r>
          </a:p>
          <a:p>
            <a:pPr>
              <a:lnSpc>
                <a:spcPts val="2990"/>
              </a:lnSpc>
              <a:spcBef>
                <a:spcPts val="0"/>
              </a:spcBef>
              <a:spcAft>
                <a:spcPts val="800"/>
              </a:spcAft>
            </a:pPr>
            <a:r>
              <a:rPr sz="2300" b="0" i="0" lang="ja-JP">
                <a:solidFill>
                  <a:srgbClr val="171717"/>
                </a:solidFill>
                <a:latin typeface="Noto Sans JP"/>
              </a:rPr>
              <a:t>以後の計算：登録された出力を読む</a:t>
            </a:r>
          </a:p>
        </p:txBody>
      </p:sp>
      <p:sp>
        <p:nvSpPr>
          <p:cNvPr id="7" name="TextBox 6"/>
          <p:cNvSpPr txBox="1"/>
          <p:nvPr/>
        </p:nvSpPr>
        <p:spPr>
          <a:xfrm>
            <a:off x="731520" y="4846320"/>
            <a:ext cx="10698480" cy="502920"/>
          </a:xfrm>
          <a:prstGeom prst="rect">
            <a:avLst/>
          </a:prstGeom>
          <a:noFill/>
        </p:spPr>
        <p:txBody>
          <a:bodyPr wrap="square" lIns="0" rIns="0" tIns="0" bIns="0" anchor="t">
            <a:spAutoFit/>
          </a:bodyPr>
          <a:lstStyle/>
          <a:p>
            <a:pPr>
              <a:lnSpc>
                <a:spcPts val="2500"/>
              </a:lnSpc>
              <a:spcBef>
                <a:spcPts val="0"/>
              </a:spcBef>
              <a:spcAft>
                <a:spcPts val="0"/>
              </a:spcAft>
            </a:pPr>
            <a:r>
              <a:rPr sz="2000" b="1" i="0" lang="ja-JP">
                <a:solidFill>
                  <a:srgbClr val="171717"/>
                </a:solidFill>
                <a:latin typeface="Noto Sans JP"/>
              </a:rPr>
              <a:t>例：forcefield_water_blocked　ff19SB + TIP3P → 規定では ff19SB + OPC</a:t>
            </a:r>
          </a:p>
        </p:txBody>
      </p:sp>
      <p:sp>
        <p:nvSpPr>
          <p:cNvPr id="8" name="TextBox 7"/>
          <p:cNvSpPr txBox="1"/>
          <p:nvPr/>
        </p:nvSpPr>
        <p:spPr>
          <a:xfrm>
            <a:off x="731520" y="5486400"/>
            <a:ext cx="10698480" cy="822960"/>
          </a:xfrm>
          <a:prstGeom prst="rect">
            <a:avLst/>
          </a:prstGeom>
          <a:noFill/>
        </p:spPr>
        <p:txBody>
          <a:bodyPr wrap="square" lIns="0" rIns="0" tIns="0" bIns="0" anchor="t">
            <a:spAutoFit/>
          </a:bodyPr>
          <a:lstStyle/>
          <a:p>
            <a:pPr>
              <a:lnSpc>
                <a:spcPts val="2990"/>
              </a:lnSpc>
              <a:spcBef>
                <a:spcPts val="0"/>
              </a:spcBef>
              <a:spcAft>
                <a:spcPts val="0"/>
              </a:spcAft>
            </a:pPr>
            <a:r>
              <a:rPr sz="2300" b="0" i="0" lang="ja-JP">
                <a:solidFill>
                  <a:srgbClr val="171717"/>
                </a:solidFill>
                <a:latin typeface="Noto Sans JP"/>
              </a:rPr>
              <a:t>この組合せを止めるのは、当該ワークフローの運用規約。科学的にその組合せが絶対に使えない、という意味ではない。</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
        <p:nvSpPr>
          <p:cNvPr id="3" name="TextBox 2"/>
          <p:cNvSpPr txBox="1"/>
          <p:nvPr/>
        </p:nvSpPr>
        <p:spPr>
          <a:xfrm>
            <a:off x="594360" y="667512"/>
            <a:ext cx="10972800" cy="658368"/>
          </a:xfrm>
          <a:prstGeom prst="rect">
            <a:avLst/>
          </a:prstGeom>
          <a:noFill/>
        </p:spPr>
        <p:txBody>
          <a:bodyPr wrap="square" lIns="0" rIns="0" tIns="0" bIns="0" anchor="t">
            <a:spAutoFit/>
          </a:bodyPr>
          <a:lstStyle/>
          <a:p>
            <a:pPr>
              <a:lnSpc>
                <a:spcPts val="3625"/>
              </a:lnSpc>
              <a:spcBef>
                <a:spcPts val="0"/>
              </a:spcBef>
              <a:spcAft>
                <a:spcPts val="0"/>
              </a:spcAft>
            </a:pPr>
            <a:r>
              <a:rPr sz="2900" b="1" i="0" lang="ja-JP">
                <a:solidFill>
                  <a:srgbClr val="171717"/>
                </a:solidFill>
                <a:latin typeface="Noto Sans JP"/>
              </a:rPr>
              <a:t>記録を読む：問いから成果物までの対応を確かめる</a:t>
            </a:r>
          </a:p>
        </p:txBody>
      </p:sp>
      <p:sp>
        <p:nvSpPr>
          <p:cNvPr id="4" name="TextBox 3"/>
          <p:cNvSpPr txBox="1"/>
          <p:nvPr/>
        </p:nvSpPr>
        <p:spPr>
          <a:xfrm>
            <a:off x="11247120" y="6519672"/>
            <a:ext cx="502920" cy="228600"/>
          </a:xfrm>
          <a:prstGeom prst="rect">
            <a:avLst/>
          </a:prstGeom>
          <a:noFill/>
        </p:spPr>
        <p:txBody>
          <a:bodyPr wrap="square" lIns="0" rIns="0" tIns="0" bIns="0" anchor="t">
            <a:spAutoFit/>
          </a:bodyPr>
          <a:lstStyle/>
          <a:p>
            <a:pPr>
              <a:lnSpc>
                <a:spcPts val="1375"/>
              </a:lnSpc>
              <a:spcBef>
                <a:spcPts val="0"/>
              </a:spcBef>
              <a:spcAft>
                <a:spcPts val="0"/>
              </a:spcAft>
            </a:pPr>
            <a:r>
              <a:rPr sz="1100" b="0" i="0" lang="ja-JP">
                <a:solidFill>
                  <a:srgbClr val="171717"/>
                </a:solidFill>
                <a:latin typeface="Noto Sans JP"/>
              </a:rPr>
              <a:t>51</a:t>
            </a:r>
          </a:p>
        </p:txBody>
      </p:sp>
      <p:pic>
        <p:nvPicPr>
          <p:cNvPr id="5" name="Picture 4" descr="record-flow.png"/>
          <p:cNvPicPr>
            <a:picLocks noChangeAspect="1"/>
          </p:cNvPicPr>
          <p:nvPr/>
        </p:nvPicPr>
        <p:blipFill>
          <a:blip r:embed="rId4"/>
          <a:stretch>
            <a:fillRect/>
          </a:stretch>
        </p:blipFill>
        <p:spPr>
          <a:xfrm>
            <a:off x="594360" y="2093545"/>
            <a:ext cx="7680960" cy="3310989"/>
          </a:xfrm>
          <a:prstGeom prst="rect">
            <a:avLst/>
          </a:prstGeom>
        </p:spPr>
      </p:pic>
      <p:sp>
        <p:nvSpPr>
          <p:cNvPr id="6" name="TextBox 5"/>
          <p:cNvSpPr txBox="1"/>
          <p:nvPr/>
        </p:nvSpPr>
        <p:spPr>
          <a:xfrm>
            <a:off x="8549640" y="1645920"/>
            <a:ext cx="2926080" cy="4480560"/>
          </a:xfrm>
          <a:prstGeom prst="rect">
            <a:avLst/>
          </a:prstGeom>
          <a:noFill/>
        </p:spPr>
        <p:txBody>
          <a:bodyPr wrap="square" lIns="0" rIns="0" tIns="0" bIns="0" anchor="t">
            <a:spAutoFit/>
          </a:bodyPr>
          <a:lstStyle/>
          <a:p>
            <a:pPr>
              <a:lnSpc>
                <a:spcPts val="2560"/>
              </a:lnSpc>
              <a:spcBef>
                <a:spcPts val="0"/>
              </a:spcBef>
              <a:spcAft>
                <a:spcPts val="1400"/>
              </a:spcAft>
            </a:pPr>
            <a:r>
              <a:rPr sz="2000" b="0" i="0" lang="ja-JP">
                <a:solidFill>
                  <a:srgbClr val="171717"/>
                </a:solidFill>
                <a:latin typeface="Noto Sans JP"/>
              </a:rPr>
              <a:t>問い：何を比べたか。</a:t>
            </a:r>
          </a:p>
          <a:p>
            <a:pPr>
              <a:lnSpc>
                <a:spcPts val="2560"/>
              </a:lnSpc>
              <a:spcBef>
                <a:spcPts val="0"/>
              </a:spcBef>
              <a:spcAft>
                <a:spcPts val="1400"/>
              </a:spcAft>
            </a:pPr>
            <a:r>
              <a:rPr sz="2000" b="0" i="0" lang="ja-JP">
                <a:solidFill>
                  <a:srgbClr val="171717"/>
                </a:solidFill>
                <a:latin typeface="Noto Sans JP"/>
              </a:rPr>
              <a:t>計画：観測量と判定基準は何か。</a:t>
            </a:r>
          </a:p>
          <a:p>
            <a:pPr>
              <a:lnSpc>
                <a:spcPts val="2560"/>
              </a:lnSpc>
              <a:spcBef>
                <a:spcPts val="0"/>
              </a:spcBef>
              <a:spcAft>
                <a:spcPts val="1400"/>
              </a:spcAft>
            </a:pPr>
            <a:r>
              <a:rPr sz="2000" b="0" i="0" lang="ja-JP">
                <a:solidFill>
                  <a:srgbClr val="171717"/>
                </a:solidFill>
                <a:latin typeface="Noto Sans JP"/>
              </a:rPr>
              <a:t>計算：どの入力と設定を使ったか。</a:t>
            </a:r>
          </a:p>
          <a:p>
            <a:pPr>
              <a:lnSpc>
                <a:spcPts val="2560"/>
              </a:lnSpc>
              <a:spcBef>
                <a:spcPts val="0"/>
              </a:spcBef>
              <a:spcAft>
                <a:spcPts val="1400"/>
              </a:spcAft>
            </a:pPr>
            <a:r>
              <a:rPr sz="2000" b="0" i="0" lang="ja-JP">
                <a:solidFill>
                  <a:srgbClr val="171717"/>
                </a:solidFill>
                <a:latin typeface="Noto Sans JP"/>
              </a:rPr>
              <a:t>解釈：どの成果物が結論を支えるか。</a:t>
            </a:r>
          </a:p>
          <a:p>
            <a:pPr>
              <a:lnSpc>
                <a:spcPts val="2560"/>
              </a:lnSpc>
              <a:spcBef>
                <a:spcPts val="0"/>
              </a:spcBef>
              <a:spcAft>
                <a:spcPts val="1400"/>
              </a:spcAft>
            </a:pPr>
            <a:r>
              <a:rPr sz="2000" b="0" i="0" lang="ja-JP">
                <a:solidFill>
                  <a:srgbClr val="171717"/>
                </a:solidFill>
                <a:latin typeface="Noto Sans JP"/>
              </a:rPr>
              <a:t>各段階の記録を照合し、説明だけで判断しない。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
        <p:nvSpPr>
          <p:cNvPr id="3" name="TextBox 2"/>
          <p:cNvSpPr txBox="1"/>
          <p:nvPr/>
        </p:nvSpPr>
        <p:spPr>
          <a:xfrm>
            <a:off x="594360" y="667512"/>
            <a:ext cx="10972800" cy="658368"/>
          </a:xfrm>
          <a:prstGeom prst="rect">
            <a:avLst/>
          </a:prstGeom>
          <a:noFill/>
        </p:spPr>
        <p:txBody>
          <a:bodyPr wrap="square" lIns="0" rIns="0" tIns="0" bIns="0" anchor="t">
            <a:spAutoFit/>
          </a:bodyPr>
          <a:lstStyle/>
          <a:p>
            <a:pPr>
              <a:lnSpc>
                <a:spcPts val="3625"/>
              </a:lnSpc>
              <a:spcBef>
                <a:spcPts val="0"/>
              </a:spcBef>
              <a:spcAft>
                <a:spcPts val="0"/>
              </a:spcAft>
            </a:pPr>
            <a:r>
              <a:rPr sz="2900" b="1" i="0" lang="ja-JP">
                <a:solidFill>
                  <a:srgbClr val="171717"/>
                </a:solidFill>
                <a:latin typeface="Noto Sans JP"/>
              </a:rPr>
              <a:t>記録を読む：共通の入力と、変更した条件をたどる</a:t>
            </a:r>
          </a:p>
        </p:txBody>
      </p:sp>
      <p:sp>
        <p:nvSpPr>
          <p:cNvPr id="4" name="TextBox 3"/>
          <p:cNvSpPr txBox="1"/>
          <p:nvPr/>
        </p:nvSpPr>
        <p:spPr>
          <a:xfrm>
            <a:off x="11247120" y="6519672"/>
            <a:ext cx="502920" cy="228600"/>
          </a:xfrm>
          <a:prstGeom prst="rect">
            <a:avLst/>
          </a:prstGeom>
          <a:noFill/>
        </p:spPr>
        <p:txBody>
          <a:bodyPr wrap="square" lIns="0" rIns="0" tIns="0" bIns="0" anchor="t">
            <a:spAutoFit/>
          </a:bodyPr>
          <a:lstStyle/>
          <a:p>
            <a:pPr>
              <a:lnSpc>
                <a:spcPts val="1375"/>
              </a:lnSpc>
              <a:spcBef>
                <a:spcPts val="0"/>
              </a:spcBef>
              <a:spcAft>
                <a:spcPts val="0"/>
              </a:spcAft>
            </a:pPr>
            <a:r>
              <a:rPr sz="1100" b="0" i="0" lang="ja-JP">
                <a:solidFill>
                  <a:srgbClr val="171717"/>
                </a:solidFill>
                <a:latin typeface="Noto Sans JP"/>
              </a:rPr>
              <a:t>52</a:t>
            </a:r>
          </a:p>
        </p:txBody>
      </p:sp>
      <p:pic>
        <p:nvPicPr>
          <p:cNvPr id="5" name="Picture 4" descr="record-branches.png"/>
          <p:cNvPicPr>
            <a:picLocks noChangeAspect="1"/>
          </p:cNvPicPr>
          <p:nvPr/>
        </p:nvPicPr>
        <p:blipFill>
          <a:blip r:embed="rId6"/>
          <a:stretch>
            <a:fillRect/>
          </a:stretch>
        </p:blipFill>
        <p:spPr>
          <a:xfrm>
            <a:off x="502920" y="1748109"/>
            <a:ext cx="7772400" cy="4001860"/>
          </a:xfrm>
          <a:prstGeom prst="rect">
            <a:avLst/>
          </a:prstGeom>
        </p:spPr>
      </p:pic>
      <p:sp>
        <p:nvSpPr>
          <p:cNvPr id="6" name="TextBox 5"/>
          <p:cNvSpPr txBox="1"/>
          <p:nvPr/>
        </p:nvSpPr>
        <p:spPr>
          <a:xfrm>
            <a:off x="8549640" y="1691640"/>
            <a:ext cx="2926080" cy="4389120"/>
          </a:xfrm>
          <a:prstGeom prst="rect">
            <a:avLst/>
          </a:prstGeom>
          <a:noFill/>
        </p:spPr>
        <p:txBody>
          <a:bodyPr wrap="square" lIns="0" rIns="0" tIns="0" bIns="0" anchor="t">
            <a:spAutoFit/>
          </a:bodyPr>
          <a:lstStyle/>
          <a:p>
            <a:pPr>
              <a:lnSpc>
                <a:spcPts val="2600"/>
              </a:lnSpc>
              <a:spcBef>
                <a:spcPts val="0"/>
              </a:spcBef>
              <a:spcAft>
                <a:spcPts val="1500"/>
              </a:spcAft>
            </a:pPr>
            <a:r>
              <a:rPr sz="2000" b="0" i="0" lang="ja-JP">
                <a:solidFill>
                  <a:srgbClr val="171717"/>
                </a:solidFill>
                <a:latin typeface="Noto Sans JP"/>
              </a:rPr>
              <a:t>分岐の前：共有する構造と準備。</a:t>
            </a:r>
          </a:p>
          <a:p>
            <a:pPr>
              <a:lnSpc>
                <a:spcPts val="2600"/>
              </a:lnSpc>
              <a:spcBef>
                <a:spcPts val="0"/>
              </a:spcBef>
              <a:spcAft>
                <a:spcPts val="1500"/>
              </a:spcAft>
            </a:pPr>
            <a:r>
              <a:rPr sz="2000" b="0" i="0" lang="ja-JP">
                <a:solidFill>
                  <a:srgbClr val="171717"/>
                </a:solidFill>
                <a:latin typeface="Noto Sans JP"/>
              </a:rPr>
              <a:t>分岐の後：乱数・温度・変異などの変更。</a:t>
            </a:r>
          </a:p>
          <a:p>
            <a:pPr>
              <a:lnSpc>
                <a:spcPts val="2600"/>
              </a:lnSpc>
              <a:spcBef>
                <a:spcPts val="0"/>
              </a:spcBef>
              <a:spcAft>
                <a:spcPts val="1500"/>
              </a:spcAft>
            </a:pPr>
            <a:r>
              <a:rPr sz="2000" b="0" i="0" lang="ja-JP">
                <a:solidFill>
                  <a:srgbClr val="171717"/>
                </a:solidFill>
                <a:latin typeface="Noto Sans JP"/>
              </a:rPr>
              <a:t>比較の前：観測量、原子の対応、計算長を確認する。</a:t>
            </a:r>
          </a:p>
          <a:p>
            <a:pPr>
              <a:lnSpc>
                <a:spcPts val="2600"/>
              </a:lnSpc>
              <a:spcBef>
                <a:spcPts val="0"/>
              </a:spcBef>
              <a:spcAft>
                <a:spcPts val="1500"/>
              </a:spcAft>
            </a:pPr>
            <a:r>
              <a:rPr sz="2000" b="0" i="0" lang="ja-JP">
                <a:solidFill>
                  <a:srgbClr val="171717"/>
                </a:solidFill>
                <a:latin typeface="Noto Sans JP"/>
              </a:rPr>
              <a:t>温度も配列も違う結果を、同条件の反復として混ぜない。</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
        <p:nvSpPr>
          <p:cNvPr id="3" name="TextBox 2"/>
          <p:cNvSpPr txBox="1"/>
          <p:nvPr/>
        </p:nvSpPr>
        <p:spPr>
          <a:xfrm>
            <a:off x="594360" y="667512"/>
            <a:ext cx="10972800" cy="658368"/>
          </a:xfrm>
          <a:prstGeom prst="rect">
            <a:avLst/>
          </a:prstGeom>
          <a:noFill/>
        </p:spPr>
        <p:txBody>
          <a:bodyPr wrap="square" lIns="0" rIns="0" tIns="0" bIns="0" anchor="t">
            <a:spAutoFit/>
          </a:bodyPr>
          <a:lstStyle/>
          <a:p>
            <a:pPr>
              <a:lnSpc>
                <a:spcPts val="3625"/>
              </a:lnSpc>
              <a:spcBef>
                <a:spcPts val="0"/>
              </a:spcBef>
              <a:spcAft>
                <a:spcPts val="0"/>
              </a:spcAft>
            </a:pPr>
            <a:r>
              <a:rPr sz="2900" b="1" i="0" lang="ja-JP">
                <a:solidFill>
                  <a:srgbClr val="171717"/>
                </a:solidFill>
                <a:latin typeface="Noto Sans JP"/>
              </a:rPr>
              <a:t>記録を読む：失敗の理由と、次の試行の条件を確かめる</a:t>
            </a:r>
          </a:p>
        </p:txBody>
      </p:sp>
      <p:sp>
        <p:nvSpPr>
          <p:cNvPr id="4" name="TextBox 3"/>
          <p:cNvSpPr txBox="1"/>
          <p:nvPr/>
        </p:nvSpPr>
        <p:spPr>
          <a:xfrm>
            <a:off x="11247120" y="6519672"/>
            <a:ext cx="502920" cy="228600"/>
          </a:xfrm>
          <a:prstGeom prst="rect">
            <a:avLst/>
          </a:prstGeom>
          <a:noFill/>
        </p:spPr>
        <p:txBody>
          <a:bodyPr wrap="square" lIns="0" rIns="0" tIns="0" bIns="0" anchor="t">
            <a:spAutoFit/>
          </a:bodyPr>
          <a:lstStyle/>
          <a:p>
            <a:pPr>
              <a:lnSpc>
                <a:spcPts val="1375"/>
              </a:lnSpc>
              <a:spcBef>
                <a:spcPts val="0"/>
              </a:spcBef>
              <a:spcAft>
                <a:spcPts val="0"/>
              </a:spcAft>
            </a:pPr>
            <a:r>
              <a:rPr sz="1100" b="0" i="0" lang="ja-JP">
                <a:solidFill>
                  <a:srgbClr val="171717"/>
                </a:solidFill>
                <a:latin typeface="Noto Sans JP"/>
              </a:rPr>
              <a:t>53</a:t>
            </a:r>
          </a:p>
        </p:txBody>
      </p:sp>
      <p:sp>
        <p:nvSpPr>
          <p:cNvPr id="5" name="Rounded Rectangle 4"/>
          <p:cNvSpPr/>
          <p:nvPr/>
        </p:nvSpPr>
        <p:spPr>
          <a:xfrm>
            <a:off x="685800" y="1691640"/>
            <a:ext cx="5212080" cy="1005840"/>
          </a:xfrm>
          <a:prstGeom prst="roundRect">
            <a:avLst/>
          </a:prstGeom>
          <a:solidFill>
            <a:srgbClr val="FBEFE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990"/>
              </a:lnSpc>
              <a:spcBef>
                <a:spcPts val="0"/>
              </a:spcBef>
              <a:spcAft>
                <a:spcPts val="800"/>
              </a:spcAft>
            </a:pPr>
            <a:r>
              <a:rPr sz="2300" b="0" i="0" lang="ja-JP">
                <a:solidFill>
                  <a:srgbClr val="171717"/>
                </a:solidFill>
                <a:latin typeface="Noto Sans JP"/>
              </a:rPr>
              <a:t>試行1：エラーで停止</a:t>
            </a:r>
          </a:p>
        </p:txBody>
      </p:sp>
      <p:sp>
        <p:nvSpPr>
          <p:cNvPr id="6" name="Rounded Rectangle 5"/>
          <p:cNvSpPr/>
          <p:nvPr/>
        </p:nvSpPr>
        <p:spPr>
          <a:xfrm>
            <a:off x="685800" y="3154680"/>
            <a:ext cx="5212080" cy="100584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860"/>
              </a:lnSpc>
              <a:spcBef>
                <a:spcPts val="0"/>
              </a:spcBef>
              <a:spcAft>
                <a:spcPts val="800"/>
              </a:spcAft>
            </a:pPr>
            <a:r>
              <a:rPr sz="2200" b="0" i="0" lang="ja-JP">
                <a:solidFill>
                  <a:srgbClr val="171717"/>
                </a:solidFill>
                <a:latin typeface="Noto Sans JP"/>
              </a:rPr>
              <a:t>同じ条件 → 同じノードの別試行</a:t>
            </a:r>
          </a:p>
        </p:txBody>
      </p:sp>
      <p:sp>
        <p:nvSpPr>
          <p:cNvPr id="7" name="Rounded Rectangle 6"/>
          <p:cNvSpPr/>
          <p:nvPr/>
        </p:nvSpPr>
        <p:spPr>
          <a:xfrm>
            <a:off x="685800" y="4599432"/>
            <a:ext cx="5212080" cy="1005840"/>
          </a:xfrm>
          <a:prstGeom prst="roundRect">
            <a:avLst/>
          </a:prstGeom>
          <a:solidFill>
            <a:srgbClr val="EDF3FC"/>
          </a:solidFill>
          <a:ln>
            <a:solidFill>
              <a:srgbClr val="8EA3C0"/>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28016" bIns="0"/>
          <a:lstStyle/>
          <a:p>
            <a:pPr>
              <a:lnSpc>
                <a:spcPts val="2860"/>
              </a:lnSpc>
              <a:spcBef>
                <a:spcPts val="0"/>
              </a:spcBef>
              <a:spcAft>
                <a:spcPts val="800"/>
              </a:spcAft>
            </a:pPr>
            <a:r>
              <a:rPr sz="2200" b="0" i="0" lang="ja-JP">
                <a:solidFill>
                  <a:srgbClr val="171717"/>
                </a:solidFill>
                <a:latin typeface="Noto Sans JP"/>
              </a:rPr>
              <a:t>条件を変更 → 新しいノードや分岐</a:t>
            </a:r>
          </a:p>
        </p:txBody>
      </p:sp>
      <p:sp>
        <p:nvSpPr>
          <p:cNvPr id="8" name="TextBox 7"/>
          <p:cNvSpPr txBox="1"/>
          <p:nvPr/>
        </p:nvSpPr>
        <p:spPr>
          <a:xfrm>
            <a:off x="6812280" y="1645920"/>
            <a:ext cx="4754880" cy="4498848"/>
          </a:xfrm>
          <a:prstGeom prst="rect">
            <a:avLst/>
          </a:prstGeom>
          <a:noFill/>
        </p:spPr>
        <p:txBody>
          <a:bodyPr wrap="square" lIns="0" rIns="0" tIns="0" bIns="0" anchor="t">
            <a:spAutoFit/>
          </a:bodyPr>
          <a:lstStyle/>
          <a:p>
            <a:pPr>
              <a:lnSpc>
                <a:spcPts val="2926"/>
              </a:lnSpc>
              <a:spcBef>
                <a:spcPts val="0"/>
              </a:spcBef>
              <a:spcAft>
                <a:spcPts val="1600"/>
              </a:spcAft>
            </a:pPr>
            <a:r>
              <a:rPr sz="2200" b="0" i="0" lang="ja-JP">
                <a:solidFill>
                  <a:srgbClr val="171717"/>
                </a:solidFill>
                <a:latin typeface="Noto Sans JP"/>
              </a:rPr>
              <a:t>失敗例：計算中に非数が生じて停止し、保存状態から再開する。</a:t>
            </a:r>
          </a:p>
          <a:p>
            <a:pPr>
              <a:lnSpc>
                <a:spcPts val="2926"/>
              </a:lnSpc>
              <a:spcBef>
                <a:spcPts val="0"/>
              </a:spcBef>
              <a:spcAft>
                <a:spcPts val="1600"/>
              </a:spcAft>
            </a:pPr>
            <a:r>
              <a:rPr sz="2200" b="0" i="0" lang="ja-JP">
                <a:solidFill>
                  <a:srgbClr val="171717"/>
                </a:solidFill>
                <a:latin typeface="Noto Sans JP"/>
              </a:rPr>
              <a:t>まず、止まった段階・エラー・最後の有効な出力を確認する。</a:t>
            </a:r>
          </a:p>
          <a:p>
            <a:pPr>
              <a:lnSpc>
                <a:spcPts val="2926"/>
              </a:lnSpc>
              <a:spcBef>
                <a:spcPts val="0"/>
              </a:spcBef>
              <a:spcAft>
                <a:spcPts val="1600"/>
              </a:spcAft>
            </a:pPr>
            <a:r>
              <a:rPr sz="2200" b="0" i="0" lang="ja-JP">
                <a:solidFill>
                  <a:srgbClr val="171717"/>
                </a:solidFill>
                <a:latin typeface="Noto Sans JP"/>
              </a:rPr>
              <a:t>同じ条件での再試行か、乱数や設定を変えた分岐かを区別する。</a:t>
            </a:r>
          </a:p>
          <a:p>
            <a:pPr>
              <a:lnSpc>
                <a:spcPts val="2926"/>
              </a:lnSpc>
              <a:spcBef>
                <a:spcPts val="0"/>
              </a:spcBef>
              <a:spcAft>
                <a:spcPts val="1600"/>
              </a:spcAft>
            </a:pPr>
            <a:r>
              <a:rPr sz="2200" b="0" i="0" lang="ja-JP">
                <a:solidFill>
                  <a:srgbClr val="171717"/>
                </a:solidFill>
                <a:latin typeface="Noto Sans JP"/>
              </a:rPr>
              <a:t>再開後の成功は、前の失敗の原因が解明されたことを意味しない。</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246888"/>
            <a:ext cx="10972800" cy="274320"/>
          </a:xfrm>
          <a:prstGeom prst="rect">
            <a:avLst/>
          </a:prstGeom>
          <a:noFill/>
        </p:spPr>
        <p:txBody>
          <a:bodyPr wrap="square" lIns="0" rIns="0" tIns="0" bIns="0" anchor="t">
            <a:spAutoFit/>
          </a:bodyPr>
          <a:lstStyle/>
          <a:p>
            <a:pPr>
              <a:lnSpc>
                <a:spcPts val="1625"/>
              </a:lnSpc>
              <a:spcBef>
                <a:spcPts val="0"/>
              </a:spcBef>
              <a:spcAft>
                <a:spcPts val="0"/>
              </a:spcAft>
            </a:pPr>
            <a:r>
              <a:rPr sz="1300" b="1" i="0" lang="ja-JP">
                <a:solidFill>
                  <a:srgbClr val="123EAB"/>
                </a:solidFill>
                <a:latin typeface="Noto Sans JP"/>
              </a:rPr>
              <a:t>生命情報工学特論</a:t>
            </a:r>
          </a:p>
        </p:txBody>
      </p:sp>
      <p:sp>
        <p:nvSpPr>
          <p:cNvPr id="3" name="TextBox 2"/>
          <p:cNvSpPr txBox="1"/>
          <p:nvPr/>
        </p:nvSpPr>
        <p:spPr>
          <a:xfrm>
            <a:off x="594360" y="667512"/>
            <a:ext cx="10972800" cy="658368"/>
          </a:xfrm>
          <a:prstGeom prst="rect">
            <a:avLst/>
          </a:prstGeom>
          <a:noFill/>
        </p:spPr>
        <p:txBody>
          <a:bodyPr wrap="square" lIns="0" rIns="0" tIns="0" bIns="0" anchor="t">
            <a:spAutoFit/>
          </a:bodyPr>
          <a:lstStyle/>
          <a:p>
            <a:pPr>
              <a:lnSpc>
                <a:spcPts val="3625"/>
              </a:lnSpc>
              <a:spcBef>
                <a:spcPts val="0"/>
              </a:spcBef>
              <a:spcAft>
                <a:spcPts val="0"/>
              </a:spcAft>
            </a:pPr>
            <a:r>
              <a:rPr sz="2900" b="1" i="0" lang="ja-JP">
                <a:solidFill>
                  <a:srgbClr val="171717"/>
                </a:solidFill>
                <a:latin typeface="Noto Sans JP"/>
              </a:rPr>
              <a:t>参考文献とソフトウェア</a:t>
            </a:r>
          </a:p>
        </p:txBody>
      </p:sp>
      <p:sp>
        <p:nvSpPr>
          <p:cNvPr id="4" name="TextBox 3"/>
          <p:cNvSpPr txBox="1"/>
          <p:nvPr/>
        </p:nvSpPr>
        <p:spPr>
          <a:xfrm>
            <a:off x="11247120" y="6519672"/>
            <a:ext cx="502920" cy="228600"/>
          </a:xfrm>
          <a:prstGeom prst="rect">
            <a:avLst/>
          </a:prstGeom>
          <a:noFill/>
        </p:spPr>
        <p:txBody>
          <a:bodyPr wrap="square" lIns="0" rIns="0" tIns="0" bIns="0" anchor="t">
            <a:spAutoFit/>
          </a:bodyPr>
          <a:lstStyle/>
          <a:p>
            <a:pPr>
              <a:lnSpc>
                <a:spcPts val="1375"/>
              </a:lnSpc>
              <a:spcBef>
                <a:spcPts val="0"/>
              </a:spcBef>
              <a:spcAft>
                <a:spcPts val="0"/>
              </a:spcAft>
            </a:pPr>
            <a:r>
              <a:rPr sz="1100" b="0" i="0" lang="ja-JP">
                <a:solidFill>
                  <a:srgbClr val="171717"/>
                </a:solidFill>
                <a:latin typeface="Noto Sans JP"/>
              </a:rPr>
              <a:t>54</a:t>
            </a:r>
          </a:p>
        </p:txBody>
      </p:sp>
      <p:sp>
        <p:nvSpPr>
          <p:cNvPr id="5" name="TextBox 4"/>
          <p:cNvSpPr txBox="1"/>
          <p:nvPr/>
        </p:nvSpPr>
        <p:spPr>
          <a:xfrm>
            <a:off x="685800" y="1600200"/>
            <a:ext cx="2011680" cy="457200"/>
          </a:xfrm>
          <a:prstGeom prst="rect">
            <a:avLst/>
          </a:prstGeom>
          <a:noFill/>
        </p:spPr>
        <p:txBody>
          <a:bodyPr wrap="square" lIns="0" rIns="0" tIns="0" bIns="0" anchor="t">
            <a:spAutoFit/>
          </a:bodyPr>
          <a:lstStyle/>
          <a:p>
            <a:pPr>
              <a:lnSpc>
                <a:spcPts val="2875"/>
              </a:lnSpc>
              <a:spcBef>
                <a:spcPts val="0"/>
              </a:spcBef>
              <a:spcAft>
                <a:spcPts val="0"/>
              </a:spcAft>
            </a:pPr>
            <a:r>
              <a:rPr sz="2300" b="1" i="0" lang="ja-JP">
                <a:solidFill>
                  <a:srgbClr val="123EAB"/>
                </a:solidFill>
                <a:latin typeface="Noto Sans JP"/>
              </a:rPr>
              <a:t>AI Scientist</a:t>
            </a:r>
          </a:p>
        </p:txBody>
      </p:sp>
      <p:sp>
        <p:nvSpPr>
          <p:cNvPr id="6" name="TextBox 5"/>
          <p:cNvSpPr txBox="1"/>
          <p:nvPr/>
        </p:nvSpPr>
        <p:spPr>
          <a:xfrm>
            <a:off x="2834640" y="1600200"/>
            <a:ext cx="8686800" cy="1188720"/>
          </a:xfrm>
          <a:prstGeom prst="rect">
            <a:avLst/>
          </a:prstGeom>
          <a:noFill/>
        </p:spPr>
        <p:txBody>
          <a:bodyPr wrap="square" lIns="0" rIns="0" tIns="0" bIns="0" anchor="t">
            <a:spAutoFit/>
          </a:bodyPr>
          <a:lstStyle/>
          <a:p>
            <a:pPr>
              <a:lnSpc>
                <a:spcPts val="2500"/>
              </a:lnSpc>
              <a:spcBef>
                <a:spcPts val="0"/>
              </a:spcBef>
              <a:spcAft>
                <a:spcPts val="0"/>
              </a:spcAft>
            </a:pPr>
            <a:r>
              <a:rPr sz="2000" b="0" i="0" lang="ja-JP">
                <a:solidFill>
                  <a:srgbClr val="171717"/>
                </a:solidFill>
                <a:latin typeface="Noto Sans JP"/>
              </a:rPr>
              <a:t>Robin：Ghareeb et al. DOI:10.1038/s41586-026-10652-y</a:t>
            </a:r>
          </a:p>
          <a:p>
            <a:pPr>
              <a:lnSpc>
                <a:spcPts val="2500"/>
              </a:lnSpc>
              <a:spcBef>
                <a:spcPts val="0"/>
              </a:spcBef>
              <a:spcAft>
                <a:spcPts val="0"/>
              </a:spcAft>
            </a:pPr>
            <a:r>
              <a:rPr sz="2000" b="0" i="0" lang="ja-JP">
                <a:solidFill>
                  <a:srgbClr val="171717"/>
                </a:solidFill>
                <a:latin typeface="Noto Sans JP"/>
              </a:rPr>
              <a:t>Co-Scientist：Gottweis et al. DOI:10.1038/s41586-026-10644-y</a:t>
            </a:r>
          </a:p>
          <a:p>
            <a:pPr>
              <a:lnSpc>
                <a:spcPts val="2500"/>
              </a:lnSpc>
              <a:spcBef>
                <a:spcPts val="0"/>
              </a:spcBef>
              <a:spcAft>
                <a:spcPts val="0"/>
              </a:spcAft>
            </a:pPr>
            <a:r>
              <a:rPr sz="2000" b="0" i="0" lang="ja-JP">
                <a:solidFill>
                  <a:srgbClr val="171717"/>
                </a:solidFill>
                <a:latin typeface="Noto Sans JP"/>
              </a:rPr>
              <a:t>ERA：Aygun et al. DOI:10.1038/s41586-026-10658-6</a:t>
            </a:r>
          </a:p>
        </p:txBody>
      </p:sp>
      <p:sp>
        <p:nvSpPr>
          <p:cNvPr id="7" name="TextBox 6"/>
          <p:cNvSpPr txBox="1"/>
          <p:nvPr/>
        </p:nvSpPr>
        <p:spPr>
          <a:xfrm>
            <a:off x="685800" y="3099815"/>
            <a:ext cx="2011680" cy="457200"/>
          </a:xfrm>
          <a:prstGeom prst="rect">
            <a:avLst/>
          </a:prstGeom>
          <a:noFill/>
        </p:spPr>
        <p:txBody>
          <a:bodyPr wrap="square" lIns="0" rIns="0" tIns="0" bIns="0" anchor="t">
            <a:spAutoFit/>
          </a:bodyPr>
          <a:lstStyle/>
          <a:p>
            <a:pPr>
              <a:lnSpc>
                <a:spcPts val="2875"/>
              </a:lnSpc>
              <a:spcBef>
                <a:spcPts val="0"/>
              </a:spcBef>
              <a:spcAft>
                <a:spcPts val="0"/>
              </a:spcAft>
            </a:pPr>
            <a:r>
              <a:rPr sz="2300" b="1" i="0" lang="ja-JP">
                <a:solidFill>
                  <a:srgbClr val="123EAB"/>
                </a:solidFill>
                <a:latin typeface="Noto Sans JP"/>
              </a:rPr>
              <a:t>転移学習</a:t>
            </a:r>
          </a:p>
        </p:txBody>
      </p:sp>
      <p:sp>
        <p:nvSpPr>
          <p:cNvPr id="8" name="TextBox 7"/>
          <p:cNvSpPr txBox="1"/>
          <p:nvPr/>
        </p:nvSpPr>
        <p:spPr>
          <a:xfrm>
            <a:off x="2834640" y="3099815"/>
            <a:ext cx="8686800" cy="1188720"/>
          </a:xfrm>
          <a:prstGeom prst="rect">
            <a:avLst/>
          </a:prstGeom>
          <a:noFill/>
        </p:spPr>
        <p:txBody>
          <a:bodyPr wrap="square" lIns="0" rIns="0" tIns="0" bIns="0" anchor="t">
            <a:spAutoFit/>
          </a:bodyPr>
          <a:lstStyle/>
          <a:p>
            <a:pPr>
              <a:lnSpc>
                <a:spcPts val="2500"/>
              </a:lnSpc>
              <a:spcBef>
                <a:spcPts val="0"/>
              </a:spcBef>
              <a:spcAft>
                <a:spcPts val="0"/>
              </a:spcAft>
            </a:pPr>
            <a:r>
              <a:rPr sz="2000" b="0" i="0" lang="ja-JP">
                <a:solidFill>
                  <a:srgbClr val="171717"/>
                </a:solidFill>
                <a:latin typeface="Noto Sans JP"/>
              </a:rPr>
              <a:t>Murakami et al., bioRxiv (2026)</a:t>
            </a:r>
          </a:p>
          <a:p>
            <a:pPr>
              <a:lnSpc>
                <a:spcPts val="2500"/>
              </a:lnSpc>
              <a:spcBef>
                <a:spcPts val="0"/>
              </a:spcBef>
              <a:spcAft>
                <a:spcPts val="0"/>
              </a:spcAft>
            </a:pPr>
            <a:r>
              <a:rPr sz="2000" b="0" i="0" lang="ja-JP">
                <a:solidFill>
                  <a:srgbClr val="171717"/>
                </a:solidFill>
                <a:latin typeface="Noto Sans JP"/>
              </a:rPr>
              <a:t>DOI:10.64898/2026.07.30.741744</a:t>
            </a:r>
          </a:p>
          <a:p>
            <a:pPr>
              <a:lnSpc>
                <a:spcPts val="2500"/>
              </a:lnSpc>
              <a:spcBef>
                <a:spcPts val="0"/>
              </a:spcBef>
              <a:spcAft>
                <a:spcPts val="0"/>
              </a:spcAft>
            </a:pPr>
            <a:r>
              <a:rPr sz="2000" b="0" i="0" lang="ja-JP">
                <a:solidFill>
                  <a:srgbClr val="171717"/>
                </a:solidFill>
                <a:latin typeface="Noto Sans JP"/>
              </a:rPr>
              <a:t>ナノボディの融解温度予測。図1〜3を使用。</a:t>
            </a:r>
          </a:p>
        </p:txBody>
      </p:sp>
      <p:sp>
        <p:nvSpPr>
          <p:cNvPr id="9" name="TextBox 8"/>
          <p:cNvSpPr txBox="1"/>
          <p:nvPr/>
        </p:nvSpPr>
        <p:spPr>
          <a:xfrm>
            <a:off x="685800" y="4599431"/>
            <a:ext cx="2011680" cy="457200"/>
          </a:xfrm>
          <a:prstGeom prst="rect">
            <a:avLst/>
          </a:prstGeom>
          <a:noFill/>
        </p:spPr>
        <p:txBody>
          <a:bodyPr wrap="square" lIns="0" rIns="0" tIns="0" bIns="0" anchor="t">
            <a:spAutoFit/>
          </a:bodyPr>
          <a:lstStyle/>
          <a:p>
            <a:pPr>
              <a:lnSpc>
                <a:spcPts val="2875"/>
              </a:lnSpc>
              <a:spcBef>
                <a:spcPts val="0"/>
              </a:spcBef>
              <a:spcAft>
                <a:spcPts val="0"/>
              </a:spcAft>
            </a:pPr>
            <a:r>
              <a:rPr sz="2300" b="1" i="0" lang="ja-JP">
                <a:solidFill>
                  <a:srgbClr val="123EAB"/>
                </a:solidFill>
                <a:latin typeface="Noto Sans JP"/>
              </a:rPr>
              <a:t>MDClaw</a:t>
            </a:r>
          </a:p>
        </p:txBody>
      </p:sp>
      <p:sp>
        <p:nvSpPr>
          <p:cNvPr id="10" name="TextBox 9"/>
          <p:cNvSpPr txBox="1"/>
          <p:nvPr/>
        </p:nvSpPr>
        <p:spPr>
          <a:xfrm>
            <a:off x="2834640" y="4599431"/>
            <a:ext cx="8686800" cy="1188720"/>
          </a:xfrm>
          <a:prstGeom prst="rect">
            <a:avLst/>
          </a:prstGeom>
          <a:noFill/>
        </p:spPr>
        <p:txBody>
          <a:bodyPr wrap="square" lIns="0" rIns="0" tIns="0" bIns="0" anchor="t">
            <a:spAutoFit/>
          </a:bodyPr>
          <a:lstStyle/>
          <a:p>
            <a:pPr>
              <a:lnSpc>
                <a:spcPts val="2500"/>
              </a:lnSpc>
              <a:spcBef>
                <a:spcPts val="0"/>
              </a:spcBef>
              <a:spcAft>
                <a:spcPts val="0"/>
              </a:spcAft>
            </a:pPr>
            <a:r>
              <a:rPr sz="2000" b="0" i="0" lang="ja-JP">
                <a:solidFill>
                  <a:srgbClr val="171717"/>
                </a:solidFill>
                <a:latin typeface="Noto Sans JP"/>
              </a:rPr>
              <a:t>github.com/matsunagalab/mdclaw</a:t>
            </a:r>
          </a:p>
          <a:p>
            <a:pPr>
              <a:lnSpc>
                <a:spcPts val="2500"/>
              </a:lnSpc>
              <a:spcBef>
                <a:spcPts val="0"/>
              </a:spcBef>
              <a:spcAft>
                <a:spcPts val="0"/>
              </a:spcAft>
            </a:pPr>
            <a:r>
              <a:rPr sz="2000" b="0" i="0" lang="ja-JP">
                <a:solidFill>
                  <a:srgbClr val="171717"/>
                </a:solidFill>
                <a:latin typeface="Noto Sans JP"/>
              </a:rPr>
              <a:t>計算手順・操作ツール・成果物の記録を参照する。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生命情報工学特論 第15回</dc:title>
  <dc:subject/>
  <dc:creator>松永 康佑</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