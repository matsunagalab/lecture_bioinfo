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reuse1.svg" ContentType="image/svg+xml"/>
  <Override PartName="/ppt/media/reuse10.svg" ContentType="image/svg+xml"/>
  <Override PartName="/ppt/media/reuse11.svg" ContentType="image/svg+xml"/>
  <Override PartName="/ppt/media/reuse12.svg" ContentType="image/svg+xml"/>
  <Override PartName="/ppt/media/reuse13.svg" ContentType="image/svg+xml"/>
  <Override PartName="/ppt/media/reuse14.svg" ContentType="image/svg+xml"/>
  <Override PartName="/ppt/media/reuse15.svg" ContentType="image/svg+xml"/>
  <Override PartName="/ppt/media/reuse16.svg" ContentType="image/svg+xml"/>
  <Override PartName="/ppt/media/reuse17.svg" ContentType="image/svg+xml"/>
  <Override PartName="/ppt/media/reuse18.svg" ContentType="image/svg+xml"/>
  <Override PartName="/ppt/media/reuse19.svg" ContentType="image/svg+xml"/>
  <Override PartName="/ppt/media/reuse2.svg" ContentType="image/svg+xml"/>
  <Override PartName="/ppt/media/reuse20.svg" ContentType="image/svg+xml"/>
  <Override PartName="/ppt/media/reuse21.svg" ContentType="image/svg+xml"/>
  <Override PartName="/ppt/media/reuse22.svg" ContentType="image/svg+xml"/>
  <Override PartName="/ppt/media/reuse23.svg" ContentType="image/svg+xml"/>
  <Override PartName="/ppt/media/reuse24.svg" ContentType="image/svg+xml"/>
  <Override PartName="/ppt/media/reuse25.svg" ContentType="image/svg+xml"/>
  <Override PartName="/ppt/media/reuse26.svg" ContentType="image/svg+xml"/>
  <Override PartName="/ppt/media/reuse27.svg" ContentType="image/svg+xml"/>
  <Override PartName="/ppt/media/reuse28.svg" ContentType="image/svg+xml"/>
  <Override PartName="/ppt/media/reuse29.svg" ContentType="image/svg+xml"/>
  <Override PartName="/ppt/media/reuse3.svg" ContentType="image/svg+xml"/>
  <Override PartName="/ppt/media/reuse30.svg" ContentType="image/svg+xml"/>
  <Override PartName="/ppt/media/reuse31.svg" ContentType="image/svg+xml"/>
  <Override PartName="/ppt/media/reuse32.svg" ContentType="image/svg+xml"/>
  <Override PartName="/ppt/media/reuse33.svg" ContentType="image/svg+xml"/>
  <Override PartName="/ppt/media/reuse34.svg" ContentType="image/svg+xml"/>
  <Override PartName="/ppt/media/reuse35.svg" ContentType="image/svg+xml"/>
  <Override PartName="/ppt/media/reuse36.svg" ContentType="image/svg+xml"/>
  <Override PartName="/ppt/media/reuse37.svg" ContentType="image/svg+xml"/>
  <Override PartName="/ppt/media/reuse38.svg" ContentType="image/svg+xml"/>
  <Override PartName="/ppt/media/reuse39.svg" ContentType="image/svg+xml"/>
  <Override PartName="/ppt/media/reuse4.svg" ContentType="image/svg+xml"/>
  <Override PartName="/ppt/media/reuse40.svg" ContentType="image/svg+xml"/>
  <Override PartName="/ppt/media/reuse41.svg" ContentType="image/svg+xml"/>
  <Override PartName="/ppt/media/reuse42.svg" ContentType="image/svg+xml"/>
  <Override PartName="/ppt/media/reuse43.svg" ContentType="image/svg+xml"/>
  <Override PartName="/ppt/media/reuse44.svg" ContentType="image/svg+xml"/>
  <Override PartName="/ppt/media/reuse45.svg" ContentType="image/svg+xml"/>
  <Override PartName="/ppt/media/reuse46.svg" ContentType="image/svg+xml"/>
  <Override PartName="/ppt/media/reuse5.svg" ContentType="image/svg+xml"/>
  <Override PartName="/ppt/media/reuse6.svg" ContentType="image/svg+xml"/>
  <Override PartName="/ppt/media/reuse7.svg" ContentType="image/svg+xml"/>
  <Override PartName="/ppt/media/reuse8.svg" ContentType="image/svg+xml"/>
  <Override PartName="/ppt/media/reus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生命情報工学特論、第15回です。埼玉大学と理化学研究所の松永です。今回はAI Scientist研究と</a:t>
            </a:r>
          </a:p>
          <a:p>
            <a:r>
              <a:rPr lang="ja-JP" altLang="en-US">
                <a:ea typeface="Noto Sans JP"/>
              </a:rPr>
              <a:t>MDエージェントを扱います。研究の手順を記録し、</a:t>
            </a:r>
          </a:p>
          <a:p>
            <a:r>
              <a:rPr lang="ja-JP" altLang="en-US">
                <a:ea typeface="Noto Sans JP"/>
              </a:rPr>
              <a:t>計算と評価を繰り返す。右の概念図がこの回の全体像です。前の回で学んだ方法と今回の方法がどこでつながるかを意識して進めます。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研究の手順を記録し、計算と評価を繰り返すについて説明します。研究の手順を記録し、。計算と評価を繰り返す。。自然言語の仮説を計算手順へ落とし、出力を検証して次の計算へ進む。。データの量だけでなく、条件の統一・多様性・失敗の記録が研究の質を決め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研究の自動化をデータと検証から考えるについて説明します。1　AI Scientistの提案と外部の検証。2　自動データ取得と計算条件の統一。3　転移学習とデータ量・多様性。4　MDClawのskills・CLI・計算履歴。5　教員デモ：入力から証拠までをたどる。ここでは図の軸や矢印を本文の量と対応させて読みます。得られるものと、追加の情報が必要なものを区別してください。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文献探索・仮説生成・コード作成を支援する系でも、実験・計算・専門家による評価が必要。2026年5月の原著3報。。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Robinは文献探索と実験データ解析を組み合わせる。実験系での検証を経て仮説を更新する。Ghareeb et al., Nature (2026)。。この図は元の研究・教材の条件で得られた結果です。軸、色、比較対象を順に確認し、今回のテーマとの対応を見てください。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もっともらしい説明を、検証できる仮説へ変えるについて説明します。例：「変異で安定になる」を、そのまま計算の入力にはできない。。何を安定性と呼ぶか、何と比べるか、温度や溶媒は何かを決める。。仮説から観測量・比較条件・判定方法へ落とす段階で、研究者の判断が必要になる。。計算が成功したことと、仮説が支持されたことを分け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実験で試しにくい条件を計算で調べ、仮説と観測可能な量を結ぶ。計算モデル自体の検証も必要。。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分子動力学は、原子の相互作用から構造の動きを計算する方法です。実験で直接見えにくい原子レベルの過程を調べる手掛かりになります。エージェントを用いても、この物理モデル自体が自動的に正しくなるわけではありません。入力、力場、時間刻み、探索の長さを検証する仕事は残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MDの自動化では、化学状態・モデル・入力ファイルの選択を一貫して記録することが重要。。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計算データを増やすには、条件も同時に揃えるについて説明します。異なる構造を同じ規則で準備し、同じ観測量を取り出す。。構造ID、配列、プロトン化状態、力場、水モデル、温度、乱数、計算長を保存する。。成功したものだけを残すと、難しい系が消えた偏ったデータ集合になる。失敗理由も残す。。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網羅的なMDで計算ラベルを作るという利用例。依頼文だけでなく対象一覧と条件・完了基準を定める。。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転移学習では、共有できる表現を計算データで育てるについて説明します。タンパク質言語モデルが配列の表現を作る。。少数の実験Tmと、計算による安定性の補助ラベルを別の出力で学習する。。計算値を実験値と同一視するのではなく、共通の表現を介して実験予測を助ける。。最終評価には学習に使っていない実験配列を使う。。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村上さんの研究：ナノボディの融解温度を予測するについて説明します。Tmは熱変性の中点に対応する温度。FEPのΔΔGやMDの天然接触の保持率とは別の量。。実験Tm：学習57配列、モデル選択114配列、最終評価396配列。。計算ラベルを補助タスクとして、共有したESM2表現を学習する。。Murakami et al., bioRxiv (2026), DOI:10.64898/2026.07.30.741744。。ここでは図の軸や矢印を本文の量と対応させて読みます。得られるものと、追加の情報が必要なものを区別してください。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同じ計算量でも、どの配列を計算するかが効くについて説明します。同じMD由来のラベルでも、少数構造の変異走査と、多様なナノボディ集合を比較する。。多様な集合では、ラベル数20→320で微調整モデルのMAEが7.16→6.76℃へ下がった。。変異走査では単調な改善にならなかった。量だけでなく、覆う配列の広さが重要。。原稿Fig. 2の条件。右の再描画は本文の数値に基づく。。ここでは図の軸や矢印を本文の量と対応させて読みます。得られるものと、追加の情報が必要なものを区別してください。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原著Fig. 2：データ設計によって増量の効果が違うについて説明します。左・中央：ラベル数と、凍結／微調整したモデルの誤差。。右：同じラベル数320で、それぞれのTmのみの基準からの変化。。誤差が低いほどよい。異なる学習条件の基準値を混ぜない。。この範囲の結果から、無限に増やせば改善すると外挿し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原著Fig. 3：何を計算するかも予測に影響するについて説明します。同じ変異配列に対し、FEP・MD接触率・Rosetta・FoldXの補助ラベルを比較。。この比較ではFEP補助の微調整モデルのMAEが6.35℃。Tmのみは6.72℃。。「この予測に有用だった」ことと、「実験ΔΔGを最も正確に再現した」ことは別。。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スケーリングの議論では、量・質・評価を分けるについて説明します。データ数Nを増やすと誤差が減る経験的な関係は、対象・範囲・学習条件に依存する。。重複や偏りの強いデータを増やしても、未知の配列への誤差は減らないことがある。。類縁配列や条件が訓練とテストをまたぐ影響も点検する。。自動化は、比較可能なデータを狙って増やすために使う。。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エムディークロウは、上流の仮説や構造候補と、下流の分子動力学計算をつなぐ基盤です。入力の問いを計画に変え、準備、計算、解析の成果物を記録します。得られた根拠を上流へ返し、必要なら次の計算を考えます。ここでは万能な研究者ではなく、計算と記録の役割を明確にした仕組みとして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MDClawはskills・CLI・DAGを組み合わせる研究基盤。紹介図は2026年6月発表、役割分担は10月11日のREADMEでも確認。。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skillが手順と判断基準を与え、CLIが操作を実行し、記録を残す。自然言語の説明と機械が読む出力を対応させる。。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エージェントは手順書を読み、引数を指定してツールを呼ぶ。戻り値を読んで、次の操作や失敗への対応を判断する。。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入力構造から準備・水和・トポロジー・最小化・平衡化・本計算・解析へ、成果物を受け渡す。。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DAGは循環のない有向グラフ。失敗した実行と新しい試行を別ノードに残し、経緯を追えるようにする。。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乱数、温度、変異などを変えた比較は別の分岐として保存する。共通の入力と変更した条件を区別する。。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再実行では、完了済みの根拠を使って続きへ進むについて説明します。inspect_jobで状態と成果物を読む。explain_nodeで次の段階の入力条件を確認する。。trace_failureで失敗した段階と理由を追う。。ファイルが存在するだけで完了とせず、正しい入力に対応した出力かを検査する。。2026年10月11日のローカルREADMEにある操作の役割。。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電荷・結合・残基・水モデルなど、化学的な前提を点検する。入力の不整合を放置したまま本計算へ進めない。。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準備の評価では、再読込・エネルギー再計算・要求された化学状態の保持を点検する。最小化成功だけでは不十分。。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生成された構造は数値評価だけでなく、成分・配置・欠損・意図しない変化を目で点検する。。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2026年6月発表時の25課題による比較。現在の版・別の課題集合の性能とは区別する。。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ベンチマーク結果は、条件と失敗例まで読むについて説明します。課題集合、入力、モデル版、制限時間、計算環境、採点基準を揃える。。途中で停止した実行や、提出物がない実行を完了した評価と混ぜない。。成功率に加え、どの化学状態や段階で失敗するかを調べる。。過去の25課題の点数から、現在の任意の系の成功率は予測でき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折り畳み温度を探す利用例。温度・状態の定義、反復計算、収束の確認が必要で、一度の短い軌跡では決まらない。。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教員デモ：計算の入力から根拠までをたどるについて説明します。題材は第11回と同じ水中ペプチドの短い計算。。最初に条件・出力を指定した依頼文を読み、どの段階に対応するかを確認する。。次に保存された構造・温度・エネルギー・実行条件を開く。。新しい大規模計算ではなく、既存の短い実行の記録とMDClawのDAGの読み方を示す。。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デモで見るもの：説明と成果物が一致するかについて説明します。「300 Kで動かした」という説明なら、積分器の設定と温度ログを見る。。「5 ps」という説明なら、2 fs×2500ステップとの一致を見る。。「構造が安定」という説明には、計算長・反復・観測量の根拠が必要。。右は第11回Notebookを実行して得た温度・エネルギー。。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次の計算は、残っている不確実性から決めるについて説明します。温度は合うが構造が動かない：単に短い可能性がある。。反復ごとの割合が違う：探索や緩和が足りない可能性がある。。モデル間で結果が違う：力場や観測モデルの仮定を点検する。。追加するデータが、どの不確実性を減らすかを先に決め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授業全体：配列・構造・分布・観測・判断を結ぶについて説明します。配列から構造を予測し、目的の構造に合う配列を設計する。。相互作用から構造の分布と動きを計算する。。実験の観測を通じてモデルを評価・補正する。。エージェントはこれらの計算と記録をつなぐ。判断の根拠は、条件のそろったデータと検証に置く。。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まとめ：自動化するほど、根拠を追える記録が要るについて説明します。AI Scientistは仮説や手順を広げる。計算・実験が検証の手掛かりを与える。。転移学習ではデータ数に加え、配列の多様性とラベルの意味が重要。。MDClawでは計画・操作・成果物・失敗をつなぎ、同じ条件で比較できる形に残す。。実行成功を、そのまま科学的結論へ置き換え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付録：導出と補足資料について説明します。ここからは本編の補足です。。導出の途中式、計算条件、研究例の詳細を示します。。本編の各手法の前提と対応させて読んでくださ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付録では、分子系の準備を評価する課題の内訳を示しています。単純なタンパク質だけでなく、リガンド、金属、変異、修飾など、化学的な判断が必要な入力が含まれます。全体の成功率だけを読む前に、何が課題として含まれているかを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後半の課題には、核酸、膜、水モデル、末端の処理などが含まれます。条件が変わると必要な準備も変わります。これらを一つの固定手順へ押し込むのではなく、入力に応じた判断と、その判断の記録を評価するための例です。</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課題の依頼文と提出物の例です。何を準備するかに加え、完了と判断するための構造や実行条件、評価結果を指定しています。エージェントの文章による完了報告だけでなく、別のプログラムが読み直せる成果物を残すこと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失敗から再試行した例です。最初の試行を消して成功した結果だけを残すと、なぜ修正が必要だったか分からなくなります。失敗の原因と条件変更を別の試行として記録することで、後から人が判断の経緯を追えます。自己修復という言葉も、この具体的な記録を根拠に評価します。</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よくある利用の形を並べています。直接の計算依頼、問いからの計画、野生型と変異体の比較などで、必要な操作は違います。一方、入力、計画、実行、成果物をつなぐ記録の構造は共通にできます。個別の例と基盤の役割を分けて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複雑な系や大きな計算では、分岐と途中からの再開が重要になります。修飾状態や膜系などの違いを別の分岐にし、共通部分を参照できます。計算資源を移す場合にも、どの入力と条件を引き継いだかが分からなければ再現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科学的な問いを、比較できる計算へ落とす流れです。変異が動的な結合を変えるかという問いなら、野生型と変異体の条件をそろえ、評価する観測量を先に定めます。最後の答えは、生成された文章だけでなく、保存された構造、軌跡、解析結果に結び付いてい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一つの計算段階には、作成、実行中、完了、失敗という状態があります。再試行しても、前の試行を記録として残します。完了した成果物を変更して帳尻を合わせると経緯を失うので、新しい条件は新しい分岐として扱います。状態の名前と実際のファイルの整合性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研究の問いと、具体的な実行の単位を分けています。一つの研究に複数の計算があり、一つの計算に準備や本計算などの段階があり、各段階に再試行があり得ます。この階層を区別すると、どの条件のどの失敗を直したのかを明確に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今後の利用として、代理モデルと分子動力学を組み合わせる考え方があります。速い予測で候補を絞り、必要なところを詳しい計算で確かめます。これは将来の使い方の提案であり、この図だけで高速化や精度向上を実証したわけではありません。評価するデータを分けて比較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サンプリング方法や力場の条件を変えた計算も、別の分岐に記録できます。同じ入力から何を変えたかが明確なら、結果の差を解釈しやすくなります。一方、条件探索を何度も行うと評価データに合わせ過ぎる可能性があるため、最終評価を分け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下では既存の分子計算ソフトウェアを使います。エージェントが物理計算を言語だけで代替するのではなく、実績のある計算エンジンを呼び出して組み合わせます。各ソフトウェアの版と設定を記録することが、再現性の基礎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化学状態や入力に問題があるときは、そのまま本計算へ進めません。検出した項目、期待した値、実際の値を構造化して返すと、原因を追えます。失敗を文章で隠すのではなく、次の判断に必要な情報として残す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計画から準備、計算、解析へ成果物が渡る全体図です。矢印は、次の操作がどの出力に依存するかを表します。問題が見つかったときは、依存関係をたどって、どこまで結果を使えるかを判断します。</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条件を変える場合は、共通の入力から新しい分岐を作ります。野生型と変異体などを別々に記録すれば、比較の条件を確認できます。同じ名前のファイルを上書きして区別する方法では、後から追跡することが難し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同じ段階の再試行を示しています。最初の試行は数値エラーで失敗し、次の試行が完了したという例です。成功した事実だけでなく、何を変えて再試行したかを確認します。原因が不明なまま偶然動いた結果を、検証済みの結果と同一視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原著・原資料と日付について説明します。AI Scientist：Robin DOI:10.1038/s41586-026-10652-y／Co-Scientist DOI:10.1038/s41586-026-10644-y／ERA DOI:10.1038/s41586-026-10658-6。。転移学習：Murakami et al. DOI:10.64898/2026.07.30.741744。図は投稿原稿Fig. 1–3。。MDClaw：github.com/matsunagalab/mdclaw。6月9日理研・6月17日蛋白質科学会の発表を再利用。。現在の役割分担は2026年10月11日のローカル実装・READMEと照合。。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reuse1.svg"/><Relationship Id="rId4" Type="http://schemas.openxmlformats.org/officeDocument/2006/relationships/image" Target="../media/reuse2.svg"/><Relationship Id="rId5" Type="http://schemas.openxmlformats.org/officeDocument/2006/relationships/image" Target="../media/reuse3.svg"/><Relationship Id="rId6" Type="http://schemas.openxmlformats.org/officeDocument/2006/relationships/image" Target="../media/reuse4.svg"/><Relationship Id="rId7" Type="http://schemas.openxmlformats.org/officeDocument/2006/relationships/image" Target="../media/reuse5.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github.com/matsunagalab/mdclaw"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reuse6.svg"/><Relationship Id="rId4" Type="http://schemas.openxmlformats.org/officeDocument/2006/relationships/image" Target="../media/reuse7.svg"/><Relationship Id="rId5" Type="http://schemas.openxmlformats.org/officeDocument/2006/relationships/image" Target="../media/reuse8.svg"/><Relationship Id="rId6" Type="http://schemas.openxmlformats.org/officeDocument/2006/relationships/image" Target="../media/reuse9.svg"/><Relationship Id="rId7" Type="http://schemas.openxmlformats.org/officeDocument/2006/relationships/image" Target="../media/reuse10.svg"/><Relationship Id="rId8" Type="http://schemas.openxmlformats.org/officeDocument/2006/relationships/image" Target="../media/reuse11.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reuse12.svg"/><Relationship Id="rId5" Type="http://schemas.openxmlformats.org/officeDocument/2006/relationships/hyperlink" Target="https://github.com/matsunagalab/mdclaw/blob/main/skills/md-prepare/SKILL.m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reuse13.svg"/><Relationship Id="rId4" Type="http://schemas.openxmlformats.org/officeDocument/2006/relationships/image" Target="../media/reuse14.svg"/><Relationship Id="rId5" Type="http://schemas.openxmlformats.org/officeDocument/2006/relationships/image" Target="../media/reuse15.svg"/><Relationship Id="rId6" Type="http://schemas.openxmlformats.org/officeDocument/2006/relationships/image" Target="../media/reuse16.svg"/><Relationship Id="rId7" Type="http://schemas.openxmlformats.org/officeDocument/2006/relationships/image" Target="../media/reuse17.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reuse18.svg"/><Relationship Id="rId4" Type="http://schemas.openxmlformats.org/officeDocument/2006/relationships/image" Target="../media/reuse19.svg"/><Relationship Id="rId5" Type="http://schemas.openxmlformats.org/officeDocument/2006/relationships/image" Target="../media/reuse20.svg"/><Relationship Id="rId6" Type="http://schemas.openxmlformats.org/officeDocument/2006/relationships/image" Target="../media/reuse21.svg"/><Relationship Id="rId7" Type="http://schemas.openxmlformats.org/officeDocument/2006/relationships/image" Target="../media/reuse22.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reuse23.svg"/><Relationship Id="rId4" Type="http://schemas.openxmlformats.org/officeDocument/2006/relationships/image" Target="../media/reuse24.svg"/><Relationship Id="rId5" Type="http://schemas.openxmlformats.org/officeDocument/2006/relationships/image" Target="../media/reuse25.svg"/><Relationship Id="rId6" Type="http://schemas.openxmlformats.org/officeDocument/2006/relationships/image" Target="../media/reuse26.svg"/><Relationship Id="rId7" Type="http://schemas.openxmlformats.org/officeDocument/2006/relationships/image" Target="../media/reuse27.svg"/><Relationship Id="rId8" Type="http://schemas.openxmlformats.org/officeDocument/2006/relationships/image" Target="../media/reuse28.svg"/><Relationship Id="rId9" Type="http://schemas.openxmlformats.org/officeDocument/2006/relationships/image" Target="../media/reuse29.svg"/><Relationship Id="rId10" Type="http://schemas.openxmlformats.org/officeDocument/2006/relationships/image" Target="../media/reuse30.svg"/><Relationship Id="rId11" Type="http://schemas.openxmlformats.org/officeDocument/2006/relationships/image" Target="../media/reuse31.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reuse32.svg"/><Relationship Id="rId4" Type="http://schemas.openxmlformats.org/officeDocument/2006/relationships/image" Target="../media/reuse33.svg"/><Relationship Id="rId5" Type="http://schemas.openxmlformats.org/officeDocument/2006/relationships/image" Target="../media/reuse34.svg"/><Relationship Id="rId6" Type="http://schemas.openxmlformats.org/officeDocument/2006/relationships/image" Target="../media/reuse35.svg"/><Relationship Id="rId7" Type="http://schemas.openxmlformats.org/officeDocument/2006/relationships/image" Target="../media/reuse36.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reuse37.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reuse38.svg"/><Relationship Id="rId4" Type="http://schemas.openxmlformats.org/officeDocument/2006/relationships/image" Target="../media/reuse39.svg"/><Relationship Id="rId5" Type="http://schemas.openxmlformats.org/officeDocument/2006/relationships/image" Target="../media/reuse40.svg"/><Relationship Id="rId6" Type="http://schemas.openxmlformats.org/officeDocument/2006/relationships/image" Target="../media/reuse41.svg"/><Relationship Id="rId7" Type="http://schemas.openxmlformats.org/officeDocument/2006/relationships/image" Target="../media/reuse42.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reuse43.svg"/><Relationship Id="rId4" Type="http://schemas.openxmlformats.org/officeDocument/2006/relationships/image" Target="../media/reuse44.svg"/><Relationship Id="rId5" Type="http://schemas.openxmlformats.org/officeDocument/2006/relationships/image" Target="../media/reuse45.svg"/><Relationship Id="rId6" Type="http://schemas.openxmlformats.org/officeDocument/2006/relationships/image" Target="../media/reuse46.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35.png"/><Relationship Id="rId4" Type="http://schemas.openxmlformats.org/officeDocument/2006/relationships/image" Target="../media/image20.png"/><Relationship Id="rId5" Type="http://schemas.openxmlformats.org/officeDocument/2006/relationships/image" Target="../media/image3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94360"/>
            <a:ext cx="5760720" cy="457200"/>
          </a:xfrm>
          <a:prstGeom prst="rect">
            <a:avLst/>
          </a:prstGeom>
          <a:noFill/>
        </p:spPr>
        <p:txBody>
          <a:bodyPr wrap="square" lIns="0" rIns="0" tIns="0" bIns="0" anchor="t">
            <a:noAutofit/>
          </a:bodyPr>
          <a:lstStyle/>
          <a:p>
            <a:pPr algn="l">
              <a:lnSpc>
                <a:spcPts val="2700"/>
              </a:lnSpc>
            </a:pPr>
            <a:r>
              <a:rPr sz="2000" b="1" lang="ja-JP" altLang="en-US">
                <a:solidFill>
                  <a:srgbClr val="0017C1"/>
                </a:solidFill>
                <a:latin typeface="Noto Sans JP"/>
                <a:ea typeface="Noto Sans JP"/>
              </a:rPr>
              <a:t>生命情報工学特論　第15回</a:t>
            </a:r>
          </a:p>
        </p:txBody>
      </p:sp>
      <p:sp>
        <p:nvSpPr>
          <p:cNvPr id="3" name="TextBox 2"/>
          <p:cNvSpPr txBox="1"/>
          <p:nvPr/>
        </p:nvSpPr>
        <p:spPr>
          <a:xfrm>
            <a:off x="640080" y="1417320"/>
            <a:ext cx="5989320" cy="1828800"/>
          </a:xfrm>
          <a:prstGeom prst="rect">
            <a:avLst/>
          </a:prstGeom>
          <a:noFill/>
        </p:spPr>
        <p:txBody>
          <a:bodyPr wrap="square" lIns="0" rIns="0" tIns="0" bIns="0" anchor="t">
            <a:noAutofit/>
          </a:bodyPr>
          <a:lstStyle/>
          <a:p>
            <a:pPr algn="l">
              <a:lnSpc>
                <a:spcPts val="4455"/>
              </a:lnSpc>
            </a:pPr>
            <a:r>
              <a:rPr sz="3300" b="1" lang="ja-JP" altLang="en-US">
                <a:solidFill>
                  <a:srgbClr val="333333"/>
                </a:solidFill>
                <a:latin typeface="Noto Sans JP"/>
                <a:ea typeface="Noto Sans JP"/>
              </a:rPr>
              <a:t>AI Scientist研究と</a:t>
            </a:r>
          </a:p>
          <a:p>
            <a:pPr algn="l">
              <a:lnSpc>
                <a:spcPts val="4455"/>
              </a:lnSpc>
            </a:pPr>
            <a:r>
              <a:rPr sz="3300" b="1" lang="ja-JP" altLang="en-US">
                <a:solidFill>
                  <a:srgbClr val="333333"/>
                </a:solidFill>
                <a:latin typeface="Noto Sans JP"/>
                <a:ea typeface="Noto Sans JP"/>
              </a:rPr>
              <a:t>MDエージェント</a:t>
            </a:r>
          </a:p>
        </p:txBody>
      </p:sp>
      <p:sp>
        <p:nvSpPr>
          <p:cNvPr id="4" name="TextBox 3"/>
          <p:cNvSpPr txBox="1"/>
          <p:nvPr/>
        </p:nvSpPr>
        <p:spPr>
          <a:xfrm>
            <a:off x="685800" y="3429000"/>
            <a:ext cx="5623560" cy="1005840"/>
          </a:xfrm>
          <a:prstGeom prst="rect">
            <a:avLst/>
          </a:prstGeom>
          <a:noFill/>
        </p:spPr>
        <p:txBody>
          <a:bodyPr wrap="square" lIns="0" rIns="0" tIns="0" bIns="0" anchor="t">
            <a:noAutofit/>
          </a:bodyPr>
          <a:lstStyle/>
          <a:p>
            <a:pPr algn="l">
              <a:lnSpc>
                <a:spcPts val="2700"/>
              </a:lnSpc>
            </a:pPr>
            <a:r>
              <a:rPr sz="2000" b="0" lang="ja-JP" altLang="en-US">
                <a:solidFill>
                  <a:srgbClr val="333333"/>
                </a:solidFill>
                <a:latin typeface="Noto Sans JP"/>
                <a:ea typeface="Noto Sans JP"/>
              </a:rPr>
              <a:t>研究の手順を記録し、</a:t>
            </a:r>
          </a:p>
          <a:p>
            <a:pPr algn="l">
              <a:lnSpc>
                <a:spcPts val="2700"/>
              </a:lnSpc>
            </a:pPr>
            <a:r>
              <a:rPr sz="2000" b="0" lang="ja-JP" altLang="en-US">
                <a:solidFill>
                  <a:srgbClr val="333333"/>
                </a:solidFill>
                <a:latin typeface="Noto Sans JP"/>
                <a:ea typeface="Noto Sans JP"/>
              </a:rPr>
              <a:t>計算と評価を繰り返す</a:t>
            </a:r>
          </a:p>
        </p:txBody>
      </p:sp>
      <p:sp>
        <p:nvSpPr>
          <p:cNvPr id="5" name="TextBox 4"/>
          <p:cNvSpPr txBox="1"/>
          <p:nvPr/>
        </p:nvSpPr>
        <p:spPr>
          <a:xfrm>
            <a:off x="685800" y="4709160"/>
            <a:ext cx="5303520" cy="457200"/>
          </a:xfrm>
          <a:prstGeom prst="rect">
            <a:avLst/>
          </a:prstGeom>
          <a:noFill/>
        </p:spPr>
        <p:txBody>
          <a:bodyPr wrap="square" lIns="0" rIns="0" tIns="0" bIns="0" anchor="t">
            <a:noAutofit/>
          </a:bodyPr>
          <a:lstStyle/>
          <a:p>
            <a:pPr algn="l">
              <a:lnSpc>
                <a:spcPts val="3375"/>
              </a:lnSpc>
            </a:pPr>
            <a:r>
              <a:rPr sz="2500" b="1" lang="ja-JP" altLang="en-US">
                <a:solidFill>
                  <a:srgbClr val="333333"/>
                </a:solidFill>
                <a:latin typeface="Noto Sans JP"/>
                <a:ea typeface="Noto Sans JP"/>
              </a:rPr>
              <a:t>松永 康佑</a:t>
            </a:r>
          </a:p>
        </p:txBody>
      </p:sp>
      <p:sp>
        <p:nvSpPr>
          <p:cNvPr id="6" name="TextBox 5"/>
          <p:cNvSpPr txBox="1"/>
          <p:nvPr/>
        </p:nvSpPr>
        <p:spPr>
          <a:xfrm>
            <a:off x="685800" y="5330952"/>
            <a:ext cx="5852160" cy="7772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埼玉大学 大学院理工学研究科</a:t>
            </a:r>
          </a:p>
          <a:p>
            <a:pPr algn="l">
              <a:lnSpc>
                <a:spcPts val="2295"/>
              </a:lnSpc>
            </a:pPr>
            <a:r>
              <a:rPr sz="1700" b="0" lang="ja-JP" altLang="en-US">
                <a:solidFill>
                  <a:srgbClr val="333333"/>
                </a:solidFill>
                <a:latin typeface="Noto Sans JP"/>
                <a:ea typeface="Noto Sans JP"/>
              </a:rPr>
              <a:t>理化学研究所 計算科学研究センター</a:t>
            </a:r>
          </a:p>
        </p:txBody>
      </p:sp>
      <p:sp>
        <p:nvSpPr>
          <p:cNvPr id="7" name="TextBox 6"/>
          <p:cNvSpPr txBox="1"/>
          <p:nvPr/>
        </p:nvSpPr>
        <p:spPr>
          <a:xfrm>
            <a:off x="685800" y="6245352"/>
            <a:ext cx="4572000" cy="320040"/>
          </a:xfrm>
          <a:prstGeom prst="rect">
            <a:avLst/>
          </a:prstGeom>
          <a:noFill/>
        </p:spPr>
        <p:txBody>
          <a:bodyPr wrap="square" lIns="0" rIns="0" tIns="0" bIns="0" anchor="t">
            <a:noAutofit/>
          </a:bodyPr>
          <a:lstStyle/>
          <a:p>
            <a:pPr algn="l">
              <a:lnSpc>
                <a:spcPts val="2025"/>
              </a:lnSpc>
            </a:pPr>
            <a:r>
              <a:rPr sz="1500" b="0" lang="ja-JP" altLang="en-US">
                <a:solidFill>
                  <a:srgbClr val="333333"/>
                </a:solidFill>
                <a:latin typeface="Noto Sans JP"/>
                <a:ea typeface="Noto Sans JP"/>
              </a:rPr>
              <a:t>2027年1月18日</a:t>
            </a:r>
          </a:p>
        </p:txBody>
      </p:sp>
      <p:pic>
        <p:nvPicPr>
          <p:cNvPr id="8" name="Picture 7" descr="dag_original.png"/>
          <p:cNvPicPr>
            <a:picLocks noChangeAspect="1"/>
          </p:cNvPicPr>
          <p:nvPr/>
        </p:nvPicPr>
        <p:blipFill>
          <a:blip r:embed="rId3"/>
          <a:stretch>
            <a:fillRect/>
          </a:stretch>
        </p:blipFill>
        <p:spPr>
          <a:xfrm>
            <a:off x="6675120" y="2706951"/>
            <a:ext cx="5074920" cy="1947018"/>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研究の手順を記録し、計算と評価を繰り返す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15.png"/>
          <p:cNvPicPr>
            <a:picLocks noChangeAspect="1"/>
          </p:cNvPicPr>
          <p:nvPr/>
        </p:nvPicPr>
        <p:blipFill>
          <a:blip r:embed="rId3"/>
          <a:stretch>
            <a:fillRect/>
          </a:stretch>
        </p:blipFill>
        <p:spPr>
          <a:xfrm>
            <a:off x="7953247" y="1508760"/>
            <a:ext cx="2701545"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研究の手順を記録し、</a:t>
            </a:r>
          </a:p>
          <a:p>
            <a:pPr algn="l">
              <a:lnSpc>
                <a:spcPts val="2497"/>
              </a:lnSpc>
            </a:pPr>
            <a:r>
              <a:rPr sz="1850" b="0" lang="ja-JP" altLang="en-US">
                <a:solidFill>
                  <a:srgbClr val="333333"/>
                </a:solidFill>
                <a:latin typeface="Noto Sans JP"/>
                <a:ea typeface="Noto Sans JP"/>
              </a:rPr>
              <a:t>計算と評価を繰り返す。</a:t>
            </a:r>
          </a:p>
          <a:p>
            <a:pPr algn="l">
              <a:lnSpc>
                <a:spcPts val="2497"/>
              </a:lnSpc>
            </a:pPr>
            <a:r>
              <a:rPr sz="1850" b="0" lang="ja-JP" altLang="en-US">
                <a:solidFill>
                  <a:srgbClr val="333333"/>
                </a:solidFill>
                <a:latin typeface="Noto Sans JP"/>
                <a:ea typeface="Noto Sans JP"/>
              </a:rPr>
              <a:t>自然言語の仮説を計算手順へ落とし、出力を検証して次の計算へ進む。</a:t>
            </a:r>
          </a:p>
          <a:p>
            <a:pPr algn="l">
              <a:lnSpc>
                <a:spcPts val="2497"/>
              </a:lnSpc>
            </a:pPr>
            <a:r>
              <a:rPr sz="1850" b="0" lang="ja-JP" altLang="en-US">
                <a:solidFill>
                  <a:srgbClr val="333333"/>
                </a:solidFill>
                <a:latin typeface="Noto Sans JP"/>
                <a:ea typeface="Noto Sans JP"/>
              </a:rPr>
              <a:t>データの量だけでなく、条件の統一・多様性・失敗の記録が研究の質を決める。</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研究の自動化をデータと検証から考える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15.png"/>
          <p:cNvPicPr>
            <a:picLocks noChangeAspect="1"/>
          </p:cNvPicPr>
          <p:nvPr/>
        </p:nvPicPr>
        <p:blipFill>
          <a:blip r:embed="rId3"/>
          <a:stretch>
            <a:fillRect/>
          </a:stretch>
        </p:blipFill>
        <p:spPr>
          <a:xfrm>
            <a:off x="7953247" y="1508760"/>
            <a:ext cx="2701545"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1　AI Scientistの提案と外部の検証</a:t>
            </a:r>
          </a:p>
          <a:p>
            <a:pPr algn="l">
              <a:lnSpc>
                <a:spcPts val="2497"/>
              </a:lnSpc>
            </a:pPr>
            <a:r>
              <a:rPr sz="1850" b="0" lang="ja-JP" altLang="en-US">
                <a:solidFill>
                  <a:srgbClr val="333333"/>
                </a:solidFill>
                <a:latin typeface="Noto Sans JP"/>
                <a:ea typeface="Noto Sans JP"/>
              </a:rPr>
              <a:t>2　自動データ取得と計算条件の統一</a:t>
            </a:r>
          </a:p>
          <a:p>
            <a:pPr algn="l">
              <a:lnSpc>
                <a:spcPts val="2497"/>
              </a:lnSpc>
            </a:pPr>
            <a:r>
              <a:rPr sz="1850" b="0" lang="ja-JP" altLang="en-US">
                <a:solidFill>
                  <a:srgbClr val="333333"/>
                </a:solidFill>
                <a:latin typeface="Noto Sans JP"/>
                <a:ea typeface="Noto Sans JP"/>
              </a:rPr>
              <a:t>3　転移学習とデータ量・多様性</a:t>
            </a:r>
          </a:p>
          <a:p>
            <a:pPr algn="l">
              <a:lnSpc>
                <a:spcPts val="2497"/>
              </a:lnSpc>
            </a:pPr>
            <a:r>
              <a:rPr sz="1850" b="0" lang="ja-JP" altLang="en-US">
                <a:solidFill>
                  <a:srgbClr val="333333"/>
                </a:solidFill>
                <a:latin typeface="Noto Sans JP"/>
                <a:ea typeface="Noto Sans JP"/>
              </a:rPr>
              <a:t>4　MDClawのskills・CLI・計算履歴</a:t>
            </a:r>
          </a:p>
          <a:p>
            <a:pPr algn="l">
              <a:lnSpc>
                <a:spcPts val="2497"/>
              </a:lnSpc>
            </a:pPr>
            <a:r>
              <a:rPr sz="1850" b="0" lang="ja-JP" altLang="en-US">
                <a:solidFill>
                  <a:srgbClr val="333333"/>
                </a:solidFill>
                <a:latin typeface="Noto Sans JP"/>
                <a:ea typeface="Noto Sans JP"/>
              </a:rPr>
              <a:t>5　教員デモ：入力から証拠までをたどる</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0F344DCD-F8B9-4279-BAF9-E8E43EF30975}"/>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FD5B2EF0-EF0F-4836-854B-7C755FA4D434}"/>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F57BEF4F-8B34-4DCD-B844-3622440C5D8C}"/>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4604E69-4EBE-4B80-B165-3B7D34C8EE89}"/>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a:solidFill>
                  <a:srgbClr val="0E3A75"/>
                </a:solidFill>
                <a:latin typeface="Aptos"/>
                <a:ea typeface="Aptos"/>
                <a:cs typeface="Aptos"/>
              </a:rPr>
              <a:t>AI SCIENTIST PAPERS</a:t>
            </a:r>
          </a:p>
        </p:txBody>
      </p:sp>
      <p:sp>
        <p:nvSpPr>
          <p:cNvPr id="6" name="正方形/長方形 5">
            <a:extLst>
              <a:ext uri="{FF2B5EF4-FFF2-40B4-BE49-F238E27FC236}">
                <a16:creationId xmlns:a16="http://schemas.microsoft.com/office/drawing/2014/main" id="{E9999262-5399-45A0-ADDE-0A63839CD378}"/>
              </a:ext>
            </a:extLst>
          </p:cNvPr>
          <p:cNvSpPr>
            <a:spLocks noGrp="1"/>
          </p:cNvSpPr>
          <p:nvPr/>
        </p:nvSpPr>
        <p:spPr>
          <a:xfrm>
            <a:off x="1321662" y="716153"/>
            <a:ext cx="9814023" cy="74193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lang="en-US" sz="2709" b="1" dirty="0">
                <a:solidFill>
                  <a:srgbClr val="172033"/>
                </a:solidFill>
                <a:latin typeface="Aptos Display"/>
                <a:ea typeface="Aptos Display"/>
                <a:cs typeface="Aptos Display"/>
              </a:rPr>
              <a:t>Three AI Scientist papers published in May 2026:</a:t>
            </a:r>
            <a:r>
              <a:rPr lang="en-US" sz="2709" b="1" dirty="0">
                <a:solidFill>
                  <a:srgbClr val="C00000"/>
                </a:solidFill>
                <a:latin typeface="Aptos Display"/>
                <a:ea typeface="Aptos Display"/>
                <a:cs typeface="Aptos Display"/>
              </a:rPr>
              <a:t/>
            </a:r>
            <a:r>
              <a:rPr lang="en-US" sz="2709" b="1" dirty="0">
                <a:solidFill>
                  <a:srgbClr val="172033"/>
                </a:solidFill>
                <a:latin typeface="Aptos Display"/>
                <a:ea typeface="Aptos Display"/>
                <a:cs typeface="Aptos Display"/>
              </a:rPr>
              <a:t/>
            </a:r>
          </a:p>
        </p:txBody>
      </p:sp>
      <p:sp>
        <p:nvSpPr>
          <p:cNvPr id="8" name="正方形/長方形 7">
            <a:extLst>
              <a:ext uri="{FF2B5EF4-FFF2-40B4-BE49-F238E27FC236}">
                <a16:creationId xmlns:a16="http://schemas.microsoft.com/office/drawing/2014/main" id="{F475E85E-BB0C-4380-8E8E-11CFAB72F4FC}"/>
              </a:ext>
            </a:extLst>
          </p:cNvPr>
          <p:cNvSpPr>
            <a:spLocks noGrp="1"/>
          </p:cNvSpPr>
          <p:nvPr/>
        </p:nvSpPr>
        <p:spPr>
          <a:xfrm>
            <a:off x="1418437" y="1538732"/>
            <a:ext cx="9354820" cy="3290316"/>
          </a:xfrm>
          <a:prstGeom prst="rect">
            <a:avLst/>
          </a:prstGeom>
          <a:solidFill>
            <a:srgbClr val="FFFFFF"/>
          </a:solidFill>
          <a:ln w="10478">
            <a:solidFill>
              <a:srgbClr val="D4DAE2"/>
            </a:solidFill>
            <a:prstDash val="solid"/>
          </a:ln>
        </p:spPr>
        <p:txBody>
          <a:bodyPr/>
          <a:lstStyle/>
          <a:p>
            <a:endParaRPr lang="ja-JP" altLang="en-US" sz="3048"/>
          </a:p>
        </p:txBody>
      </p:sp>
      <p:sp>
        <p:nvSpPr>
          <p:cNvPr id="9" name="正方形/長方形 8">
            <a:extLst>
              <a:ext uri="{FF2B5EF4-FFF2-40B4-BE49-F238E27FC236}">
                <a16:creationId xmlns:a16="http://schemas.microsoft.com/office/drawing/2014/main" id="{CAF5CDB5-F320-42A2-AAB1-59578999D95C}"/>
              </a:ext>
            </a:extLst>
          </p:cNvPr>
          <p:cNvSpPr>
            <a:spLocks noGrp="1"/>
          </p:cNvSpPr>
          <p:nvPr/>
        </p:nvSpPr>
        <p:spPr>
          <a:xfrm>
            <a:off x="1418437" y="1538732"/>
            <a:ext cx="9354820" cy="338709"/>
          </a:xfrm>
          <a:prstGeom prst="rect">
            <a:avLst/>
          </a:prstGeom>
          <a:solidFill>
            <a:srgbClr val="F6F8FA"/>
          </a:solidFill>
          <a:ln w="0">
            <a:solidFill>
              <a:srgbClr val="000000">
                <a:alpha val="0"/>
              </a:srgbClr>
            </a:solidFill>
            <a:prstDash val="solid"/>
          </a:ln>
        </p:spPr>
        <p:txBody>
          <a:bodyPr/>
          <a:lstStyle/>
          <a:p>
            <a:endParaRPr lang="ja-JP" altLang="en-US" sz="3048"/>
          </a:p>
        </p:txBody>
      </p:sp>
      <p:sp>
        <p:nvSpPr>
          <p:cNvPr id="10" name="正方形/長方形 9">
            <a:extLst>
              <a:ext uri="{FF2B5EF4-FFF2-40B4-BE49-F238E27FC236}">
                <a16:creationId xmlns:a16="http://schemas.microsoft.com/office/drawing/2014/main" id="{8AAC345A-7F82-4938-8EA4-4BE2C4404641}"/>
              </a:ext>
            </a:extLst>
          </p:cNvPr>
          <p:cNvSpPr>
            <a:spLocks noGrp="1"/>
          </p:cNvSpPr>
          <p:nvPr/>
        </p:nvSpPr>
        <p:spPr>
          <a:xfrm>
            <a:off x="1563598" y="1635506"/>
            <a:ext cx="1685480" cy="14516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4" b="1">
                <a:solidFill>
                  <a:srgbClr val="0E3A75"/>
                </a:solidFill>
                <a:latin typeface="Aptos"/>
                <a:ea typeface="Aptos"/>
                <a:cs typeface="Aptos"/>
              </a:defRPr>
            </a:pPr>
            <a:r>
              <a:rPr sz="1185" b="1">
                <a:solidFill>
                  <a:srgbClr val="0E3A75"/>
                </a:solidFill>
                <a:latin typeface="Aptos"/>
                <a:ea typeface="Aptos"/>
                <a:cs typeface="Aptos"/>
              </a:rPr>
              <a:t>Paper</a:t>
            </a:r>
          </a:p>
        </p:txBody>
      </p:sp>
      <p:sp>
        <p:nvSpPr>
          <p:cNvPr id="11" name="正方形/長方形 10">
            <a:extLst>
              <a:ext uri="{FF2B5EF4-FFF2-40B4-BE49-F238E27FC236}">
                <a16:creationId xmlns:a16="http://schemas.microsoft.com/office/drawing/2014/main" id="{691CCCDA-B06C-44F0-8D75-2474CCE4D49A}"/>
              </a:ext>
            </a:extLst>
          </p:cNvPr>
          <p:cNvSpPr>
            <a:spLocks noGrp="1"/>
          </p:cNvSpPr>
          <p:nvPr/>
        </p:nvSpPr>
        <p:spPr>
          <a:xfrm>
            <a:off x="3539400" y="1635506"/>
            <a:ext cx="2370963" cy="14516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4" b="1">
                <a:solidFill>
                  <a:srgbClr val="0E3A75"/>
                </a:solidFill>
                <a:latin typeface="Aptos"/>
                <a:ea typeface="Aptos"/>
                <a:cs typeface="Aptos"/>
              </a:defRPr>
            </a:pPr>
            <a:r>
              <a:rPr sz="1185" b="1">
                <a:solidFill>
                  <a:srgbClr val="0E3A75"/>
                </a:solidFill>
                <a:latin typeface="Aptos"/>
                <a:ea typeface="Aptos"/>
                <a:cs typeface="Aptos"/>
              </a:rPr>
              <a:t>AI contribution</a:t>
            </a:r>
          </a:p>
        </p:txBody>
      </p:sp>
      <p:sp>
        <p:nvSpPr>
          <p:cNvPr id="12" name="正方形/長方形 11">
            <a:extLst>
              <a:ext uri="{FF2B5EF4-FFF2-40B4-BE49-F238E27FC236}">
                <a16:creationId xmlns:a16="http://schemas.microsoft.com/office/drawing/2014/main" id="{7881898D-4F5B-4CE7-9A3F-7C5C94509DA2}"/>
              </a:ext>
            </a:extLst>
          </p:cNvPr>
          <p:cNvSpPr>
            <a:spLocks noGrp="1"/>
          </p:cNvSpPr>
          <p:nvPr/>
        </p:nvSpPr>
        <p:spPr>
          <a:xfrm>
            <a:off x="6200685" y="1635506"/>
            <a:ext cx="1685480" cy="14516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4" b="1">
                <a:solidFill>
                  <a:srgbClr val="0E3A75"/>
                </a:solidFill>
                <a:latin typeface="Aptos"/>
                <a:ea typeface="Aptos"/>
                <a:cs typeface="Aptos"/>
              </a:defRPr>
            </a:pPr>
            <a:r>
              <a:rPr sz="1185" b="1">
                <a:solidFill>
                  <a:srgbClr val="0E3A75"/>
                </a:solidFill>
                <a:latin typeface="Aptos"/>
                <a:ea typeface="Aptos"/>
                <a:cs typeface="Aptos"/>
              </a:rPr>
              <a:t>Validation loop</a:t>
            </a:r>
          </a:p>
        </p:txBody>
      </p:sp>
      <p:sp>
        <p:nvSpPr>
          <p:cNvPr id="13" name="正方形/長方形 12">
            <a:extLst>
              <a:ext uri="{FF2B5EF4-FFF2-40B4-BE49-F238E27FC236}">
                <a16:creationId xmlns:a16="http://schemas.microsoft.com/office/drawing/2014/main" id="{DC07EAF9-322F-4CF6-9536-B85D56355D91}"/>
              </a:ext>
            </a:extLst>
          </p:cNvPr>
          <p:cNvSpPr>
            <a:spLocks noGrp="1"/>
          </p:cNvSpPr>
          <p:nvPr/>
        </p:nvSpPr>
        <p:spPr>
          <a:xfrm>
            <a:off x="8176488" y="1635506"/>
            <a:ext cx="2451608" cy="14516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4" b="1">
                <a:solidFill>
                  <a:srgbClr val="0E3A75"/>
                </a:solidFill>
                <a:latin typeface="Aptos"/>
                <a:ea typeface="Aptos"/>
                <a:cs typeface="Aptos"/>
              </a:defRPr>
            </a:pPr>
            <a:r>
              <a:rPr lang="en-US" sz="1185" b="1" dirty="0">
                <a:solidFill>
                  <a:srgbClr val="0E3A75"/>
                </a:solidFill>
                <a:latin typeface="Aptos"/>
                <a:ea typeface="Aptos"/>
                <a:cs typeface="Aptos"/>
              </a:rPr>
              <a:t>References</a:t>
            </a:r>
            <a:endParaRPr sz="1185" b="1" dirty="0">
              <a:solidFill>
                <a:srgbClr val="0E3A75"/>
              </a:solidFill>
              <a:latin typeface="Aptos"/>
              <a:ea typeface="Aptos"/>
              <a:cs typeface="Aptos"/>
            </a:endParaRPr>
          </a:p>
        </p:txBody>
      </p:sp>
      <p:sp>
        <p:nvSpPr>
          <p:cNvPr id="14" name="正方形/長方形 13">
            <a:extLst>
              <a:ext uri="{FF2B5EF4-FFF2-40B4-BE49-F238E27FC236}">
                <a16:creationId xmlns:a16="http://schemas.microsoft.com/office/drawing/2014/main" id="{95615948-BC98-467E-BE96-170A0FA45C6A}"/>
              </a:ext>
            </a:extLst>
          </p:cNvPr>
          <p:cNvSpPr>
            <a:spLocks noGrp="1"/>
          </p:cNvSpPr>
          <p:nvPr/>
        </p:nvSpPr>
        <p:spPr>
          <a:xfrm>
            <a:off x="1418437" y="1873409"/>
            <a:ext cx="9354820" cy="8064"/>
          </a:xfrm>
          <a:prstGeom prst="rect">
            <a:avLst/>
          </a:prstGeom>
          <a:solidFill>
            <a:srgbClr val="D4DAE2"/>
          </a:solidFill>
          <a:ln w="0">
            <a:solidFill>
              <a:srgbClr val="000000">
                <a:alpha val="0"/>
              </a:srgbClr>
            </a:solidFill>
            <a:prstDash val="solid"/>
          </a:ln>
        </p:spPr>
        <p:txBody>
          <a:bodyPr/>
          <a:lstStyle/>
          <a:p>
            <a:endParaRPr lang="ja-JP" altLang="en-US" sz="3048"/>
          </a:p>
        </p:txBody>
      </p:sp>
      <p:sp>
        <p:nvSpPr>
          <p:cNvPr id="15" name="正方形/長方形 14">
            <a:extLst>
              <a:ext uri="{FF2B5EF4-FFF2-40B4-BE49-F238E27FC236}">
                <a16:creationId xmlns:a16="http://schemas.microsoft.com/office/drawing/2014/main" id="{1B67C95C-A61C-4834-9B28-FA1577E0E86F}"/>
              </a:ext>
            </a:extLst>
          </p:cNvPr>
          <p:cNvSpPr>
            <a:spLocks noGrp="1"/>
          </p:cNvSpPr>
          <p:nvPr/>
        </p:nvSpPr>
        <p:spPr>
          <a:xfrm>
            <a:off x="1418437" y="1877441"/>
            <a:ext cx="40322" cy="983869"/>
          </a:xfrm>
          <a:prstGeom prst="rect">
            <a:avLst/>
          </a:prstGeom>
          <a:solidFill>
            <a:srgbClr val="2D6D4B"/>
          </a:solidFill>
          <a:ln w="0">
            <a:solidFill>
              <a:srgbClr val="000000">
                <a:alpha val="0"/>
              </a:srgbClr>
            </a:solidFill>
            <a:prstDash val="solid"/>
          </a:ln>
        </p:spPr>
        <p:txBody>
          <a:bodyPr/>
          <a:lstStyle/>
          <a:p>
            <a:endParaRPr lang="ja-JP" altLang="en-US" sz="3048"/>
          </a:p>
        </p:txBody>
      </p:sp>
      <p:sp>
        <p:nvSpPr>
          <p:cNvPr id="16" name="正方形/長方形 15">
            <a:extLst>
              <a:ext uri="{FF2B5EF4-FFF2-40B4-BE49-F238E27FC236}">
                <a16:creationId xmlns:a16="http://schemas.microsoft.com/office/drawing/2014/main" id="{874EF39B-F2DF-450F-86B3-BBF23EB35DF4}"/>
              </a:ext>
            </a:extLst>
          </p:cNvPr>
          <p:cNvSpPr>
            <a:spLocks noGrp="1"/>
          </p:cNvSpPr>
          <p:nvPr/>
        </p:nvSpPr>
        <p:spPr>
          <a:xfrm>
            <a:off x="1563598" y="2006473"/>
            <a:ext cx="1693545"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75" b="1">
                <a:solidFill>
                  <a:srgbClr val="2D6D4B"/>
                </a:solidFill>
                <a:latin typeface="Aptos"/>
                <a:ea typeface="Aptos"/>
                <a:cs typeface="Aptos"/>
              </a:defRPr>
            </a:pPr>
            <a:r>
              <a:rPr sz="1354" b="1">
                <a:solidFill>
                  <a:srgbClr val="2D6D4B"/>
                </a:solidFill>
                <a:latin typeface="Aptos"/>
                <a:ea typeface="Aptos"/>
                <a:cs typeface="Aptos"/>
              </a:rPr>
              <a:t>Robin</a:t>
            </a:r>
          </a:p>
        </p:txBody>
      </p:sp>
      <p:sp>
        <p:nvSpPr>
          <p:cNvPr id="17" name="正方形/長方形 16">
            <a:extLst>
              <a:ext uri="{FF2B5EF4-FFF2-40B4-BE49-F238E27FC236}">
                <a16:creationId xmlns:a16="http://schemas.microsoft.com/office/drawing/2014/main" id="{E558FD24-1CBC-44F0-91AF-B787420BC209}"/>
              </a:ext>
            </a:extLst>
          </p:cNvPr>
          <p:cNvSpPr>
            <a:spLocks noGrp="1"/>
          </p:cNvSpPr>
          <p:nvPr/>
        </p:nvSpPr>
        <p:spPr>
          <a:xfrm>
            <a:off x="1563598" y="2264537"/>
            <a:ext cx="1653222" cy="35483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06" b="1">
                <a:solidFill>
                  <a:srgbClr val="172033"/>
                </a:solidFill>
                <a:latin typeface="Aptos"/>
                <a:ea typeface="Aptos"/>
                <a:cs typeface="Aptos"/>
              </a:defRPr>
            </a:pPr>
            <a:r>
              <a:rPr sz="1185" b="1">
                <a:solidFill>
                  <a:srgbClr val="172033"/>
                </a:solidFill>
                <a:latin typeface="Aptos"/>
                <a:ea typeface="Aptos"/>
                <a:cs typeface="Aptos"/>
              </a:rPr>
              <a:t>A multi-agent system for automating scientific discovery</a:t>
            </a:r>
          </a:p>
        </p:txBody>
      </p:sp>
      <p:sp>
        <p:nvSpPr>
          <p:cNvPr id="18" name="正方形/長方形 17">
            <a:extLst>
              <a:ext uri="{FF2B5EF4-FFF2-40B4-BE49-F238E27FC236}">
                <a16:creationId xmlns:a16="http://schemas.microsoft.com/office/drawing/2014/main" id="{B1DFA427-8DFF-4BC3-B6B5-38B4354A263E}"/>
              </a:ext>
            </a:extLst>
          </p:cNvPr>
          <p:cNvSpPr>
            <a:spLocks noGrp="1"/>
          </p:cNvSpPr>
          <p:nvPr/>
        </p:nvSpPr>
        <p:spPr>
          <a:xfrm>
            <a:off x="3539400" y="2022602"/>
            <a:ext cx="2370963" cy="48387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033"/>
                </a:solidFill>
                <a:latin typeface="Aptos"/>
                <a:ea typeface="Aptos"/>
                <a:cs typeface="Aptos"/>
              </a:defRPr>
            </a:pPr>
            <a:r>
              <a:rPr sz="1354" b="0">
                <a:solidFill>
                  <a:srgbClr val="172033"/>
                </a:solidFill>
                <a:latin typeface="Aptos"/>
                <a:ea typeface="Aptos"/>
                <a:cs typeface="Aptos"/>
              </a:rPr>
              <a:t>Literature-search and data-analysis agents propose hypotheses, experiments, and updated hypotheses.</a:t>
            </a:r>
          </a:p>
        </p:txBody>
      </p:sp>
      <p:sp>
        <p:nvSpPr>
          <p:cNvPr id="19" name="正方形/長方形 18">
            <a:extLst>
              <a:ext uri="{FF2B5EF4-FFF2-40B4-BE49-F238E27FC236}">
                <a16:creationId xmlns:a16="http://schemas.microsoft.com/office/drawing/2014/main" id="{8040BD45-B4B4-4486-BE12-AB5DE10EA5D0}"/>
              </a:ext>
            </a:extLst>
          </p:cNvPr>
          <p:cNvSpPr>
            <a:spLocks noGrp="1"/>
          </p:cNvSpPr>
          <p:nvPr/>
        </p:nvSpPr>
        <p:spPr>
          <a:xfrm>
            <a:off x="6200685" y="2022602"/>
            <a:ext cx="1685480" cy="51612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033"/>
                </a:solidFill>
                <a:latin typeface="Aptos"/>
                <a:ea typeface="Aptos"/>
                <a:cs typeface="Aptos"/>
              </a:defRPr>
            </a:pPr>
            <a:r>
              <a:rPr sz="1354" b="1" dirty="0">
                <a:solidFill>
                  <a:srgbClr val="C00000"/>
                </a:solidFill>
                <a:latin typeface="Aptos"/>
                <a:ea typeface="Aptos"/>
                <a:cs typeface="Aptos"/>
              </a:rPr>
              <a:t>Lab-in-the-loop</a:t>
            </a:r>
            <a:r>
              <a:rPr sz="1354" b="0" dirty="0">
                <a:solidFill>
                  <a:srgbClr val="172033"/>
                </a:solidFill>
                <a:latin typeface="Aptos"/>
                <a:ea typeface="Aptos"/>
                <a:cs typeface="Aptos"/>
              </a:rPr>
              <a:t>: </a:t>
            </a:r>
            <a:r>
              <a:rPr sz="1185" b="0" dirty="0">
                <a:solidFill>
                  <a:srgbClr val="172033"/>
                </a:solidFill>
                <a:latin typeface="Aptos"/>
                <a:ea typeface="Aptos"/>
                <a:cs typeface="Aptos"/>
              </a:rPr>
              <a:t>human scientists review candidates; assays and RNA-seq close the loop.</a:t>
            </a:r>
          </a:p>
        </p:txBody>
      </p:sp>
      <p:sp>
        <p:nvSpPr>
          <p:cNvPr id="20" name="正方形/長方形 19">
            <a:extLst>
              <a:ext uri="{FF2B5EF4-FFF2-40B4-BE49-F238E27FC236}">
                <a16:creationId xmlns:a16="http://schemas.microsoft.com/office/drawing/2014/main" id="{112B74A9-5BBE-496B-8736-00858FE1F822}"/>
              </a:ext>
            </a:extLst>
          </p:cNvPr>
          <p:cNvSpPr>
            <a:spLocks noGrp="1"/>
          </p:cNvSpPr>
          <p:nvPr/>
        </p:nvSpPr>
        <p:spPr>
          <a:xfrm>
            <a:off x="8176488" y="1990344"/>
            <a:ext cx="2451608" cy="6935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1" b="0">
                <a:solidFill>
                  <a:srgbClr val="5B6573"/>
                </a:solidFill>
                <a:latin typeface="Aptos"/>
                <a:ea typeface="Aptos"/>
                <a:cs typeface="Aptos"/>
              </a:defRPr>
            </a:pPr>
            <a:r>
              <a:rPr sz="1016" b="0" dirty="0">
                <a:solidFill>
                  <a:srgbClr val="5B6573"/>
                </a:solidFill>
                <a:latin typeface="Aptos"/>
                <a:ea typeface="Aptos"/>
                <a:cs typeface="Aptos"/>
              </a:rPr>
              <a:t>Ghareeb, A.E., Chang, B., Mitchener, L. et al. Nature (2026). Published online 19 May 2026. DOI: 10.1038/s41586-026-10652-y. </a:t>
            </a:r>
          </a:p>
        </p:txBody>
      </p:sp>
      <p:sp>
        <p:nvSpPr>
          <p:cNvPr id="21" name="正方形/長方形 20">
            <a:extLst>
              <a:ext uri="{FF2B5EF4-FFF2-40B4-BE49-F238E27FC236}">
                <a16:creationId xmlns:a16="http://schemas.microsoft.com/office/drawing/2014/main" id="{DCCB2091-34FB-4889-9227-BF2B48EAE347}"/>
              </a:ext>
            </a:extLst>
          </p:cNvPr>
          <p:cNvSpPr>
            <a:spLocks noGrp="1"/>
          </p:cNvSpPr>
          <p:nvPr/>
        </p:nvSpPr>
        <p:spPr>
          <a:xfrm>
            <a:off x="1418437" y="2857278"/>
            <a:ext cx="9354820" cy="8064"/>
          </a:xfrm>
          <a:prstGeom prst="rect">
            <a:avLst/>
          </a:prstGeom>
          <a:solidFill>
            <a:srgbClr val="D4DAE2"/>
          </a:solidFill>
          <a:ln w="0">
            <a:solidFill>
              <a:srgbClr val="000000">
                <a:alpha val="0"/>
              </a:srgbClr>
            </a:solidFill>
            <a:prstDash val="solid"/>
          </a:ln>
        </p:spPr>
        <p:txBody>
          <a:bodyPr/>
          <a:lstStyle/>
          <a:p>
            <a:endParaRPr lang="ja-JP" altLang="en-US" sz="3048"/>
          </a:p>
        </p:txBody>
      </p:sp>
      <p:sp>
        <p:nvSpPr>
          <p:cNvPr id="22" name="正方形/長方形 21">
            <a:extLst>
              <a:ext uri="{FF2B5EF4-FFF2-40B4-BE49-F238E27FC236}">
                <a16:creationId xmlns:a16="http://schemas.microsoft.com/office/drawing/2014/main" id="{E1270A84-FCAC-459C-A158-2BB65B51E8FF}"/>
              </a:ext>
            </a:extLst>
          </p:cNvPr>
          <p:cNvSpPr>
            <a:spLocks noGrp="1"/>
          </p:cNvSpPr>
          <p:nvPr/>
        </p:nvSpPr>
        <p:spPr>
          <a:xfrm>
            <a:off x="1418437" y="2861310"/>
            <a:ext cx="40322" cy="983869"/>
          </a:xfrm>
          <a:prstGeom prst="rect">
            <a:avLst/>
          </a:prstGeom>
          <a:solidFill>
            <a:srgbClr val="0E3A75"/>
          </a:solidFill>
          <a:ln w="0">
            <a:solidFill>
              <a:srgbClr val="000000">
                <a:alpha val="0"/>
              </a:srgbClr>
            </a:solidFill>
            <a:prstDash val="solid"/>
          </a:ln>
        </p:spPr>
        <p:txBody>
          <a:bodyPr/>
          <a:lstStyle/>
          <a:p>
            <a:endParaRPr lang="ja-JP" altLang="en-US" sz="3048"/>
          </a:p>
        </p:txBody>
      </p:sp>
      <p:sp>
        <p:nvSpPr>
          <p:cNvPr id="23" name="正方形/長方形 22">
            <a:extLst>
              <a:ext uri="{FF2B5EF4-FFF2-40B4-BE49-F238E27FC236}">
                <a16:creationId xmlns:a16="http://schemas.microsoft.com/office/drawing/2014/main" id="{65221860-E767-4860-AE4D-E6BE90B3119E}"/>
              </a:ext>
            </a:extLst>
          </p:cNvPr>
          <p:cNvSpPr>
            <a:spLocks noGrp="1"/>
          </p:cNvSpPr>
          <p:nvPr/>
        </p:nvSpPr>
        <p:spPr>
          <a:xfrm>
            <a:off x="1563598" y="2990342"/>
            <a:ext cx="1693545"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75" b="1">
                <a:solidFill>
                  <a:srgbClr val="0E3A75"/>
                </a:solidFill>
                <a:latin typeface="Aptos"/>
                <a:ea typeface="Aptos"/>
                <a:cs typeface="Aptos"/>
              </a:defRPr>
            </a:pPr>
            <a:r>
              <a:rPr sz="1354" b="1">
                <a:solidFill>
                  <a:srgbClr val="0E3A75"/>
                </a:solidFill>
                <a:latin typeface="Aptos"/>
                <a:ea typeface="Aptos"/>
                <a:cs typeface="Aptos"/>
              </a:rPr>
              <a:t>Co-Scientist</a:t>
            </a:r>
          </a:p>
        </p:txBody>
      </p:sp>
      <p:sp>
        <p:nvSpPr>
          <p:cNvPr id="24" name="正方形/長方形 23">
            <a:extLst>
              <a:ext uri="{FF2B5EF4-FFF2-40B4-BE49-F238E27FC236}">
                <a16:creationId xmlns:a16="http://schemas.microsoft.com/office/drawing/2014/main" id="{17DB73B8-C484-4001-B47C-8A3A724680C8}"/>
              </a:ext>
            </a:extLst>
          </p:cNvPr>
          <p:cNvSpPr>
            <a:spLocks noGrp="1"/>
          </p:cNvSpPr>
          <p:nvPr/>
        </p:nvSpPr>
        <p:spPr>
          <a:xfrm>
            <a:off x="1563598" y="3248406"/>
            <a:ext cx="1653222" cy="35483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06" b="1">
                <a:solidFill>
                  <a:srgbClr val="172033"/>
                </a:solidFill>
                <a:latin typeface="Aptos"/>
                <a:ea typeface="Aptos"/>
                <a:cs typeface="Aptos"/>
              </a:defRPr>
            </a:pPr>
            <a:r>
              <a:rPr sz="1185" b="1">
                <a:solidFill>
                  <a:srgbClr val="172033"/>
                </a:solidFill>
                <a:latin typeface="Aptos"/>
                <a:ea typeface="Aptos"/>
                <a:cs typeface="Aptos"/>
              </a:rPr>
              <a:t>Accelerating scientific discovery with Co-Scientist</a:t>
            </a:r>
          </a:p>
        </p:txBody>
      </p:sp>
      <p:sp>
        <p:nvSpPr>
          <p:cNvPr id="25" name="正方形/長方形 24">
            <a:extLst>
              <a:ext uri="{FF2B5EF4-FFF2-40B4-BE49-F238E27FC236}">
                <a16:creationId xmlns:a16="http://schemas.microsoft.com/office/drawing/2014/main" id="{1474D649-82B2-4747-88FD-6DE2D5EB39C8}"/>
              </a:ext>
            </a:extLst>
          </p:cNvPr>
          <p:cNvSpPr>
            <a:spLocks noGrp="1"/>
          </p:cNvSpPr>
          <p:nvPr/>
        </p:nvSpPr>
        <p:spPr>
          <a:xfrm>
            <a:off x="3539400" y="3006471"/>
            <a:ext cx="2370963" cy="48387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033"/>
                </a:solidFill>
                <a:latin typeface="Aptos"/>
                <a:ea typeface="Aptos"/>
                <a:cs typeface="Aptos"/>
              </a:defRPr>
            </a:pPr>
            <a:r>
              <a:rPr sz="1354" b="0">
                <a:solidFill>
                  <a:srgbClr val="172033"/>
                </a:solidFill>
                <a:latin typeface="Aptos"/>
                <a:ea typeface="Aptos"/>
                <a:cs typeface="Aptos"/>
              </a:rPr>
              <a:t>A multi-agent system generates, critiques, ranks, and refines research hypotheses.</a:t>
            </a:r>
          </a:p>
        </p:txBody>
      </p:sp>
      <p:sp>
        <p:nvSpPr>
          <p:cNvPr id="26" name="正方形/長方形 25">
            <a:extLst>
              <a:ext uri="{FF2B5EF4-FFF2-40B4-BE49-F238E27FC236}">
                <a16:creationId xmlns:a16="http://schemas.microsoft.com/office/drawing/2014/main" id="{7A13507F-05FE-475A-AB46-8CE85C7395DA}"/>
              </a:ext>
            </a:extLst>
          </p:cNvPr>
          <p:cNvSpPr>
            <a:spLocks noGrp="1"/>
          </p:cNvSpPr>
          <p:nvPr/>
        </p:nvSpPr>
        <p:spPr>
          <a:xfrm>
            <a:off x="6200685" y="3006471"/>
            <a:ext cx="1685480" cy="51612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033"/>
                </a:solidFill>
                <a:latin typeface="Aptos"/>
                <a:ea typeface="Aptos"/>
                <a:cs typeface="Aptos"/>
              </a:defRPr>
            </a:pPr>
            <a:r>
              <a:rPr sz="1354" b="1" dirty="0">
                <a:solidFill>
                  <a:srgbClr val="C00000"/>
                </a:solidFill>
                <a:latin typeface="Aptos"/>
                <a:ea typeface="Aptos"/>
                <a:cs typeface="Aptos"/>
              </a:rPr>
              <a:t>Scientist-in-the-loop</a:t>
            </a:r>
            <a:r>
              <a:rPr sz="1354" b="0" dirty="0">
                <a:solidFill>
                  <a:srgbClr val="172033"/>
                </a:solidFill>
                <a:latin typeface="Aptos"/>
                <a:ea typeface="Aptos"/>
                <a:cs typeface="Aptos"/>
              </a:rPr>
              <a:t>: </a:t>
            </a:r>
            <a:r>
              <a:rPr sz="1185" b="0" dirty="0">
                <a:solidFill>
                  <a:srgbClr val="172033"/>
                </a:solidFill>
                <a:latin typeface="Aptos"/>
                <a:ea typeface="Aptos"/>
                <a:cs typeface="Aptos"/>
              </a:rPr>
              <a:t>experts steer goals and select candidates for in vitro validation.</a:t>
            </a:r>
          </a:p>
        </p:txBody>
      </p:sp>
      <p:sp>
        <p:nvSpPr>
          <p:cNvPr id="27" name="正方形/長方形 26">
            <a:extLst>
              <a:ext uri="{FF2B5EF4-FFF2-40B4-BE49-F238E27FC236}">
                <a16:creationId xmlns:a16="http://schemas.microsoft.com/office/drawing/2014/main" id="{F1288BC5-3FE7-4A84-ACCA-902BA3EF0AD0}"/>
              </a:ext>
            </a:extLst>
          </p:cNvPr>
          <p:cNvSpPr>
            <a:spLocks noGrp="1"/>
          </p:cNvSpPr>
          <p:nvPr/>
        </p:nvSpPr>
        <p:spPr>
          <a:xfrm>
            <a:off x="8176488" y="2974213"/>
            <a:ext cx="2451608" cy="6935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1" b="0">
                <a:solidFill>
                  <a:srgbClr val="5B6573"/>
                </a:solidFill>
                <a:latin typeface="Aptos"/>
                <a:ea typeface="Aptos"/>
                <a:cs typeface="Aptos"/>
              </a:defRPr>
            </a:pPr>
            <a:r>
              <a:rPr sz="1016" b="0" dirty="0" err="1">
                <a:solidFill>
                  <a:srgbClr val="5B6573"/>
                </a:solidFill>
                <a:latin typeface="Aptos"/>
                <a:ea typeface="Aptos"/>
                <a:cs typeface="Aptos"/>
              </a:rPr>
              <a:t>Gottweis</a:t>
            </a:r>
            <a:r>
              <a:rPr sz="1016" b="0" dirty="0">
                <a:solidFill>
                  <a:srgbClr val="5B6573"/>
                </a:solidFill>
                <a:latin typeface="Aptos"/>
                <a:ea typeface="Aptos"/>
                <a:cs typeface="Aptos"/>
              </a:rPr>
              <a:t>, J., Weng, W.H., </a:t>
            </a:r>
            <a:r>
              <a:rPr sz="1016" b="0" dirty="0" err="1">
                <a:solidFill>
                  <a:srgbClr val="5B6573"/>
                </a:solidFill>
                <a:latin typeface="Aptos"/>
                <a:ea typeface="Aptos"/>
                <a:cs typeface="Aptos"/>
              </a:rPr>
              <a:t>Daryin</a:t>
            </a:r>
            <a:r>
              <a:rPr sz="1016" b="0" dirty="0">
                <a:solidFill>
                  <a:srgbClr val="5B6573"/>
                </a:solidFill>
                <a:latin typeface="Aptos"/>
                <a:ea typeface="Aptos"/>
                <a:cs typeface="Aptos"/>
              </a:rPr>
              <a:t>, A. et al. Nature (2026). Published online 19 May 2026. DOI: 10.1038/s41586-026-10644-y. </a:t>
            </a:r>
          </a:p>
        </p:txBody>
      </p:sp>
      <p:sp>
        <p:nvSpPr>
          <p:cNvPr id="28" name="正方形/長方形 27">
            <a:extLst>
              <a:ext uri="{FF2B5EF4-FFF2-40B4-BE49-F238E27FC236}">
                <a16:creationId xmlns:a16="http://schemas.microsoft.com/office/drawing/2014/main" id="{9556011E-E996-4480-85F6-C4F5B5F80B42}"/>
              </a:ext>
            </a:extLst>
          </p:cNvPr>
          <p:cNvSpPr>
            <a:spLocks noGrp="1"/>
          </p:cNvSpPr>
          <p:nvPr/>
        </p:nvSpPr>
        <p:spPr>
          <a:xfrm>
            <a:off x="1418437" y="3841147"/>
            <a:ext cx="9354820" cy="8064"/>
          </a:xfrm>
          <a:prstGeom prst="rect">
            <a:avLst/>
          </a:prstGeom>
          <a:solidFill>
            <a:srgbClr val="D4DAE2"/>
          </a:solidFill>
          <a:ln w="0">
            <a:solidFill>
              <a:srgbClr val="000000">
                <a:alpha val="0"/>
              </a:srgbClr>
            </a:solidFill>
            <a:prstDash val="solid"/>
          </a:ln>
        </p:spPr>
        <p:txBody>
          <a:bodyPr/>
          <a:lstStyle/>
          <a:p>
            <a:endParaRPr lang="ja-JP" altLang="en-US" sz="3048"/>
          </a:p>
        </p:txBody>
      </p:sp>
      <p:sp>
        <p:nvSpPr>
          <p:cNvPr id="29" name="正方形/長方形 28">
            <a:extLst>
              <a:ext uri="{FF2B5EF4-FFF2-40B4-BE49-F238E27FC236}">
                <a16:creationId xmlns:a16="http://schemas.microsoft.com/office/drawing/2014/main" id="{0B68E303-8AF4-4640-9F6C-1E02AABA43A5}"/>
              </a:ext>
            </a:extLst>
          </p:cNvPr>
          <p:cNvSpPr>
            <a:spLocks noGrp="1"/>
          </p:cNvSpPr>
          <p:nvPr/>
        </p:nvSpPr>
        <p:spPr>
          <a:xfrm>
            <a:off x="1418437" y="3845179"/>
            <a:ext cx="40322" cy="983869"/>
          </a:xfrm>
          <a:prstGeom prst="rect">
            <a:avLst/>
          </a:prstGeom>
          <a:solidFill>
            <a:srgbClr val="4D4B7D"/>
          </a:solidFill>
          <a:ln w="0">
            <a:solidFill>
              <a:srgbClr val="000000">
                <a:alpha val="0"/>
              </a:srgbClr>
            </a:solidFill>
            <a:prstDash val="solid"/>
          </a:ln>
        </p:spPr>
        <p:txBody>
          <a:bodyPr/>
          <a:lstStyle/>
          <a:p>
            <a:endParaRPr lang="ja-JP" altLang="en-US" sz="3048"/>
          </a:p>
        </p:txBody>
      </p:sp>
      <p:sp>
        <p:nvSpPr>
          <p:cNvPr id="30" name="正方形/長方形 29">
            <a:extLst>
              <a:ext uri="{FF2B5EF4-FFF2-40B4-BE49-F238E27FC236}">
                <a16:creationId xmlns:a16="http://schemas.microsoft.com/office/drawing/2014/main" id="{531C21E2-7772-4C1F-A8D5-BE512EDDA389}"/>
              </a:ext>
            </a:extLst>
          </p:cNvPr>
          <p:cNvSpPr>
            <a:spLocks noGrp="1"/>
          </p:cNvSpPr>
          <p:nvPr/>
        </p:nvSpPr>
        <p:spPr>
          <a:xfrm>
            <a:off x="1563598" y="3974211"/>
            <a:ext cx="1693545"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75" b="1">
                <a:solidFill>
                  <a:srgbClr val="4D4B7D"/>
                </a:solidFill>
                <a:latin typeface="Aptos"/>
                <a:ea typeface="Aptos"/>
                <a:cs typeface="Aptos"/>
              </a:defRPr>
            </a:pPr>
            <a:r>
              <a:rPr sz="1354" b="1">
                <a:solidFill>
                  <a:srgbClr val="4D4B7D"/>
                </a:solidFill>
                <a:latin typeface="Aptos"/>
                <a:ea typeface="Aptos"/>
                <a:cs typeface="Aptos"/>
              </a:rPr>
              <a:t>ERA</a:t>
            </a:r>
          </a:p>
        </p:txBody>
      </p:sp>
      <p:sp>
        <p:nvSpPr>
          <p:cNvPr id="31" name="正方形/長方形 30">
            <a:extLst>
              <a:ext uri="{FF2B5EF4-FFF2-40B4-BE49-F238E27FC236}">
                <a16:creationId xmlns:a16="http://schemas.microsoft.com/office/drawing/2014/main" id="{987EC89B-62EA-4E9F-8D94-365A5D92E04C}"/>
              </a:ext>
            </a:extLst>
          </p:cNvPr>
          <p:cNvSpPr>
            <a:spLocks noGrp="1"/>
          </p:cNvSpPr>
          <p:nvPr/>
        </p:nvSpPr>
        <p:spPr>
          <a:xfrm>
            <a:off x="1563598" y="4232275"/>
            <a:ext cx="1653222" cy="35483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06" b="1">
                <a:solidFill>
                  <a:srgbClr val="172033"/>
                </a:solidFill>
                <a:latin typeface="Aptos"/>
                <a:ea typeface="Aptos"/>
                <a:cs typeface="Aptos"/>
              </a:defRPr>
            </a:pPr>
            <a:r>
              <a:rPr sz="1185" b="1">
                <a:solidFill>
                  <a:srgbClr val="172033"/>
                </a:solidFill>
                <a:latin typeface="Aptos"/>
                <a:ea typeface="Aptos"/>
                <a:cs typeface="Aptos"/>
              </a:rPr>
              <a:t>An AI system to help scientists write expert-level empirical software</a:t>
            </a:r>
          </a:p>
        </p:txBody>
      </p:sp>
      <p:sp>
        <p:nvSpPr>
          <p:cNvPr id="32" name="正方形/長方形 31">
            <a:extLst>
              <a:ext uri="{FF2B5EF4-FFF2-40B4-BE49-F238E27FC236}">
                <a16:creationId xmlns:a16="http://schemas.microsoft.com/office/drawing/2014/main" id="{8C36F1A7-A187-4964-B94A-BF33048D92A9}"/>
              </a:ext>
            </a:extLst>
          </p:cNvPr>
          <p:cNvSpPr>
            <a:spLocks noGrp="1"/>
          </p:cNvSpPr>
          <p:nvPr/>
        </p:nvSpPr>
        <p:spPr>
          <a:xfrm>
            <a:off x="3539400" y="3990340"/>
            <a:ext cx="2370963" cy="48387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033"/>
                </a:solidFill>
                <a:latin typeface="Aptos"/>
                <a:ea typeface="Aptos"/>
                <a:cs typeface="Aptos"/>
              </a:defRPr>
            </a:pPr>
            <a:r>
              <a:rPr sz="1354" b="0">
                <a:solidFill>
                  <a:srgbClr val="172033"/>
                </a:solidFill>
                <a:latin typeface="Aptos"/>
                <a:ea typeface="Aptos"/>
                <a:cs typeface="Aptos"/>
              </a:rPr>
              <a:t>LLM plus tree search writes empirical scientific software against a quantitative score.</a:t>
            </a:r>
          </a:p>
        </p:txBody>
      </p:sp>
      <p:sp>
        <p:nvSpPr>
          <p:cNvPr id="33" name="正方形/長方形 32">
            <a:extLst>
              <a:ext uri="{FF2B5EF4-FFF2-40B4-BE49-F238E27FC236}">
                <a16:creationId xmlns:a16="http://schemas.microsoft.com/office/drawing/2014/main" id="{9CBD2EA3-B174-426B-8644-C04D624B54AD}"/>
              </a:ext>
            </a:extLst>
          </p:cNvPr>
          <p:cNvSpPr>
            <a:spLocks noGrp="1"/>
          </p:cNvSpPr>
          <p:nvPr/>
        </p:nvSpPr>
        <p:spPr>
          <a:xfrm>
            <a:off x="6200685" y="3990340"/>
            <a:ext cx="1685480" cy="59677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033"/>
                </a:solidFill>
                <a:latin typeface="Aptos"/>
                <a:ea typeface="Aptos"/>
                <a:cs typeface="Aptos"/>
              </a:defRPr>
            </a:pPr>
            <a:r>
              <a:rPr sz="1354" b="1" dirty="0">
                <a:solidFill>
                  <a:srgbClr val="C00000"/>
                </a:solidFill>
                <a:latin typeface="Aptos"/>
                <a:ea typeface="Aptos"/>
                <a:cs typeface="Aptos"/>
              </a:rPr>
              <a:t>Dataset-in-the-loop</a:t>
            </a:r>
            <a:r>
              <a:rPr sz="1354" b="0" dirty="0">
                <a:solidFill>
                  <a:srgbClr val="172033"/>
                </a:solidFill>
                <a:latin typeface="Aptos"/>
                <a:ea typeface="Aptos"/>
                <a:cs typeface="Aptos"/>
              </a:rPr>
              <a:t>: </a:t>
            </a:r>
            <a:r>
              <a:rPr sz="1185" b="0" dirty="0">
                <a:solidFill>
                  <a:srgbClr val="172033"/>
                </a:solidFill>
                <a:latin typeface="Aptos"/>
                <a:ea typeface="Aptos"/>
                <a:cs typeface="Aptos"/>
              </a:rPr>
              <a:t>computational </a:t>
            </a:r>
            <a:r>
              <a:rPr lang="en-US" sz="1185" b="0" dirty="0">
                <a:solidFill>
                  <a:srgbClr val="172033"/>
                </a:solidFill>
                <a:latin typeface="Aptos"/>
                <a:ea typeface="Aptos"/>
                <a:cs typeface="Aptos"/>
              </a:rPr>
              <a:t>validations</a:t>
            </a:r>
            <a:r>
              <a:rPr sz="1185" b="0" dirty="0">
                <a:solidFill>
                  <a:srgbClr val="172033"/>
                </a:solidFill>
                <a:latin typeface="Aptos"/>
                <a:ea typeface="Aptos"/>
                <a:cs typeface="Aptos"/>
              </a:rPr>
              <a:t> drive trial-and-error.</a:t>
            </a:r>
          </a:p>
        </p:txBody>
      </p:sp>
      <p:sp>
        <p:nvSpPr>
          <p:cNvPr id="34" name="正方形/長方形 33">
            <a:extLst>
              <a:ext uri="{FF2B5EF4-FFF2-40B4-BE49-F238E27FC236}">
                <a16:creationId xmlns:a16="http://schemas.microsoft.com/office/drawing/2014/main" id="{DF698F20-E677-4B5F-949F-B7C1CF506958}"/>
              </a:ext>
            </a:extLst>
          </p:cNvPr>
          <p:cNvSpPr>
            <a:spLocks noGrp="1"/>
          </p:cNvSpPr>
          <p:nvPr/>
        </p:nvSpPr>
        <p:spPr>
          <a:xfrm>
            <a:off x="8176488" y="3958082"/>
            <a:ext cx="2451608" cy="6935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1" b="0">
                <a:solidFill>
                  <a:srgbClr val="5B6573"/>
                </a:solidFill>
                <a:latin typeface="Aptos"/>
                <a:ea typeface="Aptos"/>
                <a:cs typeface="Aptos"/>
              </a:defRPr>
            </a:pPr>
            <a:r>
              <a:rPr sz="1016" b="0" dirty="0">
                <a:solidFill>
                  <a:srgbClr val="5B6573"/>
                </a:solidFill>
                <a:latin typeface="Aptos"/>
                <a:ea typeface="Aptos"/>
                <a:cs typeface="Aptos"/>
              </a:rPr>
              <a:t>Aygun, E., Belyaeva, A., </a:t>
            </a:r>
            <a:r>
              <a:rPr sz="1016" b="0" dirty="0" err="1">
                <a:solidFill>
                  <a:srgbClr val="5B6573"/>
                </a:solidFill>
                <a:latin typeface="Aptos"/>
                <a:ea typeface="Aptos"/>
                <a:cs typeface="Aptos"/>
              </a:rPr>
              <a:t>Comanici</a:t>
            </a:r>
            <a:r>
              <a:rPr sz="1016" b="0" dirty="0">
                <a:solidFill>
                  <a:srgbClr val="5B6573"/>
                </a:solidFill>
                <a:latin typeface="Aptos"/>
                <a:ea typeface="Aptos"/>
                <a:cs typeface="Aptos"/>
              </a:rPr>
              <a:t>, G. et al. Nature (2026). Published online 19 May 2026. DOI: 10.1038/s41586-026-10658-6. </a:t>
            </a:r>
          </a:p>
        </p:txBody>
      </p:sp>
      <p:sp>
        <p:nvSpPr>
          <p:cNvPr id="36" name="テキスト ボックス 35">
            <a:extLst>
              <a:ext uri="{FF2B5EF4-FFF2-40B4-BE49-F238E27FC236}">
                <a16:creationId xmlns:a16="http://schemas.microsoft.com/office/drawing/2014/main" id="{33FDA0E4-5B3D-448B-2CC9-B33F123B361D}"/>
              </a:ext>
            </a:extLst>
          </p:cNvPr>
          <p:cNvSpPr txBox="1"/>
          <p:nvPr/>
        </p:nvSpPr>
        <p:spPr>
          <a:xfrm>
            <a:off x="934567" y="5043312"/>
            <a:ext cx="10322560" cy="442992"/>
          </a:xfrm>
          <a:prstGeom prst="rect">
            <a:avLst/>
          </a:prstGeom>
          <a:noFill/>
        </p:spPr>
        <p:txBody>
          <a:bodyPr wrap="square">
            <a:spAutoFit/>
          </a:bodyPr>
          <a:lstStyle/>
          <a:p>
            <a:pPr algn="l">
              <a:defRPr sz="2254" b="1">
                <a:solidFill>
                  <a:srgbClr val="172033"/>
                </a:solidFill>
                <a:latin typeface="Aptos Display"/>
                <a:ea typeface="Aptos Display"/>
                <a:cs typeface="Aptos Display"/>
              </a:defRPr>
            </a:pPr>
            <a:r>
              <a:rPr lang="en-US" altLang="ja-JP" sz="2370" b="1" dirty="0">
                <a:solidFill>
                  <a:srgbClr val="172033"/>
                </a:solidFill>
                <a:latin typeface="Aptos Display"/>
                <a:ea typeface="Aptos Display"/>
                <a:cs typeface="Aptos Display"/>
              </a:rPr>
              <a:t>AI scales literature survey and scientific thinking; validation still the bottleneck</a:t>
            </a:r>
          </a:p>
        </p:txBody>
      </p:sp>
      <p:pic>
        <p:nvPicPr>
          <p:cNvPr id="37" name="図 36">
            <a:extLst>
              <a:ext uri="{FF2B5EF4-FFF2-40B4-BE49-F238E27FC236}">
                <a16:creationId xmlns:a16="http://schemas.microsoft.com/office/drawing/2014/main" id="{FCB3F37D-D9C4-5DB1-D156-D52E8CCDCB46}"/>
              </a:ext>
            </a:extLst>
          </p:cNvPr>
          <p:cNvPicPr>
            <a:picLocks noChangeAspect="1"/>
          </p:cNvPicPr>
          <p:nvPr/>
        </p:nvPicPr>
        <p:blipFill>
          <a:blip r:embed="rId3"/>
          <a:srcRect l="6595" t="14080" r="58143" b="28945"/>
          <a:stretch>
            <a:fillRect/>
          </a:stretch>
        </p:blipFill>
        <p:spPr>
          <a:xfrm>
            <a:off x="9490525" y="86506"/>
            <a:ext cx="1645159" cy="1903837"/>
          </a:xfrm>
          <a:prstGeom prst="rect">
            <a:avLst/>
          </a:prstGeom>
        </p:spPr>
      </p:pic>
      <p:sp>
        <p:nvSpPr>
          <p:cNvPr id="38" name="TextBox 37"/>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文献探索・仮説生成・コード作成を支援する系でも、実験・計算・専門家による評価が必要。2026年5月の原著3報。</a:t>
            </a:r>
          </a:p>
        </p:txBody>
      </p:sp>
      <p:sp>
        <p:nvSpPr>
          <p:cNvPr id="39" name="TextBox 3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2B78447C-F14D-B71D-A35F-D7B316ED238C}"/>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64C9ABEE-0C75-3A36-9511-96DEFF3214EF}"/>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9723AFC3-743E-C143-F5AD-54AD6A7245A0}"/>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DA5E4BE0-E54C-A746-677C-DEB228DE5F43}"/>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a:solidFill>
                  <a:srgbClr val="0E3A75"/>
                </a:solidFill>
                <a:latin typeface="Aptos"/>
                <a:ea typeface="Aptos"/>
                <a:cs typeface="Aptos"/>
              </a:rPr>
              <a:t>AI SCIENTIST PAPERS</a:t>
            </a:r>
          </a:p>
        </p:txBody>
      </p:sp>
      <p:sp>
        <p:nvSpPr>
          <p:cNvPr id="6" name="正方形/長方形 5">
            <a:extLst>
              <a:ext uri="{FF2B5EF4-FFF2-40B4-BE49-F238E27FC236}">
                <a16:creationId xmlns:a16="http://schemas.microsoft.com/office/drawing/2014/main" id="{BD3D545D-195E-9595-B635-D9DB7B1C01E3}"/>
              </a:ext>
            </a:extLst>
          </p:cNvPr>
          <p:cNvSpPr>
            <a:spLocks noGrp="1"/>
          </p:cNvSpPr>
          <p:nvPr/>
        </p:nvSpPr>
        <p:spPr>
          <a:xfrm>
            <a:off x="1321663" y="716153"/>
            <a:ext cx="8548370" cy="74193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lang="en-US" sz="2254" b="1" dirty="0">
                <a:solidFill>
                  <a:srgbClr val="172033"/>
                </a:solidFill>
                <a:latin typeface="Aptos Display"/>
                <a:ea typeface="Aptos Display"/>
                <a:cs typeface="Aptos Display"/>
              </a:rPr>
              <a:t>Robin</a:t>
            </a:r>
            <a:endParaRPr sz="2254" b="1" dirty="0">
              <a:solidFill>
                <a:srgbClr val="172033"/>
              </a:solidFill>
              <a:latin typeface="Aptos Display"/>
              <a:ea typeface="Aptos Display"/>
              <a:cs typeface="Aptos Display"/>
            </a:endParaRPr>
          </a:p>
        </p:txBody>
      </p:sp>
      <p:sp>
        <p:nvSpPr>
          <p:cNvPr id="35" name="正方形/長方形 34">
            <a:extLst>
              <a:ext uri="{FF2B5EF4-FFF2-40B4-BE49-F238E27FC236}">
                <a16:creationId xmlns:a16="http://schemas.microsoft.com/office/drawing/2014/main" id="{B307D67E-3C5A-F8AE-BD79-91D616629634}"/>
              </a:ext>
            </a:extLst>
          </p:cNvPr>
          <p:cNvSpPr>
            <a:spLocks noGrp="1"/>
          </p:cNvSpPr>
          <p:nvPr/>
        </p:nvSpPr>
        <p:spPr>
          <a:xfrm>
            <a:off x="1821661" y="5272609"/>
            <a:ext cx="8714403" cy="535563"/>
          </a:xfrm>
          <a:prstGeom prst="rect">
            <a:avLst/>
          </a:prstGeom>
          <a:solidFill>
            <a:srgbClr val="FFFFFF"/>
          </a:solidFill>
          <a:ln w="9525">
            <a:solidFill>
              <a:srgbClr val="D4DAE2"/>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5CB1A997-6BD3-B947-ED4E-2A90E8FC095E}"/>
              </a:ext>
            </a:extLst>
          </p:cNvPr>
          <p:cNvSpPr>
            <a:spLocks noGrp="1"/>
          </p:cNvSpPr>
          <p:nvPr/>
        </p:nvSpPr>
        <p:spPr>
          <a:xfrm>
            <a:off x="1821662" y="5307354"/>
            <a:ext cx="40322" cy="435483"/>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0BA47D7D-D14D-464E-F1CA-6B1459A508BF}"/>
              </a:ext>
            </a:extLst>
          </p:cNvPr>
          <p:cNvSpPr>
            <a:spLocks noGrp="1"/>
          </p:cNvSpPr>
          <p:nvPr/>
        </p:nvSpPr>
        <p:spPr>
          <a:xfrm>
            <a:off x="2028017" y="5306770"/>
            <a:ext cx="8399413" cy="50401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5" b="1">
                <a:solidFill>
                  <a:srgbClr val="172033"/>
                </a:solidFill>
                <a:latin typeface="Aptos"/>
                <a:ea typeface="Aptos"/>
                <a:cs typeface="Aptos"/>
              </a:defRPr>
            </a:pPr>
            <a:r>
              <a:rPr sz="1439" b="1" dirty="0">
                <a:solidFill>
                  <a:srgbClr val="172033"/>
                </a:solidFill>
                <a:latin typeface="Aptos"/>
                <a:ea typeface="Aptos"/>
                <a:cs typeface="Aptos"/>
              </a:rPr>
              <a:t>AI can propose </a:t>
            </a:r>
            <a:r>
              <a:rPr lang="en-US" sz="1439" b="1" dirty="0">
                <a:solidFill>
                  <a:srgbClr val="172033"/>
                </a:solidFill>
                <a:latin typeface="Aptos"/>
                <a:ea typeface="Aptos"/>
                <a:cs typeface="Aptos"/>
              </a:rPr>
              <a:t>hypotheses</a:t>
            </a:r>
            <a:r>
              <a:rPr sz="1439" b="1" dirty="0">
                <a:solidFill>
                  <a:srgbClr val="172033"/>
                </a:solidFill>
                <a:latin typeface="Aptos"/>
                <a:ea typeface="Aptos"/>
                <a:cs typeface="Aptos"/>
              </a:rPr>
              <a:t>; </a:t>
            </a:r>
            <a:br>
              <a:rPr lang="en-US" sz="1439" b="1" dirty="0">
                <a:solidFill>
                  <a:srgbClr val="172033"/>
                </a:solidFill>
                <a:latin typeface="Aptos"/>
                <a:ea typeface="Aptos"/>
                <a:cs typeface="Aptos"/>
              </a:rPr>
            </a:br>
            <a:r>
              <a:rPr sz="1439" b="1" dirty="0">
                <a:solidFill>
                  <a:srgbClr val="172033"/>
                </a:solidFill>
                <a:latin typeface="Aptos"/>
                <a:ea typeface="Aptos"/>
                <a:cs typeface="Aptos"/>
              </a:rPr>
              <a:t>the scientific loop still needs an outside check: expert, lab, or </a:t>
            </a:r>
            <a:r>
              <a:rPr lang="en-US" sz="1439" b="1" dirty="0">
                <a:solidFill>
                  <a:srgbClr val="C00000"/>
                </a:solidFill>
                <a:latin typeface="Aptos"/>
                <a:ea typeface="Aptos"/>
                <a:cs typeface="Aptos"/>
              </a:rPr>
              <a:t>physics(simulation)</a:t>
            </a:r>
            <a:r>
              <a:rPr sz="1439" b="1" dirty="0">
                <a:solidFill>
                  <a:srgbClr val="172033"/>
                </a:solidFill>
                <a:latin typeface="Aptos"/>
                <a:ea typeface="Aptos"/>
                <a:cs typeface="Aptos"/>
              </a:rPr>
              <a:t>.</a:t>
            </a:r>
          </a:p>
        </p:txBody>
      </p:sp>
      <p:pic>
        <p:nvPicPr>
          <p:cNvPr id="37" name="図 36">
            <a:extLst>
              <a:ext uri="{FF2B5EF4-FFF2-40B4-BE49-F238E27FC236}">
                <a16:creationId xmlns:a16="http://schemas.microsoft.com/office/drawing/2014/main" id="{E0F84ADD-A988-73FD-14BC-29674FAD786D}"/>
              </a:ext>
            </a:extLst>
          </p:cNvPr>
          <p:cNvPicPr>
            <a:picLocks noChangeAspect="1"/>
          </p:cNvPicPr>
          <p:nvPr/>
        </p:nvPicPr>
        <p:blipFill>
          <a:blip r:embed="rId3"/>
          <a:stretch>
            <a:fillRect/>
          </a:stretch>
        </p:blipFill>
        <p:spPr>
          <a:xfrm>
            <a:off x="5652667" y="549644"/>
            <a:ext cx="5369164" cy="4722964"/>
          </a:xfrm>
          <a:prstGeom prst="rect">
            <a:avLst/>
          </a:prstGeom>
        </p:spPr>
      </p:pic>
      <p:sp>
        <p:nvSpPr>
          <p:cNvPr id="40" name="コンテンツ プレースホルダー 2">
            <a:extLst>
              <a:ext uri="{FF2B5EF4-FFF2-40B4-BE49-F238E27FC236}">
                <a16:creationId xmlns:a16="http://schemas.microsoft.com/office/drawing/2014/main" id="{318A1208-6AA9-84D3-1EFF-433F329351C9}"/>
              </a:ext>
            </a:extLst>
          </p:cNvPr>
          <p:cNvSpPr txBox="1">
            <a:spLocks/>
          </p:cNvSpPr>
          <p:nvPr/>
        </p:nvSpPr>
        <p:spPr>
          <a:xfrm>
            <a:off x="1112854" y="1207604"/>
            <a:ext cx="4335461" cy="3673861"/>
          </a:xfrm>
          <a:prstGeom prst="rect">
            <a:avLst/>
          </a:prstGeom>
        </p:spPr>
        <p:txBody>
          <a:bodyPr>
            <a:normAutofit lnSpcReduction="10000"/>
          </a:bodyPr>
          <a:lstStyle>
            <a:lvl1pPr marL="228600" indent="-228600" algn="l">
              <a:lnSpc>
                <a:spcPct val="90000"/>
              </a:lnSpc>
              <a:spcBef>
                <a:spcPts val="1000"/>
              </a:spcBef>
              <a:buChar char="•"/>
              <a:defRPr sz="2370">
                <a:solidFill>
                  <a:schemeClr val="tx1"/>
                </a:solidFill>
                <a:latin typeface="+mn-lt"/>
                <a:ea typeface="+mn-lt"/>
                <a:cs typeface="+mn-lt"/>
              </a:defRPr>
            </a:lvl1pPr>
            <a:lvl2pPr marL="685800" indent="-228600" algn="l">
              <a:lnSpc>
                <a:spcPct val="90000"/>
              </a:lnSpc>
              <a:spcBef>
                <a:spcPts val="500"/>
              </a:spcBef>
              <a:buChar char="•"/>
              <a:defRPr sz="2032">
                <a:solidFill>
                  <a:schemeClr val="tx1"/>
                </a:solidFill>
                <a:latin typeface="+mn-lt"/>
                <a:ea typeface="+mn-lt"/>
                <a:cs typeface="+mn-lt"/>
              </a:defRPr>
            </a:lvl2pPr>
            <a:lvl3pPr marL="1143000" indent="-228600" algn="l">
              <a:lnSpc>
                <a:spcPct val="90000"/>
              </a:lnSpc>
              <a:spcBef>
                <a:spcPts val="500"/>
              </a:spcBef>
              <a:buChar char="•"/>
              <a:defRPr sz="1693">
                <a:solidFill>
                  <a:schemeClr val="tx1"/>
                </a:solidFill>
                <a:latin typeface="+mn-lt"/>
                <a:ea typeface="+mn-lt"/>
                <a:cs typeface="+mn-lt"/>
              </a:defRPr>
            </a:lvl3pPr>
            <a:lvl4pPr marL="1600200" indent="-228600" algn="l">
              <a:lnSpc>
                <a:spcPct val="90000"/>
              </a:lnSpc>
              <a:spcBef>
                <a:spcPts val="500"/>
              </a:spcBef>
              <a:buChar char="•"/>
              <a:defRPr sz="1524">
                <a:solidFill>
                  <a:schemeClr val="tx1"/>
                </a:solidFill>
                <a:latin typeface="+mn-lt"/>
                <a:ea typeface="+mn-lt"/>
                <a:cs typeface="+mn-lt"/>
              </a:defRPr>
            </a:lvl4pPr>
            <a:lvl5pPr marL="2057400" indent="-228600" algn="l">
              <a:lnSpc>
                <a:spcPct val="90000"/>
              </a:lnSpc>
              <a:spcBef>
                <a:spcPts val="500"/>
              </a:spcBef>
              <a:buChar char="•"/>
              <a:defRPr sz="1524">
                <a:solidFill>
                  <a:schemeClr val="tx1"/>
                </a:solidFill>
                <a:latin typeface="+mn-lt"/>
                <a:ea typeface="+mn-lt"/>
                <a:cs typeface="+mn-lt"/>
              </a:defRPr>
            </a:lvl5pPr>
            <a:lvl6pPr marL="2514600" indent="-228600" algn="l">
              <a:lnSpc>
                <a:spcPct val="90000"/>
              </a:lnSpc>
              <a:spcBef>
                <a:spcPts val="500"/>
              </a:spcBef>
              <a:buChar char="•"/>
              <a:defRPr sz="1524">
                <a:solidFill>
                  <a:schemeClr val="tx1"/>
                </a:solidFill>
                <a:latin typeface="+mn-lt"/>
                <a:ea typeface="+mn-lt"/>
                <a:cs typeface="+mn-lt"/>
              </a:defRPr>
            </a:lvl6pPr>
            <a:lvl7pPr marL="2971800" indent="-228600" algn="l">
              <a:lnSpc>
                <a:spcPct val="90000"/>
              </a:lnSpc>
              <a:spcBef>
                <a:spcPts val="500"/>
              </a:spcBef>
              <a:buChar char="•"/>
              <a:defRPr sz="1524">
                <a:solidFill>
                  <a:schemeClr val="tx1"/>
                </a:solidFill>
                <a:latin typeface="+mn-lt"/>
                <a:ea typeface="+mn-lt"/>
                <a:cs typeface="+mn-lt"/>
              </a:defRPr>
            </a:lvl7pPr>
            <a:lvl8pPr marL="3429000" indent="-228600" algn="l">
              <a:lnSpc>
                <a:spcPct val="90000"/>
              </a:lnSpc>
              <a:spcBef>
                <a:spcPts val="500"/>
              </a:spcBef>
              <a:buChar char="•"/>
              <a:defRPr sz="1524">
                <a:solidFill>
                  <a:schemeClr val="tx1"/>
                </a:solidFill>
                <a:latin typeface="+mn-lt"/>
                <a:ea typeface="+mn-lt"/>
                <a:cs typeface="+mn-lt"/>
              </a:defRPr>
            </a:lvl8pPr>
            <a:lvl9pPr marL="3886200" indent="-228600" algn="l">
              <a:lnSpc>
                <a:spcPct val="90000"/>
              </a:lnSpc>
              <a:spcBef>
                <a:spcPts val="500"/>
              </a:spcBef>
              <a:buChar char="•"/>
              <a:defRPr sz="1524">
                <a:solidFill>
                  <a:schemeClr val="tx1"/>
                </a:solidFill>
                <a:latin typeface="+mn-lt"/>
                <a:ea typeface="+mn-lt"/>
                <a:cs typeface="+mn-lt"/>
              </a:defRPr>
            </a:lvl9pPr>
          </a:lstStyle>
          <a:p>
            <a:r>
              <a:rPr lang="en-US" altLang="ja-JP" kern="0" dirty="0"/>
              <a:t>Consists of two literature search agents, </a:t>
            </a:r>
            <a:r>
              <a:rPr lang="en-US" altLang="ja-JP" i="1" kern="0" dirty="0"/>
              <a:t>Crow</a:t>
            </a:r>
            <a:r>
              <a:rPr lang="en-US" altLang="ja-JP" kern="0" dirty="0"/>
              <a:t> and </a:t>
            </a:r>
            <a:r>
              <a:rPr lang="en-US" altLang="ja-JP" i="1" kern="0" dirty="0"/>
              <a:t>Falcon</a:t>
            </a:r>
            <a:r>
              <a:rPr lang="en-US" altLang="ja-JP" kern="0" dirty="0"/>
              <a:t>, and </a:t>
            </a:r>
            <a:r>
              <a:rPr lang="en-US" altLang="ja-JP" i="1" kern="0" dirty="0"/>
              <a:t>Finch</a:t>
            </a:r>
            <a:r>
              <a:rPr lang="en-US" altLang="ja-JP" kern="0" dirty="0"/>
              <a:t>, which analyzes experimental data and related information.</a:t>
            </a:r>
          </a:p>
          <a:p>
            <a:r>
              <a:rPr lang="en-US" altLang="ja-JP" kern="0" dirty="0"/>
              <a:t>For the target disease, it generates hypotheses, selects top therapeutic candidates, analyzes the resulting experimental data, and updates the hypotheses.</a:t>
            </a:r>
          </a:p>
        </p:txBody>
      </p:sp>
      <p:sp>
        <p:nvSpPr>
          <p:cNvPr id="8" name="正方形/長方形 7">
            <a:extLst>
              <a:ext uri="{FF2B5EF4-FFF2-40B4-BE49-F238E27FC236}">
                <a16:creationId xmlns:a16="http://schemas.microsoft.com/office/drawing/2014/main" id="{F23381F1-3743-492B-7528-9531A546EFDF}"/>
              </a:ext>
            </a:extLst>
          </p:cNvPr>
          <p:cNvSpPr>
            <a:spLocks noGrp="1"/>
          </p:cNvSpPr>
          <p:nvPr/>
        </p:nvSpPr>
        <p:spPr>
          <a:xfrm>
            <a:off x="2602305" y="731799"/>
            <a:ext cx="2451608" cy="6935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1" b="0">
                <a:solidFill>
                  <a:srgbClr val="5B6573"/>
                </a:solidFill>
                <a:latin typeface="Aptos"/>
                <a:ea typeface="Aptos"/>
                <a:cs typeface="Aptos"/>
              </a:defRPr>
            </a:pPr>
            <a:r>
              <a:rPr sz="711" b="0" dirty="0">
                <a:solidFill>
                  <a:srgbClr val="5B6573"/>
                </a:solidFill>
                <a:latin typeface="Aptos"/>
                <a:ea typeface="Aptos"/>
                <a:cs typeface="Aptos"/>
              </a:rPr>
              <a:t>Ghareeb, A.E., Chang, B., Mitchener, L. et al. Nature (2026). Published online 19 May 2026. DOI: 10.1038/s41586-026-10652-y. </a:t>
            </a:r>
          </a:p>
        </p:txBody>
      </p:sp>
      <p:sp>
        <p:nvSpPr>
          <p:cNvPr id="41" name="TextBox 40"/>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Robinは文献探索と実験データ解析を組み合わせる。実験系での検証を経て仮説を更新する。Ghareeb et al., Nature (2026)。</a:t>
            </a:r>
          </a:p>
        </p:txBody>
      </p:sp>
      <p:sp>
        <p:nvSpPr>
          <p:cNvPr id="42" name="TextBox 41"/>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もっともらしい説明を、検証できる仮説へ変える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15.png"/>
          <p:cNvPicPr>
            <a:picLocks noChangeAspect="1"/>
          </p:cNvPicPr>
          <p:nvPr/>
        </p:nvPicPr>
        <p:blipFill>
          <a:blip r:embed="rId3"/>
          <a:stretch>
            <a:fillRect/>
          </a:stretch>
        </p:blipFill>
        <p:spPr>
          <a:xfrm>
            <a:off x="7953247" y="1508760"/>
            <a:ext cx="2701545"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例：「変異で安定になる」を、そのまま計算の入力にはできない。</a:t>
            </a:r>
          </a:p>
          <a:p>
            <a:pPr algn="l">
              <a:lnSpc>
                <a:spcPts val="2497"/>
              </a:lnSpc>
            </a:pPr>
            <a:r>
              <a:rPr sz="1850" b="0" lang="ja-JP" altLang="en-US">
                <a:solidFill>
                  <a:srgbClr val="333333"/>
                </a:solidFill>
                <a:latin typeface="Noto Sans JP"/>
                <a:ea typeface="Noto Sans JP"/>
              </a:rPr>
              <a:t>何を安定性と呼ぶか、何と比べるか、温度や溶媒は何かを決める。</a:t>
            </a:r>
          </a:p>
          <a:p>
            <a:pPr algn="l">
              <a:lnSpc>
                <a:spcPts val="2497"/>
              </a:lnSpc>
            </a:pPr>
            <a:r>
              <a:rPr sz="1850" b="0" lang="ja-JP" altLang="en-US">
                <a:solidFill>
                  <a:srgbClr val="333333"/>
                </a:solidFill>
                <a:latin typeface="Noto Sans JP"/>
                <a:ea typeface="Noto Sans JP"/>
              </a:rPr>
              <a:t>仮説から観測量・比較条件・判定方法へ落とす段階で、研究者の判断が必要になる。</a:t>
            </a:r>
          </a:p>
          <a:p>
            <a:pPr algn="l">
              <a:lnSpc>
                <a:spcPts val="2497"/>
              </a:lnSpc>
            </a:pPr>
            <a:r>
              <a:rPr sz="1850" b="0" lang="ja-JP" altLang="en-US">
                <a:solidFill>
                  <a:srgbClr val="333333"/>
                </a:solidFill>
                <a:latin typeface="Noto Sans JP"/>
                <a:ea typeface="Noto Sans JP"/>
              </a:rPr>
              <a:t>計算が成功したことと、仮説が支持されたことを分ける。</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C63E6EDF-126B-43CB-AE2A-198BE961551C}"/>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759C1EDE-9892-4152-8577-B05EEE945717}"/>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EC141FEF-C6FE-40DB-B256-294D880D3D32}"/>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8E71329F-5AF9-4059-97B2-F7A3A700FB14}"/>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dirty="0">
                <a:solidFill>
                  <a:srgbClr val="0E3A75"/>
                </a:solidFill>
                <a:latin typeface="Aptos"/>
                <a:ea typeface="Aptos"/>
                <a:cs typeface="Aptos"/>
              </a:rPr>
              <a:t>MOTIVATION</a:t>
            </a:r>
          </a:p>
        </p:txBody>
      </p:sp>
      <p:sp>
        <p:nvSpPr>
          <p:cNvPr id="6" name="正方形/長方形 5">
            <a:extLst>
              <a:ext uri="{FF2B5EF4-FFF2-40B4-BE49-F238E27FC236}">
                <a16:creationId xmlns:a16="http://schemas.microsoft.com/office/drawing/2014/main" id="{0E42DBDD-57E6-4D19-9B94-C4785B01A8C2}"/>
              </a:ext>
            </a:extLst>
          </p:cNvPr>
          <p:cNvSpPr>
            <a:spLocks noGrp="1"/>
          </p:cNvSpPr>
          <p:nvPr/>
        </p:nvSpPr>
        <p:spPr>
          <a:xfrm>
            <a:off x="1321662" y="716153"/>
            <a:ext cx="9852515" cy="103225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sz="3048" b="1" dirty="0">
                <a:solidFill>
                  <a:srgbClr val="172033"/>
                </a:solidFill>
                <a:latin typeface="Aptos Display"/>
                <a:ea typeface="Aptos Display"/>
                <a:cs typeface="Aptos Display"/>
              </a:rPr>
              <a:t>AI Scientist</a:t>
            </a:r>
            <a:r>
              <a:rPr lang="en-US" sz="3048" b="1" dirty="0">
                <a:solidFill>
                  <a:srgbClr val="172033"/>
                </a:solidFill>
                <a:latin typeface="Aptos Display"/>
                <a:ea typeface="Aptos Display"/>
                <a:cs typeface="Aptos Display"/>
              </a:rPr>
              <a:t>s</a:t>
            </a:r>
            <a:r>
              <a:rPr sz="3048" b="1" dirty="0">
                <a:solidFill>
                  <a:srgbClr val="172033"/>
                </a:solidFill>
                <a:latin typeface="Aptos Display"/>
                <a:ea typeface="Aptos Display"/>
                <a:cs typeface="Aptos Display"/>
              </a:rPr>
              <a:t> </a:t>
            </a:r>
            <a:r>
              <a:rPr lang="en-US" sz="3048" b="1" dirty="0">
                <a:solidFill>
                  <a:srgbClr val="172033"/>
                </a:solidFill>
                <a:latin typeface="Aptos Display"/>
                <a:ea typeface="Aptos Display"/>
                <a:cs typeface="Aptos Display"/>
              </a:rPr>
              <a:t>need</a:t>
            </a:r>
            <a:r>
              <a:rPr sz="3048" b="1" dirty="0">
                <a:solidFill>
                  <a:srgbClr val="172033"/>
                </a:solidFill>
                <a:latin typeface="Aptos Display"/>
                <a:ea typeface="Aptos Display"/>
                <a:cs typeface="Aptos Display"/>
              </a:rPr>
              <a:t> </a:t>
            </a:r>
            <a:r>
              <a:rPr sz="3048" b="1" dirty="0">
                <a:solidFill>
                  <a:srgbClr val="C00000"/>
                </a:solidFill>
                <a:latin typeface="Aptos Display"/>
                <a:ea typeface="Aptos Display"/>
                <a:cs typeface="Aptos Display"/>
              </a:rPr>
              <a:t>simulation-in-the-loop</a:t>
            </a:r>
            <a:r>
              <a:rPr sz="3048" b="1" dirty="0">
                <a:solidFill>
                  <a:srgbClr val="172033"/>
                </a:solidFill>
                <a:latin typeface="Aptos Display"/>
                <a:ea typeface="Aptos Display"/>
                <a:cs typeface="Aptos Display"/>
              </a:rPr>
              <a:t> </a:t>
            </a:r>
            <a:br>
              <a:rPr lang="en-US" sz="3048" b="1" dirty="0">
                <a:solidFill>
                  <a:srgbClr val="172033"/>
                </a:solidFill>
                <a:latin typeface="Aptos Display"/>
                <a:ea typeface="Aptos Display"/>
                <a:cs typeface="Aptos Display"/>
              </a:rPr>
            </a:br>
            <a:r>
              <a:rPr sz="3048" b="1" dirty="0">
                <a:solidFill>
                  <a:srgbClr val="172033"/>
                </a:solidFill>
                <a:latin typeface="Aptos Display"/>
                <a:ea typeface="Aptos Display"/>
                <a:cs typeface="Aptos Display"/>
              </a:rPr>
              <a:t>when experiments cannot observe enough.</a:t>
            </a:r>
          </a:p>
        </p:txBody>
      </p:sp>
      <p:sp>
        <p:nvSpPr>
          <p:cNvPr id="9" name="正方形/長方形 8">
            <a:extLst>
              <a:ext uri="{FF2B5EF4-FFF2-40B4-BE49-F238E27FC236}">
                <a16:creationId xmlns:a16="http://schemas.microsoft.com/office/drawing/2014/main" id="{C477657A-84F7-4805-B3D3-E3F0522EBC68}"/>
              </a:ext>
            </a:extLst>
          </p:cNvPr>
          <p:cNvSpPr>
            <a:spLocks noGrp="1"/>
          </p:cNvSpPr>
          <p:nvPr/>
        </p:nvSpPr>
        <p:spPr>
          <a:xfrm>
            <a:off x="1616434" y="3129384"/>
            <a:ext cx="1693545" cy="822579"/>
          </a:xfrm>
          <a:prstGeom prst="rect">
            <a:avLst/>
          </a:prstGeom>
          <a:solidFill>
            <a:srgbClr val="F8F7FC"/>
          </a:solidFill>
          <a:ln w="14288">
            <a:solidFill>
              <a:srgbClr val="4D4B7D"/>
            </a:solidFill>
            <a:prstDash val="solid"/>
          </a:ln>
        </p:spPr>
        <p:txBody>
          <a:bodyPr/>
          <a:lstStyle/>
          <a:p>
            <a:endParaRPr lang="ja-JP" altLang="en-US" sz="1693"/>
          </a:p>
        </p:txBody>
      </p:sp>
      <p:sp>
        <p:nvSpPr>
          <p:cNvPr id="10" name="正方形/長方形 9">
            <a:extLst>
              <a:ext uri="{FF2B5EF4-FFF2-40B4-BE49-F238E27FC236}">
                <a16:creationId xmlns:a16="http://schemas.microsoft.com/office/drawing/2014/main" id="{AAC36F84-4ECC-4433-880E-57B9D77A9E89}"/>
              </a:ext>
            </a:extLst>
          </p:cNvPr>
          <p:cNvSpPr>
            <a:spLocks noGrp="1"/>
          </p:cNvSpPr>
          <p:nvPr/>
        </p:nvSpPr>
        <p:spPr>
          <a:xfrm>
            <a:off x="1616434" y="3129384"/>
            <a:ext cx="1693545" cy="48387"/>
          </a:xfrm>
          <a:prstGeom prst="rect">
            <a:avLst/>
          </a:prstGeom>
          <a:solidFill>
            <a:srgbClr val="4D4B7D"/>
          </a:solidFill>
          <a:ln w="0">
            <a:solidFill>
              <a:srgbClr val="000000">
                <a:alpha val="0"/>
              </a:srgbClr>
            </a:solidFill>
            <a:prstDash val="solid"/>
          </a:ln>
        </p:spPr>
        <p:txBody>
          <a:bodyPr/>
          <a:lstStyle/>
          <a:p>
            <a:endParaRPr lang="ja-JP" altLang="en-US" sz="1693"/>
          </a:p>
        </p:txBody>
      </p:sp>
      <p:pic>
        <p:nvPicPr>
          <p:cNvPr id="11" name="グラフィックス 10"/>
          <p:cNvPicPr>
            <a:picLocks noChangeAspect="1"/>
          </p:cNvPicPr>
          <p:nvPr/>
        </p:nvPicPr>
        <p:blipFill>
          <a:blip>
            <a:extLst>
              <a:ext uri="{96DAC541-7B7A-43D3-8B79-37D633B846F1}">
                <asvg:svgBlip xmlns:asvg="http://schemas.microsoft.com/office/drawing/2016/SVG/main" r:embed="rId3"/>
              </a:ext>
            </a:extLst>
          </a:blip>
          <a:stretch/>
        </p:blipFill>
        <p:spPr>
          <a:xfrm>
            <a:off x="1745466" y="3306803"/>
            <a:ext cx="258064" cy="258064"/>
          </a:xfrm>
          <a:prstGeom prst="rect">
            <a:avLst/>
          </a:prstGeom>
        </p:spPr>
      </p:pic>
      <p:sp>
        <p:nvSpPr>
          <p:cNvPr id="12" name="正方形/長方形 11">
            <a:extLst>
              <a:ext uri="{FF2B5EF4-FFF2-40B4-BE49-F238E27FC236}">
                <a16:creationId xmlns:a16="http://schemas.microsoft.com/office/drawing/2014/main" id="{7EF119D1-7F67-4FF3-9AF8-BBE5E6E6F79D}"/>
              </a:ext>
            </a:extLst>
          </p:cNvPr>
          <p:cNvSpPr>
            <a:spLocks noGrp="1"/>
          </p:cNvSpPr>
          <p:nvPr/>
        </p:nvSpPr>
        <p:spPr>
          <a:xfrm>
            <a:off x="2068046" y="3298739"/>
            <a:ext cx="1129030"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81" b="1">
                <a:solidFill>
                  <a:srgbClr val="4D4B7D"/>
                </a:solidFill>
                <a:latin typeface="Aptos"/>
                <a:ea typeface="Aptos"/>
                <a:cs typeface="Aptos"/>
              </a:defRPr>
            </a:pPr>
            <a:r>
              <a:rPr sz="1185" b="1">
                <a:solidFill>
                  <a:srgbClr val="4D4B7D"/>
                </a:solidFill>
                <a:latin typeface="Aptos"/>
                <a:ea typeface="Aptos"/>
                <a:cs typeface="Aptos"/>
              </a:rPr>
              <a:t>AI Scientist</a:t>
            </a:r>
          </a:p>
        </p:txBody>
      </p:sp>
      <p:sp>
        <p:nvSpPr>
          <p:cNvPr id="13" name="正方形/長方形 12">
            <a:extLst>
              <a:ext uri="{FF2B5EF4-FFF2-40B4-BE49-F238E27FC236}">
                <a16:creationId xmlns:a16="http://schemas.microsoft.com/office/drawing/2014/main" id="{AED8222F-E27F-4F7C-A2D8-4ED7A319623A}"/>
              </a:ext>
            </a:extLst>
          </p:cNvPr>
          <p:cNvSpPr>
            <a:spLocks noGrp="1"/>
          </p:cNvSpPr>
          <p:nvPr/>
        </p:nvSpPr>
        <p:spPr>
          <a:xfrm>
            <a:off x="1761595" y="3597125"/>
            <a:ext cx="1403223" cy="27419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B6573"/>
                </a:solidFill>
                <a:latin typeface="Aptos"/>
                <a:ea typeface="Aptos"/>
                <a:cs typeface="Aptos"/>
              </a:defRPr>
            </a:pPr>
            <a:r>
              <a:rPr sz="889" b="0">
                <a:solidFill>
                  <a:srgbClr val="5B6573"/>
                </a:solidFill>
                <a:latin typeface="Aptos"/>
                <a:ea typeface="Aptos"/>
                <a:cs typeface="Aptos"/>
              </a:rPr>
              <a:t>literature,</a:t>
            </a:r>
          </a:p>
          <a:p>
            <a:pPr algn="l">
              <a:defRPr sz="863" b="0">
                <a:solidFill>
                  <a:srgbClr val="5B6573"/>
                </a:solidFill>
                <a:latin typeface="Aptos"/>
                <a:ea typeface="Aptos"/>
                <a:cs typeface="Aptos"/>
              </a:defRPr>
            </a:pPr>
            <a:r>
              <a:rPr sz="889" b="0">
                <a:solidFill>
                  <a:srgbClr val="5B6573"/>
                </a:solidFill>
                <a:latin typeface="Aptos"/>
                <a:ea typeface="Aptos"/>
                <a:cs typeface="Aptos"/>
              </a:rPr>
              <a:t>hypotheses, plans</a:t>
            </a:r>
          </a:p>
        </p:txBody>
      </p:sp>
      <p:sp>
        <p:nvSpPr>
          <p:cNvPr id="14" name="正方形/長方形 13">
            <a:extLst>
              <a:ext uri="{FF2B5EF4-FFF2-40B4-BE49-F238E27FC236}">
                <a16:creationId xmlns:a16="http://schemas.microsoft.com/office/drawing/2014/main" id="{FD9E2B32-992B-4602-9D5B-AFE862833535}"/>
              </a:ext>
            </a:extLst>
          </p:cNvPr>
          <p:cNvSpPr>
            <a:spLocks noGrp="1"/>
          </p:cNvSpPr>
          <p:nvPr/>
        </p:nvSpPr>
        <p:spPr>
          <a:xfrm>
            <a:off x="3914816" y="2677772"/>
            <a:ext cx="1919351" cy="822579"/>
          </a:xfrm>
          <a:prstGeom prst="rect">
            <a:avLst/>
          </a:prstGeom>
          <a:solidFill>
            <a:srgbClr val="F7FBF8"/>
          </a:solidFill>
          <a:ln w="14288">
            <a:solidFill>
              <a:srgbClr val="2D6D4B"/>
            </a:solidFill>
            <a:prstDash val="solid"/>
          </a:ln>
        </p:spPr>
        <p:txBody>
          <a:bodyPr/>
          <a:lstStyle/>
          <a:p>
            <a:endParaRPr lang="ja-JP" altLang="en-US" sz="1693"/>
          </a:p>
        </p:txBody>
      </p:sp>
      <p:sp>
        <p:nvSpPr>
          <p:cNvPr id="15" name="正方形/長方形 14">
            <a:extLst>
              <a:ext uri="{FF2B5EF4-FFF2-40B4-BE49-F238E27FC236}">
                <a16:creationId xmlns:a16="http://schemas.microsoft.com/office/drawing/2014/main" id="{C8B5E50E-8CE0-47EF-ABBA-FD4755BEDE08}"/>
              </a:ext>
            </a:extLst>
          </p:cNvPr>
          <p:cNvSpPr>
            <a:spLocks noGrp="1"/>
          </p:cNvSpPr>
          <p:nvPr/>
        </p:nvSpPr>
        <p:spPr>
          <a:xfrm>
            <a:off x="3914816" y="2677772"/>
            <a:ext cx="1919351" cy="48387"/>
          </a:xfrm>
          <a:prstGeom prst="rect">
            <a:avLst/>
          </a:prstGeom>
          <a:solidFill>
            <a:srgbClr val="2D6D4B"/>
          </a:solidFill>
          <a:ln w="0">
            <a:solidFill>
              <a:srgbClr val="000000">
                <a:alpha val="0"/>
              </a:srgbClr>
            </a:solidFill>
            <a:prstDash val="solid"/>
          </a:ln>
        </p:spPr>
        <p:txBody>
          <a:bodyPr/>
          <a:lstStyle/>
          <a:p>
            <a:endParaRPr lang="ja-JP" altLang="en-US" sz="1693"/>
          </a:p>
        </p:txBody>
      </p:sp>
      <p:pic>
        <p:nvPicPr>
          <p:cNvPr id="16" name="グラフィックス 15"/>
          <p:cNvPicPr>
            <a:picLocks noChangeAspect="1"/>
          </p:cNvPicPr>
          <p:nvPr/>
        </p:nvPicPr>
        <p:blipFill>
          <a:blip>
            <a:extLst>
              <a:ext uri="{96DAC541-7B7A-43D3-8B79-37D633B846F1}">
                <asvg:svgBlip xmlns:asvg="http://schemas.microsoft.com/office/drawing/2016/SVG/main" r:embed="rId7"/>
              </a:ext>
            </a:extLst>
          </a:blip>
          <a:stretch/>
        </p:blipFill>
        <p:spPr>
          <a:xfrm>
            <a:off x="4043848" y="2855191"/>
            <a:ext cx="258064" cy="258064"/>
          </a:xfrm>
          <a:prstGeom prst="rect">
            <a:avLst/>
          </a:prstGeom>
        </p:spPr>
      </p:pic>
      <p:sp>
        <p:nvSpPr>
          <p:cNvPr id="17" name="正方形/長方形 16">
            <a:extLst>
              <a:ext uri="{FF2B5EF4-FFF2-40B4-BE49-F238E27FC236}">
                <a16:creationId xmlns:a16="http://schemas.microsoft.com/office/drawing/2014/main" id="{D78D65C3-BF60-4922-9E19-F29F48027ED7}"/>
              </a:ext>
            </a:extLst>
          </p:cNvPr>
          <p:cNvSpPr>
            <a:spLocks noGrp="1"/>
          </p:cNvSpPr>
          <p:nvPr/>
        </p:nvSpPr>
        <p:spPr>
          <a:xfrm>
            <a:off x="4366428" y="2847127"/>
            <a:ext cx="1354836"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81" b="1">
                <a:solidFill>
                  <a:srgbClr val="2D6D4B"/>
                </a:solidFill>
                <a:latin typeface="Aptos"/>
                <a:ea typeface="Aptos"/>
                <a:cs typeface="Aptos"/>
              </a:defRPr>
            </a:pPr>
            <a:r>
              <a:rPr sz="1185" b="1" dirty="0">
                <a:solidFill>
                  <a:srgbClr val="2D6D4B"/>
                </a:solidFill>
                <a:latin typeface="Aptos"/>
                <a:ea typeface="Aptos"/>
                <a:cs typeface="Aptos"/>
              </a:rPr>
              <a:t>Human / Lab  </a:t>
            </a:r>
            <a:r>
              <a:rPr lang="en-US" sz="1185" b="1" dirty="0">
                <a:solidFill>
                  <a:srgbClr val="2D6D4B"/>
                </a:solidFill>
                <a:latin typeface="Aptos"/>
                <a:ea typeface="Aptos"/>
                <a:cs typeface="Aptos"/>
              </a:rPr>
              <a:t>loop</a:t>
            </a:r>
            <a:endParaRPr sz="1185" b="1" dirty="0">
              <a:solidFill>
                <a:srgbClr val="2D6D4B"/>
              </a:solidFill>
              <a:latin typeface="Aptos"/>
              <a:ea typeface="Aptos"/>
              <a:cs typeface="Aptos"/>
            </a:endParaRPr>
          </a:p>
        </p:txBody>
      </p:sp>
      <p:sp>
        <p:nvSpPr>
          <p:cNvPr id="18" name="正方形/長方形 17">
            <a:extLst>
              <a:ext uri="{FF2B5EF4-FFF2-40B4-BE49-F238E27FC236}">
                <a16:creationId xmlns:a16="http://schemas.microsoft.com/office/drawing/2014/main" id="{7AAC2865-1639-402A-B80C-38F383336DA4}"/>
              </a:ext>
            </a:extLst>
          </p:cNvPr>
          <p:cNvSpPr>
            <a:spLocks noGrp="1"/>
          </p:cNvSpPr>
          <p:nvPr/>
        </p:nvSpPr>
        <p:spPr>
          <a:xfrm>
            <a:off x="4059977" y="3145513"/>
            <a:ext cx="1629029" cy="27419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B6573"/>
                </a:solidFill>
                <a:latin typeface="Aptos"/>
                <a:ea typeface="Aptos"/>
                <a:cs typeface="Aptos"/>
              </a:defRPr>
            </a:pPr>
            <a:r>
              <a:rPr sz="889" b="0">
                <a:solidFill>
                  <a:srgbClr val="5B6573"/>
                </a:solidFill>
                <a:latin typeface="Aptos"/>
                <a:ea typeface="Aptos"/>
                <a:cs typeface="Aptos"/>
              </a:rPr>
              <a:t>expert review,</a:t>
            </a:r>
          </a:p>
          <a:p>
            <a:pPr algn="l">
              <a:defRPr sz="863" b="0">
                <a:solidFill>
                  <a:srgbClr val="5B6573"/>
                </a:solidFill>
                <a:latin typeface="Aptos"/>
                <a:ea typeface="Aptos"/>
                <a:cs typeface="Aptos"/>
              </a:defRPr>
            </a:pPr>
            <a:r>
              <a:rPr sz="889" b="0">
                <a:solidFill>
                  <a:srgbClr val="5B6573"/>
                </a:solidFill>
                <a:latin typeface="Aptos"/>
                <a:ea typeface="Aptos"/>
                <a:cs typeface="Aptos"/>
              </a:rPr>
              <a:t>assays, metrics</a:t>
            </a:r>
          </a:p>
        </p:txBody>
      </p:sp>
      <p:sp>
        <p:nvSpPr>
          <p:cNvPr id="19" name="正方形/長方形 18">
            <a:extLst>
              <a:ext uri="{FF2B5EF4-FFF2-40B4-BE49-F238E27FC236}">
                <a16:creationId xmlns:a16="http://schemas.microsoft.com/office/drawing/2014/main" id="{80092040-0BF0-4756-A8E2-128E967473A1}"/>
              </a:ext>
            </a:extLst>
          </p:cNvPr>
          <p:cNvSpPr>
            <a:spLocks noGrp="1"/>
          </p:cNvSpPr>
          <p:nvPr/>
        </p:nvSpPr>
        <p:spPr>
          <a:xfrm>
            <a:off x="6253521" y="3129384"/>
            <a:ext cx="1758061" cy="822579"/>
          </a:xfrm>
          <a:prstGeom prst="rect">
            <a:avLst/>
          </a:prstGeom>
          <a:solidFill>
            <a:srgbClr val="FCF7F6"/>
          </a:solidFill>
          <a:ln w="14288">
            <a:solidFill>
              <a:srgbClr val="9F423A"/>
            </a:solidFill>
            <a:prstDash val="solid"/>
          </a:ln>
        </p:spPr>
        <p:txBody>
          <a:bodyPr/>
          <a:lstStyle/>
          <a:p>
            <a:endParaRPr lang="ja-JP" altLang="en-US" sz="1693"/>
          </a:p>
        </p:txBody>
      </p:sp>
      <p:sp>
        <p:nvSpPr>
          <p:cNvPr id="20" name="正方形/長方形 19">
            <a:extLst>
              <a:ext uri="{FF2B5EF4-FFF2-40B4-BE49-F238E27FC236}">
                <a16:creationId xmlns:a16="http://schemas.microsoft.com/office/drawing/2014/main" id="{E3FA93EF-6250-46D3-BBB8-68E499040DF3}"/>
              </a:ext>
            </a:extLst>
          </p:cNvPr>
          <p:cNvSpPr>
            <a:spLocks noGrp="1"/>
          </p:cNvSpPr>
          <p:nvPr/>
        </p:nvSpPr>
        <p:spPr>
          <a:xfrm>
            <a:off x="6253521" y="3129384"/>
            <a:ext cx="1758061" cy="48387"/>
          </a:xfrm>
          <a:prstGeom prst="rect">
            <a:avLst/>
          </a:prstGeom>
          <a:solidFill>
            <a:srgbClr val="9F423A"/>
          </a:solidFill>
          <a:ln w="0">
            <a:solidFill>
              <a:srgbClr val="000000">
                <a:alpha val="0"/>
              </a:srgbClr>
            </a:solidFill>
            <a:prstDash val="solid"/>
          </a:ln>
        </p:spPr>
        <p:txBody>
          <a:bodyPr/>
          <a:lstStyle/>
          <a:p>
            <a:endParaRPr lang="ja-JP" altLang="en-US" sz="1693"/>
          </a:p>
        </p:txBody>
      </p:sp>
      <p:pic>
        <p:nvPicPr>
          <p:cNvPr id="21" name="グラフィックス 20"/>
          <p:cNvPicPr>
            <a:picLocks noChangeAspect="1"/>
          </p:cNvPicPr>
          <p:nvPr/>
        </p:nvPicPr>
        <p:blipFill>
          <a:blip>
            <a:extLst>
              <a:ext uri="{96DAC541-7B7A-43D3-8B79-37D633B846F1}">
                <asvg:svgBlip xmlns:asvg="http://schemas.microsoft.com/office/drawing/2016/SVG/main" r:embed="rId6"/>
              </a:ext>
            </a:extLst>
          </a:blip>
          <a:stretch/>
        </p:blipFill>
        <p:spPr>
          <a:xfrm>
            <a:off x="6382553" y="3306803"/>
            <a:ext cx="258064" cy="258064"/>
          </a:xfrm>
          <a:prstGeom prst="rect">
            <a:avLst/>
          </a:prstGeom>
        </p:spPr>
      </p:pic>
      <p:sp>
        <p:nvSpPr>
          <p:cNvPr id="22" name="正方形/長方形 21">
            <a:extLst>
              <a:ext uri="{FF2B5EF4-FFF2-40B4-BE49-F238E27FC236}">
                <a16:creationId xmlns:a16="http://schemas.microsoft.com/office/drawing/2014/main" id="{96BDFDEF-460E-4237-A782-A790FCD6DFC7}"/>
              </a:ext>
            </a:extLst>
          </p:cNvPr>
          <p:cNvSpPr>
            <a:spLocks noGrp="1"/>
          </p:cNvSpPr>
          <p:nvPr/>
        </p:nvSpPr>
        <p:spPr>
          <a:xfrm>
            <a:off x="6705133" y="3298739"/>
            <a:ext cx="1193546"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81" b="1">
                <a:solidFill>
                  <a:srgbClr val="9F423A"/>
                </a:solidFill>
                <a:latin typeface="Aptos"/>
                <a:ea typeface="Aptos"/>
                <a:cs typeface="Aptos"/>
              </a:defRPr>
            </a:pPr>
            <a:r>
              <a:rPr sz="1185" b="1">
                <a:solidFill>
                  <a:srgbClr val="9F423A"/>
                </a:solidFill>
                <a:latin typeface="Aptos"/>
                <a:ea typeface="Aptos"/>
                <a:cs typeface="Aptos"/>
              </a:rPr>
              <a:t>Observation gap</a:t>
            </a:r>
          </a:p>
        </p:txBody>
      </p:sp>
      <p:sp>
        <p:nvSpPr>
          <p:cNvPr id="23" name="正方形/長方形 22">
            <a:extLst>
              <a:ext uri="{FF2B5EF4-FFF2-40B4-BE49-F238E27FC236}">
                <a16:creationId xmlns:a16="http://schemas.microsoft.com/office/drawing/2014/main" id="{4B3BD627-4C9D-47ED-8670-EC39A9170776}"/>
              </a:ext>
            </a:extLst>
          </p:cNvPr>
          <p:cNvSpPr>
            <a:spLocks noGrp="1"/>
          </p:cNvSpPr>
          <p:nvPr/>
        </p:nvSpPr>
        <p:spPr>
          <a:xfrm>
            <a:off x="6398682" y="3597125"/>
            <a:ext cx="1467739" cy="27419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B6573"/>
                </a:solidFill>
                <a:latin typeface="Aptos"/>
                <a:ea typeface="Aptos"/>
                <a:cs typeface="Aptos"/>
              </a:defRPr>
            </a:pPr>
            <a:r>
              <a:rPr sz="889" b="0">
                <a:solidFill>
                  <a:srgbClr val="5B6573"/>
                </a:solidFill>
                <a:latin typeface="Aptos"/>
                <a:ea typeface="Aptos"/>
                <a:cs typeface="Aptos"/>
              </a:rPr>
              <a:t>hidden dynamics,</a:t>
            </a:r>
          </a:p>
          <a:p>
            <a:pPr algn="l">
              <a:defRPr sz="863" b="0">
                <a:solidFill>
                  <a:srgbClr val="5B6573"/>
                </a:solidFill>
                <a:latin typeface="Aptos"/>
                <a:ea typeface="Aptos"/>
                <a:cs typeface="Aptos"/>
              </a:defRPr>
            </a:pPr>
            <a:r>
              <a:rPr sz="889" b="0">
                <a:solidFill>
                  <a:srgbClr val="5B6573"/>
                </a:solidFill>
                <a:latin typeface="Aptos"/>
                <a:ea typeface="Aptos"/>
                <a:cs typeface="Aptos"/>
              </a:rPr>
              <a:t>transient states</a:t>
            </a:r>
          </a:p>
        </p:txBody>
      </p:sp>
      <p:sp>
        <p:nvSpPr>
          <p:cNvPr id="24" name="正方形/長方形 23">
            <a:extLst>
              <a:ext uri="{FF2B5EF4-FFF2-40B4-BE49-F238E27FC236}">
                <a16:creationId xmlns:a16="http://schemas.microsoft.com/office/drawing/2014/main" id="{3C53377A-66E8-4636-9BAE-A1F46D619DA1}"/>
              </a:ext>
            </a:extLst>
          </p:cNvPr>
          <p:cNvSpPr>
            <a:spLocks noGrp="1"/>
          </p:cNvSpPr>
          <p:nvPr/>
        </p:nvSpPr>
        <p:spPr>
          <a:xfrm>
            <a:off x="8592226" y="2677772"/>
            <a:ext cx="1935480" cy="822579"/>
          </a:xfrm>
          <a:prstGeom prst="rect">
            <a:avLst/>
          </a:prstGeom>
          <a:solidFill>
            <a:srgbClr val="F7FAFD"/>
          </a:solidFill>
          <a:ln w="14288">
            <a:solidFill>
              <a:srgbClr val="0E3A75"/>
            </a:solidFill>
            <a:prstDash val="solid"/>
          </a:ln>
        </p:spPr>
        <p:txBody>
          <a:bodyPr/>
          <a:lstStyle/>
          <a:p>
            <a:endParaRPr lang="ja-JP" altLang="en-US" sz="1693"/>
          </a:p>
        </p:txBody>
      </p:sp>
      <p:sp>
        <p:nvSpPr>
          <p:cNvPr id="25" name="正方形/長方形 24">
            <a:extLst>
              <a:ext uri="{FF2B5EF4-FFF2-40B4-BE49-F238E27FC236}">
                <a16:creationId xmlns:a16="http://schemas.microsoft.com/office/drawing/2014/main" id="{3733E675-205F-4B1A-AE76-97438E5AC41D}"/>
              </a:ext>
            </a:extLst>
          </p:cNvPr>
          <p:cNvSpPr>
            <a:spLocks noGrp="1"/>
          </p:cNvSpPr>
          <p:nvPr/>
        </p:nvSpPr>
        <p:spPr>
          <a:xfrm>
            <a:off x="8592226" y="2677772"/>
            <a:ext cx="1935480" cy="48387"/>
          </a:xfrm>
          <a:prstGeom prst="rect">
            <a:avLst/>
          </a:prstGeom>
          <a:solidFill>
            <a:srgbClr val="0E3A75"/>
          </a:solidFill>
          <a:ln w="0">
            <a:solidFill>
              <a:srgbClr val="000000">
                <a:alpha val="0"/>
              </a:srgbClr>
            </a:solidFill>
            <a:prstDash val="solid"/>
          </a:ln>
        </p:spPr>
        <p:txBody>
          <a:bodyPr/>
          <a:lstStyle/>
          <a:p>
            <a:endParaRPr lang="ja-JP" altLang="en-US" sz="1693"/>
          </a:p>
        </p:txBody>
      </p:sp>
      <p:pic>
        <p:nvPicPr>
          <p:cNvPr id="26" name="グラフィックス 25"/>
          <p:cNvPicPr>
            <a:picLocks noChangeAspect="1"/>
          </p:cNvPicPr>
          <p:nvPr/>
        </p:nvPicPr>
        <p:blipFill>
          <a:blip>
            <a:extLst>
              <a:ext uri="{96DAC541-7B7A-43D3-8B79-37D633B846F1}">
                <asvg:svgBlip xmlns:asvg="http://schemas.microsoft.com/office/drawing/2016/SVG/main" r:embed="rId5"/>
              </a:ext>
            </a:extLst>
          </a:blip>
          <a:stretch/>
        </p:blipFill>
        <p:spPr>
          <a:xfrm>
            <a:off x="8721258" y="2855191"/>
            <a:ext cx="258064" cy="258064"/>
          </a:xfrm>
          <a:prstGeom prst="rect">
            <a:avLst/>
          </a:prstGeom>
        </p:spPr>
      </p:pic>
      <p:sp>
        <p:nvSpPr>
          <p:cNvPr id="27" name="正方形/長方形 26">
            <a:extLst>
              <a:ext uri="{FF2B5EF4-FFF2-40B4-BE49-F238E27FC236}">
                <a16:creationId xmlns:a16="http://schemas.microsoft.com/office/drawing/2014/main" id="{83A61FF2-BD07-464D-B8E5-4443980E6F68}"/>
              </a:ext>
            </a:extLst>
          </p:cNvPr>
          <p:cNvSpPr>
            <a:spLocks noGrp="1"/>
          </p:cNvSpPr>
          <p:nvPr/>
        </p:nvSpPr>
        <p:spPr>
          <a:xfrm>
            <a:off x="9043838" y="2847127"/>
            <a:ext cx="137096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81" b="1">
                <a:solidFill>
                  <a:srgbClr val="0E3A75"/>
                </a:solidFill>
                <a:latin typeface="Aptos"/>
                <a:ea typeface="Aptos"/>
                <a:cs typeface="Aptos"/>
              </a:defRPr>
            </a:pPr>
            <a:r>
              <a:rPr sz="1185" b="1">
                <a:solidFill>
                  <a:srgbClr val="0E3A75"/>
                </a:solidFill>
                <a:latin typeface="Aptos"/>
                <a:ea typeface="Aptos"/>
                <a:cs typeface="Aptos"/>
              </a:rPr>
              <a:t>Simulation loop</a:t>
            </a:r>
          </a:p>
        </p:txBody>
      </p:sp>
      <p:sp>
        <p:nvSpPr>
          <p:cNvPr id="28" name="正方形/長方形 27">
            <a:extLst>
              <a:ext uri="{FF2B5EF4-FFF2-40B4-BE49-F238E27FC236}">
                <a16:creationId xmlns:a16="http://schemas.microsoft.com/office/drawing/2014/main" id="{E7EE1F75-7C03-4994-B638-19A40DDE31E1}"/>
              </a:ext>
            </a:extLst>
          </p:cNvPr>
          <p:cNvSpPr>
            <a:spLocks noGrp="1"/>
          </p:cNvSpPr>
          <p:nvPr/>
        </p:nvSpPr>
        <p:spPr>
          <a:xfrm>
            <a:off x="8737387" y="3145513"/>
            <a:ext cx="1645158" cy="27419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B6573"/>
                </a:solidFill>
                <a:latin typeface="Aptos"/>
                <a:ea typeface="Aptos"/>
                <a:cs typeface="Aptos"/>
              </a:defRPr>
            </a:pPr>
            <a:r>
              <a:rPr sz="889" b="0">
                <a:solidFill>
                  <a:srgbClr val="5B6573"/>
                </a:solidFill>
                <a:latin typeface="Aptos"/>
                <a:ea typeface="Aptos"/>
                <a:cs typeface="Aptos"/>
              </a:rPr>
              <a:t>MD ensembles,</a:t>
            </a:r>
          </a:p>
          <a:p>
            <a:pPr algn="l">
              <a:defRPr sz="863" b="0">
                <a:solidFill>
                  <a:srgbClr val="5B6573"/>
                </a:solidFill>
                <a:latin typeface="Aptos"/>
                <a:ea typeface="Aptos"/>
                <a:cs typeface="Aptos"/>
              </a:defRPr>
            </a:pPr>
            <a:r>
              <a:rPr sz="889" b="0">
                <a:solidFill>
                  <a:srgbClr val="5B6573"/>
                </a:solidFill>
                <a:latin typeface="Aptos"/>
                <a:ea typeface="Aptos"/>
                <a:cs typeface="Aptos"/>
              </a:rPr>
              <a:t>mechanisms</a:t>
            </a:r>
          </a:p>
        </p:txBody>
      </p:sp>
      <p:sp>
        <p:nvSpPr>
          <p:cNvPr id="29" name="正方形/長方形 28">
            <a:extLst>
              <a:ext uri="{FF2B5EF4-FFF2-40B4-BE49-F238E27FC236}">
                <a16:creationId xmlns:a16="http://schemas.microsoft.com/office/drawing/2014/main" id="{90361798-0907-4BEB-91FA-357F34660C20}"/>
              </a:ext>
            </a:extLst>
          </p:cNvPr>
          <p:cNvSpPr>
            <a:spLocks noGrp="1"/>
          </p:cNvSpPr>
          <p:nvPr/>
        </p:nvSpPr>
        <p:spPr>
          <a:xfrm>
            <a:off x="3318043" y="3504384"/>
            <a:ext cx="596773" cy="24193"/>
          </a:xfrm>
          <a:prstGeom prst="rect">
            <a:avLst/>
          </a:prstGeom>
          <a:solidFill>
            <a:srgbClr val="D4DAE2"/>
          </a:solidFill>
          <a:ln w="0">
            <a:solidFill>
              <a:srgbClr val="000000">
                <a:alpha val="0"/>
              </a:srgbClr>
            </a:solidFill>
            <a:prstDash val="solid"/>
          </a:ln>
        </p:spPr>
        <p:txBody>
          <a:bodyPr/>
          <a:lstStyle/>
          <a:p>
            <a:endParaRPr lang="ja-JP" altLang="en-US" sz="1693"/>
          </a:p>
        </p:txBody>
      </p:sp>
      <p:sp>
        <p:nvSpPr>
          <p:cNvPr id="30" name="正方形/長方形 29">
            <a:extLst>
              <a:ext uri="{FF2B5EF4-FFF2-40B4-BE49-F238E27FC236}">
                <a16:creationId xmlns:a16="http://schemas.microsoft.com/office/drawing/2014/main" id="{F99E520A-ADC9-40B3-BAFD-EFEE774A344B}"/>
              </a:ext>
            </a:extLst>
          </p:cNvPr>
          <p:cNvSpPr>
            <a:spLocks noGrp="1"/>
          </p:cNvSpPr>
          <p:nvPr/>
        </p:nvSpPr>
        <p:spPr>
          <a:xfrm>
            <a:off x="5842232" y="3504384"/>
            <a:ext cx="411289" cy="24193"/>
          </a:xfrm>
          <a:prstGeom prst="rect">
            <a:avLst/>
          </a:prstGeom>
          <a:solidFill>
            <a:srgbClr val="D4DAE2"/>
          </a:solidFill>
          <a:ln w="0">
            <a:solidFill>
              <a:srgbClr val="000000">
                <a:alpha val="0"/>
              </a:srgbClr>
            </a:solidFill>
            <a:prstDash val="solid"/>
          </a:ln>
        </p:spPr>
        <p:txBody>
          <a:bodyPr/>
          <a:lstStyle/>
          <a:p>
            <a:endParaRPr lang="ja-JP" altLang="en-US" sz="1693"/>
          </a:p>
        </p:txBody>
      </p:sp>
      <p:sp>
        <p:nvSpPr>
          <p:cNvPr id="31" name="正方形/長方形 30">
            <a:extLst>
              <a:ext uri="{FF2B5EF4-FFF2-40B4-BE49-F238E27FC236}">
                <a16:creationId xmlns:a16="http://schemas.microsoft.com/office/drawing/2014/main" id="{8A1D68AA-3374-48EA-AA3B-44BAFFE58CC3}"/>
              </a:ext>
            </a:extLst>
          </p:cNvPr>
          <p:cNvSpPr>
            <a:spLocks noGrp="1"/>
          </p:cNvSpPr>
          <p:nvPr/>
        </p:nvSpPr>
        <p:spPr>
          <a:xfrm>
            <a:off x="8011582" y="3504384"/>
            <a:ext cx="580644" cy="24193"/>
          </a:xfrm>
          <a:prstGeom prst="rect">
            <a:avLst/>
          </a:prstGeom>
          <a:solidFill>
            <a:srgbClr val="D4DAE2"/>
          </a:solidFill>
          <a:ln w="0">
            <a:solidFill>
              <a:srgbClr val="000000">
                <a:alpha val="0"/>
              </a:srgbClr>
            </a:solidFill>
            <a:prstDash val="solid"/>
          </a:ln>
        </p:spPr>
        <p:txBody>
          <a:bodyPr/>
          <a:lstStyle/>
          <a:p>
            <a:endParaRPr lang="ja-JP" altLang="en-US" sz="1693"/>
          </a:p>
        </p:txBody>
      </p:sp>
      <p:pic>
        <p:nvPicPr>
          <p:cNvPr id="32" name="グラフィックス 31"/>
          <p:cNvPicPr>
            <a:picLocks noChangeAspect="1"/>
          </p:cNvPicPr>
          <p:nvPr/>
        </p:nvPicPr>
        <p:blipFill>
          <a:blip>
            <a:extLst>
              <a:ext uri="{96DAC541-7B7A-43D3-8B79-37D633B846F1}">
                <asvg:svgBlip xmlns:asvg="http://schemas.microsoft.com/office/drawing/2016/SVG/main" r:embed="rId4"/>
              </a:ext>
            </a:extLst>
          </a:blip>
          <a:stretch/>
        </p:blipFill>
        <p:spPr>
          <a:xfrm>
            <a:off x="3487398" y="3395513"/>
            <a:ext cx="241935" cy="241935"/>
          </a:xfrm>
          <a:prstGeom prst="rect">
            <a:avLst/>
          </a:prstGeom>
        </p:spPr>
      </p:pic>
      <p:pic>
        <p:nvPicPr>
          <p:cNvPr id="33" name="グラフィックス 32"/>
          <p:cNvPicPr>
            <a:picLocks noChangeAspect="1"/>
          </p:cNvPicPr>
          <p:nvPr/>
        </p:nvPicPr>
        <p:blipFill>
          <a:blip>
            <a:extLst>
              <a:ext uri="{96DAC541-7B7A-43D3-8B79-37D633B846F1}">
                <asvg:svgBlip xmlns:asvg="http://schemas.microsoft.com/office/drawing/2016/SVG/main" r:embed="rId4"/>
              </a:ext>
            </a:extLst>
          </a:blip>
          <a:stretch/>
        </p:blipFill>
        <p:spPr>
          <a:xfrm>
            <a:off x="5914812" y="3395513"/>
            <a:ext cx="241935" cy="241935"/>
          </a:xfrm>
          <a:prstGeom prst="rect">
            <a:avLst/>
          </a:prstGeom>
        </p:spPr>
      </p:pic>
      <p:pic>
        <p:nvPicPr>
          <p:cNvPr id="34" name="グラフィックス 33"/>
          <p:cNvPicPr>
            <a:picLocks noChangeAspect="1"/>
          </p:cNvPicPr>
          <p:nvPr/>
        </p:nvPicPr>
        <p:blipFill>
          <a:blip>
            <a:extLst>
              <a:ext uri="{96DAC541-7B7A-43D3-8B79-37D633B846F1}">
                <asvg:svgBlip xmlns:asvg="http://schemas.microsoft.com/office/drawing/2016/SVG/main" r:embed="rId4"/>
              </a:ext>
            </a:extLst>
          </a:blip>
          <a:stretch/>
        </p:blipFill>
        <p:spPr>
          <a:xfrm>
            <a:off x="8172872" y="3395513"/>
            <a:ext cx="241935" cy="241935"/>
          </a:xfrm>
          <a:prstGeom prst="rect">
            <a:avLst/>
          </a:prstGeom>
        </p:spPr>
      </p:pic>
      <p:sp>
        <p:nvSpPr>
          <p:cNvPr id="35" name="TextBox 34"/>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実験で試しにくい条件を計算で調べ、仮説と観測可能な量を結ぶ。計算モデル自体の検証も必要。</a:t>
            </a:r>
          </a:p>
        </p:txBody>
      </p:sp>
      <p:sp>
        <p:nvSpPr>
          <p:cNvPr id="36" name="TextBox 35"/>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図 1"/>
          <p:cNvPicPr>
            <a:picLocks noChangeAspect="1"/>
          </p:cNvPicPr>
          <p:nvPr/>
        </p:nvPicPr>
        <p:blipFill>
          <a:blip r:embed="rId4"/>
          <a:srcRect t="15722"/>
          <a:stretch>
            <a:fillRect/>
          </a:stretch>
        </p:blipFill>
        <p:spPr>
          <a:xfrm>
            <a:off x="284327" y="1414344"/>
            <a:ext cx="11623040" cy="5264095"/>
          </a:xfrm>
          <a:prstGeom prst="rect">
            <a:avLst/>
          </a:prstGeom>
        </p:spPr>
      </p:pic>
      <p:pic>
        <p:nvPicPr>
          <p:cNvPr id="3" name="Picture 2" descr="protein2026_5_10.png"/>
          <p:cNvPicPr>
            <a:picLocks noChangeAspect="1"/>
          </p:cNvPicPr>
          <p:nvPr/>
        </p:nvPicPr>
        <p:blipFill>
          <a:blip r:embed="rId5"/>
          <a:stretch>
            <a:fillRect/>
          </a:stretch>
        </p:blipFill>
        <p:spPr>
          <a:xfrm>
            <a:off x="1200562" y="1414344"/>
            <a:ext cx="3493682" cy="4431212"/>
          </a:xfrm>
          <a:prstGeom prst="rect">
            <a:avLst/>
          </a:prstGeom>
        </p:spPr>
      </p:pic>
      <p:sp>
        <p:nvSpPr>
          <p:cNvPr id="4" name="正方形/長方形 3">
            <a:extLst>
              <a:ext uri="{FF2B5EF4-FFF2-40B4-BE49-F238E27FC236}">
                <a16:creationId xmlns:a16="http://schemas.microsoft.com/office/drawing/2014/main" id="{6CAFA45A-962A-4015-D1D2-37FCB0C82871}"/>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D73C18F0-2BAE-6C16-A2AB-8934E9B5D77F}"/>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86CEAE88-EBCC-E275-F131-9D827647C9DA}"/>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dirty="0">
                <a:solidFill>
                  <a:srgbClr val="0E3A75"/>
                </a:solidFill>
                <a:latin typeface="Aptos"/>
                <a:ea typeface="Aptos"/>
                <a:cs typeface="Aptos"/>
              </a:rPr>
              <a:t>MOTIVATION</a:t>
            </a:r>
          </a:p>
        </p:txBody>
      </p:sp>
      <p:sp>
        <p:nvSpPr>
          <p:cNvPr id="8" name="正方形/長方形 7">
            <a:extLst>
              <a:ext uri="{FF2B5EF4-FFF2-40B4-BE49-F238E27FC236}">
                <a16:creationId xmlns:a16="http://schemas.microsoft.com/office/drawing/2014/main" id="{07C89F2A-C906-E487-41E4-131B2BC237E0}"/>
              </a:ext>
            </a:extLst>
          </p:cNvPr>
          <p:cNvSpPr/>
          <p:nvPr/>
        </p:nvSpPr>
        <p:spPr>
          <a:xfrm>
            <a:off x="128662" y="6312583"/>
            <a:ext cx="2386874" cy="695306"/>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7FBB8E9D-5035-3253-0B6C-A53DAED66506}"/>
              </a:ext>
            </a:extLst>
          </p:cNvPr>
          <p:cNvSpPr>
            <a:spLocks noGrp="1"/>
          </p:cNvSpPr>
          <p:nvPr/>
        </p:nvSpPr>
        <p:spPr>
          <a:xfrm>
            <a:off x="720190" y="654177"/>
            <a:ext cx="11093776"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538" b="1">
                <a:solidFill>
                  <a:srgbClr val="172033"/>
                </a:solidFill>
                <a:latin typeface="Aptos Display"/>
                <a:ea typeface="Aptos Display"/>
                <a:cs typeface="Aptos Display"/>
              </a:defRPr>
            </a:pPr>
            <a:r>
              <a:rPr lang="en-US" sz="3813" b="1" dirty="0">
                <a:solidFill>
                  <a:srgbClr val="172033"/>
                </a:solidFill>
                <a:latin typeface="Aptos Display"/>
                <a:ea typeface="Aptos Display"/>
                <a:cs typeface="Aptos Display"/>
              </a:rPr>
              <a:t>Molecular Dynamics (MD) simulation</a:t>
            </a:r>
            <a:endParaRPr sz="3813" b="1" dirty="0">
              <a:solidFill>
                <a:srgbClr val="172033"/>
              </a:solidFill>
              <a:latin typeface="Aptos Display"/>
              <a:ea typeface="Aptos Display"/>
              <a:cs typeface="Aptos Display"/>
            </a:endParaRPr>
          </a:p>
        </p:txBody>
      </p:sp>
      <p:sp>
        <p:nvSpPr>
          <p:cNvPr id="7" name="コンテンツ プレースホルダー 2">
            <a:extLst>
              <a:ext uri="{FF2B5EF4-FFF2-40B4-BE49-F238E27FC236}">
                <a16:creationId xmlns:a16="http://schemas.microsoft.com/office/drawing/2014/main" id="{E640725A-BC06-B0DD-40FE-04B074ACE65C}"/>
              </a:ext>
            </a:extLst>
          </p:cNvPr>
          <p:cNvSpPr txBox="1">
            <a:spLocks/>
          </p:cNvSpPr>
          <p:nvPr/>
        </p:nvSpPr>
        <p:spPr>
          <a:xfrm>
            <a:off x="504853" y="5959784"/>
            <a:ext cx="10196104" cy="786111"/>
          </a:xfrm>
          <a:prstGeom prst="rect">
            <a:avLst/>
          </a:prstGeom>
        </p:spPr>
        <p:txBody>
          <a:bodyPr>
            <a:normAutofit lnSpcReduction="10000"/>
          </a:bodyPr>
          <a:lstStyle>
            <a:lvl1pPr marL="228600" indent="-228600" algn="l">
              <a:lnSpc>
                <a:spcPct val="90000"/>
              </a:lnSpc>
              <a:spcBef>
                <a:spcPts val="1000"/>
              </a:spcBef>
              <a:buChar char="•"/>
              <a:defRPr sz="2669">
                <a:solidFill>
                  <a:schemeClr val="tx1"/>
                </a:solidFill>
                <a:latin typeface="+mn-lt"/>
                <a:ea typeface="+mn-lt"/>
                <a:cs typeface="+mn-lt"/>
              </a:defRPr>
            </a:lvl1pPr>
            <a:lvl2pPr marL="685800" indent="-228600" algn="l">
              <a:lnSpc>
                <a:spcPct val="90000"/>
              </a:lnSpc>
              <a:spcBef>
                <a:spcPts val="500"/>
              </a:spcBef>
              <a:buChar char="•"/>
              <a:defRPr sz="2288">
                <a:solidFill>
                  <a:schemeClr val="tx1"/>
                </a:solidFill>
                <a:latin typeface="+mn-lt"/>
                <a:ea typeface="+mn-lt"/>
                <a:cs typeface="+mn-lt"/>
              </a:defRPr>
            </a:lvl2pPr>
            <a:lvl3pPr marL="1143000" indent="-228600" algn="l">
              <a:lnSpc>
                <a:spcPct val="90000"/>
              </a:lnSpc>
              <a:spcBef>
                <a:spcPts val="500"/>
              </a:spcBef>
              <a:buChar char="•"/>
              <a:defRPr sz="1906">
                <a:solidFill>
                  <a:schemeClr val="tx1"/>
                </a:solidFill>
                <a:latin typeface="+mn-lt"/>
                <a:ea typeface="+mn-lt"/>
                <a:cs typeface="+mn-lt"/>
              </a:defRPr>
            </a:lvl3pPr>
            <a:lvl4pPr marL="1600200" indent="-228600" algn="l">
              <a:lnSpc>
                <a:spcPct val="90000"/>
              </a:lnSpc>
              <a:spcBef>
                <a:spcPts val="500"/>
              </a:spcBef>
              <a:buChar char="•"/>
              <a:defRPr sz="1716">
                <a:solidFill>
                  <a:schemeClr val="tx1"/>
                </a:solidFill>
                <a:latin typeface="+mn-lt"/>
                <a:ea typeface="+mn-lt"/>
                <a:cs typeface="+mn-lt"/>
              </a:defRPr>
            </a:lvl4pPr>
            <a:lvl5pPr marL="2057400" indent="-228600" algn="l">
              <a:lnSpc>
                <a:spcPct val="90000"/>
              </a:lnSpc>
              <a:spcBef>
                <a:spcPts val="500"/>
              </a:spcBef>
              <a:buChar char="•"/>
              <a:defRPr sz="1716">
                <a:solidFill>
                  <a:schemeClr val="tx1"/>
                </a:solidFill>
                <a:latin typeface="+mn-lt"/>
                <a:ea typeface="+mn-lt"/>
                <a:cs typeface="+mn-lt"/>
              </a:defRPr>
            </a:lvl5pPr>
            <a:lvl6pPr marL="2514600" indent="-228600" algn="l">
              <a:lnSpc>
                <a:spcPct val="90000"/>
              </a:lnSpc>
              <a:spcBef>
                <a:spcPts val="500"/>
              </a:spcBef>
              <a:buChar char="•"/>
              <a:defRPr sz="1716">
                <a:solidFill>
                  <a:schemeClr val="tx1"/>
                </a:solidFill>
                <a:latin typeface="+mn-lt"/>
                <a:ea typeface="+mn-lt"/>
                <a:cs typeface="+mn-lt"/>
              </a:defRPr>
            </a:lvl6pPr>
            <a:lvl7pPr marL="2971800" indent="-228600" algn="l">
              <a:lnSpc>
                <a:spcPct val="90000"/>
              </a:lnSpc>
              <a:spcBef>
                <a:spcPts val="500"/>
              </a:spcBef>
              <a:buChar char="•"/>
              <a:defRPr sz="1716">
                <a:solidFill>
                  <a:schemeClr val="tx1"/>
                </a:solidFill>
                <a:latin typeface="+mn-lt"/>
                <a:ea typeface="+mn-lt"/>
                <a:cs typeface="+mn-lt"/>
              </a:defRPr>
            </a:lvl7pPr>
            <a:lvl8pPr marL="3429000" indent="-228600" algn="l">
              <a:lnSpc>
                <a:spcPct val="90000"/>
              </a:lnSpc>
              <a:spcBef>
                <a:spcPts val="500"/>
              </a:spcBef>
              <a:buChar char="•"/>
              <a:defRPr sz="1716">
                <a:solidFill>
                  <a:schemeClr val="tx1"/>
                </a:solidFill>
                <a:latin typeface="+mn-lt"/>
                <a:ea typeface="+mn-lt"/>
                <a:cs typeface="+mn-lt"/>
              </a:defRPr>
            </a:lvl8pPr>
            <a:lvl9pPr marL="3886200" indent="-228600" algn="l">
              <a:lnSpc>
                <a:spcPct val="90000"/>
              </a:lnSpc>
              <a:spcBef>
                <a:spcPts val="500"/>
              </a:spcBef>
              <a:buChar char="•"/>
              <a:defRPr sz="1716">
                <a:solidFill>
                  <a:schemeClr val="tx1"/>
                </a:solidFill>
                <a:latin typeface="+mn-lt"/>
                <a:ea typeface="+mn-lt"/>
                <a:cs typeface="+mn-lt"/>
              </a:defRPr>
            </a:lvl9pPr>
          </a:lstStyle>
          <a:p>
            <a:pPr marL="0" indent="0">
              <a:buNone/>
            </a:pPr>
            <a:r>
              <a:rPr lang="en-US" altLang="ja-JP" kern="0" dirty="0"/>
              <a:t>MD quantifies molecular mechanisms that cannot be directly observed in experiments by simulating atomic-scale motions and interactions.</a:t>
            </a:r>
          </a:p>
        </p:txBody>
      </p:sp>
      <p:sp>
        <p:nvSpPr>
          <p:cNvPr id="10" name="TextBox 9"/>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62763EA2-8915-4B6C-905F-3D0785C1A622}"/>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10AEB14A-2DF8-4904-82E1-18ABAF7524E3}"/>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136353FC-0CF5-446A-A35D-3406E6110117}"/>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0ECD9CC-61E6-4B61-B0B7-11868F8B6DC0}"/>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dirty="0">
                <a:solidFill>
                  <a:srgbClr val="0E3A75"/>
                </a:solidFill>
                <a:latin typeface="Aptos"/>
                <a:ea typeface="Aptos"/>
                <a:cs typeface="Aptos"/>
              </a:rPr>
              <a:t>THE MD AUTOMATION CHALLENGE</a:t>
            </a:r>
          </a:p>
        </p:txBody>
      </p:sp>
      <p:sp>
        <p:nvSpPr>
          <p:cNvPr id="6" name="正方形/長方形 5">
            <a:extLst>
              <a:ext uri="{FF2B5EF4-FFF2-40B4-BE49-F238E27FC236}">
                <a16:creationId xmlns:a16="http://schemas.microsoft.com/office/drawing/2014/main" id="{BF9E5B36-2DBC-471C-83F8-881BA7AC25A3}"/>
              </a:ext>
            </a:extLst>
          </p:cNvPr>
          <p:cNvSpPr>
            <a:spLocks noGrp="1"/>
          </p:cNvSpPr>
          <p:nvPr/>
        </p:nvSpPr>
        <p:spPr>
          <a:xfrm>
            <a:off x="1321662" y="716153"/>
            <a:ext cx="9483851" cy="74193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sz="2254" b="1" dirty="0">
                <a:solidFill>
                  <a:srgbClr val="172033"/>
                </a:solidFill>
                <a:latin typeface="Aptos Display"/>
                <a:ea typeface="Aptos Display"/>
                <a:cs typeface="Aptos Display"/>
              </a:rPr>
              <a:t>MD pipelines are hard to automate with if–then rules.</a:t>
            </a:r>
          </a:p>
        </p:txBody>
      </p:sp>
      <p:sp>
        <p:nvSpPr>
          <p:cNvPr id="19" name="正方形/長方形 18">
            <a:extLst>
              <a:ext uri="{FF2B5EF4-FFF2-40B4-BE49-F238E27FC236}">
                <a16:creationId xmlns:a16="http://schemas.microsoft.com/office/drawing/2014/main" id="{B50FCDBB-B293-B34D-B79C-A7F5A439118A}"/>
              </a:ext>
            </a:extLst>
          </p:cNvPr>
          <p:cNvSpPr/>
          <p:nvPr/>
        </p:nvSpPr>
        <p:spPr>
          <a:xfrm>
            <a:off x="1628114" y="1183894"/>
            <a:ext cx="8999982" cy="3333326"/>
          </a:xfrm>
          <a:prstGeom prst="rect">
            <a:avLst/>
          </a:prstGeom>
          <a:solidFill>
            <a:srgbClr val="F5F8FC"/>
          </a:solidFill>
          <a:ln w="12700">
            <a:solidFill>
              <a:srgbClr val="D4DCE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93"/>
          </a:p>
        </p:txBody>
      </p:sp>
      <p:sp>
        <p:nvSpPr>
          <p:cNvPr id="20" name="正方形/長方形 19">
            <a:extLst>
              <a:ext uri="{FF2B5EF4-FFF2-40B4-BE49-F238E27FC236}">
                <a16:creationId xmlns:a16="http://schemas.microsoft.com/office/drawing/2014/main" id="{0AA4E2CD-7CCB-C047-9D65-ECEEB9AF4E61}"/>
              </a:ext>
            </a:extLst>
          </p:cNvPr>
          <p:cNvSpPr/>
          <p:nvPr/>
        </p:nvSpPr>
        <p:spPr>
          <a:xfrm>
            <a:off x="1628114" y="1183894"/>
            <a:ext cx="53763" cy="3333326"/>
          </a:xfrm>
          <a:prstGeom prst="rect">
            <a:avLst/>
          </a:prstGeom>
          <a:solidFill>
            <a:srgbClr val="0D3B73"/>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93"/>
          </a:p>
        </p:txBody>
      </p:sp>
      <p:sp>
        <p:nvSpPr>
          <p:cNvPr id="21" name="テキスト ボックス 20">
            <a:extLst>
              <a:ext uri="{FF2B5EF4-FFF2-40B4-BE49-F238E27FC236}">
                <a16:creationId xmlns:a16="http://schemas.microsoft.com/office/drawing/2014/main" id="{1A5C888F-FB1C-AC4D-A5AD-A0847418DBE0}"/>
              </a:ext>
            </a:extLst>
          </p:cNvPr>
          <p:cNvSpPr txBox="1"/>
          <p:nvPr/>
        </p:nvSpPr>
        <p:spPr>
          <a:xfrm>
            <a:off x="1870049" y="1350245"/>
            <a:ext cx="8387080" cy="473117"/>
          </a:xfrm>
          <a:prstGeom prst="rect">
            <a:avLst/>
          </a:prstGeom>
          <a:noFill/>
        </p:spPr>
        <p:txBody>
          <a:bodyPr vertOverflow="overflow" vert="horz" wrap="square" rtlCol="0" anchor="t">
            <a:noAutofit/>
          </a:bodyPr>
          <a:lstStyle/>
          <a:p>
            <a:pPr algn="l"/>
            <a:r>
              <a:rPr lang="en-US" altLang="ja-JP" b="1" dirty="0">
                <a:solidFill>
                  <a:srgbClr val="0B2F5F"/>
                </a:solidFill>
              </a:rPr>
              <a:t>MD automation is difficult because the protocol depends on molecular context, not a fully enumerable rule tree.</a:t>
            </a:r>
            <a:endParaRPr lang="ja-JP" altLang="en-US" b="1">
              <a:solidFill>
                <a:srgbClr val="0B2F5F"/>
              </a:solidFill>
            </a:endParaRPr>
          </a:p>
        </p:txBody>
      </p:sp>
      <p:sp>
        <p:nvSpPr>
          <p:cNvPr id="23" name="テキスト ボックス 22">
            <a:extLst>
              <a:ext uri="{FF2B5EF4-FFF2-40B4-BE49-F238E27FC236}">
                <a16:creationId xmlns:a16="http://schemas.microsoft.com/office/drawing/2014/main" id="{B15CF937-BFC4-2A4F-9587-802F4BCC3FD3}"/>
              </a:ext>
            </a:extLst>
          </p:cNvPr>
          <p:cNvSpPr txBox="1"/>
          <p:nvPr/>
        </p:nvSpPr>
        <p:spPr>
          <a:xfrm>
            <a:off x="2066285" y="2023232"/>
            <a:ext cx="7903210" cy="387096"/>
          </a:xfrm>
          <a:prstGeom prst="rect">
            <a:avLst/>
          </a:prstGeom>
          <a:noFill/>
        </p:spPr>
        <p:txBody>
          <a:bodyPr vertOverflow="overflow" vert="horz" wrap="square" rtlCol="0" anchor="t">
            <a:normAutofit/>
          </a:bodyPr>
          <a:lstStyle/>
          <a:p>
            <a:pPr algn="l"/>
            <a:r>
              <a:rPr lang="en-US" altLang="ja-JP" sz="1354" dirty="0">
                <a:solidFill>
                  <a:srgbClr val="142033"/>
                </a:solidFill>
              </a:rPr>
              <a:t>System setup is not one deterministic command; each molecule brings different preparation choices.</a:t>
            </a:r>
            <a:endParaRPr lang="ja-JP" altLang="en-US" sz="1354">
              <a:solidFill>
                <a:srgbClr val="142033"/>
              </a:solidFill>
            </a:endParaRPr>
          </a:p>
        </p:txBody>
      </p:sp>
      <p:sp>
        <p:nvSpPr>
          <p:cNvPr id="25" name="テキスト ボックス 24">
            <a:extLst>
              <a:ext uri="{FF2B5EF4-FFF2-40B4-BE49-F238E27FC236}">
                <a16:creationId xmlns:a16="http://schemas.microsoft.com/office/drawing/2014/main" id="{94EB8EB3-B4BA-0845-8BF8-50489C4355B5}"/>
              </a:ext>
            </a:extLst>
          </p:cNvPr>
          <p:cNvSpPr txBox="1"/>
          <p:nvPr/>
        </p:nvSpPr>
        <p:spPr>
          <a:xfrm>
            <a:off x="2066285" y="2485597"/>
            <a:ext cx="7903210" cy="387096"/>
          </a:xfrm>
          <a:prstGeom prst="rect">
            <a:avLst/>
          </a:prstGeom>
          <a:noFill/>
        </p:spPr>
        <p:txBody>
          <a:bodyPr vertOverflow="overflow" vert="horz" wrap="square" rtlCol="0" anchor="t">
            <a:normAutofit/>
          </a:bodyPr>
          <a:lstStyle/>
          <a:p>
            <a:pPr algn="l"/>
            <a:r>
              <a:rPr lang="en-US" altLang="ja-JP" sz="1354" dirty="0">
                <a:solidFill>
                  <a:srgbClr val="142033"/>
                </a:solidFill>
              </a:rPr>
              <a:t>Mutations, PTMs, cofactors, ligands, membranes, and protonation states create many case-specific branches.</a:t>
            </a:r>
            <a:endParaRPr lang="ja-JP" altLang="en-US" sz="1354">
              <a:solidFill>
                <a:srgbClr val="142033"/>
              </a:solidFill>
            </a:endParaRPr>
          </a:p>
        </p:txBody>
      </p:sp>
      <p:sp>
        <p:nvSpPr>
          <p:cNvPr id="27" name="テキスト ボックス 26">
            <a:extLst>
              <a:ext uri="{FF2B5EF4-FFF2-40B4-BE49-F238E27FC236}">
                <a16:creationId xmlns:a16="http://schemas.microsoft.com/office/drawing/2014/main" id="{0BE3FF30-5BD9-7F4F-B756-B40D3B4C8D7E}"/>
              </a:ext>
            </a:extLst>
          </p:cNvPr>
          <p:cNvSpPr txBox="1"/>
          <p:nvPr/>
        </p:nvSpPr>
        <p:spPr>
          <a:xfrm>
            <a:off x="2066285" y="2947962"/>
            <a:ext cx="7903210" cy="387096"/>
          </a:xfrm>
          <a:prstGeom prst="rect">
            <a:avLst/>
          </a:prstGeom>
          <a:noFill/>
        </p:spPr>
        <p:txBody>
          <a:bodyPr vertOverflow="overflow" vert="horz" wrap="square" rtlCol="0" anchor="t">
            <a:noAutofit/>
          </a:bodyPr>
          <a:lstStyle/>
          <a:p>
            <a:pPr algn="l"/>
            <a:r>
              <a:rPr lang="en-US" altLang="ja-JP" sz="1354">
                <a:solidFill>
                  <a:srgbClr val="142033"/>
                </a:solidFill>
              </a:rPr>
              <a:t>Force-field selection, missing atoms/residues, charge assignment, and solvation choices often require expert judgment.</a:t>
            </a:r>
            <a:endParaRPr lang="ja-JP" altLang="en-US" sz="1354">
              <a:solidFill>
                <a:srgbClr val="142033"/>
              </a:solidFill>
            </a:endParaRPr>
          </a:p>
        </p:txBody>
      </p:sp>
      <p:sp>
        <p:nvSpPr>
          <p:cNvPr id="29" name="テキスト ボックス 28">
            <a:extLst>
              <a:ext uri="{FF2B5EF4-FFF2-40B4-BE49-F238E27FC236}">
                <a16:creationId xmlns:a16="http://schemas.microsoft.com/office/drawing/2014/main" id="{04400221-3A0E-4A49-82A2-8449CF7C3258}"/>
              </a:ext>
            </a:extLst>
          </p:cNvPr>
          <p:cNvSpPr txBox="1"/>
          <p:nvPr/>
        </p:nvSpPr>
        <p:spPr>
          <a:xfrm>
            <a:off x="2066285" y="3410326"/>
            <a:ext cx="7903210" cy="387096"/>
          </a:xfrm>
          <a:prstGeom prst="rect">
            <a:avLst/>
          </a:prstGeom>
          <a:noFill/>
        </p:spPr>
        <p:txBody>
          <a:bodyPr vertOverflow="overflow" vert="horz" wrap="square" rtlCol="0" anchor="t">
            <a:normAutofit/>
          </a:bodyPr>
          <a:lstStyle/>
          <a:p>
            <a:pPr algn="l"/>
            <a:r>
              <a:rPr lang="en-US" altLang="ja-JP" sz="1354">
                <a:solidFill>
                  <a:srgbClr val="142033"/>
                </a:solidFill>
              </a:rPr>
              <a:t>If–then rules cannot reliably cover all exceptions without becoming brittle or incomplete.</a:t>
            </a:r>
            <a:endParaRPr lang="ja-JP" altLang="en-US" sz="1354">
              <a:solidFill>
                <a:srgbClr val="142033"/>
              </a:solidFill>
            </a:endParaRPr>
          </a:p>
        </p:txBody>
      </p:sp>
      <p:sp>
        <p:nvSpPr>
          <p:cNvPr id="31" name="テキスト ボックス 30">
            <a:extLst>
              <a:ext uri="{FF2B5EF4-FFF2-40B4-BE49-F238E27FC236}">
                <a16:creationId xmlns:a16="http://schemas.microsoft.com/office/drawing/2014/main" id="{C5E8A592-A76F-104E-BB66-4A3A71B8A918}"/>
              </a:ext>
            </a:extLst>
          </p:cNvPr>
          <p:cNvSpPr txBox="1"/>
          <p:nvPr/>
        </p:nvSpPr>
        <p:spPr>
          <a:xfrm>
            <a:off x="2066285" y="3872691"/>
            <a:ext cx="7903210" cy="387096"/>
          </a:xfrm>
          <a:prstGeom prst="rect">
            <a:avLst/>
          </a:prstGeom>
          <a:noFill/>
        </p:spPr>
        <p:txBody>
          <a:bodyPr vertOverflow="overflow" vert="horz" wrap="square" rtlCol="0" anchor="t">
            <a:normAutofit/>
          </a:bodyPr>
          <a:lstStyle/>
          <a:p>
            <a:pPr algn="l"/>
            <a:r>
              <a:rPr lang="en-US" altLang="ja-JP" sz="1354">
                <a:solidFill>
                  <a:srgbClr val="142033"/>
                </a:solidFill>
              </a:rPr>
              <a:t>Simulation-in-the-loop MD needs an agent that can inspect inputs, validate results, and revise the protocol.</a:t>
            </a:r>
            <a:endParaRPr lang="ja-JP" altLang="en-US" sz="1354">
              <a:solidFill>
                <a:srgbClr val="142033"/>
              </a:solidFill>
            </a:endParaRPr>
          </a:p>
        </p:txBody>
      </p:sp>
      <p:sp>
        <p:nvSpPr>
          <p:cNvPr id="22" name="正方形/長方形 21">
            <a:extLst>
              <a:ext uri="{FF2B5EF4-FFF2-40B4-BE49-F238E27FC236}">
                <a16:creationId xmlns:a16="http://schemas.microsoft.com/office/drawing/2014/main" id="{6FE1B10F-3FD9-7345-B87F-6ADCB2A637E3}"/>
              </a:ext>
            </a:extLst>
          </p:cNvPr>
          <p:cNvSpPr/>
          <p:nvPr/>
        </p:nvSpPr>
        <p:spPr>
          <a:xfrm>
            <a:off x="1913059" y="2130128"/>
            <a:ext cx="75268" cy="75268"/>
          </a:xfrm>
          <a:prstGeom prst="rect">
            <a:avLst/>
          </a:prstGeom>
          <a:solidFill>
            <a:srgbClr val="0E4380"/>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93"/>
          </a:p>
        </p:txBody>
      </p:sp>
      <p:sp>
        <p:nvSpPr>
          <p:cNvPr id="24" name="正方形/長方形 23">
            <a:extLst>
              <a:ext uri="{FF2B5EF4-FFF2-40B4-BE49-F238E27FC236}">
                <a16:creationId xmlns:a16="http://schemas.microsoft.com/office/drawing/2014/main" id="{5AB8BF1E-0F15-D34D-B058-E47C3F54A433}"/>
              </a:ext>
            </a:extLst>
          </p:cNvPr>
          <p:cNvSpPr/>
          <p:nvPr/>
        </p:nvSpPr>
        <p:spPr>
          <a:xfrm>
            <a:off x="1880801" y="2592493"/>
            <a:ext cx="75268" cy="75268"/>
          </a:xfrm>
          <a:prstGeom prst="rect">
            <a:avLst/>
          </a:prstGeom>
          <a:solidFill>
            <a:srgbClr val="0E4380"/>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93"/>
          </a:p>
        </p:txBody>
      </p:sp>
      <p:sp>
        <p:nvSpPr>
          <p:cNvPr id="26" name="正方形/長方形 25">
            <a:extLst>
              <a:ext uri="{FF2B5EF4-FFF2-40B4-BE49-F238E27FC236}">
                <a16:creationId xmlns:a16="http://schemas.microsoft.com/office/drawing/2014/main" id="{8354DA8E-5BBE-594B-80B2-0D2C990F59B7}"/>
              </a:ext>
            </a:extLst>
          </p:cNvPr>
          <p:cNvSpPr/>
          <p:nvPr/>
        </p:nvSpPr>
        <p:spPr>
          <a:xfrm>
            <a:off x="1880801" y="3054858"/>
            <a:ext cx="75268" cy="75268"/>
          </a:xfrm>
          <a:prstGeom prst="rect">
            <a:avLst/>
          </a:prstGeom>
          <a:solidFill>
            <a:srgbClr val="0E4380"/>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93"/>
          </a:p>
        </p:txBody>
      </p:sp>
      <p:sp>
        <p:nvSpPr>
          <p:cNvPr id="28" name="正方形/長方形 27">
            <a:extLst>
              <a:ext uri="{FF2B5EF4-FFF2-40B4-BE49-F238E27FC236}">
                <a16:creationId xmlns:a16="http://schemas.microsoft.com/office/drawing/2014/main" id="{CDD2459E-D980-0649-9DEE-61B4CEEB2E6A}"/>
              </a:ext>
            </a:extLst>
          </p:cNvPr>
          <p:cNvSpPr/>
          <p:nvPr/>
        </p:nvSpPr>
        <p:spPr>
          <a:xfrm>
            <a:off x="1880801" y="3517222"/>
            <a:ext cx="75268" cy="75268"/>
          </a:xfrm>
          <a:prstGeom prst="rect">
            <a:avLst/>
          </a:prstGeom>
          <a:solidFill>
            <a:srgbClr val="0E4380"/>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93"/>
          </a:p>
        </p:txBody>
      </p:sp>
      <p:sp>
        <p:nvSpPr>
          <p:cNvPr id="33" name="正方形/長方形 32">
            <a:extLst>
              <a:ext uri="{FF2B5EF4-FFF2-40B4-BE49-F238E27FC236}">
                <a16:creationId xmlns:a16="http://schemas.microsoft.com/office/drawing/2014/main" id="{32A6348C-D6C4-2745-A94B-A9E153544069}"/>
              </a:ext>
            </a:extLst>
          </p:cNvPr>
          <p:cNvSpPr/>
          <p:nvPr/>
        </p:nvSpPr>
        <p:spPr>
          <a:xfrm>
            <a:off x="1880801" y="3979587"/>
            <a:ext cx="75268" cy="75268"/>
          </a:xfrm>
          <a:prstGeom prst="rect">
            <a:avLst/>
          </a:prstGeom>
          <a:solidFill>
            <a:srgbClr val="0E4380"/>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93"/>
          </a:p>
        </p:txBody>
      </p:sp>
      <p:pic>
        <p:nvPicPr>
          <p:cNvPr id="1026" name="Picture 2">
            <a:extLst>
              <a:ext uri="{FF2B5EF4-FFF2-40B4-BE49-F238E27FC236}">
                <a16:creationId xmlns:a16="http://schemas.microsoft.com/office/drawing/2014/main" id="{876B9208-9A2C-3171-73F6-31A188126E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7203" y="4321555"/>
            <a:ext cx="5796699" cy="1539748"/>
          </a:xfrm>
          <a:prstGeom prst="rect">
            <a:avLst/>
          </a:prstGeom>
          <a:noFill/>
          <a:extLst>
            <a:ext uri="{909E8E84-426E-40DD-AFC4-6F175D3DCCD1}">
              <a14:hiddenFill xmlns:a14="http://schemas.microsoft.com/office/drawing/2010/main">
                <a:solidFill>
                  <a:srgbClr val="FFFFFF"/>
                </a:solidFill>
              </a14:hiddenFill>
            </a:ext>
          </a:extLst>
        </p:spPr>
      </p:pic>
      <p:sp>
        <p:nvSpPr>
          <p:cNvPr id="34" name="テキスト ボックス 33">
            <a:extLst>
              <a:ext uri="{FF2B5EF4-FFF2-40B4-BE49-F238E27FC236}">
                <a16:creationId xmlns:a16="http://schemas.microsoft.com/office/drawing/2014/main" id="{CC881755-4F4C-B74A-9883-F0088C66D225}"/>
              </a:ext>
            </a:extLst>
          </p:cNvPr>
          <p:cNvSpPr txBox="1"/>
          <p:nvPr/>
        </p:nvSpPr>
        <p:spPr>
          <a:xfrm>
            <a:off x="2774412" y="5534647"/>
            <a:ext cx="1911058" cy="312701"/>
          </a:xfrm>
          <a:prstGeom prst="rect">
            <a:avLst/>
          </a:prstGeom>
          <a:noFill/>
        </p:spPr>
        <p:txBody>
          <a:bodyPr wrap="none" rtlCol="0">
            <a:spAutoFit/>
          </a:bodyPr>
          <a:lstStyle/>
          <a:p>
            <a:r>
              <a:rPr kumimoji="1" lang="en-US" altLang="ja-JP" dirty="0"/>
              <a:t>From GENESIS tutorial</a:t>
            </a:r>
            <a:endParaRPr kumimoji="1" lang="ja-JP" altLang="en-US"/>
          </a:p>
        </p:txBody>
      </p:sp>
      <p:sp>
        <p:nvSpPr>
          <p:cNvPr id="1027" name="TextBox 1026"/>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MDの自動化では、化学状態・モデル・入力ファイルの選択を一貫して記録することが重要。</a:t>
            </a:r>
          </a:p>
        </p:txBody>
      </p:sp>
      <p:sp>
        <p:nvSpPr>
          <p:cNvPr id="1028" name="TextBox 102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計算データを増やすには、条件も同時に揃える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dag.png"/>
          <p:cNvPicPr>
            <a:picLocks noChangeAspect="1"/>
          </p:cNvPicPr>
          <p:nvPr/>
        </p:nvPicPr>
        <p:blipFill>
          <a:blip r:embed="rId3"/>
          <a:stretch>
            <a:fillRect/>
          </a:stretch>
        </p:blipFill>
        <p:spPr>
          <a:xfrm>
            <a:off x="7570953" y="1508760"/>
            <a:ext cx="3466133"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異なる構造を同じ規則で準備し、同じ観測量を取り出す。</a:t>
            </a:r>
          </a:p>
          <a:p>
            <a:pPr algn="l">
              <a:lnSpc>
                <a:spcPts val="2497"/>
              </a:lnSpc>
            </a:pPr>
            <a:r>
              <a:rPr sz="1850" b="0" lang="ja-JP" altLang="en-US">
                <a:solidFill>
                  <a:srgbClr val="333333"/>
                </a:solidFill>
                <a:latin typeface="Noto Sans JP"/>
                <a:ea typeface="Noto Sans JP"/>
              </a:rPr>
              <a:t>構造ID、配列、プロトン化状態、力場、水モデル、温度、乱数、計算長を保存する。</a:t>
            </a:r>
          </a:p>
          <a:p>
            <a:pPr algn="l">
              <a:lnSpc>
                <a:spcPts val="2497"/>
              </a:lnSpc>
            </a:pPr>
            <a:r>
              <a:rPr sz="1850" b="0" lang="ja-JP" altLang="en-US">
                <a:solidFill>
                  <a:srgbClr val="333333"/>
                </a:solidFill>
                <a:latin typeface="Noto Sans JP"/>
                <a:ea typeface="Noto Sans JP"/>
              </a:rPr>
              <a:t>成功したものだけを残すと、難しい系が消えた偏ったデータ集合になる。失敗理由も残す。</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A6F86FA7-55CE-0741-01BD-EF467C6B7E05}"/>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2270DDE9-AE73-DDE2-E30B-5A37C38665FF}"/>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FBC531F4-4EA0-0372-439C-A4E38AE3699D}"/>
              </a:ext>
            </a:extLst>
          </p:cNvPr>
          <p:cNvSpPr>
            <a:spLocks noGrp="1"/>
          </p:cNvSpPr>
          <p:nvPr/>
        </p:nvSpPr>
        <p:spPr>
          <a:xfrm>
            <a:off x="1224889" y="562927"/>
            <a:ext cx="1159390" cy="43298"/>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76B870C-9E8F-2CEA-5DC7-7D82994C3D54}"/>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lang="en-US" sz="1354" b="1" dirty="0">
                <a:solidFill>
                  <a:srgbClr val="0E3A75"/>
                </a:solidFill>
                <a:latin typeface="Aptos"/>
                <a:ea typeface="Aptos"/>
                <a:cs typeface="Aptos"/>
              </a:rPr>
              <a:t>Use case 1</a:t>
            </a:r>
            <a:endParaRPr sz="1354" b="1" dirty="0">
              <a:solidFill>
                <a:srgbClr val="0E3A75"/>
              </a:solidFill>
              <a:latin typeface="Aptos"/>
              <a:ea typeface="Aptos"/>
              <a:cs typeface="Aptos"/>
            </a:endParaRPr>
          </a:p>
        </p:txBody>
      </p:sp>
      <p:pic>
        <p:nvPicPr>
          <p:cNvPr id="58" name="図 57">
            <a:extLst>
              <a:ext uri="{FF2B5EF4-FFF2-40B4-BE49-F238E27FC236}">
                <a16:creationId xmlns:a16="http://schemas.microsoft.com/office/drawing/2014/main" id="{A38EA619-CB4A-792A-6B61-8B67477B167A}"/>
              </a:ext>
            </a:extLst>
          </p:cNvPr>
          <p:cNvPicPr>
            <a:picLocks noChangeAspect="1"/>
          </p:cNvPicPr>
          <p:nvPr/>
        </p:nvPicPr>
        <p:blipFill>
          <a:blip r:embed="rId3"/>
          <a:stretch>
            <a:fillRect/>
          </a:stretch>
        </p:blipFill>
        <p:spPr>
          <a:xfrm>
            <a:off x="2665375" y="1213685"/>
            <a:ext cx="6860942" cy="4382324"/>
          </a:xfrm>
          <a:prstGeom prst="rect">
            <a:avLst/>
          </a:prstGeom>
        </p:spPr>
      </p:pic>
      <p:pic>
        <p:nvPicPr>
          <p:cNvPr id="59" name="図 58">
            <a:extLst>
              <a:ext uri="{FF2B5EF4-FFF2-40B4-BE49-F238E27FC236}">
                <a16:creationId xmlns:a16="http://schemas.microsoft.com/office/drawing/2014/main" id="{56E19090-F480-9288-13C9-4997014CD625}"/>
              </a:ext>
            </a:extLst>
          </p:cNvPr>
          <p:cNvPicPr>
            <a:picLocks noChangeAspect="1"/>
          </p:cNvPicPr>
          <p:nvPr/>
        </p:nvPicPr>
        <p:blipFill>
          <a:blip r:embed="rId4"/>
          <a:stretch>
            <a:fillRect/>
          </a:stretch>
        </p:blipFill>
        <p:spPr>
          <a:xfrm>
            <a:off x="9886058" y="417766"/>
            <a:ext cx="1064617" cy="2353721"/>
          </a:xfrm>
          <a:prstGeom prst="rect">
            <a:avLst/>
          </a:prstGeom>
        </p:spPr>
      </p:pic>
      <p:sp>
        <p:nvSpPr>
          <p:cNvPr id="60" name="テキスト ボックス 59">
            <a:extLst>
              <a:ext uri="{FF2B5EF4-FFF2-40B4-BE49-F238E27FC236}">
                <a16:creationId xmlns:a16="http://schemas.microsoft.com/office/drawing/2014/main" id="{B382BC35-8E3C-9863-9F68-7F008C89ED8C}"/>
              </a:ext>
            </a:extLst>
          </p:cNvPr>
          <p:cNvSpPr txBox="1"/>
          <p:nvPr/>
        </p:nvSpPr>
        <p:spPr>
          <a:xfrm>
            <a:off x="2665375" y="233616"/>
            <a:ext cx="8386955" cy="442992"/>
          </a:xfrm>
          <a:prstGeom prst="rect">
            <a:avLst/>
          </a:prstGeom>
          <a:noFill/>
        </p:spPr>
        <p:txBody>
          <a:bodyPr wrap="none" rtlCol="0">
            <a:spAutoFit/>
          </a:bodyPr>
          <a:lstStyle/>
          <a:p>
            <a:r>
              <a:rPr kumimoji="1" lang="ja-JP" altLang="en-US" sz="2370"/>
              <a:t>抗体</a:t>
            </a:r>
            <a:r>
              <a:rPr kumimoji="1" lang="en-US" altLang="ja-JP" sz="2370" dirty="0"/>
              <a:t>(Nanobody)</a:t>
            </a:r>
            <a:r>
              <a:rPr kumimoji="1" lang="ja-JP" altLang="en-US" sz="2370"/>
              <a:t>の網羅的なシミュレーション</a:t>
            </a:r>
            <a:r>
              <a:rPr kumimoji="1" lang="en-US" altLang="ja-JP" sz="2370" dirty="0"/>
              <a:t> (</a:t>
            </a:r>
            <a:r>
              <a:rPr kumimoji="1" lang="en-US" altLang="ja-JP" sz="2370" dirty="0" err="1"/>
              <a:t>SAbDab</a:t>
            </a:r>
            <a:r>
              <a:rPr kumimoji="1" lang="en-US" altLang="ja-JP" sz="2370" dirty="0"/>
              <a:t> dataset)</a:t>
            </a:r>
            <a:endParaRPr kumimoji="1" lang="ja-JP" altLang="en-US" sz="2370"/>
          </a:p>
        </p:txBody>
      </p:sp>
      <p:sp>
        <p:nvSpPr>
          <p:cNvPr id="61" name="テキスト ボックス 60">
            <a:extLst>
              <a:ext uri="{FF2B5EF4-FFF2-40B4-BE49-F238E27FC236}">
                <a16:creationId xmlns:a16="http://schemas.microsoft.com/office/drawing/2014/main" id="{93FAA55B-82CF-51AA-396C-63218338C9BB}"/>
              </a:ext>
            </a:extLst>
          </p:cNvPr>
          <p:cNvSpPr txBox="1"/>
          <p:nvPr/>
        </p:nvSpPr>
        <p:spPr>
          <a:xfrm>
            <a:off x="2518546" y="745944"/>
            <a:ext cx="7412750" cy="338759"/>
          </a:xfrm>
          <a:prstGeom prst="rect">
            <a:avLst/>
          </a:prstGeom>
          <a:noFill/>
        </p:spPr>
        <p:txBody>
          <a:bodyPr wrap="none" rtlCol="0">
            <a:spAutoFit/>
          </a:bodyPr>
          <a:lstStyle/>
          <a:p>
            <a:r>
              <a:rPr kumimoji="1" lang="en-US" altLang="ja-JP" sz="1693" dirty="0"/>
              <a:t>Prompt: Please perform 100 ns MD simulations for all the nanobodies in the table.</a:t>
            </a:r>
            <a:endParaRPr kumimoji="1" lang="ja-JP" altLang="en-US" sz="1693"/>
          </a:p>
        </p:txBody>
      </p:sp>
      <p:sp>
        <p:nvSpPr>
          <p:cNvPr id="62" name="正方形/長方形 61">
            <a:extLst>
              <a:ext uri="{FF2B5EF4-FFF2-40B4-BE49-F238E27FC236}">
                <a16:creationId xmlns:a16="http://schemas.microsoft.com/office/drawing/2014/main" id="{68A44219-601D-1EC2-452C-DCF968997703}"/>
              </a:ext>
            </a:extLst>
          </p:cNvPr>
          <p:cNvSpPr>
            <a:spLocks noGrp="1"/>
          </p:cNvSpPr>
          <p:nvPr/>
        </p:nvSpPr>
        <p:spPr>
          <a:xfrm>
            <a:off x="1224889" y="849147"/>
            <a:ext cx="1440486" cy="55973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lang="en-US" sz="1354" b="1" dirty="0">
                <a:solidFill>
                  <a:srgbClr val="0E3A75"/>
                </a:solidFill>
                <a:latin typeface="Aptos"/>
                <a:ea typeface="Aptos"/>
                <a:cs typeface="Aptos"/>
              </a:rPr>
              <a:t>Training data </a:t>
            </a:r>
          </a:p>
          <a:p>
            <a:pPr algn="l">
              <a:defRPr sz="850" b="1">
                <a:solidFill>
                  <a:srgbClr val="0E3A75"/>
                </a:solidFill>
                <a:latin typeface="Aptos"/>
                <a:ea typeface="Aptos"/>
                <a:cs typeface="Aptos"/>
              </a:defRPr>
            </a:pPr>
            <a:r>
              <a:rPr lang="en-US" sz="1354" b="1" dirty="0">
                <a:solidFill>
                  <a:srgbClr val="0E3A75"/>
                </a:solidFill>
                <a:latin typeface="Aptos"/>
                <a:ea typeface="Aptos"/>
                <a:cs typeface="Aptos"/>
              </a:rPr>
              <a:t>generation</a:t>
            </a:r>
            <a:endParaRPr sz="1354" b="1" dirty="0">
              <a:solidFill>
                <a:srgbClr val="0E3A75"/>
              </a:solidFill>
              <a:latin typeface="Aptos"/>
              <a:ea typeface="Aptos"/>
              <a:cs typeface="Aptos"/>
            </a:endParaRPr>
          </a:p>
        </p:txBody>
      </p:sp>
      <p:sp>
        <p:nvSpPr>
          <p:cNvPr id="63" name="TextBox 62"/>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網羅的なMDで計算ラベルを作るという利用例。依頼文だけでなく対象一覧と条件・完了基準を定める。</a:t>
            </a:r>
          </a:p>
        </p:txBody>
      </p:sp>
      <p:sp>
        <p:nvSpPr>
          <p:cNvPr id="64" name="TextBox 6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転移学習では、共有できる表現を計算データで育てる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transfer.png"/>
          <p:cNvPicPr>
            <a:picLocks noChangeAspect="1"/>
          </p:cNvPicPr>
          <p:nvPr/>
        </p:nvPicPr>
        <p:blipFill>
          <a:blip r:embed="rId3"/>
          <a:stretch>
            <a:fillRect/>
          </a:stretch>
        </p:blipFill>
        <p:spPr>
          <a:xfrm>
            <a:off x="7562457" y="1508760"/>
            <a:ext cx="3483124"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タンパク質言語モデルが配列の表現を作る。</a:t>
            </a:r>
          </a:p>
          <a:p>
            <a:pPr algn="l">
              <a:lnSpc>
                <a:spcPts val="2497"/>
              </a:lnSpc>
            </a:pPr>
            <a:r>
              <a:rPr sz="1850" b="0" lang="ja-JP" altLang="en-US">
                <a:solidFill>
                  <a:srgbClr val="333333"/>
                </a:solidFill>
                <a:latin typeface="Noto Sans JP"/>
                <a:ea typeface="Noto Sans JP"/>
              </a:rPr>
              <a:t>少数の実験Tmと、計算による安定性の補助ラベルを別の出力で学習する。</a:t>
            </a:r>
          </a:p>
          <a:p>
            <a:pPr algn="l">
              <a:lnSpc>
                <a:spcPts val="2497"/>
              </a:lnSpc>
            </a:pPr>
            <a:r>
              <a:rPr sz="1850" b="0" lang="ja-JP" altLang="en-US">
                <a:solidFill>
                  <a:srgbClr val="333333"/>
                </a:solidFill>
                <a:latin typeface="Noto Sans JP"/>
                <a:ea typeface="Noto Sans JP"/>
              </a:rPr>
              <a:t>計算値を実験値と同一視するのではなく、共通の表現を介して実験予測を助ける。</a:t>
            </a:r>
          </a:p>
          <a:p>
            <a:pPr algn="l">
              <a:lnSpc>
                <a:spcPts val="2497"/>
              </a:lnSpc>
            </a:pPr>
            <a:r>
              <a:rPr sz="1850" b="0" lang="ja-JP" altLang="en-US">
                <a:solidFill>
                  <a:srgbClr val="333333"/>
                </a:solidFill>
                <a:latin typeface="Noto Sans JP"/>
                <a:ea typeface="Noto Sans JP"/>
              </a:rPr>
              <a:t>最終評価には学習に使っていない実験配列を使う。</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村上さんの研究：ナノボディの融解温度を予測する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280160"/>
            <a:ext cx="10972800" cy="14630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Tmは熱変性の中点に対応する温度。FEPのΔΔGやMDの天然接触の保持率とは別の量。</a:t>
            </a:r>
          </a:p>
          <a:p>
            <a:pPr algn="l">
              <a:lnSpc>
                <a:spcPts val="2295"/>
              </a:lnSpc>
            </a:pPr>
            <a:r>
              <a:rPr sz="1700" b="0" lang="ja-JP" altLang="en-US">
                <a:solidFill>
                  <a:srgbClr val="333333"/>
                </a:solidFill>
                <a:latin typeface="Noto Sans JP"/>
                <a:ea typeface="Noto Sans JP"/>
              </a:rPr>
              <a:t>実験Tm：学習57配列、モデル選択114配列、最終評価396配列。</a:t>
            </a:r>
          </a:p>
          <a:p>
            <a:pPr algn="l">
              <a:lnSpc>
                <a:spcPts val="2295"/>
              </a:lnSpc>
            </a:pPr>
            <a:r>
              <a:rPr sz="1700" b="0" lang="ja-JP" altLang="en-US">
                <a:solidFill>
                  <a:srgbClr val="333333"/>
                </a:solidFill>
                <a:latin typeface="Noto Sans JP"/>
                <a:ea typeface="Noto Sans JP"/>
              </a:rPr>
              <a:t>計算ラベルを補助タスクとして、共有したESM2表現を学習する。</a:t>
            </a:r>
          </a:p>
          <a:p>
            <a:pPr algn="l">
              <a:lnSpc>
                <a:spcPts val="2295"/>
              </a:lnSpc>
            </a:pPr>
            <a:r>
              <a:rPr sz="1700" b="0" lang="ja-JP" altLang="en-US">
                <a:solidFill>
                  <a:srgbClr val="333333"/>
                </a:solidFill>
                <a:latin typeface="Noto Sans JP"/>
                <a:ea typeface="Noto Sans JP"/>
              </a:rPr>
              <a:t>Murakami et al., bioRxiv (2026), DOI:10.64898/2026.07.30.741744。</a:t>
            </a:r>
          </a:p>
        </p:txBody>
      </p:sp>
      <p:pic>
        <p:nvPicPr>
          <p:cNvPr id="7" name="Picture 6" descr="sim2real1.png"/>
          <p:cNvPicPr>
            <a:picLocks noChangeAspect="1"/>
          </p:cNvPicPr>
          <p:nvPr/>
        </p:nvPicPr>
        <p:blipFill>
          <a:blip r:embed="rId3"/>
          <a:stretch>
            <a:fillRect/>
          </a:stretch>
        </p:blipFill>
        <p:spPr>
          <a:xfrm>
            <a:off x="2950310" y="2834640"/>
            <a:ext cx="6260898" cy="3291840"/>
          </a:xfrm>
          <a:prstGeom prst="rect">
            <a:avLst/>
          </a:prstGeom>
        </p:spPr>
      </p:pic>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同じ計算量でも、どの配列を計算するかが効く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scaling.png"/>
          <p:cNvPicPr>
            <a:picLocks noChangeAspect="1"/>
          </p:cNvPicPr>
          <p:nvPr/>
        </p:nvPicPr>
        <p:blipFill>
          <a:blip r:embed="rId3"/>
          <a:stretch>
            <a:fillRect/>
          </a:stretch>
        </p:blipFill>
        <p:spPr>
          <a:xfrm>
            <a:off x="6995160" y="1508760"/>
            <a:ext cx="4617720" cy="3643221"/>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同じMD由来のラベルでも、少数構造の変異走査と、多様なナノボディ集合を比較する。</a:t>
            </a:r>
          </a:p>
          <a:p>
            <a:pPr algn="l">
              <a:lnSpc>
                <a:spcPts val="2497"/>
              </a:lnSpc>
            </a:pPr>
            <a:r>
              <a:rPr sz="1850" b="0" lang="ja-JP" altLang="en-US">
                <a:solidFill>
                  <a:srgbClr val="333333"/>
                </a:solidFill>
                <a:latin typeface="Noto Sans JP"/>
                <a:ea typeface="Noto Sans JP"/>
              </a:rPr>
              <a:t>多様な集合では、ラベル数20→320で微調整モデルのMAEが7.16→6.76℃へ下がった。</a:t>
            </a:r>
          </a:p>
          <a:p>
            <a:pPr algn="l">
              <a:lnSpc>
                <a:spcPts val="2497"/>
              </a:lnSpc>
            </a:pPr>
            <a:r>
              <a:rPr sz="1850" b="0" lang="ja-JP" altLang="en-US">
                <a:solidFill>
                  <a:srgbClr val="333333"/>
                </a:solidFill>
                <a:latin typeface="Noto Sans JP"/>
                <a:ea typeface="Noto Sans JP"/>
              </a:rPr>
              <a:t>変異走査では単調な改善にならなかった。量だけでなく、覆う配列の広さが重要。</a:t>
            </a:r>
          </a:p>
          <a:p>
            <a:pPr algn="l">
              <a:lnSpc>
                <a:spcPts val="2497"/>
              </a:lnSpc>
            </a:pPr>
            <a:r>
              <a:rPr sz="1850" b="0" lang="ja-JP" altLang="en-US">
                <a:solidFill>
                  <a:srgbClr val="333333"/>
                </a:solidFill>
                <a:latin typeface="Noto Sans JP"/>
                <a:ea typeface="Noto Sans JP"/>
              </a:rPr>
              <a:t>原稿Fig. 2の条件。右の再描画は本文の数値に基づく。</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原著Fig. 2：データ設計によって増量の効果が違う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280160"/>
            <a:ext cx="10972800" cy="14630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左・中央：ラベル数と、凍結／微調整したモデルの誤差。</a:t>
            </a:r>
          </a:p>
          <a:p>
            <a:pPr algn="l">
              <a:lnSpc>
                <a:spcPts val="2295"/>
              </a:lnSpc>
            </a:pPr>
            <a:r>
              <a:rPr sz="1700" b="0" lang="ja-JP" altLang="en-US">
                <a:solidFill>
                  <a:srgbClr val="333333"/>
                </a:solidFill>
                <a:latin typeface="Noto Sans JP"/>
                <a:ea typeface="Noto Sans JP"/>
              </a:rPr>
              <a:t>右：同じラベル数320で、それぞれのTmのみの基準からの変化。</a:t>
            </a:r>
          </a:p>
          <a:p>
            <a:pPr algn="l">
              <a:lnSpc>
                <a:spcPts val="2295"/>
              </a:lnSpc>
            </a:pPr>
            <a:r>
              <a:rPr sz="1700" b="0" lang="ja-JP" altLang="en-US">
                <a:solidFill>
                  <a:srgbClr val="333333"/>
                </a:solidFill>
                <a:latin typeface="Noto Sans JP"/>
                <a:ea typeface="Noto Sans JP"/>
              </a:rPr>
              <a:t>誤差が低いほどよい。異なる学習条件の基準値を混ぜない。</a:t>
            </a:r>
          </a:p>
          <a:p>
            <a:pPr algn="l">
              <a:lnSpc>
                <a:spcPts val="2295"/>
              </a:lnSpc>
            </a:pPr>
            <a:r>
              <a:rPr sz="1700" b="0" lang="ja-JP" altLang="en-US">
                <a:solidFill>
                  <a:srgbClr val="333333"/>
                </a:solidFill>
                <a:latin typeface="Noto Sans JP"/>
                <a:ea typeface="Noto Sans JP"/>
              </a:rPr>
              <a:t>この範囲の結果から、無限に増やせば改善すると外挿しない。</a:t>
            </a:r>
          </a:p>
        </p:txBody>
      </p:sp>
      <p:pic>
        <p:nvPicPr>
          <p:cNvPr id="7" name="Picture 6" descr="sim2real2.png"/>
          <p:cNvPicPr>
            <a:picLocks noChangeAspect="1"/>
          </p:cNvPicPr>
          <p:nvPr/>
        </p:nvPicPr>
        <p:blipFill>
          <a:blip r:embed="rId3"/>
          <a:stretch>
            <a:fillRect/>
          </a:stretch>
        </p:blipFill>
        <p:spPr>
          <a:xfrm>
            <a:off x="1190026" y="2834640"/>
            <a:ext cx="9781467" cy="3291840"/>
          </a:xfrm>
          <a:prstGeom prst="rect">
            <a:avLst/>
          </a:prstGeom>
        </p:spPr>
      </p:pic>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原著Fig. 3：何を計算するかも予測に影響する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280160"/>
            <a:ext cx="10972800" cy="14630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同じ変異配列に対し、FEP・MD接触率・Rosetta・FoldXの補助ラベルを比較。</a:t>
            </a:r>
          </a:p>
          <a:p>
            <a:pPr algn="l">
              <a:lnSpc>
                <a:spcPts val="2295"/>
              </a:lnSpc>
            </a:pPr>
            <a:r>
              <a:rPr sz="1700" b="0" lang="ja-JP" altLang="en-US">
                <a:solidFill>
                  <a:srgbClr val="333333"/>
                </a:solidFill>
                <a:latin typeface="Noto Sans JP"/>
                <a:ea typeface="Noto Sans JP"/>
              </a:rPr>
              <a:t>この比較ではFEP補助の微調整モデルのMAEが6.35℃。Tmのみは6.72℃。</a:t>
            </a:r>
          </a:p>
          <a:p>
            <a:pPr algn="l">
              <a:lnSpc>
                <a:spcPts val="2295"/>
              </a:lnSpc>
            </a:pPr>
            <a:r>
              <a:rPr sz="1700" b="0" lang="ja-JP" altLang="en-US">
                <a:solidFill>
                  <a:srgbClr val="333333"/>
                </a:solidFill>
                <a:latin typeface="Noto Sans JP"/>
                <a:ea typeface="Noto Sans JP"/>
              </a:rPr>
              <a:t>「この予測に有用だった」ことと、「実験ΔΔGを最も正確に再現した」ことは別。</a:t>
            </a:r>
          </a:p>
        </p:txBody>
      </p:sp>
      <p:pic>
        <p:nvPicPr>
          <p:cNvPr id="7" name="Picture 6" descr="sim2real3.png"/>
          <p:cNvPicPr>
            <a:picLocks noChangeAspect="1"/>
          </p:cNvPicPr>
          <p:nvPr/>
        </p:nvPicPr>
        <p:blipFill>
          <a:blip r:embed="rId3"/>
          <a:stretch>
            <a:fillRect/>
          </a:stretch>
        </p:blipFill>
        <p:spPr>
          <a:xfrm>
            <a:off x="1691639" y="2834640"/>
            <a:ext cx="8778240" cy="3291840"/>
          </a:xfrm>
          <a:prstGeom prst="rect">
            <a:avLst/>
          </a:prstGeom>
        </p:spPr>
      </p:pic>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スケーリングの議論では、量・質・評価を分ける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scaling.png"/>
          <p:cNvPicPr>
            <a:picLocks noChangeAspect="1"/>
          </p:cNvPicPr>
          <p:nvPr/>
        </p:nvPicPr>
        <p:blipFill>
          <a:blip r:embed="rId3"/>
          <a:stretch>
            <a:fillRect/>
          </a:stretch>
        </p:blipFill>
        <p:spPr>
          <a:xfrm>
            <a:off x="6995160" y="1508760"/>
            <a:ext cx="4617720" cy="3643221"/>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データ数Nを増やすと誤差が減る経験的な関係は、対象・範囲・学習条件に依存する。</a:t>
            </a:r>
          </a:p>
          <a:p>
            <a:pPr algn="l">
              <a:lnSpc>
                <a:spcPts val="2497"/>
              </a:lnSpc>
            </a:pPr>
            <a:r>
              <a:rPr sz="1850" b="0" lang="ja-JP" altLang="en-US">
                <a:solidFill>
                  <a:srgbClr val="333333"/>
                </a:solidFill>
                <a:latin typeface="Noto Sans JP"/>
                <a:ea typeface="Noto Sans JP"/>
              </a:rPr>
              <a:t>重複や偏りの強いデータを増やしても、未知の配列への誤差は減らないことがある。</a:t>
            </a:r>
          </a:p>
          <a:p>
            <a:pPr algn="l">
              <a:lnSpc>
                <a:spcPts val="2497"/>
              </a:lnSpc>
            </a:pPr>
            <a:r>
              <a:rPr sz="1850" b="0" lang="ja-JP" altLang="en-US">
                <a:solidFill>
                  <a:srgbClr val="333333"/>
                </a:solidFill>
                <a:latin typeface="Noto Sans JP"/>
                <a:ea typeface="Noto Sans JP"/>
              </a:rPr>
              <a:t>類縁配列や条件が訓練とテストをまたぐ影響も点検する。</a:t>
            </a:r>
          </a:p>
          <a:p>
            <a:pPr algn="l">
              <a:lnSpc>
                <a:spcPts val="2497"/>
              </a:lnSpc>
            </a:pPr>
            <a:r>
              <a:rPr sz="1850" b="0" lang="ja-JP" altLang="en-US">
                <a:solidFill>
                  <a:srgbClr val="333333"/>
                </a:solidFill>
                <a:latin typeface="Noto Sans JP"/>
                <a:ea typeface="Noto Sans JP"/>
              </a:rPr>
              <a:t>自動化は、比較可能なデータを狙って増やすために使う。</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7952DAE5-577A-4398-AF96-35E3807C432B}"/>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F32DC469-B97C-4C56-A6B4-D7B42B84CFBB}"/>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7E3FA595-D8A1-425A-AA85-1C379319C223}"/>
              </a:ext>
            </a:extLst>
          </p:cNvPr>
          <p:cNvSpPr>
            <a:spLocks noGrp="1"/>
          </p:cNvSpPr>
          <p:nvPr/>
        </p:nvSpPr>
        <p:spPr>
          <a:xfrm flipV="1">
            <a:off x="611225" y="583350"/>
            <a:ext cx="1059465" cy="43585"/>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0C321A1-3F8F-4913-9ABF-5FE1406C71C6}"/>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lang="en-US" sz="958" b="1" dirty="0">
                <a:solidFill>
                  <a:srgbClr val="0E3A75"/>
                </a:solidFill>
                <a:latin typeface="Aptos"/>
                <a:ea typeface="Aptos"/>
                <a:cs typeface="Aptos"/>
              </a:rPr>
              <a:t>Our Goal</a:t>
            </a:r>
            <a:endParaRPr sz="958" b="1" dirty="0">
              <a:solidFill>
                <a:srgbClr val="0E3A75"/>
              </a:solidFill>
              <a:latin typeface="Aptos"/>
              <a:ea typeface="Aptos"/>
              <a:cs typeface="Aptos"/>
            </a:endParaRPr>
          </a:p>
        </p:txBody>
      </p:sp>
      <p:sp>
        <p:nvSpPr>
          <p:cNvPr id="6" name="正方形/長方形 5">
            <a:extLst>
              <a:ext uri="{FF2B5EF4-FFF2-40B4-BE49-F238E27FC236}">
                <a16:creationId xmlns:a16="http://schemas.microsoft.com/office/drawing/2014/main" id="{9175A4FE-B4E6-4988-B6E5-201460DFDE8C}"/>
              </a:ext>
            </a:extLst>
          </p:cNvPr>
          <p:cNvSpPr>
            <a:spLocks noGrp="1"/>
          </p:cNvSpPr>
          <p:nvPr/>
        </p:nvSpPr>
        <p:spPr>
          <a:xfrm>
            <a:off x="1961266" y="374498"/>
            <a:ext cx="8636758" cy="61747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lang="en-US" sz="3432" b="1" dirty="0">
                <a:solidFill>
                  <a:srgbClr val="172033"/>
                </a:solidFill>
                <a:latin typeface="Aptos Display"/>
                <a:ea typeface="Aptos Display"/>
                <a:cs typeface="Aptos Display"/>
              </a:rPr>
              <a:t>Our MD agent under development: </a:t>
            </a:r>
            <a:r>
              <a:rPr lang="en-US" sz="3432" b="1" dirty="0" err="1">
                <a:solidFill>
                  <a:srgbClr val="C00000"/>
                </a:solidFill>
                <a:latin typeface="Aptos Display"/>
                <a:ea typeface="Aptos Display"/>
                <a:cs typeface="Aptos Display"/>
              </a:rPr>
              <a:t>MDClaw</a:t>
            </a:r>
            <a:endParaRPr sz="3432" b="1" dirty="0">
              <a:solidFill>
                <a:srgbClr val="C00000"/>
              </a:solidFill>
              <a:latin typeface="Aptos Display"/>
              <a:ea typeface="Aptos Display"/>
              <a:cs typeface="Aptos Display"/>
            </a:endParaRPr>
          </a:p>
        </p:txBody>
      </p:sp>
      <p:pic>
        <p:nvPicPr>
          <p:cNvPr id="8" name="図 7"/>
          <p:cNvPicPr>
            <a:picLocks noChangeAspect="1"/>
          </p:cNvPicPr>
          <p:nvPr/>
        </p:nvPicPr>
        <p:blipFill>
          <a:blip r:embed="rId3"/>
          <a:stretch/>
        </p:blipFill>
        <p:spPr>
          <a:xfrm>
            <a:off x="5644416" y="1071939"/>
            <a:ext cx="5845833" cy="5418633"/>
          </a:xfrm>
          <a:prstGeom prst="rect">
            <a:avLst/>
          </a:prstGeom>
        </p:spPr>
      </p:pic>
      <p:pic>
        <p:nvPicPr>
          <p:cNvPr id="21" name="図 20">
            <a:extLst>
              <a:ext uri="{FF2B5EF4-FFF2-40B4-BE49-F238E27FC236}">
                <a16:creationId xmlns:a16="http://schemas.microsoft.com/office/drawing/2014/main" id="{F1E15160-9FB5-7C35-C788-9FCDB0A1C394}"/>
              </a:ext>
            </a:extLst>
          </p:cNvPr>
          <p:cNvPicPr>
            <a:picLocks noChangeAspect="1"/>
          </p:cNvPicPr>
          <p:nvPr/>
        </p:nvPicPr>
        <p:blipFill>
          <a:blip r:embed="rId4"/>
          <a:stretch>
            <a:fillRect/>
          </a:stretch>
        </p:blipFill>
        <p:spPr>
          <a:xfrm>
            <a:off x="284327" y="1003192"/>
            <a:ext cx="5588623" cy="5353537"/>
          </a:xfrm>
          <a:prstGeom prst="rect">
            <a:avLst/>
          </a:prstGeom>
        </p:spPr>
      </p:pic>
      <p:sp>
        <p:nvSpPr>
          <p:cNvPr id="22" name="TextBox 21"/>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7952DAE5-577A-4398-AF96-35E3807C432B}"/>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F32DC469-B97C-4C56-A6B4-D7B42B84CFBB}"/>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7E3FA595-D8A1-425A-AA85-1C379319C223}"/>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0C321A1-3F8F-4913-9ABF-5FE1406C71C6}"/>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lang="en-US" sz="850" b="1" dirty="0">
                <a:solidFill>
                  <a:srgbClr val="0E3A75"/>
                </a:solidFill>
                <a:latin typeface="Aptos"/>
                <a:ea typeface="Aptos"/>
                <a:cs typeface="Aptos"/>
              </a:rPr>
              <a:t>MDCLAW FEATURES</a:t>
            </a:r>
            <a:endParaRPr sz="850" b="1" dirty="0">
              <a:solidFill>
                <a:srgbClr val="0E3A75"/>
              </a:solidFill>
              <a:latin typeface="Aptos"/>
              <a:ea typeface="Aptos"/>
              <a:cs typeface="Aptos"/>
            </a:endParaRPr>
          </a:p>
        </p:txBody>
      </p:sp>
      <p:sp>
        <p:nvSpPr>
          <p:cNvPr id="6" name="正方形/長方形 5">
            <a:extLst>
              <a:ext uri="{FF2B5EF4-FFF2-40B4-BE49-F238E27FC236}">
                <a16:creationId xmlns:a16="http://schemas.microsoft.com/office/drawing/2014/main" id="{9175A4FE-B4E6-4988-B6E5-201460DFDE8C}"/>
              </a:ext>
            </a:extLst>
          </p:cNvPr>
          <p:cNvSpPr>
            <a:spLocks noGrp="1"/>
          </p:cNvSpPr>
          <p:nvPr/>
        </p:nvSpPr>
        <p:spPr>
          <a:xfrm>
            <a:off x="4265736" y="233188"/>
            <a:ext cx="6866345" cy="54838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lang="en-US" altLang="ja-JP" sz="2540" b="1" dirty="0">
                <a:solidFill>
                  <a:srgbClr val="172033"/>
                </a:solidFill>
                <a:latin typeface="Aptos Display"/>
                <a:ea typeface="Aptos Display"/>
                <a:cs typeface="Aptos Display"/>
              </a:rPr>
              <a:t>Overview of </a:t>
            </a:r>
            <a:r>
              <a:rPr lang="en-US" altLang="ja-JP" sz="2540" b="1" dirty="0" err="1">
                <a:solidFill>
                  <a:srgbClr val="172033"/>
                </a:solidFill>
                <a:latin typeface="Aptos Display"/>
                <a:ea typeface="Aptos Display"/>
                <a:cs typeface="Aptos Display"/>
              </a:rPr>
              <a:t>MDClaw</a:t>
            </a:r>
            <a:endParaRPr sz="2540" b="1" dirty="0">
              <a:solidFill>
                <a:srgbClr val="172033"/>
              </a:solidFill>
              <a:latin typeface="Aptos Display"/>
              <a:ea typeface="Aptos Display"/>
              <a:cs typeface="Aptos Display"/>
            </a:endParaRPr>
          </a:p>
        </p:txBody>
      </p:sp>
      <p:sp>
        <p:nvSpPr>
          <p:cNvPr id="9" name="テキスト ボックス 8">
            <a:extLst>
              <a:ext uri="{FF2B5EF4-FFF2-40B4-BE49-F238E27FC236}">
                <a16:creationId xmlns:a16="http://schemas.microsoft.com/office/drawing/2014/main" id="{1C79BD6B-43D0-5E45-7724-43FC3CD39962}"/>
              </a:ext>
            </a:extLst>
          </p:cNvPr>
          <p:cNvSpPr txBox="1"/>
          <p:nvPr/>
        </p:nvSpPr>
        <p:spPr>
          <a:xfrm>
            <a:off x="1297469" y="603250"/>
            <a:ext cx="9195834" cy="5341975"/>
          </a:xfrm>
          <a:prstGeom prst="rect">
            <a:avLst/>
          </a:prstGeom>
          <a:noFill/>
        </p:spPr>
        <p:txBody>
          <a:bodyPr wrap="square">
            <a:spAutoFit/>
          </a:bodyPr>
          <a:lstStyle/>
          <a:p>
            <a:pPr marL="285750" lvl="0" indent="-285750" defTabSz="453557" fontAlgn="base">
              <a:spcBef>
                <a:spcPts val="191"/>
              </a:spcBef>
              <a:spcAft>
                <a:spcPts val="96"/>
              </a:spcAft>
              <a:buClrTx/>
              <a:buFont typeface="Arial" panose="020B0604020202020204" pitchFamily="34" charset="0"/>
              <a:buChar char="•"/>
              <a:defRPr/>
            </a:pPr>
            <a:r>
              <a:rPr lang="en-US" altLang="ja-JP" sz="2032" dirty="0">
                <a:solidFill>
                  <a:prstClr val="black">
                    <a:lumMod val="75000"/>
                    <a:lumOff val="25000"/>
                  </a:prstClr>
                </a:solidFill>
                <a:ea typeface="Meiryo UI" panose="020B0604030504040204" pitchFamily="34" charset="-128"/>
              </a:rPr>
              <a:t>MD agent for structure- and interaction-level validation that is difficult to verify experimentally.</a:t>
            </a:r>
          </a:p>
          <a:p>
            <a:pPr marL="285750" lvl="0" indent="-285750" defTabSz="453557" fontAlgn="base">
              <a:spcBef>
                <a:spcPts val="191"/>
              </a:spcBef>
              <a:spcAft>
                <a:spcPts val="96"/>
              </a:spcAft>
              <a:buClrTx/>
              <a:buFont typeface="Arial" panose="020B0604020202020204" pitchFamily="34" charset="0"/>
              <a:buChar char="•"/>
              <a:defRPr/>
            </a:pPr>
            <a:endParaRPr lang="en-US" altLang="ja-JP" sz="2032" dirty="0">
              <a:solidFill>
                <a:prstClr val="black">
                  <a:lumMod val="75000"/>
                  <a:lumOff val="25000"/>
                </a:prstClr>
              </a:solidFill>
              <a:ea typeface="Meiryo UI"/>
            </a:endParaRPr>
          </a:p>
          <a:p>
            <a:pPr marL="285750" lvl="0" indent="-285750" defTabSz="453557" fontAlgn="base">
              <a:spcBef>
                <a:spcPts val="191"/>
              </a:spcBef>
              <a:spcAft>
                <a:spcPts val="96"/>
              </a:spcAft>
              <a:buClrTx/>
              <a:buFont typeface="Arial" panose="020B0604020202020204" pitchFamily="34" charset="0"/>
              <a:buChar char="•"/>
              <a:defRPr/>
            </a:pPr>
            <a:r>
              <a:rPr lang="en-US" altLang="ja-JP" sz="2032" dirty="0">
                <a:solidFill>
                  <a:prstClr val="black">
                    <a:lumMod val="75000"/>
                    <a:lumOff val="25000"/>
                  </a:prstClr>
                </a:solidFill>
                <a:ea typeface="Meiryo UI" panose="020B0604030504040204" pitchFamily="34" charset="-128"/>
              </a:rPr>
              <a:t>In biomolecular MD, it </a:t>
            </a:r>
            <a:r>
              <a:rPr lang="en-US" altLang="ja-JP" sz="2032" b="1" dirty="0">
                <a:solidFill>
                  <a:srgbClr val="C00000"/>
                </a:solidFill>
                <a:ea typeface="Meiryo UI" panose="020B0604030504040204" pitchFamily="34" charset="-128"/>
              </a:rPr>
              <a:t>autonomously carries out the chain from scientific question to validation-oriented MD planning</a:t>
            </a:r>
            <a:r>
              <a:rPr lang="en-US" altLang="ja-JP" sz="2032" dirty="0">
                <a:solidFill>
                  <a:srgbClr val="C00000"/>
                </a:solidFill>
                <a:ea typeface="Meiryo UI" panose="020B0604030504040204" pitchFamily="34" charset="-128"/>
              </a:rPr>
              <a:t>, system preparation, MD execution, analysis, and feedback.</a:t>
            </a:r>
            <a:endParaRPr lang="en-US" altLang="ja-JP" sz="2032" dirty="0">
              <a:solidFill>
                <a:srgbClr val="C00000"/>
              </a:solidFill>
              <a:ea typeface="Meiryo UI"/>
            </a:endParaRPr>
          </a:p>
          <a:p>
            <a:pPr marL="285750" lvl="0" indent="-285750" defTabSz="453557" fontAlgn="base">
              <a:spcBef>
                <a:spcPts val="191"/>
              </a:spcBef>
              <a:spcAft>
                <a:spcPts val="96"/>
              </a:spcAft>
              <a:buClrTx/>
              <a:buFont typeface="Arial" panose="020B0604020202020204" pitchFamily="34" charset="0"/>
              <a:buChar char="•"/>
              <a:defRPr/>
            </a:pPr>
            <a:endParaRPr lang="en-US" altLang="ja-JP" sz="2032" dirty="0">
              <a:solidFill>
                <a:prstClr val="black">
                  <a:lumMod val="75000"/>
                  <a:lumOff val="25000"/>
                </a:prstClr>
              </a:solidFill>
              <a:ea typeface="Meiryo UI" panose="020B0604030504040204" pitchFamily="34" charset="-128"/>
            </a:endParaRPr>
          </a:p>
          <a:p>
            <a:pPr marL="285750" lvl="0" indent="-285750" defTabSz="453557" fontAlgn="base">
              <a:spcBef>
                <a:spcPts val="191"/>
              </a:spcBef>
              <a:spcAft>
                <a:spcPts val="96"/>
              </a:spcAft>
              <a:buClrTx/>
              <a:buFont typeface="Arial" panose="020B0604020202020204" pitchFamily="34" charset="0"/>
              <a:buChar char="•"/>
              <a:defRPr/>
            </a:pPr>
            <a:r>
              <a:rPr lang="en-US" altLang="ja-JP" sz="2032" dirty="0">
                <a:solidFill>
                  <a:prstClr val="black">
                    <a:lumMod val="75000"/>
                    <a:lumOff val="25000"/>
                  </a:prstClr>
                </a:solidFill>
                <a:ea typeface="Meiryo UI" panose="020B0604030504040204" pitchFamily="34" charset="-128"/>
              </a:rPr>
              <a:t>Implemented as a </a:t>
            </a:r>
            <a:r>
              <a:rPr lang="en-US" altLang="ja-JP" sz="2032" b="1" dirty="0">
                <a:solidFill>
                  <a:srgbClr val="C00000"/>
                </a:solidFill>
                <a:ea typeface="Meiryo UI" panose="020B0604030504040204" pitchFamily="34" charset="-128"/>
              </a:rPr>
              <a:t>Skills + Command Lines (CLI)-based system</a:t>
            </a:r>
            <a:r>
              <a:rPr lang="en-US" altLang="ja-JP" sz="2032" dirty="0">
                <a:solidFill>
                  <a:prstClr val="black">
                    <a:lumMod val="75000"/>
                    <a:lumOff val="25000"/>
                  </a:prstClr>
                </a:solidFill>
                <a:ea typeface="Meiryo UI" panose="020B0604030504040204" pitchFamily="34" charset="-128"/>
              </a:rPr>
              <a:t>, allowing it to run through different harnesses such as Pi, </a:t>
            </a:r>
            <a:r>
              <a:rPr lang="en-US" altLang="ja-JP" sz="2032" dirty="0" err="1">
                <a:solidFill>
                  <a:prstClr val="black">
                    <a:lumMod val="75000"/>
                    <a:lumOff val="25000"/>
                  </a:prstClr>
                </a:solidFill>
                <a:ea typeface="Meiryo UI" panose="020B0604030504040204" pitchFamily="34" charset="-128"/>
              </a:rPr>
              <a:t>OpenCode</a:t>
            </a:r>
            <a:r>
              <a:rPr lang="en-US" altLang="ja-JP" sz="2032" dirty="0">
                <a:solidFill>
                  <a:prstClr val="black">
                    <a:lumMod val="75000"/>
                    <a:lumOff val="25000"/>
                  </a:prstClr>
                </a:solidFill>
                <a:ea typeface="Meiryo UI" panose="020B0604030504040204" pitchFamily="34" charset="-128"/>
              </a:rPr>
              <a:t>, Claude Code, Codex, and </a:t>
            </a:r>
            <a:r>
              <a:rPr lang="en-US" altLang="ja-JP" sz="2032" dirty="0" err="1">
                <a:solidFill>
                  <a:prstClr val="black">
                    <a:lumMod val="75000"/>
                    <a:lumOff val="25000"/>
                  </a:prstClr>
                </a:solidFill>
                <a:ea typeface="Meiryo UI" panose="020B0604030504040204" pitchFamily="34" charset="-128"/>
              </a:rPr>
              <a:t>OpenClaw</a:t>
            </a:r>
            <a:r>
              <a:rPr lang="en-US" altLang="ja-JP" sz="2032" dirty="0">
                <a:solidFill>
                  <a:prstClr val="black">
                    <a:lumMod val="75000"/>
                    <a:lumOff val="25000"/>
                  </a:prstClr>
                </a:solidFill>
                <a:ea typeface="Meiryo UI" panose="020B0604030504040204" pitchFamily="34" charset="-128"/>
              </a:rPr>
              <a:t>.</a:t>
            </a:r>
            <a:endParaRPr lang="en-US" altLang="ja-JP" sz="2032" dirty="0">
              <a:solidFill>
                <a:prstClr val="black">
                  <a:lumMod val="75000"/>
                  <a:lumOff val="25000"/>
                </a:prstClr>
              </a:solidFill>
              <a:ea typeface="Meiryo UI"/>
            </a:endParaRPr>
          </a:p>
          <a:p>
            <a:pPr marL="285750" lvl="0" indent="-285750" defTabSz="453557" fontAlgn="base">
              <a:spcBef>
                <a:spcPts val="191"/>
              </a:spcBef>
              <a:spcAft>
                <a:spcPts val="96"/>
              </a:spcAft>
              <a:buClrTx/>
              <a:buFont typeface="Arial" panose="020B0604020202020204" pitchFamily="34" charset="0"/>
              <a:buChar char="•"/>
              <a:defRPr/>
            </a:pPr>
            <a:endParaRPr lang="en-US" altLang="ja-JP" sz="2032" dirty="0">
              <a:solidFill>
                <a:prstClr val="black">
                  <a:lumMod val="75000"/>
                  <a:lumOff val="25000"/>
                </a:prstClr>
              </a:solidFill>
              <a:ea typeface="Meiryo UI" panose="020B0604030504040204" pitchFamily="34" charset="-128"/>
            </a:endParaRPr>
          </a:p>
          <a:p>
            <a:pPr marL="285750" lvl="0" indent="-285750" defTabSz="453557" fontAlgn="base">
              <a:spcBef>
                <a:spcPts val="191"/>
              </a:spcBef>
              <a:spcAft>
                <a:spcPts val="96"/>
              </a:spcAft>
              <a:buClrTx/>
              <a:buFont typeface="Arial" panose="020B0604020202020204" pitchFamily="34" charset="0"/>
              <a:buChar char="•"/>
              <a:defRPr/>
            </a:pPr>
            <a:r>
              <a:rPr lang="en-US" altLang="ja-JP" sz="2032" dirty="0">
                <a:solidFill>
                  <a:prstClr val="black">
                    <a:lumMod val="75000"/>
                    <a:lumOff val="25000"/>
                  </a:prstClr>
                </a:solidFill>
                <a:ea typeface="Meiryo UI" panose="020B0604030504040204" pitchFamily="34" charset="-128"/>
              </a:rPr>
              <a:t>Supports validation across diverse system-generation scenarios, including mutations, modifications, protonation states, force-field file selection/customization, and initial-structure generation with Boltz-2 or BioEmu.</a:t>
            </a:r>
            <a:endParaRPr lang="en-US" altLang="ja-JP" sz="2032" dirty="0">
              <a:solidFill>
                <a:prstClr val="black">
                  <a:lumMod val="75000"/>
                  <a:lumOff val="25000"/>
                </a:prstClr>
              </a:solidFill>
              <a:ea typeface="Meiryo UI"/>
            </a:endParaRPr>
          </a:p>
          <a:p>
            <a:pPr marL="285750" lvl="0" indent="-285750" defTabSz="453557" fontAlgn="base">
              <a:spcBef>
                <a:spcPts val="191"/>
              </a:spcBef>
              <a:spcAft>
                <a:spcPts val="96"/>
              </a:spcAft>
              <a:buClrTx/>
              <a:buFont typeface="Arial" panose="020B0604020202020204" pitchFamily="34" charset="0"/>
              <a:buChar char="•"/>
              <a:defRPr/>
            </a:pPr>
            <a:endParaRPr lang="en-US" altLang="ja-JP" sz="2032" dirty="0">
              <a:solidFill>
                <a:prstClr val="black">
                  <a:lumMod val="75000"/>
                  <a:lumOff val="25000"/>
                </a:prstClr>
              </a:solidFill>
              <a:ea typeface="Meiryo UI" panose="020B0604030504040204" pitchFamily="34" charset="-128"/>
            </a:endParaRPr>
          </a:p>
          <a:p>
            <a:pPr marL="285750" lvl="0" indent="-285750" defTabSz="453557" fontAlgn="base">
              <a:spcBef>
                <a:spcPts val="191"/>
              </a:spcBef>
              <a:spcAft>
                <a:spcPts val="96"/>
              </a:spcAft>
              <a:buClrTx/>
              <a:buFont typeface="Arial" panose="020B0604020202020204" pitchFamily="34" charset="0"/>
              <a:buChar char="•"/>
              <a:defRPr/>
            </a:pPr>
            <a:r>
              <a:rPr lang="en-US" altLang="ja-JP" sz="2032" dirty="0" err="1">
                <a:solidFill>
                  <a:prstClr val="black">
                    <a:lumMod val="75000"/>
                    <a:lumOff val="25000"/>
                  </a:prstClr>
                </a:solidFill>
                <a:ea typeface="Meiryo UI" panose="020B0604030504040204" pitchFamily="34" charset="-128"/>
              </a:rPr>
              <a:t>Github</a:t>
            </a:r>
            <a:r>
              <a:rPr lang="en-US" altLang="ja-JP" sz="2032" dirty="0">
                <a:solidFill>
                  <a:prstClr val="black">
                    <a:lumMod val="75000"/>
                    <a:lumOff val="25000"/>
                  </a:prstClr>
                </a:solidFill>
                <a:ea typeface="Meiryo UI" panose="020B0604030504040204" pitchFamily="34" charset="-128"/>
              </a:rPr>
              <a:t> repo </a:t>
            </a:r>
            <a:r>
              <a:rPr lang="en-US" altLang="ja-JP" sz="2032" dirty="0">
                <a:solidFill>
                  <a:prstClr val="black">
                    <a:lumMod val="75000"/>
                    <a:lumOff val="25000"/>
                  </a:prstClr>
                </a:solidFill>
                <a:ea typeface="Meiryo UI" panose="020B0604030504040204" pitchFamily="34" charset="-128"/>
                <a:hlinkClick r:id="rId3"/>
              </a:rPr>
              <a:t>https://github.com/matsunagalab/mdclaw</a:t>
            </a:r>
            <a:endParaRPr lang="en-US" altLang="ja-JP" sz="2032" dirty="0">
              <a:solidFill>
                <a:prstClr val="black">
                  <a:lumMod val="75000"/>
                  <a:lumOff val="25000"/>
                </a:prstClr>
              </a:solidFill>
              <a:ea typeface="Meiryo UI"/>
            </a:endParaRPr>
          </a:p>
        </p:txBody>
      </p:sp>
      <p:sp>
        <p:nvSpPr>
          <p:cNvPr id="10" name="TextBox 9"/>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MDClawはskills・CLI・DAGを組み合わせる研究基盤。紹介図は2026年6月発表、役割分担は10月11日のREADMEでも確認。</a:t>
            </a:r>
          </a:p>
        </p:txBody>
      </p:sp>
      <p:sp>
        <p:nvSpPr>
          <p:cNvPr id="11" name="TextBox 10"/>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E0B0A156-7C1E-4CCE-930E-7A42C68768D1}"/>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C97C0821-3E57-41D8-9D0B-422636475E95}"/>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15D9C0E-DFAF-414D-869D-2A7013E6F915}"/>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2C1E175-533E-4D7C-9DD6-BD031A1D06D0}"/>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a:solidFill>
                  <a:srgbClr val="0E3A75"/>
                </a:solidFill>
                <a:latin typeface="Aptos"/>
                <a:ea typeface="Aptos"/>
                <a:cs typeface="Aptos"/>
              </a:rPr>
              <a:t>SKILLS</a:t>
            </a:r>
          </a:p>
        </p:txBody>
      </p:sp>
      <p:sp>
        <p:nvSpPr>
          <p:cNvPr id="6" name="正方形/長方形 5">
            <a:extLst>
              <a:ext uri="{FF2B5EF4-FFF2-40B4-BE49-F238E27FC236}">
                <a16:creationId xmlns:a16="http://schemas.microsoft.com/office/drawing/2014/main" id="{2E095A0F-823F-4FB9-A369-C7899351B9F6}"/>
              </a:ext>
            </a:extLst>
          </p:cNvPr>
          <p:cNvSpPr>
            <a:spLocks noGrp="1"/>
          </p:cNvSpPr>
          <p:nvPr/>
        </p:nvSpPr>
        <p:spPr>
          <a:xfrm>
            <a:off x="1321663" y="716153"/>
            <a:ext cx="9064498" cy="74193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lang="en-US" sz="2254" b="1" dirty="0" err="1">
                <a:solidFill>
                  <a:srgbClr val="172033"/>
                </a:solidFill>
                <a:latin typeface="Aptos Display"/>
                <a:ea typeface="Aptos Display"/>
                <a:cs typeface="Aptos Display"/>
              </a:rPr>
              <a:t>MDClaw</a:t>
            </a:r>
            <a:r>
              <a:rPr lang="en-US" sz="2254" b="1" dirty="0">
                <a:solidFill>
                  <a:srgbClr val="172033"/>
                </a:solidFill>
                <a:latin typeface="Aptos Display"/>
                <a:ea typeface="Aptos Display"/>
                <a:cs typeface="Aptos Display"/>
              </a:rPr>
              <a:t> is created by </a:t>
            </a:r>
            <a:r>
              <a:rPr lang="en-US" sz="2254" b="1" dirty="0">
                <a:solidFill>
                  <a:srgbClr val="C00000"/>
                </a:solidFill>
                <a:latin typeface="Aptos Display"/>
                <a:ea typeface="Aptos Display"/>
                <a:cs typeface="Aptos Display"/>
              </a:rPr>
              <a:t>agent s</a:t>
            </a:r>
            <a:r>
              <a:rPr sz="2254" b="1" dirty="0">
                <a:solidFill>
                  <a:srgbClr val="C00000"/>
                </a:solidFill>
                <a:latin typeface="Aptos Display"/>
                <a:ea typeface="Aptos Display"/>
                <a:cs typeface="Aptos Display"/>
              </a:rPr>
              <a:t>kills</a:t>
            </a:r>
            <a:r>
              <a:rPr lang="en-US" sz="2254" b="1" dirty="0">
                <a:solidFill>
                  <a:srgbClr val="C00000"/>
                </a:solidFill>
                <a:latin typeface="Aptos Display"/>
                <a:ea typeface="Aptos Display"/>
                <a:cs typeface="Aptos Display"/>
              </a:rPr>
              <a:t> and CLIs</a:t>
            </a:r>
            <a:r>
              <a:rPr lang="en-US" sz="2254" b="1" dirty="0">
                <a:solidFill>
                  <a:srgbClr val="172033"/>
                </a:solidFill>
                <a:latin typeface="Aptos Display"/>
                <a:ea typeface="Aptos Display"/>
                <a:cs typeface="Aptos Display"/>
              </a:rPr>
              <a:t>, and </a:t>
            </a:r>
            <a:r>
              <a:rPr lang="en-US" sz="2254" b="1" dirty="0">
                <a:solidFill>
                  <a:srgbClr val="C00000"/>
                </a:solidFill>
                <a:latin typeface="Aptos Display"/>
                <a:ea typeface="Aptos Display"/>
                <a:cs typeface="Aptos Display"/>
              </a:rPr>
              <a:t>the skills</a:t>
            </a:r>
            <a:r>
              <a:rPr sz="2254" b="1" dirty="0">
                <a:solidFill>
                  <a:srgbClr val="C00000"/>
                </a:solidFill>
                <a:latin typeface="Aptos Display"/>
                <a:ea typeface="Aptos Display"/>
                <a:cs typeface="Aptos Display"/>
              </a:rPr>
              <a:t> tell the agent what to do</a:t>
            </a:r>
            <a:r>
              <a:rPr sz="2254" b="1" dirty="0">
                <a:solidFill>
                  <a:srgbClr val="172033"/>
                </a:solidFill>
                <a:latin typeface="Aptos Display"/>
                <a:ea typeface="Aptos Display"/>
                <a:cs typeface="Aptos Display"/>
              </a:rPr>
              <a:t>; </a:t>
            </a:r>
            <a:r>
              <a:rPr lang="en-US" sz="2254" b="1" dirty="0">
                <a:solidFill>
                  <a:srgbClr val="C00000"/>
                </a:solidFill>
                <a:latin typeface="Aptos Display"/>
                <a:ea typeface="Aptos Display"/>
                <a:cs typeface="Aptos Display"/>
              </a:rPr>
              <a:t>CLIs</a:t>
            </a:r>
            <a:r>
              <a:rPr sz="2254" b="1" dirty="0">
                <a:solidFill>
                  <a:srgbClr val="C00000"/>
                </a:solidFill>
                <a:latin typeface="Aptos Display"/>
                <a:ea typeface="Aptos Display"/>
                <a:cs typeface="Aptos Display"/>
              </a:rPr>
              <a:t> do the work </a:t>
            </a:r>
            <a:r>
              <a:rPr sz="2254" b="1" dirty="0">
                <a:latin typeface="Aptos Display"/>
                <a:ea typeface="Aptos Display"/>
                <a:cs typeface="Aptos Display"/>
              </a:rPr>
              <a:t>and record the results</a:t>
            </a:r>
            <a:r>
              <a:rPr sz="2254" b="1" dirty="0">
                <a:solidFill>
                  <a:srgbClr val="172033"/>
                </a:solidFill>
                <a:latin typeface="Aptos Display"/>
                <a:ea typeface="Aptos Display"/>
                <a:cs typeface="Aptos Display"/>
              </a:rPr>
              <a:t>.</a:t>
            </a:r>
          </a:p>
        </p:txBody>
      </p:sp>
      <p:sp>
        <p:nvSpPr>
          <p:cNvPr id="9" name="正方形/長方形 8">
            <a:extLst>
              <a:ext uri="{FF2B5EF4-FFF2-40B4-BE49-F238E27FC236}">
                <a16:creationId xmlns:a16="http://schemas.microsoft.com/office/drawing/2014/main" id="{90E379BE-78BA-429C-80F2-BCC8638AF111}"/>
              </a:ext>
            </a:extLst>
          </p:cNvPr>
          <p:cNvSpPr>
            <a:spLocks noGrp="1"/>
          </p:cNvSpPr>
          <p:nvPr/>
        </p:nvSpPr>
        <p:spPr>
          <a:xfrm>
            <a:off x="1450695" y="2599839"/>
            <a:ext cx="2016125" cy="774192"/>
          </a:xfrm>
          <a:prstGeom prst="rect">
            <a:avLst/>
          </a:prstGeom>
          <a:solidFill>
            <a:srgbClr val="FFFFFF"/>
          </a:solidFill>
          <a:ln w="13335">
            <a:solidFill>
              <a:srgbClr val="D4DAE2"/>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A15E8223-C2D2-4413-87A7-FB21B8C0C53B}"/>
              </a:ext>
            </a:extLst>
          </p:cNvPr>
          <p:cNvSpPr>
            <a:spLocks noGrp="1"/>
          </p:cNvSpPr>
          <p:nvPr/>
        </p:nvSpPr>
        <p:spPr>
          <a:xfrm>
            <a:off x="1450695" y="2599839"/>
            <a:ext cx="2016125" cy="56451"/>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4187763F-FA3A-4C48-83B7-976D6DDF3AC3}"/>
              </a:ext>
            </a:extLst>
          </p:cNvPr>
          <p:cNvSpPr>
            <a:spLocks noGrp="1"/>
          </p:cNvSpPr>
          <p:nvPr/>
        </p:nvSpPr>
        <p:spPr>
          <a:xfrm>
            <a:off x="1982952" y="2777258"/>
            <a:ext cx="1322578" cy="25806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4D4B7D"/>
                </a:solidFill>
                <a:latin typeface="Aptos"/>
                <a:ea typeface="Aptos"/>
                <a:cs typeface="Aptos"/>
              </a:defRPr>
            </a:pPr>
            <a:r>
              <a:rPr sz="1302" b="1">
                <a:solidFill>
                  <a:srgbClr val="4D4B7D"/>
                </a:solidFill>
                <a:latin typeface="Aptos"/>
                <a:ea typeface="Aptos"/>
                <a:cs typeface="Aptos"/>
              </a:rPr>
              <a:t>md-study</a:t>
            </a:r>
          </a:p>
        </p:txBody>
      </p:sp>
      <p:sp>
        <p:nvSpPr>
          <p:cNvPr id="12" name="正方形/長方形 11">
            <a:extLst>
              <a:ext uri="{FF2B5EF4-FFF2-40B4-BE49-F238E27FC236}">
                <a16:creationId xmlns:a16="http://schemas.microsoft.com/office/drawing/2014/main" id="{29FAB2A8-9CDF-4DD6-83B4-FD42116D65F2}"/>
              </a:ext>
            </a:extLst>
          </p:cNvPr>
          <p:cNvSpPr>
            <a:spLocks noGrp="1"/>
          </p:cNvSpPr>
          <p:nvPr/>
        </p:nvSpPr>
        <p:spPr>
          <a:xfrm>
            <a:off x="1595856" y="3115967"/>
            <a:ext cx="1725803"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6" b="0">
                <a:solidFill>
                  <a:srgbClr val="5B6573"/>
                </a:solidFill>
                <a:latin typeface="Aptos"/>
                <a:ea typeface="Aptos"/>
                <a:cs typeface="Aptos"/>
              </a:defRPr>
            </a:pPr>
            <a:r>
              <a:rPr sz="1066" b="0">
                <a:solidFill>
                  <a:srgbClr val="5B6573"/>
                </a:solidFill>
                <a:latin typeface="Aptos"/>
                <a:ea typeface="Aptos"/>
                <a:cs typeface="Aptos"/>
              </a:rPr>
              <a:t>question -&gt; plan</a:t>
            </a:r>
          </a:p>
        </p:txBody>
      </p:sp>
      <p:pic>
        <p:nvPicPr>
          <p:cNvPr id="13" name="グラフィックス 12"/>
          <p:cNvPicPr>
            <a:picLocks noChangeAspect="1"/>
          </p:cNvPicPr>
          <p:nvPr/>
        </p:nvPicPr>
        <p:blipFill>
          <a:blip>
            <a:extLst>
              <a:ext uri="{96DAC541-7B7A-43D3-8B79-37D633B846F1}">
                <asvg:svgBlip xmlns:asvg="http://schemas.microsoft.com/office/drawing/2016/SVG/main" r:embed="rId4"/>
              </a:ext>
            </a:extLst>
          </a:blip>
          <a:stretch/>
        </p:blipFill>
        <p:spPr>
          <a:xfrm>
            <a:off x="1611985" y="2777258"/>
            <a:ext cx="274193" cy="274193"/>
          </a:xfrm>
          <a:prstGeom prst="rect">
            <a:avLst/>
          </a:prstGeom>
        </p:spPr>
      </p:pic>
      <p:sp>
        <p:nvSpPr>
          <p:cNvPr id="14" name="正方形/長方形 13">
            <a:extLst>
              <a:ext uri="{FF2B5EF4-FFF2-40B4-BE49-F238E27FC236}">
                <a16:creationId xmlns:a16="http://schemas.microsoft.com/office/drawing/2014/main" id="{8FD1B3E4-F0C9-4B3B-B2B5-1201FB86BEF7}"/>
              </a:ext>
            </a:extLst>
          </p:cNvPr>
          <p:cNvSpPr>
            <a:spLocks noGrp="1"/>
          </p:cNvSpPr>
          <p:nvPr/>
        </p:nvSpPr>
        <p:spPr>
          <a:xfrm>
            <a:off x="3805529" y="2599839"/>
            <a:ext cx="2016125" cy="774192"/>
          </a:xfrm>
          <a:prstGeom prst="rect">
            <a:avLst/>
          </a:prstGeom>
          <a:solidFill>
            <a:srgbClr val="FAFBFC"/>
          </a:solidFill>
          <a:ln w="13335">
            <a:solidFill>
              <a:srgbClr val="D4DAE2"/>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FAD9BFCD-7905-4484-A0BA-B3A87A24A9F1}"/>
              </a:ext>
            </a:extLst>
          </p:cNvPr>
          <p:cNvSpPr>
            <a:spLocks noGrp="1"/>
          </p:cNvSpPr>
          <p:nvPr/>
        </p:nvSpPr>
        <p:spPr>
          <a:xfrm>
            <a:off x="3805529" y="2599839"/>
            <a:ext cx="2016125" cy="5645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041891A9-FBC5-4768-8136-DCFABA196069}"/>
              </a:ext>
            </a:extLst>
          </p:cNvPr>
          <p:cNvSpPr>
            <a:spLocks noGrp="1"/>
          </p:cNvSpPr>
          <p:nvPr/>
        </p:nvSpPr>
        <p:spPr>
          <a:xfrm>
            <a:off x="4337786" y="2777258"/>
            <a:ext cx="1322578" cy="25806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0E3A75"/>
                </a:solidFill>
                <a:latin typeface="Aptos"/>
                <a:ea typeface="Aptos"/>
                <a:cs typeface="Aptos"/>
              </a:defRPr>
            </a:pPr>
            <a:r>
              <a:rPr sz="1302" b="1">
                <a:solidFill>
                  <a:srgbClr val="0E3A75"/>
                </a:solidFill>
                <a:latin typeface="Aptos"/>
                <a:ea typeface="Aptos"/>
                <a:cs typeface="Aptos"/>
              </a:rPr>
              <a:t>md-prepare</a:t>
            </a:r>
          </a:p>
        </p:txBody>
      </p:sp>
      <p:sp>
        <p:nvSpPr>
          <p:cNvPr id="17" name="正方形/長方形 16">
            <a:extLst>
              <a:ext uri="{FF2B5EF4-FFF2-40B4-BE49-F238E27FC236}">
                <a16:creationId xmlns:a16="http://schemas.microsoft.com/office/drawing/2014/main" id="{49BBE744-2426-47CF-93F2-874080BB70BE}"/>
              </a:ext>
            </a:extLst>
          </p:cNvPr>
          <p:cNvSpPr>
            <a:spLocks noGrp="1"/>
          </p:cNvSpPr>
          <p:nvPr/>
        </p:nvSpPr>
        <p:spPr>
          <a:xfrm>
            <a:off x="3950690" y="3115967"/>
            <a:ext cx="1725803"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6" b="0">
                <a:solidFill>
                  <a:srgbClr val="5B6573"/>
                </a:solidFill>
                <a:latin typeface="Aptos"/>
                <a:ea typeface="Aptos"/>
                <a:cs typeface="Aptos"/>
              </a:defRPr>
            </a:pPr>
            <a:r>
              <a:rPr sz="1066" b="0">
                <a:solidFill>
                  <a:srgbClr val="5B6573"/>
                </a:solidFill>
                <a:latin typeface="Aptos"/>
                <a:ea typeface="Aptos"/>
                <a:cs typeface="Aptos"/>
              </a:rPr>
              <a:t>source/prep/solv/topo</a:t>
            </a:r>
          </a:p>
        </p:txBody>
      </p:sp>
      <p:pic>
        <p:nvPicPr>
          <p:cNvPr id="18" name="グラフィックス 17"/>
          <p:cNvPicPr>
            <a:picLocks noChangeAspect="1"/>
          </p:cNvPicPr>
          <p:nvPr/>
        </p:nvPicPr>
        <p:blipFill>
          <a:blip>
            <a:extLst>
              <a:ext uri="{96DAC541-7B7A-43D3-8B79-37D633B846F1}">
                <asvg:svgBlip xmlns:asvg="http://schemas.microsoft.com/office/drawing/2016/SVG/main" r:embed="rId8"/>
              </a:ext>
            </a:extLst>
          </a:blip>
          <a:stretch/>
        </p:blipFill>
        <p:spPr>
          <a:xfrm>
            <a:off x="3966819" y="2777258"/>
            <a:ext cx="274193" cy="274193"/>
          </a:xfrm>
          <a:prstGeom prst="rect">
            <a:avLst/>
          </a:prstGeom>
        </p:spPr>
      </p:pic>
      <p:sp>
        <p:nvSpPr>
          <p:cNvPr id="19" name="正方形/長方形 18">
            <a:extLst>
              <a:ext uri="{FF2B5EF4-FFF2-40B4-BE49-F238E27FC236}">
                <a16:creationId xmlns:a16="http://schemas.microsoft.com/office/drawing/2014/main" id="{1AE395CA-B463-4C57-9EC6-FFB043CB10B7}"/>
              </a:ext>
            </a:extLst>
          </p:cNvPr>
          <p:cNvSpPr>
            <a:spLocks noGrp="1"/>
          </p:cNvSpPr>
          <p:nvPr/>
        </p:nvSpPr>
        <p:spPr>
          <a:xfrm>
            <a:off x="6160363" y="2599839"/>
            <a:ext cx="2016125" cy="774192"/>
          </a:xfrm>
          <a:prstGeom prst="rect">
            <a:avLst/>
          </a:prstGeom>
          <a:solidFill>
            <a:srgbClr val="FFFFFF"/>
          </a:solidFill>
          <a:ln w="13335">
            <a:solidFill>
              <a:srgbClr val="D4DAE2"/>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CE8339C0-4800-414C-B1BA-686ED140A245}"/>
              </a:ext>
            </a:extLst>
          </p:cNvPr>
          <p:cNvSpPr>
            <a:spLocks noGrp="1"/>
          </p:cNvSpPr>
          <p:nvPr/>
        </p:nvSpPr>
        <p:spPr>
          <a:xfrm>
            <a:off x="6160363" y="2599839"/>
            <a:ext cx="2016125" cy="56451"/>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188DED5C-2F10-4018-8B03-EA468774CF4C}"/>
              </a:ext>
            </a:extLst>
          </p:cNvPr>
          <p:cNvSpPr>
            <a:spLocks noGrp="1"/>
          </p:cNvSpPr>
          <p:nvPr/>
        </p:nvSpPr>
        <p:spPr>
          <a:xfrm>
            <a:off x="6692620" y="2777258"/>
            <a:ext cx="1322578" cy="25806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A66A00"/>
                </a:solidFill>
                <a:latin typeface="Aptos"/>
                <a:ea typeface="Aptos"/>
                <a:cs typeface="Aptos"/>
              </a:defRPr>
            </a:pPr>
            <a:r>
              <a:rPr sz="1302" b="1">
                <a:solidFill>
                  <a:srgbClr val="A66A00"/>
                </a:solidFill>
                <a:latin typeface="Aptos"/>
                <a:ea typeface="Aptos"/>
                <a:cs typeface="Aptos"/>
              </a:rPr>
              <a:t>md-equilibration</a:t>
            </a:r>
          </a:p>
        </p:txBody>
      </p:sp>
      <p:sp>
        <p:nvSpPr>
          <p:cNvPr id="22" name="正方形/長方形 21">
            <a:extLst>
              <a:ext uri="{FF2B5EF4-FFF2-40B4-BE49-F238E27FC236}">
                <a16:creationId xmlns:a16="http://schemas.microsoft.com/office/drawing/2014/main" id="{08DDA30A-ED0F-43DF-8B85-C60DA9A4ABE6}"/>
              </a:ext>
            </a:extLst>
          </p:cNvPr>
          <p:cNvSpPr>
            <a:spLocks noGrp="1"/>
          </p:cNvSpPr>
          <p:nvPr/>
        </p:nvSpPr>
        <p:spPr>
          <a:xfrm>
            <a:off x="6305524" y="3115967"/>
            <a:ext cx="1725803"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6" b="0">
                <a:solidFill>
                  <a:srgbClr val="5B6573"/>
                </a:solidFill>
                <a:latin typeface="Aptos"/>
                <a:ea typeface="Aptos"/>
                <a:cs typeface="Aptos"/>
              </a:defRPr>
            </a:pPr>
            <a:r>
              <a:rPr sz="1066" b="0">
                <a:solidFill>
                  <a:srgbClr val="5B6573"/>
                </a:solidFill>
                <a:latin typeface="Aptos"/>
                <a:ea typeface="Aptos"/>
                <a:cs typeface="Aptos"/>
              </a:rPr>
              <a:t>staged relaxation</a:t>
            </a:r>
          </a:p>
        </p:txBody>
      </p:sp>
      <p:pic>
        <p:nvPicPr>
          <p:cNvPr id="23" name="グラフィックス 22"/>
          <p:cNvPicPr>
            <a:picLocks noChangeAspect="1"/>
          </p:cNvPicPr>
          <p:nvPr/>
        </p:nvPicPr>
        <p:blipFill>
          <a:blip>
            <a:extLst>
              <a:ext uri="{96DAC541-7B7A-43D3-8B79-37D633B846F1}">
                <asvg:svgBlip xmlns:asvg="http://schemas.microsoft.com/office/drawing/2016/SVG/main" r:embed="rId7"/>
              </a:ext>
            </a:extLst>
          </a:blip>
          <a:stretch/>
        </p:blipFill>
        <p:spPr>
          <a:xfrm>
            <a:off x="6321653" y="2777258"/>
            <a:ext cx="274193" cy="274193"/>
          </a:xfrm>
          <a:prstGeom prst="rect">
            <a:avLst/>
          </a:prstGeom>
        </p:spPr>
      </p:pic>
      <p:sp>
        <p:nvSpPr>
          <p:cNvPr id="24" name="正方形/長方形 23">
            <a:extLst>
              <a:ext uri="{FF2B5EF4-FFF2-40B4-BE49-F238E27FC236}">
                <a16:creationId xmlns:a16="http://schemas.microsoft.com/office/drawing/2014/main" id="{4BB79D58-97DD-4BEC-A7EA-2C220DEAFCA8}"/>
              </a:ext>
            </a:extLst>
          </p:cNvPr>
          <p:cNvSpPr>
            <a:spLocks noGrp="1"/>
          </p:cNvSpPr>
          <p:nvPr/>
        </p:nvSpPr>
        <p:spPr>
          <a:xfrm>
            <a:off x="8515197" y="2599839"/>
            <a:ext cx="2016125" cy="774192"/>
          </a:xfrm>
          <a:prstGeom prst="rect">
            <a:avLst/>
          </a:prstGeom>
          <a:solidFill>
            <a:srgbClr val="FAFBFC"/>
          </a:solidFill>
          <a:ln w="13335">
            <a:solidFill>
              <a:srgbClr val="D4DAE2"/>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59835B61-B94B-4193-BA9E-6C20C6400A87}"/>
              </a:ext>
            </a:extLst>
          </p:cNvPr>
          <p:cNvSpPr>
            <a:spLocks noGrp="1"/>
          </p:cNvSpPr>
          <p:nvPr/>
        </p:nvSpPr>
        <p:spPr>
          <a:xfrm>
            <a:off x="8515197" y="2599839"/>
            <a:ext cx="2016125" cy="56451"/>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C8A7B5B6-FEA5-4835-8EC2-871977D51C7C}"/>
              </a:ext>
            </a:extLst>
          </p:cNvPr>
          <p:cNvSpPr>
            <a:spLocks noGrp="1"/>
          </p:cNvSpPr>
          <p:nvPr/>
        </p:nvSpPr>
        <p:spPr>
          <a:xfrm>
            <a:off x="9047454" y="2777258"/>
            <a:ext cx="1322578" cy="25806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2D6D4B"/>
                </a:solidFill>
                <a:latin typeface="Aptos"/>
                <a:ea typeface="Aptos"/>
                <a:cs typeface="Aptos"/>
              </a:defRPr>
            </a:pPr>
            <a:r>
              <a:rPr sz="1302" b="1">
                <a:solidFill>
                  <a:srgbClr val="2D6D4B"/>
                </a:solidFill>
                <a:latin typeface="Aptos"/>
                <a:ea typeface="Aptos"/>
                <a:cs typeface="Aptos"/>
              </a:rPr>
              <a:t>md-production</a:t>
            </a:r>
          </a:p>
        </p:txBody>
      </p:sp>
      <p:sp>
        <p:nvSpPr>
          <p:cNvPr id="27" name="正方形/長方形 26">
            <a:extLst>
              <a:ext uri="{FF2B5EF4-FFF2-40B4-BE49-F238E27FC236}">
                <a16:creationId xmlns:a16="http://schemas.microsoft.com/office/drawing/2014/main" id="{9383D1B8-A503-4A3F-99FC-8350D47461DB}"/>
              </a:ext>
            </a:extLst>
          </p:cNvPr>
          <p:cNvSpPr>
            <a:spLocks noGrp="1"/>
          </p:cNvSpPr>
          <p:nvPr/>
        </p:nvSpPr>
        <p:spPr>
          <a:xfrm>
            <a:off x="8660358" y="3115967"/>
            <a:ext cx="1725803"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6" b="0">
                <a:solidFill>
                  <a:srgbClr val="5B6573"/>
                </a:solidFill>
                <a:latin typeface="Aptos"/>
                <a:ea typeface="Aptos"/>
                <a:cs typeface="Aptos"/>
              </a:defRPr>
            </a:pPr>
            <a:r>
              <a:rPr sz="1066" b="0">
                <a:solidFill>
                  <a:srgbClr val="5B6573"/>
                </a:solidFill>
                <a:latin typeface="Aptos"/>
                <a:ea typeface="Aptos"/>
                <a:cs typeface="Aptos"/>
              </a:rPr>
              <a:t>segments + restart</a:t>
            </a:r>
          </a:p>
        </p:txBody>
      </p:sp>
      <p:pic>
        <p:nvPicPr>
          <p:cNvPr id="28" name="グラフィックス 27"/>
          <p:cNvPicPr>
            <a:picLocks noChangeAspect="1"/>
          </p:cNvPicPr>
          <p:nvPr/>
        </p:nvPicPr>
        <p:blipFill>
          <a:blip>
            <a:extLst>
              <a:ext uri="{96DAC541-7B7A-43D3-8B79-37D633B846F1}">
                <asvg:svgBlip xmlns:asvg="http://schemas.microsoft.com/office/drawing/2016/SVG/main" r:embed="rId6"/>
              </a:ext>
            </a:extLst>
          </a:blip>
          <a:stretch/>
        </p:blipFill>
        <p:spPr>
          <a:xfrm>
            <a:off x="8676487" y="2777258"/>
            <a:ext cx="274193" cy="274193"/>
          </a:xfrm>
          <a:prstGeom prst="rect">
            <a:avLst/>
          </a:prstGeom>
        </p:spPr>
      </p:pic>
      <p:sp>
        <p:nvSpPr>
          <p:cNvPr id="29" name="正方形/長方形 28">
            <a:extLst>
              <a:ext uri="{FF2B5EF4-FFF2-40B4-BE49-F238E27FC236}">
                <a16:creationId xmlns:a16="http://schemas.microsoft.com/office/drawing/2014/main" id="{9445C55F-CE50-40E8-87B8-D93A8AC553FC}"/>
              </a:ext>
            </a:extLst>
          </p:cNvPr>
          <p:cNvSpPr>
            <a:spLocks noGrp="1"/>
          </p:cNvSpPr>
          <p:nvPr/>
        </p:nvSpPr>
        <p:spPr>
          <a:xfrm>
            <a:off x="1450695" y="3712740"/>
            <a:ext cx="2016125" cy="774192"/>
          </a:xfrm>
          <a:prstGeom prst="rect">
            <a:avLst/>
          </a:prstGeom>
          <a:solidFill>
            <a:srgbClr val="FFFFFF"/>
          </a:solidFill>
          <a:ln w="13335">
            <a:solidFill>
              <a:srgbClr val="D4DAE2"/>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8B3FEB88-6778-4CAB-8CCA-4A93BB92834B}"/>
              </a:ext>
            </a:extLst>
          </p:cNvPr>
          <p:cNvSpPr>
            <a:spLocks noGrp="1"/>
          </p:cNvSpPr>
          <p:nvPr/>
        </p:nvSpPr>
        <p:spPr>
          <a:xfrm>
            <a:off x="1450695" y="3712740"/>
            <a:ext cx="2016125" cy="56451"/>
          </a:xfrm>
          <a:prstGeom prst="rect">
            <a:avLst/>
          </a:prstGeom>
          <a:solidFill>
            <a:srgbClr val="1F6674"/>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B2D654F8-8442-45CC-A243-FF8517F2AD8D}"/>
              </a:ext>
            </a:extLst>
          </p:cNvPr>
          <p:cNvSpPr>
            <a:spLocks noGrp="1"/>
          </p:cNvSpPr>
          <p:nvPr/>
        </p:nvSpPr>
        <p:spPr>
          <a:xfrm>
            <a:off x="1982952" y="3890159"/>
            <a:ext cx="1322578" cy="25806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1F6674"/>
                </a:solidFill>
                <a:latin typeface="Aptos"/>
                <a:ea typeface="Aptos"/>
                <a:cs typeface="Aptos"/>
              </a:defRPr>
            </a:pPr>
            <a:r>
              <a:rPr sz="1302" b="1">
                <a:solidFill>
                  <a:srgbClr val="1F6674"/>
                </a:solidFill>
                <a:latin typeface="Aptos"/>
                <a:ea typeface="Aptos"/>
                <a:cs typeface="Aptos"/>
              </a:rPr>
              <a:t>md-analyze</a:t>
            </a:r>
          </a:p>
        </p:txBody>
      </p:sp>
      <p:sp>
        <p:nvSpPr>
          <p:cNvPr id="32" name="正方形/長方形 31">
            <a:extLst>
              <a:ext uri="{FF2B5EF4-FFF2-40B4-BE49-F238E27FC236}">
                <a16:creationId xmlns:a16="http://schemas.microsoft.com/office/drawing/2014/main" id="{A27CD621-4A98-496D-B9F4-4AFE55A00884}"/>
              </a:ext>
            </a:extLst>
          </p:cNvPr>
          <p:cNvSpPr>
            <a:spLocks noGrp="1"/>
          </p:cNvSpPr>
          <p:nvPr/>
        </p:nvSpPr>
        <p:spPr>
          <a:xfrm>
            <a:off x="1595856" y="4228868"/>
            <a:ext cx="1725803"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6" b="0">
                <a:solidFill>
                  <a:srgbClr val="5B6573"/>
                </a:solidFill>
                <a:latin typeface="Aptos"/>
                <a:ea typeface="Aptos"/>
                <a:cs typeface="Aptos"/>
              </a:defRPr>
            </a:pPr>
            <a:r>
              <a:rPr sz="1066" b="0">
                <a:solidFill>
                  <a:srgbClr val="5B6573"/>
                </a:solidFill>
                <a:latin typeface="Aptos"/>
                <a:ea typeface="Aptos"/>
                <a:cs typeface="Aptos"/>
              </a:rPr>
              <a:t>trajectory evidence</a:t>
            </a:r>
          </a:p>
        </p:txBody>
      </p:sp>
      <p:pic>
        <p:nvPicPr>
          <p:cNvPr id="33" name="グラフィックス 32"/>
          <p:cNvPicPr>
            <a:picLocks noChangeAspect="1"/>
          </p:cNvPicPr>
          <p:nvPr/>
        </p:nvPicPr>
        <p:blipFill>
          <a:blip>
            <a:extLst>
              <a:ext uri="{96DAC541-7B7A-43D3-8B79-37D633B846F1}">
                <asvg:svgBlip xmlns:asvg="http://schemas.microsoft.com/office/drawing/2016/SVG/main" r:embed="rId5"/>
              </a:ext>
            </a:extLst>
          </a:blip>
          <a:stretch/>
        </p:blipFill>
        <p:spPr>
          <a:xfrm>
            <a:off x="1611985" y="3890159"/>
            <a:ext cx="274193" cy="274193"/>
          </a:xfrm>
          <a:prstGeom prst="rect">
            <a:avLst/>
          </a:prstGeom>
        </p:spPr>
      </p:pic>
      <p:sp>
        <p:nvSpPr>
          <p:cNvPr id="34" name="正方形/長方形 33">
            <a:extLst>
              <a:ext uri="{FF2B5EF4-FFF2-40B4-BE49-F238E27FC236}">
                <a16:creationId xmlns:a16="http://schemas.microsoft.com/office/drawing/2014/main" id="{346E4980-C426-4AB2-B454-C1D189DBAFC7}"/>
              </a:ext>
            </a:extLst>
          </p:cNvPr>
          <p:cNvSpPr>
            <a:spLocks noGrp="1"/>
          </p:cNvSpPr>
          <p:nvPr/>
        </p:nvSpPr>
        <p:spPr>
          <a:xfrm>
            <a:off x="5152300" y="3712740"/>
            <a:ext cx="2016125" cy="774192"/>
          </a:xfrm>
          <a:prstGeom prst="rect">
            <a:avLst/>
          </a:prstGeom>
          <a:solidFill>
            <a:srgbClr val="FAFBFC"/>
          </a:solidFill>
          <a:ln w="13335">
            <a:solidFill>
              <a:srgbClr val="D4DAE2"/>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260E5535-74F3-4428-97EC-5F01A491ACBA}"/>
              </a:ext>
            </a:extLst>
          </p:cNvPr>
          <p:cNvSpPr>
            <a:spLocks noGrp="1"/>
          </p:cNvSpPr>
          <p:nvPr/>
        </p:nvSpPr>
        <p:spPr>
          <a:xfrm>
            <a:off x="5152300" y="3712740"/>
            <a:ext cx="2016125" cy="56451"/>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FE1B482D-625D-4AA3-9B00-A8AACEE21CC7}"/>
              </a:ext>
            </a:extLst>
          </p:cNvPr>
          <p:cNvSpPr>
            <a:spLocks noGrp="1"/>
          </p:cNvSpPr>
          <p:nvPr/>
        </p:nvSpPr>
        <p:spPr>
          <a:xfrm>
            <a:off x="5684557" y="3890159"/>
            <a:ext cx="1322578" cy="25806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9F423A"/>
                </a:solidFill>
                <a:latin typeface="Aptos"/>
                <a:ea typeface="Aptos"/>
                <a:cs typeface="Aptos"/>
              </a:defRPr>
            </a:pPr>
            <a:r>
              <a:rPr sz="1302" b="1">
                <a:solidFill>
                  <a:srgbClr val="9F423A"/>
                </a:solidFill>
                <a:latin typeface="Aptos"/>
                <a:ea typeface="Aptos"/>
                <a:cs typeface="Aptos"/>
              </a:rPr>
              <a:t>hpc-run</a:t>
            </a:r>
          </a:p>
        </p:txBody>
      </p:sp>
      <p:sp>
        <p:nvSpPr>
          <p:cNvPr id="37" name="正方形/長方形 36">
            <a:extLst>
              <a:ext uri="{FF2B5EF4-FFF2-40B4-BE49-F238E27FC236}">
                <a16:creationId xmlns:a16="http://schemas.microsoft.com/office/drawing/2014/main" id="{1B8C918B-174F-4331-A29C-88CC9E8B3942}"/>
              </a:ext>
            </a:extLst>
          </p:cNvPr>
          <p:cNvSpPr>
            <a:spLocks noGrp="1"/>
          </p:cNvSpPr>
          <p:nvPr/>
        </p:nvSpPr>
        <p:spPr>
          <a:xfrm>
            <a:off x="5297461" y="4228868"/>
            <a:ext cx="1725803"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6" b="0">
                <a:solidFill>
                  <a:srgbClr val="5B6573"/>
                </a:solidFill>
                <a:latin typeface="Aptos"/>
                <a:ea typeface="Aptos"/>
                <a:cs typeface="Aptos"/>
              </a:defRPr>
            </a:pPr>
            <a:r>
              <a:rPr sz="1066" b="0" dirty="0">
                <a:solidFill>
                  <a:srgbClr val="5B6573"/>
                </a:solidFill>
                <a:latin typeface="Aptos"/>
                <a:ea typeface="Aptos"/>
                <a:cs typeface="Aptos"/>
              </a:rPr>
              <a:t>SLURM execution</a:t>
            </a:r>
          </a:p>
        </p:txBody>
      </p:sp>
      <p:pic>
        <p:nvPicPr>
          <p:cNvPr id="38" name="グラフィックス 37"/>
          <p:cNvPicPr>
            <a:picLocks noChangeAspect="1"/>
          </p:cNvPicPr>
          <p:nvPr/>
        </p:nvPicPr>
        <p:blipFill>
          <a:blip>
            <a:extLst>
              <a:ext uri="{96DAC541-7B7A-43D3-8B79-37D633B846F1}">
                <asvg:svgBlip xmlns:asvg="http://schemas.microsoft.com/office/drawing/2016/SVG/main" r:embed="rId3"/>
              </a:ext>
            </a:extLst>
          </a:blip>
          <a:stretch/>
        </p:blipFill>
        <p:spPr>
          <a:xfrm>
            <a:off x="5313590" y="3890159"/>
            <a:ext cx="274193" cy="274193"/>
          </a:xfrm>
          <a:prstGeom prst="rect">
            <a:avLst/>
          </a:prstGeom>
        </p:spPr>
      </p:pic>
      <p:sp>
        <p:nvSpPr>
          <p:cNvPr id="8" name="正方形/長方形 7">
            <a:extLst>
              <a:ext uri="{FF2B5EF4-FFF2-40B4-BE49-F238E27FC236}">
                <a16:creationId xmlns:a16="http://schemas.microsoft.com/office/drawing/2014/main" id="{382017D9-AB48-D9D6-E98A-309CE73FC739}"/>
              </a:ext>
            </a:extLst>
          </p:cNvPr>
          <p:cNvSpPr>
            <a:spLocks noGrp="1"/>
          </p:cNvSpPr>
          <p:nvPr/>
        </p:nvSpPr>
        <p:spPr>
          <a:xfrm>
            <a:off x="1466824" y="2054860"/>
            <a:ext cx="9064498" cy="41254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lang="en-US" sz="2254" b="1" dirty="0">
                <a:solidFill>
                  <a:srgbClr val="172033"/>
                </a:solidFill>
                <a:latin typeface="Aptos Display"/>
                <a:ea typeface="Aptos Display"/>
                <a:cs typeface="Aptos Display"/>
              </a:rPr>
              <a:t>Functions covered by agent skills and CLIs</a:t>
            </a:r>
            <a:endParaRPr sz="2254" b="1" dirty="0">
              <a:solidFill>
                <a:srgbClr val="172033"/>
              </a:solidFill>
              <a:latin typeface="Aptos Display"/>
              <a:ea typeface="Aptos Display"/>
              <a:cs typeface="Aptos Display"/>
            </a:endParaRPr>
          </a:p>
        </p:txBody>
      </p:sp>
      <p:sp>
        <p:nvSpPr>
          <p:cNvPr id="39" name="TextBox 38"/>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skillが手順と判断基準を与え、CLIが操作を実行し、記録を残す。自然言語の説明と機械が読む出力を対応させる。</a:t>
            </a:r>
          </a:p>
        </p:txBody>
      </p:sp>
      <p:sp>
        <p:nvSpPr>
          <p:cNvPr id="40" name="TextBox 39"/>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06A1D9A1-620C-6C3B-7CC0-2697F8BD74DB}"/>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213DA943-653B-D935-FAA2-DCCF5B0A0BFE}"/>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05995B6B-6177-4D70-2B2A-C9D045174A2F}"/>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191D8EC-4E0B-59F0-2411-99C6D84F3FBE}"/>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a:solidFill>
                  <a:srgbClr val="0E3A75"/>
                </a:solidFill>
                <a:latin typeface="Aptos"/>
                <a:ea typeface="Aptos"/>
                <a:cs typeface="Aptos"/>
              </a:rPr>
              <a:t>HOW AN AGENT CALLS MD TOOLS</a:t>
            </a:r>
          </a:p>
        </p:txBody>
      </p:sp>
      <p:sp>
        <p:nvSpPr>
          <p:cNvPr id="6" name="正方形/長方形 5">
            <a:extLst>
              <a:ext uri="{FF2B5EF4-FFF2-40B4-BE49-F238E27FC236}">
                <a16:creationId xmlns:a16="http://schemas.microsoft.com/office/drawing/2014/main" id="{982FE1F8-E884-F4C1-28C8-4F5EDBFB1F81}"/>
              </a:ext>
            </a:extLst>
          </p:cNvPr>
          <p:cNvSpPr>
            <a:spLocks noGrp="1"/>
          </p:cNvSpPr>
          <p:nvPr/>
        </p:nvSpPr>
        <p:spPr>
          <a:xfrm>
            <a:off x="3828800" y="254075"/>
            <a:ext cx="9629013" cy="46774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lang="en-US" sz="2709" b="1" dirty="0">
                <a:solidFill>
                  <a:srgbClr val="172033"/>
                </a:solidFill>
                <a:latin typeface="Aptos Display"/>
                <a:ea typeface="Aptos Display"/>
                <a:cs typeface="Aptos Display"/>
              </a:rPr>
              <a:t>Example of agent skills (markdown files)</a:t>
            </a:r>
            <a:endParaRPr sz="2709" b="1" dirty="0">
              <a:solidFill>
                <a:srgbClr val="172033"/>
              </a:solidFill>
              <a:latin typeface="Aptos Display"/>
              <a:ea typeface="Aptos Display"/>
              <a:cs typeface="Aptos Display"/>
            </a:endParaRPr>
          </a:p>
        </p:txBody>
      </p:sp>
      <p:pic>
        <p:nvPicPr>
          <p:cNvPr id="7" name="図 6">
            <a:extLst>
              <a:ext uri="{FF2B5EF4-FFF2-40B4-BE49-F238E27FC236}">
                <a16:creationId xmlns:a16="http://schemas.microsoft.com/office/drawing/2014/main" id="{7D205D9A-1EBA-E7E3-AF89-E23B288DDDED}"/>
              </a:ext>
            </a:extLst>
          </p:cNvPr>
          <p:cNvPicPr>
            <a:picLocks noChangeAspect="1"/>
          </p:cNvPicPr>
          <p:nvPr/>
        </p:nvPicPr>
        <p:blipFill>
          <a:blip r:embed="rId3"/>
          <a:stretch>
            <a:fillRect/>
          </a:stretch>
        </p:blipFill>
        <p:spPr>
          <a:xfrm>
            <a:off x="3241014" y="1189557"/>
            <a:ext cx="7094678" cy="4599166"/>
          </a:xfrm>
          <a:prstGeom prst="rect">
            <a:avLst/>
          </a:prstGeom>
        </p:spPr>
      </p:pic>
      <p:sp>
        <p:nvSpPr>
          <p:cNvPr id="53" name="テキスト ボックス 52">
            <a:extLst>
              <a:ext uri="{FF2B5EF4-FFF2-40B4-BE49-F238E27FC236}">
                <a16:creationId xmlns:a16="http://schemas.microsoft.com/office/drawing/2014/main" id="{0080E8F9-E937-B28C-8190-DF90F406A4A9}"/>
              </a:ext>
            </a:extLst>
          </p:cNvPr>
          <p:cNvSpPr txBox="1"/>
          <p:nvPr/>
        </p:nvSpPr>
        <p:spPr>
          <a:xfrm>
            <a:off x="4580762" y="748924"/>
            <a:ext cx="6795511" cy="312701"/>
          </a:xfrm>
          <a:prstGeom prst="rect">
            <a:avLst/>
          </a:prstGeom>
          <a:noFill/>
        </p:spPr>
        <p:txBody>
          <a:bodyPr wrap="square">
            <a:spAutoFit/>
          </a:bodyPr>
          <a:lstStyle/>
          <a:p>
            <a:r>
              <a:rPr lang="ja-JP" altLang="en-US">
                <a:hlinkClick r:id="rId5"/>
              </a:rPr>
              <a:t>https://github.com/matsunagalab/mdclaw/blob/main/skills/md-prepare/SKILL.md</a:t>
            </a:r>
            <a:endParaRPr lang="en-US" altLang="ja-JP" dirty="0"/>
          </a:p>
        </p:txBody>
      </p:sp>
      <p:sp>
        <p:nvSpPr>
          <p:cNvPr id="8" name="正方形/長方形 7">
            <a:extLst>
              <a:ext uri="{FF2B5EF4-FFF2-40B4-BE49-F238E27FC236}">
                <a16:creationId xmlns:a16="http://schemas.microsoft.com/office/drawing/2014/main" id="{6E025A19-C0BB-3067-23F3-32039DBCB3CD}"/>
              </a:ext>
            </a:extLst>
          </p:cNvPr>
          <p:cNvSpPr>
            <a:spLocks noGrp="1"/>
          </p:cNvSpPr>
          <p:nvPr/>
        </p:nvSpPr>
        <p:spPr>
          <a:xfrm>
            <a:off x="1224889" y="802461"/>
            <a:ext cx="2016125" cy="774192"/>
          </a:xfrm>
          <a:prstGeom prst="rect">
            <a:avLst/>
          </a:prstGeom>
          <a:solidFill>
            <a:srgbClr val="FAFBFC"/>
          </a:solidFill>
          <a:ln w="13335">
            <a:solidFill>
              <a:srgbClr val="D4DAE2"/>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0AB6A485-9F01-0CB5-442F-3344BD8B7E87}"/>
              </a:ext>
            </a:extLst>
          </p:cNvPr>
          <p:cNvSpPr>
            <a:spLocks noGrp="1"/>
          </p:cNvSpPr>
          <p:nvPr/>
        </p:nvSpPr>
        <p:spPr>
          <a:xfrm>
            <a:off x="1757146" y="979880"/>
            <a:ext cx="1322578" cy="25806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0E3A75"/>
                </a:solidFill>
                <a:latin typeface="Aptos"/>
                <a:ea typeface="Aptos"/>
                <a:cs typeface="Aptos"/>
              </a:defRPr>
            </a:pPr>
            <a:r>
              <a:rPr sz="1302" b="1">
                <a:solidFill>
                  <a:srgbClr val="0E3A75"/>
                </a:solidFill>
                <a:latin typeface="Aptos"/>
                <a:ea typeface="Aptos"/>
                <a:cs typeface="Aptos"/>
              </a:rPr>
              <a:t>md-prepare</a:t>
            </a:r>
          </a:p>
        </p:txBody>
      </p:sp>
      <p:sp>
        <p:nvSpPr>
          <p:cNvPr id="10" name="正方形/長方形 9">
            <a:extLst>
              <a:ext uri="{FF2B5EF4-FFF2-40B4-BE49-F238E27FC236}">
                <a16:creationId xmlns:a16="http://schemas.microsoft.com/office/drawing/2014/main" id="{848FC1C7-B795-9E66-8BEE-40DA970F84F2}"/>
              </a:ext>
            </a:extLst>
          </p:cNvPr>
          <p:cNvSpPr>
            <a:spLocks noGrp="1"/>
          </p:cNvSpPr>
          <p:nvPr/>
        </p:nvSpPr>
        <p:spPr>
          <a:xfrm>
            <a:off x="1370050" y="1318589"/>
            <a:ext cx="1725803"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6" b="0">
                <a:solidFill>
                  <a:srgbClr val="5B6573"/>
                </a:solidFill>
                <a:latin typeface="Aptos"/>
                <a:ea typeface="Aptos"/>
                <a:cs typeface="Aptos"/>
              </a:defRPr>
            </a:pPr>
            <a:r>
              <a:rPr sz="1066" b="0">
                <a:solidFill>
                  <a:srgbClr val="5B6573"/>
                </a:solidFill>
                <a:latin typeface="Aptos"/>
                <a:ea typeface="Aptos"/>
                <a:cs typeface="Aptos"/>
              </a:rPr>
              <a:t>source/prep/solv/topo</a:t>
            </a:r>
          </a:p>
        </p:txBody>
      </p:sp>
      <p:pic>
        <p:nvPicPr>
          <p:cNvPr id="11" name="グラフィックス 10">
            <a:extLst>
              <a:ext uri="{FF2B5EF4-FFF2-40B4-BE49-F238E27FC236}">
                <a16:creationId xmlns:a16="http://schemas.microsoft.com/office/drawing/2014/main" id="{2D592F87-951B-03F3-743D-B8608166B49C}"/>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1386179" y="979880"/>
            <a:ext cx="274193" cy="274193"/>
          </a:xfrm>
          <a:prstGeom prst="rect">
            <a:avLst/>
          </a:prstGeom>
        </p:spPr>
      </p:pic>
      <p:sp>
        <p:nvSpPr>
          <p:cNvPr id="54" name="TextBox 53"/>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エージェントは手順書を読み、引数を指定してツールを呼ぶ。戻り値を読んで、次の操作や失敗への対応を判断する。</a:t>
            </a:r>
          </a:p>
        </p:txBody>
      </p:sp>
      <p:sp>
        <p:nvSpPr>
          <p:cNvPr id="55" name="TextBox 54"/>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53E5F06A-8BE3-40BA-A949-C7641189A9AA}"/>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CEB96075-C506-4037-A5DF-E51A0922DE0F}"/>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37BA6957-40E6-4B47-8DD8-C52D1103FAE5}"/>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EAE34B5-61B3-410F-9AA4-35614A512B89}"/>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a:solidFill>
                  <a:srgbClr val="0E3A75"/>
                </a:solidFill>
                <a:latin typeface="Aptos"/>
                <a:ea typeface="Aptos"/>
                <a:cs typeface="Aptos"/>
              </a:rPr>
              <a:t>DAG-MANAGED WORKFLOW</a:t>
            </a:r>
          </a:p>
        </p:txBody>
      </p:sp>
      <p:sp>
        <p:nvSpPr>
          <p:cNvPr id="6" name="正方形/長方形 5">
            <a:extLst>
              <a:ext uri="{FF2B5EF4-FFF2-40B4-BE49-F238E27FC236}">
                <a16:creationId xmlns:a16="http://schemas.microsoft.com/office/drawing/2014/main" id="{5622B754-64E1-4BB9-A5FD-A4BE015CA182}"/>
              </a:ext>
            </a:extLst>
          </p:cNvPr>
          <p:cNvSpPr>
            <a:spLocks noGrp="1"/>
          </p:cNvSpPr>
          <p:nvPr/>
        </p:nvSpPr>
        <p:spPr>
          <a:xfrm>
            <a:off x="1321663" y="716153"/>
            <a:ext cx="8709660" cy="459676"/>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254" b="1">
                <a:solidFill>
                  <a:srgbClr val="172033"/>
                </a:solidFill>
                <a:latin typeface="Aptos Display"/>
                <a:ea typeface="Aptos Display"/>
                <a:cs typeface="Aptos Display"/>
              </a:defRPr>
            </a:pPr>
            <a:r>
              <a:rPr lang="en-US" sz="2709" b="1" dirty="0">
                <a:solidFill>
                  <a:srgbClr val="172033"/>
                </a:solidFill>
                <a:latin typeface="Aptos Display"/>
                <a:ea typeface="Aptos Display"/>
                <a:cs typeface="Aptos Display"/>
              </a:rPr>
              <a:t>Pipeline of </a:t>
            </a:r>
            <a:r>
              <a:rPr lang="en-US" sz="2709" b="1" dirty="0" err="1">
                <a:solidFill>
                  <a:srgbClr val="172033"/>
                </a:solidFill>
                <a:latin typeface="Aptos Display"/>
                <a:ea typeface="Aptos Display"/>
                <a:cs typeface="Aptos Display"/>
              </a:rPr>
              <a:t>MDClaw</a:t>
            </a:r>
            <a:endParaRPr lang="en-US" sz="2709" b="1" dirty="0">
              <a:solidFill>
                <a:srgbClr val="172033"/>
              </a:solidFill>
              <a:latin typeface="Aptos Display"/>
              <a:ea typeface="Aptos Display"/>
              <a:cs typeface="Aptos Display"/>
            </a:endParaRPr>
          </a:p>
        </p:txBody>
      </p:sp>
      <p:pic>
        <p:nvPicPr>
          <p:cNvPr id="10" name="図 9">
            <a:extLst>
              <a:ext uri="{FF2B5EF4-FFF2-40B4-BE49-F238E27FC236}">
                <a16:creationId xmlns:a16="http://schemas.microsoft.com/office/drawing/2014/main" id="{32047DAC-2C4D-F3DD-70DE-97A149F1D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4889" y="1468669"/>
            <a:ext cx="9725787" cy="3731345"/>
          </a:xfrm>
          <a:prstGeom prst="rect">
            <a:avLst/>
          </a:prstGeom>
        </p:spPr>
      </p:pic>
      <p:sp>
        <p:nvSpPr>
          <p:cNvPr id="11" name="TextBox 10"/>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入力構造から準備・水和・トポロジー・最小化・平衡化・本計算・解析へ、成果物を受け渡す。</a:t>
            </a:r>
          </a:p>
        </p:txBody>
      </p:sp>
      <p:sp>
        <p:nvSpPr>
          <p:cNvPr id="12" name="TextBox 11"/>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C9EB40BD-D544-FC79-F7B8-A66C3AD77776}"/>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996BFB4F-5146-15E8-40FA-DE6CBAE04A5B}"/>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DAA58F7-9430-A334-CC0A-7E32D61DC27A}"/>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887F834-1123-EADD-E377-5F1BC0BA9BB0}"/>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a:solidFill>
                  <a:srgbClr val="0E3A75"/>
                </a:solidFill>
                <a:latin typeface="Aptos"/>
                <a:ea typeface="Aptos"/>
                <a:cs typeface="Aptos"/>
              </a:rPr>
              <a:t>DAG-MANAGED WORKFLOW</a:t>
            </a:r>
          </a:p>
        </p:txBody>
      </p:sp>
      <p:sp>
        <p:nvSpPr>
          <p:cNvPr id="10" name="正方形/長方形 9">
            <a:extLst>
              <a:ext uri="{FF2B5EF4-FFF2-40B4-BE49-F238E27FC236}">
                <a16:creationId xmlns:a16="http://schemas.microsoft.com/office/drawing/2014/main" id="{CEF2F5DD-8DA1-F2EC-3F05-036924BDF65E}"/>
              </a:ext>
            </a:extLst>
          </p:cNvPr>
          <p:cNvSpPr>
            <a:spLocks noGrp="1"/>
          </p:cNvSpPr>
          <p:nvPr/>
        </p:nvSpPr>
        <p:spPr>
          <a:xfrm>
            <a:off x="1469126" y="806475"/>
            <a:ext cx="9244872" cy="741934"/>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254" b="1">
                <a:solidFill>
                  <a:srgbClr val="172033"/>
                </a:solidFill>
                <a:latin typeface="Aptos Display"/>
                <a:ea typeface="Aptos Display"/>
                <a:cs typeface="Aptos Display"/>
              </a:defRPr>
            </a:pPr>
            <a:r>
              <a:rPr lang="ja-JP" altLang="ja-JP" sz="2254" b="1"/>
              <a:t>Directed Acyclic Graph</a:t>
            </a:r>
            <a:r>
              <a:rPr lang="en-US" altLang="ja-JP" sz="2254" b="1" dirty="0"/>
              <a:t> (</a:t>
            </a:r>
            <a:r>
              <a:rPr lang="en-US" sz="2370" b="1" dirty="0">
                <a:solidFill>
                  <a:srgbClr val="172033"/>
                </a:solidFill>
                <a:latin typeface="Aptos Display"/>
                <a:ea typeface="Aptos Display"/>
                <a:cs typeface="Aptos Display"/>
              </a:rPr>
              <a:t>DAG)-based MD workflow is </a:t>
            </a:r>
            <a:r>
              <a:rPr lang="en-US" altLang="ja-JP" sz="2370" b="1" dirty="0">
                <a:solidFill>
                  <a:srgbClr val="172033"/>
                </a:solidFill>
                <a:latin typeface="Aptos Display"/>
                <a:ea typeface="Aptos Display"/>
                <a:cs typeface="Aptos Display"/>
              </a:rPr>
              <a:t>durable, </a:t>
            </a:r>
            <a:r>
              <a:rPr lang="en-US" sz="2370" b="1" dirty="0">
                <a:solidFill>
                  <a:srgbClr val="172033"/>
                </a:solidFill>
                <a:latin typeface="Aptos Display"/>
                <a:ea typeface="Aptos Display"/>
                <a:cs typeface="Aptos Display"/>
              </a:rPr>
              <a:t>auditable, and flexible  (1/2)</a:t>
            </a:r>
            <a:endParaRPr sz="2370" b="1" dirty="0">
              <a:solidFill>
                <a:srgbClr val="172033"/>
              </a:solidFill>
              <a:latin typeface="Aptos Display"/>
              <a:ea typeface="Aptos Display"/>
              <a:cs typeface="Aptos Display"/>
            </a:endParaRPr>
          </a:p>
        </p:txBody>
      </p:sp>
      <p:sp>
        <p:nvSpPr>
          <p:cNvPr id="50" name="Rounded Rectangle 2">
            <a:extLst>
              <a:ext uri="{FF2B5EF4-FFF2-40B4-BE49-F238E27FC236}">
                <a16:creationId xmlns:a16="http://schemas.microsoft.com/office/drawing/2014/main" id="{E26570C6-B218-4E6C-388A-30CC2126399C}"/>
              </a:ext>
            </a:extLst>
          </p:cNvPr>
          <p:cNvSpPr/>
          <p:nvPr/>
        </p:nvSpPr>
        <p:spPr>
          <a:xfrm>
            <a:off x="1099942" y="3480690"/>
            <a:ext cx="1416395" cy="741921"/>
          </a:xfrm>
          <a:prstGeom prst="round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F</a:t>
            </a:r>
            <a:r>
              <a:rPr sz="1185" b="1" dirty="0">
                <a:solidFill>
                  <a:srgbClr val="FFFFFF"/>
                </a:solidFill>
                <a:latin typeface="Helvetica Neue"/>
              </a:rPr>
              <a:t>etch</a:t>
            </a:r>
            <a:r>
              <a:rPr lang="en-US" sz="1185" b="1" dirty="0">
                <a:solidFill>
                  <a:srgbClr val="FFFFFF"/>
                </a:solidFill>
                <a:latin typeface="Helvetica Neue"/>
              </a:rPr>
              <a:t> / predict</a:t>
            </a:r>
          </a:p>
          <a:p>
            <a:pPr algn="ctr"/>
            <a:r>
              <a:rPr lang="en-US" sz="1185" b="1" dirty="0">
                <a:solidFill>
                  <a:srgbClr val="FFFFFF"/>
                </a:solidFill>
                <a:latin typeface="Helvetica Neue"/>
              </a:rPr>
              <a:t>structure</a:t>
            </a:r>
            <a:endParaRPr sz="1185" b="1" dirty="0">
              <a:solidFill>
                <a:srgbClr val="FFFFFF"/>
              </a:solidFill>
              <a:latin typeface="Helvetica Neue"/>
            </a:endParaRPr>
          </a:p>
        </p:txBody>
      </p:sp>
      <p:sp>
        <p:nvSpPr>
          <p:cNvPr id="51" name="Rounded Rectangle 3">
            <a:extLst>
              <a:ext uri="{FF2B5EF4-FFF2-40B4-BE49-F238E27FC236}">
                <a16:creationId xmlns:a16="http://schemas.microsoft.com/office/drawing/2014/main" id="{3F53E906-8A11-DD81-FA31-B597FBD1966E}"/>
              </a:ext>
            </a:extLst>
          </p:cNvPr>
          <p:cNvSpPr/>
          <p:nvPr/>
        </p:nvSpPr>
        <p:spPr>
          <a:xfrm>
            <a:off x="2774858" y="3501555"/>
            <a:ext cx="1376558" cy="721054"/>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Clean</a:t>
            </a:r>
            <a:br>
              <a:rPr lang="en-US" sz="1185" b="1" dirty="0">
                <a:solidFill>
                  <a:srgbClr val="FFFFFF"/>
                </a:solidFill>
                <a:latin typeface="Helvetica Neue"/>
              </a:rPr>
            </a:br>
            <a:r>
              <a:rPr lang="en-US" sz="1185" b="1" dirty="0">
                <a:solidFill>
                  <a:srgbClr val="FFFFFF"/>
                </a:solidFill>
                <a:latin typeface="Helvetica Neue"/>
              </a:rPr>
              <a:t>structure</a:t>
            </a:r>
            <a:endParaRPr sz="1185" b="1" dirty="0">
              <a:solidFill>
                <a:srgbClr val="FFFFFF"/>
              </a:solidFill>
              <a:latin typeface="Helvetica Neue"/>
            </a:endParaRPr>
          </a:p>
        </p:txBody>
      </p:sp>
      <p:sp>
        <p:nvSpPr>
          <p:cNvPr id="52" name="Rounded Rectangle 7">
            <a:extLst>
              <a:ext uri="{FF2B5EF4-FFF2-40B4-BE49-F238E27FC236}">
                <a16:creationId xmlns:a16="http://schemas.microsoft.com/office/drawing/2014/main" id="{F9BE94B9-B5FB-85B4-D7D3-FBB9D25868E7}"/>
              </a:ext>
            </a:extLst>
          </p:cNvPr>
          <p:cNvSpPr/>
          <p:nvPr/>
        </p:nvSpPr>
        <p:spPr>
          <a:xfrm>
            <a:off x="9352926" y="4251452"/>
            <a:ext cx="1361073" cy="712943"/>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Production 001</a:t>
            </a:r>
          </a:p>
          <a:p>
            <a:pPr algn="ctr"/>
            <a:r>
              <a:rPr lang="en-US" sz="1185" b="1" dirty="0">
                <a:solidFill>
                  <a:srgbClr val="FFFFFF"/>
                </a:solidFill>
                <a:latin typeface="Helvetica Neue"/>
              </a:rPr>
              <a:t>Attempt 2</a:t>
            </a:r>
            <a:endParaRPr sz="1185" b="1" dirty="0">
              <a:solidFill>
                <a:srgbClr val="FFFFFF"/>
              </a:solidFill>
              <a:latin typeface="Helvetica Neue"/>
            </a:endParaRPr>
          </a:p>
        </p:txBody>
      </p:sp>
      <p:cxnSp>
        <p:nvCxnSpPr>
          <p:cNvPr id="53" name="Connector 9">
            <a:extLst>
              <a:ext uri="{FF2B5EF4-FFF2-40B4-BE49-F238E27FC236}">
                <a16:creationId xmlns:a16="http://schemas.microsoft.com/office/drawing/2014/main" id="{9F105079-92BC-A4DD-03BE-B0B740125787}"/>
              </a:ext>
            </a:extLst>
          </p:cNvPr>
          <p:cNvCxnSpPr>
            <a:cxnSpLocks/>
            <a:endCxn id="51" idx="1"/>
          </p:cNvCxnSpPr>
          <p:nvPr/>
        </p:nvCxnSpPr>
        <p:spPr>
          <a:xfrm flipV="1">
            <a:off x="2458075" y="3862082"/>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10">
            <a:extLst>
              <a:ext uri="{FF2B5EF4-FFF2-40B4-BE49-F238E27FC236}">
                <a16:creationId xmlns:a16="http://schemas.microsoft.com/office/drawing/2014/main" id="{075DEA35-C5C1-D611-463A-E5DF175495B7}"/>
              </a:ext>
            </a:extLst>
          </p:cNvPr>
          <p:cNvCxnSpPr/>
          <p:nvPr/>
        </p:nvCxnSpPr>
        <p:spPr>
          <a:xfrm>
            <a:off x="5217796" y="3795180"/>
            <a:ext cx="116127"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11">
            <a:extLst>
              <a:ext uri="{FF2B5EF4-FFF2-40B4-BE49-F238E27FC236}">
                <a16:creationId xmlns:a16="http://schemas.microsoft.com/office/drawing/2014/main" id="{37E01772-4C23-E22D-6A27-A455DC0B1DA4}"/>
              </a:ext>
            </a:extLst>
          </p:cNvPr>
          <p:cNvCxnSpPr/>
          <p:nvPr/>
        </p:nvCxnSpPr>
        <p:spPr>
          <a:xfrm>
            <a:off x="6146826" y="3795180"/>
            <a:ext cx="116129"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12">
            <a:extLst>
              <a:ext uri="{FF2B5EF4-FFF2-40B4-BE49-F238E27FC236}">
                <a16:creationId xmlns:a16="http://schemas.microsoft.com/office/drawing/2014/main" id="{CBF5B619-984C-C807-7496-7C524443D8FF}"/>
              </a:ext>
            </a:extLst>
          </p:cNvPr>
          <p:cNvCxnSpPr/>
          <p:nvPr/>
        </p:nvCxnSpPr>
        <p:spPr>
          <a:xfrm>
            <a:off x="7159438" y="3829732"/>
            <a:ext cx="116128"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59" name="図 58">
            <a:extLst>
              <a:ext uri="{FF2B5EF4-FFF2-40B4-BE49-F238E27FC236}">
                <a16:creationId xmlns:a16="http://schemas.microsoft.com/office/drawing/2014/main" id="{61ECA9A8-4020-D26E-E28A-2FAB192F8C25}"/>
              </a:ext>
            </a:extLst>
          </p:cNvPr>
          <p:cNvPicPr>
            <a:picLocks noChangeAspect="1"/>
          </p:cNvPicPr>
          <p:nvPr/>
        </p:nvPicPr>
        <p:blipFill>
          <a:blip r:embed="rId3"/>
          <a:stretch>
            <a:fillRect/>
          </a:stretch>
        </p:blipFill>
        <p:spPr>
          <a:xfrm>
            <a:off x="5736960" y="2051661"/>
            <a:ext cx="2048661" cy="987747"/>
          </a:xfrm>
          <a:prstGeom prst="rect">
            <a:avLst/>
          </a:prstGeom>
        </p:spPr>
      </p:pic>
      <p:sp>
        <p:nvSpPr>
          <p:cNvPr id="60" name="Rounded Rectangle 3">
            <a:extLst>
              <a:ext uri="{FF2B5EF4-FFF2-40B4-BE49-F238E27FC236}">
                <a16:creationId xmlns:a16="http://schemas.microsoft.com/office/drawing/2014/main" id="{2AA3F44D-0EDA-815D-7A6D-3854CD1FBDCB}"/>
              </a:ext>
            </a:extLst>
          </p:cNvPr>
          <p:cNvSpPr/>
          <p:nvPr/>
        </p:nvSpPr>
        <p:spPr>
          <a:xfrm>
            <a:off x="4421881" y="3501555"/>
            <a:ext cx="1376558" cy="721054"/>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Solvation</a:t>
            </a:r>
            <a:endParaRPr sz="1185" b="1" dirty="0">
              <a:solidFill>
                <a:srgbClr val="FFFFFF"/>
              </a:solidFill>
              <a:latin typeface="Helvetica Neue"/>
            </a:endParaRPr>
          </a:p>
        </p:txBody>
      </p:sp>
      <p:sp>
        <p:nvSpPr>
          <p:cNvPr id="61" name="Rounded Rectangle 3">
            <a:extLst>
              <a:ext uri="{FF2B5EF4-FFF2-40B4-BE49-F238E27FC236}">
                <a16:creationId xmlns:a16="http://schemas.microsoft.com/office/drawing/2014/main" id="{0CAEFFD4-039F-864E-79AC-6992F7B7C068}"/>
              </a:ext>
            </a:extLst>
          </p:cNvPr>
          <p:cNvSpPr/>
          <p:nvPr/>
        </p:nvSpPr>
        <p:spPr>
          <a:xfrm>
            <a:off x="6050672" y="3480690"/>
            <a:ext cx="1376558" cy="721054"/>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Topology</a:t>
            </a:r>
            <a:endParaRPr sz="1185" b="1" dirty="0">
              <a:solidFill>
                <a:srgbClr val="FFFFFF"/>
              </a:solidFill>
              <a:latin typeface="Helvetica Neue"/>
            </a:endParaRPr>
          </a:p>
        </p:txBody>
      </p:sp>
      <p:cxnSp>
        <p:nvCxnSpPr>
          <p:cNvPr id="62" name="Connector 9">
            <a:extLst>
              <a:ext uri="{FF2B5EF4-FFF2-40B4-BE49-F238E27FC236}">
                <a16:creationId xmlns:a16="http://schemas.microsoft.com/office/drawing/2014/main" id="{B3C8B40F-D063-C379-94F2-FF9EC4D62AE8}"/>
              </a:ext>
            </a:extLst>
          </p:cNvPr>
          <p:cNvCxnSpPr>
            <a:cxnSpLocks/>
          </p:cNvCxnSpPr>
          <p:nvPr/>
        </p:nvCxnSpPr>
        <p:spPr>
          <a:xfrm flipV="1">
            <a:off x="4122491" y="3862081"/>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Connector 9">
            <a:extLst>
              <a:ext uri="{FF2B5EF4-FFF2-40B4-BE49-F238E27FC236}">
                <a16:creationId xmlns:a16="http://schemas.microsoft.com/office/drawing/2014/main" id="{E589013A-4CC7-1752-9F03-F77A0D343E5A}"/>
              </a:ext>
            </a:extLst>
          </p:cNvPr>
          <p:cNvCxnSpPr>
            <a:cxnSpLocks/>
          </p:cNvCxnSpPr>
          <p:nvPr/>
        </p:nvCxnSpPr>
        <p:spPr>
          <a:xfrm flipV="1">
            <a:off x="5736960" y="3862081"/>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Rounded Rectangle 7">
            <a:extLst>
              <a:ext uri="{FF2B5EF4-FFF2-40B4-BE49-F238E27FC236}">
                <a16:creationId xmlns:a16="http://schemas.microsoft.com/office/drawing/2014/main" id="{22284C01-B29F-5416-AFD3-62FB5C1FDD0C}"/>
              </a:ext>
            </a:extLst>
          </p:cNvPr>
          <p:cNvSpPr/>
          <p:nvPr/>
        </p:nvSpPr>
        <p:spPr>
          <a:xfrm>
            <a:off x="9352926" y="2430948"/>
            <a:ext cx="1361073" cy="712943"/>
          </a:xfrm>
          <a:prstGeom prst="round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Production 001</a:t>
            </a:r>
          </a:p>
          <a:p>
            <a:pPr algn="ctr"/>
            <a:r>
              <a:rPr lang="en-US" sz="1185" b="1" dirty="0">
                <a:solidFill>
                  <a:srgbClr val="FFFFFF"/>
                </a:solidFill>
                <a:latin typeface="Helvetica Neue"/>
              </a:rPr>
              <a:t>Attempt 1</a:t>
            </a:r>
          </a:p>
        </p:txBody>
      </p:sp>
      <p:sp>
        <p:nvSpPr>
          <p:cNvPr id="65" name="Rounded Rectangle 16">
            <a:extLst>
              <a:ext uri="{FF2B5EF4-FFF2-40B4-BE49-F238E27FC236}">
                <a16:creationId xmlns:a16="http://schemas.microsoft.com/office/drawing/2014/main" id="{545220D9-0D85-DB9A-CD89-43D83A1D600B}"/>
              </a:ext>
            </a:extLst>
          </p:cNvPr>
          <p:cNvSpPr/>
          <p:nvPr/>
        </p:nvSpPr>
        <p:spPr>
          <a:xfrm>
            <a:off x="7587384" y="3480690"/>
            <a:ext cx="1376554" cy="72105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Equilibration</a:t>
            </a:r>
            <a:endParaRPr sz="1185" b="1" dirty="0">
              <a:solidFill>
                <a:srgbClr val="FFFFFF"/>
              </a:solidFill>
              <a:latin typeface="Helvetica Neue"/>
            </a:endParaRPr>
          </a:p>
        </p:txBody>
      </p:sp>
      <p:cxnSp>
        <p:nvCxnSpPr>
          <p:cNvPr id="67" name="Connector 9">
            <a:extLst>
              <a:ext uri="{FF2B5EF4-FFF2-40B4-BE49-F238E27FC236}">
                <a16:creationId xmlns:a16="http://schemas.microsoft.com/office/drawing/2014/main" id="{96EDF70A-B387-7AE5-9452-453D74B3C3AF}"/>
              </a:ext>
            </a:extLst>
          </p:cNvPr>
          <p:cNvCxnSpPr>
            <a:cxnSpLocks/>
          </p:cNvCxnSpPr>
          <p:nvPr/>
        </p:nvCxnSpPr>
        <p:spPr>
          <a:xfrm flipV="1">
            <a:off x="7330040" y="3862081"/>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Connector 9">
            <a:extLst>
              <a:ext uri="{FF2B5EF4-FFF2-40B4-BE49-F238E27FC236}">
                <a16:creationId xmlns:a16="http://schemas.microsoft.com/office/drawing/2014/main" id="{D054D787-9D67-C510-28D4-27B40E6E499C}"/>
              </a:ext>
            </a:extLst>
          </p:cNvPr>
          <p:cNvCxnSpPr>
            <a:cxnSpLocks/>
          </p:cNvCxnSpPr>
          <p:nvPr/>
        </p:nvCxnSpPr>
        <p:spPr>
          <a:xfrm>
            <a:off x="8921386" y="4057082"/>
            <a:ext cx="431540" cy="194369"/>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Connector 9">
            <a:extLst>
              <a:ext uri="{FF2B5EF4-FFF2-40B4-BE49-F238E27FC236}">
                <a16:creationId xmlns:a16="http://schemas.microsoft.com/office/drawing/2014/main" id="{27F63296-0938-1391-CDD1-5459860CEC6D}"/>
              </a:ext>
            </a:extLst>
          </p:cNvPr>
          <p:cNvCxnSpPr>
            <a:cxnSpLocks/>
          </p:cNvCxnSpPr>
          <p:nvPr/>
        </p:nvCxnSpPr>
        <p:spPr>
          <a:xfrm flipV="1">
            <a:off x="8918903" y="3135794"/>
            <a:ext cx="434022" cy="389487"/>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8" name="Connector 9">
            <a:extLst>
              <a:ext uri="{FF2B5EF4-FFF2-40B4-BE49-F238E27FC236}">
                <a16:creationId xmlns:a16="http://schemas.microsoft.com/office/drawing/2014/main" id="{683E2EAF-CC46-8538-F856-532BC6642724}"/>
              </a:ext>
            </a:extLst>
          </p:cNvPr>
          <p:cNvCxnSpPr>
            <a:cxnSpLocks/>
          </p:cNvCxnSpPr>
          <p:nvPr/>
        </p:nvCxnSpPr>
        <p:spPr>
          <a:xfrm>
            <a:off x="9704864" y="3135794"/>
            <a:ext cx="0" cy="1086815"/>
          </a:xfrm>
          <a:prstGeom prst="line">
            <a:avLst/>
          </a:prstGeom>
          <a:ln w="66675">
            <a:solidFill>
              <a:srgbClr val="FF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 name="TextBox 3">
            <a:extLst>
              <a:ext uri="{FF2B5EF4-FFF2-40B4-BE49-F238E27FC236}">
                <a16:creationId xmlns:a16="http://schemas.microsoft.com/office/drawing/2014/main" id="{047F9E10-62F2-562D-A895-0ECE93E1C74A}"/>
              </a:ext>
            </a:extLst>
          </p:cNvPr>
          <p:cNvSpPr txBox="1"/>
          <p:nvPr/>
        </p:nvSpPr>
        <p:spPr>
          <a:xfrm>
            <a:off x="9440078" y="3300309"/>
            <a:ext cx="1703222" cy="273613"/>
          </a:xfrm>
          <a:prstGeom prst="rect">
            <a:avLst/>
          </a:prstGeom>
          <a:noFill/>
        </p:spPr>
        <p:txBody>
          <a:bodyPr wrap="square" lIns="0" tIns="0" rIns="0" bIns="0" anchor="t">
            <a:spAutoFit/>
          </a:bodyPr>
          <a:lstStyle/>
          <a:p>
            <a:pPr algn="ctr">
              <a:lnSpc>
                <a:spcPct val="115000"/>
              </a:lnSpc>
              <a:spcAft>
                <a:spcPts val="0"/>
              </a:spcAft>
            </a:pPr>
            <a:r>
              <a:rPr sz="1693" b="1" i="0" dirty="0">
                <a:solidFill>
                  <a:srgbClr val="DC2626"/>
                </a:solidFill>
                <a:latin typeface="Helvetica Neue"/>
              </a:rPr>
              <a:t>✗ FAILED</a:t>
            </a:r>
          </a:p>
        </p:txBody>
      </p:sp>
      <p:sp>
        <p:nvSpPr>
          <p:cNvPr id="92" name="TextBox 6">
            <a:extLst>
              <a:ext uri="{FF2B5EF4-FFF2-40B4-BE49-F238E27FC236}">
                <a16:creationId xmlns:a16="http://schemas.microsoft.com/office/drawing/2014/main" id="{BEF91797-66E4-B9CD-7B5A-0C4ADA57A8B9}"/>
              </a:ext>
            </a:extLst>
          </p:cNvPr>
          <p:cNvSpPr txBox="1"/>
          <p:nvPr/>
        </p:nvSpPr>
        <p:spPr>
          <a:xfrm>
            <a:off x="9086163" y="5085399"/>
            <a:ext cx="1703222" cy="273613"/>
          </a:xfrm>
          <a:prstGeom prst="rect">
            <a:avLst/>
          </a:prstGeom>
          <a:noFill/>
        </p:spPr>
        <p:txBody>
          <a:bodyPr wrap="square" lIns="0" tIns="0" rIns="0" bIns="0" anchor="t">
            <a:spAutoFit/>
          </a:bodyPr>
          <a:lstStyle/>
          <a:p>
            <a:pPr algn="ctr">
              <a:lnSpc>
                <a:spcPct val="115000"/>
              </a:lnSpc>
              <a:spcAft>
                <a:spcPts val="0"/>
              </a:spcAft>
            </a:pPr>
            <a:r>
              <a:rPr sz="1693" b="1" i="0" dirty="0">
                <a:solidFill>
                  <a:srgbClr val="10B981"/>
                </a:solidFill>
                <a:latin typeface="Helvetica Neue"/>
              </a:rPr>
              <a:t>✓ COMPLETED</a:t>
            </a:r>
          </a:p>
        </p:txBody>
      </p:sp>
      <p:pic>
        <p:nvPicPr>
          <p:cNvPr id="95" name="Picture 2">
            <a:extLst>
              <a:ext uri="{FF2B5EF4-FFF2-40B4-BE49-F238E27FC236}">
                <a16:creationId xmlns:a16="http://schemas.microsoft.com/office/drawing/2014/main" id="{BADBE101-426A-491D-1925-5DF2DAC36E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83262"/>
          <a:stretch>
            <a:fillRect/>
          </a:stretch>
        </p:blipFill>
        <p:spPr bwMode="auto">
          <a:xfrm>
            <a:off x="1307065" y="1790788"/>
            <a:ext cx="970229" cy="1539748"/>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a:extLst>
              <a:ext uri="{FF2B5EF4-FFF2-40B4-BE49-F238E27FC236}">
                <a16:creationId xmlns:a16="http://schemas.microsoft.com/office/drawing/2014/main" id="{E30FE372-17F9-81A4-83D5-389D9D2295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1106" r="45864"/>
          <a:stretch>
            <a:fillRect/>
          </a:stretch>
        </p:blipFill>
        <p:spPr bwMode="auto">
          <a:xfrm>
            <a:off x="3000479" y="1790788"/>
            <a:ext cx="755262" cy="1539748"/>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a:extLst>
              <a:ext uri="{FF2B5EF4-FFF2-40B4-BE49-F238E27FC236}">
                <a16:creationId xmlns:a16="http://schemas.microsoft.com/office/drawing/2014/main" id="{0A6CF7A6-A140-1828-D989-01E42818C4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7474" r="23265"/>
          <a:stretch>
            <a:fillRect/>
          </a:stretch>
        </p:blipFill>
        <p:spPr bwMode="auto">
          <a:xfrm>
            <a:off x="4465856" y="1790788"/>
            <a:ext cx="1116429" cy="1539748"/>
          </a:xfrm>
          <a:prstGeom prst="rect">
            <a:avLst/>
          </a:prstGeom>
          <a:noFill/>
          <a:extLst>
            <a:ext uri="{909E8E84-426E-40DD-AFC4-6F175D3DCCD1}">
              <a14:hiddenFill xmlns:a14="http://schemas.microsoft.com/office/drawing/2010/main">
                <a:solidFill>
                  <a:srgbClr val="FFFFFF"/>
                </a:solidFill>
              </a14:hiddenFill>
            </a:ext>
          </a:extLst>
        </p:spPr>
      </p:pic>
      <p:sp>
        <p:nvSpPr>
          <p:cNvPr id="98" name="TextBox 97"/>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DAGは循環のない有向グラフ。失敗した実行と新しい試行を別ノードに残し、経緯を追えるようにする。</a:t>
            </a:r>
          </a:p>
        </p:txBody>
      </p:sp>
      <p:sp>
        <p:nvSpPr>
          <p:cNvPr id="99" name="TextBox 9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D8175D1E-9B78-93EB-454F-3F09532E1F70}"/>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9579A9B4-0944-26BA-D251-33C2DA3FE803}"/>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288CA09E-8C25-6C2A-2F1E-866D6DC628E1}"/>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7BBD530-2286-A4BC-D0D5-97B4B0117D5C}"/>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a:solidFill>
                  <a:srgbClr val="0E3A75"/>
                </a:solidFill>
                <a:latin typeface="Aptos"/>
                <a:ea typeface="Aptos"/>
                <a:cs typeface="Aptos"/>
              </a:rPr>
              <a:t>DAG-MANAGED WORKFLOW</a:t>
            </a:r>
          </a:p>
        </p:txBody>
      </p:sp>
      <p:sp>
        <p:nvSpPr>
          <p:cNvPr id="6" name="正方形/長方形 5">
            <a:extLst>
              <a:ext uri="{FF2B5EF4-FFF2-40B4-BE49-F238E27FC236}">
                <a16:creationId xmlns:a16="http://schemas.microsoft.com/office/drawing/2014/main" id="{95FC7EB7-040D-C5FC-EAB5-707AFBC2EBDC}"/>
              </a:ext>
            </a:extLst>
          </p:cNvPr>
          <p:cNvSpPr>
            <a:spLocks noGrp="1"/>
          </p:cNvSpPr>
          <p:nvPr/>
        </p:nvSpPr>
        <p:spPr>
          <a:xfrm>
            <a:off x="2171877" y="657091"/>
            <a:ext cx="8709660" cy="418355"/>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254" b="1">
                <a:solidFill>
                  <a:srgbClr val="172033"/>
                </a:solidFill>
                <a:latin typeface="Aptos Display"/>
                <a:ea typeface="Aptos Display"/>
                <a:cs typeface="Aptos Display"/>
              </a:defRPr>
            </a:pPr>
            <a:r>
              <a:rPr lang="en-US" altLang="ja-JP" sz="2032" b="1" dirty="0">
                <a:solidFill>
                  <a:srgbClr val="172033"/>
                </a:solidFill>
                <a:latin typeface="Aptos Display"/>
                <a:ea typeface="Aptos Display"/>
                <a:cs typeface="Aptos Display"/>
              </a:rPr>
              <a:t>DAG-based MD workflow is durable, auditable, and flexible  (2/2)</a:t>
            </a:r>
          </a:p>
        </p:txBody>
      </p:sp>
      <p:sp>
        <p:nvSpPr>
          <p:cNvPr id="10" name="Rounded Rectangle 2">
            <a:extLst>
              <a:ext uri="{FF2B5EF4-FFF2-40B4-BE49-F238E27FC236}">
                <a16:creationId xmlns:a16="http://schemas.microsoft.com/office/drawing/2014/main" id="{B5651AA0-C7E7-1586-D9AA-7CBB8B3A37F4}"/>
              </a:ext>
            </a:extLst>
          </p:cNvPr>
          <p:cNvSpPr/>
          <p:nvPr/>
        </p:nvSpPr>
        <p:spPr>
          <a:xfrm>
            <a:off x="1099942" y="2760428"/>
            <a:ext cx="1416395" cy="741921"/>
          </a:xfrm>
          <a:prstGeom prst="round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F</a:t>
            </a:r>
            <a:r>
              <a:rPr sz="1185" b="1" dirty="0">
                <a:solidFill>
                  <a:srgbClr val="FFFFFF"/>
                </a:solidFill>
                <a:latin typeface="Helvetica Neue"/>
              </a:rPr>
              <a:t>etch</a:t>
            </a:r>
            <a:r>
              <a:rPr lang="en-US" sz="1185" b="1" dirty="0">
                <a:solidFill>
                  <a:srgbClr val="FFFFFF"/>
                </a:solidFill>
                <a:latin typeface="Helvetica Neue"/>
              </a:rPr>
              <a:t> / predict</a:t>
            </a:r>
          </a:p>
          <a:p>
            <a:pPr algn="ctr"/>
            <a:r>
              <a:rPr lang="en-US" sz="1185" b="1" dirty="0">
                <a:solidFill>
                  <a:srgbClr val="FFFFFF"/>
                </a:solidFill>
                <a:latin typeface="Helvetica Neue"/>
              </a:rPr>
              <a:t>structure</a:t>
            </a:r>
            <a:endParaRPr sz="1185" b="1" dirty="0">
              <a:solidFill>
                <a:srgbClr val="FFFFFF"/>
              </a:solidFill>
              <a:latin typeface="Helvetica Neue"/>
            </a:endParaRPr>
          </a:p>
        </p:txBody>
      </p:sp>
      <p:sp>
        <p:nvSpPr>
          <p:cNvPr id="11" name="Rounded Rectangle 3">
            <a:extLst>
              <a:ext uri="{FF2B5EF4-FFF2-40B4-BE49-F238E27FC236}">
                <a16:creationId xmlns:a16="http://schemas.microsoft.com/office/drawing/2014/main" id="{980212CD-9F8F-633E-9142-BA4A155A9454}"/>
              </a:ext>
            </a:extLst>
          </p:cNvPr>
          <p:cNvSpPr/>
          <p:nvPr/>
        </p:nvSpPr>
        <p:spPr>
          <a:xfrm>
            <a:off x="2774858" y="2781293"/>
            <a:ext cx="1376558" cy="721054"/>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Clean</a:t>
            </a:r>
            <a:br>
              <a:rPr lang="en-US" sz="1185" b="1" dirty="0">
                <a:solidFill>
                  <a:srgbClr val="FFFFFF"/>
                </a:solidFill>
                <a:latin typeface="Helvetica Neue"/>
              </a:rPr>
            </a:br>
            <a:r>
              <a:rPr lang="en-US" sz="1185" b="1" dirty="0">
                <a:solidFill>
                  <a:srgbClr val="FFFFFF"/>
                </a:solidFill>
                <a:latin typeface="Helvetica Neue"/>
              </a:rPr>
              <a:t>structure</a:t>
            </a:r>
            <a:endParaRPr sz="1185" b="1" dirty="0">
              <a:solidFill>
                <a:srgbClr val="FFFFFF"/>
              </a:solidFill>
              <a:latin typeface="Helvetica Neue"/>
            </a:endParaRPr>
          </a:p>
        </p:txBody>
      </p:sp>
      <p:sp>
        <p:nvSpPr>
          <p:cNvPr id="15" name="Rounded Rectangle 7">
            <a:extLst>
              <a:ext uri="{FF2B5EF4-FFF2-40B4-BE49-F238E27FC236}">
                <a16:creationId xmlns:a16="http://schemas.microsoft.com/office/drawing/2014/main" id="{3BA0E0FD-53E6-C282-4BE2-C7CEEE09B620}"/>
              </a:ext>
            </a:extLst>
          </p:cNvPr>
          <p:cNvSpPr/>
          <p:nvPr/>
        </p:nvSpPr>
        <p:spPr>
          <a:xfrm>
            <a:off x="9161842" y="2774916"/>
            <a:ext cx="1361073" cy="712943"/>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Production 001</a:t>
            </a:r>
            <a:endParaRPr sz="1185" b="1" dirty="0">
              <a:solidFill>
                <a:srgbClr val="FFFFFF"/>
              </a:solidFill>
              <a:latin typeface="Helvetica Neue"/>
            </a:endParaRPr>
          </a:p>
        </p:txBody>
      </p:sp>
      <p:cxnSp>
        <p:nvCxnSpPr>
          <p:cNvPr id="17" name="Connector 9">
            <a:extLst>
              <a:ext uri="{FF2B5EF4-FFF2-40B4-BE49-F238E27FC236}">
                <a16:creationId xmlns:a16="http://schemas.microsoft.com/office/drawing/2014/main" id="{C357CE5D-C829-6B65-9109-94C766618D26}"/>
              </a:ext>
            </a:extLst>
          </p:cNvPr>
          <p:cNvCxnSpPr>
            <a:cxnSpLocks/>
            <a:endCxn id="11" idx="1"/>
          </p:cNvCxnSpPr>
          <p:nvPr/>
        </p:nvCxnSpPr>
        <p:spPr>
          <a:xfrm flipV="1">
            <a:off x="2458075" y="3141820"/>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0">
            <a:extLst>
              <a:ext uri="{FF2B5EF4-FFF2-40B4-BE49-F238E27FC236}">
                <a16:creationId xmlns:a16="http://schemas.microsoft.com/office/drawing/2014/main" id="{F3698523-B64E-6C7A-DDEC-A2E0CA32D414}"/>
              </a:ext>
            </a:extLst>
          </p:cNvPr>
          <p:cNvCxnSpPr/>
          <p:nvPr/>
        </p:nvCxnSpPr>
        <p:spPr>
          <a:xfrm>
            <a:off x="5217796" y="3074918"/>
            <a:ext cx="116127"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1">
            <a:extLst>
              <a:ext uri="{FF2B5EF4-FFF2-40B4-BE49-F238E27FC236}">
                <a16:creationId xmlns:a16="http://schemas.microsoft.com/office/drawing/2014/main" id="{4C7DB6C9-68E1-EFF7-F2A4-5B5B9747E052}"/>
              </a:ext>
            </a:extLst>
          </p:cNvPr>
          <p:cNvCxnSpPr/>
          <p:nvPr/>
        </p:nvCxnSpPr>
        <p:spPr>
          <a:xfrm>
            <a:off x="6146826" y="3074918"/>
            <a:ext cx="116129"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2">
            <a:extLst>
              <a:ext uri="{FF2B5EF4-FFF2-40B4-BE49-F238E27FC236}">
                <a16:creationId xmlns:a16="http://schemas.microsoft.com/office/drawing/2014/main" id="{6C03F2E9-ABEE-24F5-7D14-A0F24592046A}"/>
              </a:ext>
            </a:extLst>
          </p:cNvPr>
          <p:cNvCxnSpPr/>
          <p:nvPr/>
        </p:nvCxnSpPr>
        <p:spPr>
          <a:xfrm>
            <a:off x="7159438" y="3109470"/>
            <a:ext cx="116128"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3">
            <a:extLst>
              <a:ext uri="{FF2B5EF4-FFF2-40B4-BE49-F238E27FC236}">
                <a16:creationId xmlns:a16="http://schemas.microsoft.com/office/drawing/2014/main" id="{085C7ACC-AC50-B63A-61C5-F19D66B09AF5}"/>
              </a:ext>
            </a:extLst>
          </p:cNvPr>
          <p:cNvSpPr/>
          <p:nvPr/>
        </p:nvSpPr>
        <p:spPr>
          <a:xfrm>
            <a:off x="4421881" y="2781293"/>
            <a:ext cx="1376558" cy="721054"/>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Solvation</a:t>
            </a:r>
            <a:endParaRPr sz="1185" b="1" dirty="0">
              <a:solidFill>
                <a:srgbClr val="FFFFFF"/>
              </a:solidFill>
              <a:latin typeface="Helvetica Neue"/>
            </a:endParaRPr>
          </a:p>
        </p:txBody>
      </p:sp>
      <p:sp>
        <p:nvSpPr>
          <p:cNvPr id="40" name="Rounded Rectangle 3">
            <a:extLst>
              <a:ext uri="{FF2B5EF4-FFF2-40B4-BE49-F238E27FC236}">
                <a16:creationId xmlns:a16="http://schemas.microsoft.com/office/drawing/2014/main" id="{587DB435-08E3-FDE8-483A-148D5A17DF9B}"/>
              </a:ext>
            </a:extLst>
          </p:cNvPr>
          <p:cNvSpPr/>
          <p:nvPr/>
        </p:nvSpPr>
        <p:spPr>
          <a:xfrm>
            <a:off x="6050672" y="2760428"/>
            <a:ext cx="1376558" cy="721054"/>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Topology</a:t>
            </a:r>
            <a:endParaRPr sz="1185" b="1" dirty="0">
              <a:solidFill>
                <a:srgbClr val="FFFFFF"/>
              </a:solidFill>
              <a:latin typeface="Helvetica Neue"/>
            </a:endParaRPr>
          </a:p>
        </p:txBody>
      </p:sp>
      <p:cxnSp>
        <p:nvCxnSpPr>
          <p:cNvPr id="41" name="Connector 9">
            <a:extLst>
              <a:ext uri="{FF2B5EF4-FFF2-40B4-BE49-F238E27FC236}">
                <a16:creationId xmlns:a16="http://schemas.microsoft.com/office/drawing/2014/main" id="{F1BA076A-3FCC-5193-729C-6B35C1CDC164}"/>
              </a:ext>
            </a:extLst>
          </p:cNvPr>
          <p:cNvCxnSpPr>
            <a:cxnSpLocks/>
          </p:cNvCxnSpPr>
          <p:nvPr/>
        </p:nvCxnSpPr>
        <p:spPr>
          <a:xfrm flipV="1">
            <a:off x="4122491" y="3141819"/>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9">
            <a:extLst>
              <a:ext uri="{FF2B5EF4-FFF2-40B4-BE49-F238E27FC236}">
                <a16:creationId xmlns:a16="http://schemas.microsoft.com/office/drawing/2014/main" id="{78CF8118-0211-6C4C-CB9E-0734B11782BE}"/>
              </a:ext>
            </a:extLst>
          </p:cNvPr>
          <p:cNvCxnSpPr>
            <a:cxnSpLocks/>
          </p:cNvCxnSpPr>
          <p:nvPr/>
        </p:nvCxnSpPr>
        <p:spPr>
          <a:xfrm flipV="1">
            <a:off x="5736960" y="3141819"/>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7">
            <a:extLst>
              <a:ext uri="{FF2B5EF4-FFF2-40B4-BE49-F238E27FC236}">
                <a16:creationId xmlns:a16="http://schemas.microsoft.com/office/drawing/2014/main" id="{A39C8C60-DCE1-7BA1-0130-8D621A25AF93}"/>
              </a:ext>
            </a:extLst>
          </p:cNvPr>
          <p:cNvSpPr/>
          <p:nvPr/>
        </p:nvSpPr>
        <p:spPr>
          <a:xfrm>
            <a:off x="9161842" y="1775624"/>
            <a:ext cx="1361073" cy="712943"/>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Production 002</a:t>
            </a:r>
          </a:p>
          <a:p>
            <a:pPr algn="ctr"/>
            <a:r>
              <a:rPr lang="en-US" sz="1185" b="1" dirty="0">
                <a:solidFill>
                  <a:srgbClr val="FFFFFF"/>
                </a:solidFill>
                <a:latin typeface="Helvetica Neue"/>
              </a:rPr>
              <a:t>seed=777</a:t>
            </a:r>
            <a:endParaRPr sz="1185" b="1" dirty="0">
              <a:solidFill>
                <a:srgbClr val="FFFFFF"/>
              </a:solidFill>
              <a:latin typeface="Helvetica Neue"/>
            </a:endParaRPr>
          </a:p>
        </p:txBody>
      </p:sp>
      <p:sp>
        <p:nvSpPr>
          <p:cNvPr id="45" name="Rounded Rectangle 16">
            <a:extLst>
              <a:ext uri="{FF2B5EF4-FFF2-40B4-BE49-F238E27FC236}">
                <a16:creationId xmlns:a16="http://schemas.microsoft.com/office/drawing/2014/main" id="{A2678221-1D5A-AF78-6E7C-A5A57EB9B661}"/>
              </a:ext>
            </a:extLst>
          </p:cNvPr>
          <p:cNvSpPr/>
          <p:nvPr/>
        </p:nvSpPr>
        <p:spPr>
          <a:xfrm>
            <a:off x="7587384" y="2760428"/>
            <a:ext cx="1376554" cy="72105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Equilibration</a:t>
            </a:r>
            <a:endParaRPr sz="1185" b="1" dirty="0">
              <a:solidFill>
                <a:srgbClr val="FFFFFF"/>
              </a:solidFill>
              <a:latin typeface="Helvetica Neue"/>
            </a:endParaRPr>
          </a:p>
        </p:txBody>
      </p:sp>
      <p:sp>
        <p:nvSpPr>
          <p:cNvPr id="46" name="Rounded Rectangle 7">
            <a:extLst>
              <a:ext uri="{FF2B5EF4-FFF2-40B4-BE49-F238E27FC236}">
                <a16:creationId xmlns:a16="http://schemas.microsoft.com/office/drawing/2014/main" id="{EB516BAB-037F-FECB-8790-CE08A44C64E6}"/>
              </a:ext>
            </a:extLst>
          </p:cNvPr>
          <p:cNvSpPr/>
          <p:nvPr/>
        </p:nvSpPr>
        <p:spPr>
          <a:xfrm>
            <a:off x="9189313" y="3643571"/>
            <a:ext cx="1361073" cy="712943"/>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Production 003</a:t>
            </a:r>
          </a:p>
          <a:p>
            <a:pPr algn="ctr"/>
            <a:r>
              <a:rPr lang="en-US" sz="1185" b="1" dirty="0">
                <a:solidFill>
                  <a:srgbClr val="FFFFFF"/>
                </a:solidFill>
                <a:latin typeface="Helvetica Neue"/>
              </a:rPr>
              <a:t>T=320 K</a:t>
            </a:r>
            <a:endParaRPr sz="1185" b="1" dirty="0">
              <a:solidFill>
                <a:srgbClr val="FFFFFF"/>
              </a:solidFill>
              <a:latin typeface="Helvetica Neue"/>
            </a:endParaRPr>
          </a:p>
        </p:txBody>
      </p:sp>
      <p:cxnSp>
        <p:nvCxnSpPr>
          <p:cNvPr id="48" name="Connector 9">
            <a:extLst>
              <a:ext uri="{FF2B5EF4-FFF2-40B4-BE49-F238E27FC236}">
                <a16:creationId xmlns:a16="http://schemas.microsoft.com/office/drawing/2014/main" id="{C4557AB1-3498-D77A-A696-61B88B59C869}"/>
              </a:ext>
            </a:extLst>
          </p:cNvPr>
          <p:cNvCxnSpPr>
            <a:cxnSpLocks/>
          </p:cNvCxnSpPr>
          <p:nvPr/>
        </p:nvCxnSpPr>
        <p:spPr>
          <a:xfrm flipV="1">
            <a:off x="7330040" y="3141819"/>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9">
            <a:extLst>
              <a:ext uri="{FF2B5EF4-FFF2-40B4-BE49-F238E27FC236}">
                <a16:creationId xmlns:a16="http://schemas.microsoft.com/office/drawing/2014/main" id="{FF750A3B-5A54-B0CC-3713-3750FBAFAE1E}"/>
              </a:ext>
            </a:extLst>
          </p:cNvPr>
          <p:cNvCxnSpPr>
            <a:cxnSpLocks/>
          </p:cNvCxnSpPr>
          <p:nvPr/>
        </p:nvCxnSpPr>
        <p:spPr>
          <a:xfrm flipV="1">
            <a:off x="8873174" y="3141819"/>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9">
            <a:extLst>
              <a:ext uri="{FF2B5EF4-FFF2-40B4-BE49-F238E27FC236}">
                <a16:creationId xmlns:a16="http://schemas.microsoft.com/office/drawing/2014/main" id="{1D0606D8-0CE9-3A57-CE9E-7F0BC690E7DA}"/>
              </a:ext>
            </a:extLst>
          </p:cNvPr>
          <p:cNvCxnSpPr>
            <a:cxnSpLocks/>
          </p:cNvCxnSpPr>
          <p:nvPr/>
        </p:nvCxnSpPr>
        <p:spPr>
          <a:xfrm flipV="1">
            <a:off x="8763552" y="2450752"/>
            <a:ext cx="458906" cy="478165"/>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16">
            <a:extLst>
              <a:ext uri="{FF2B5EF4-FFF2-40B4-BE49-F238E27FC236}">
                <a16:creationId xmlns:a16="http://schemas.microsoft.com/office/drawing/2014/main" id="{7248D081-DC7D-FD62-C164-3E750A3A36DF}"/>
              </a:ext>
            </a:extLst>
          </p:cNvPr>
          <p:cNvSpPr/>
          <p:nvPr/>
        </p:nvSpPr>
        <p:spPr>
          <a:xfrm>
            <a:off x="7587384" y="3639517"/>
            <a:ext cx="1376554" cy="72105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Equilibration</a:t>
            </a:r>
          </a:p>
          <a:p>
            <a:pPr algn="ctr"/>
            <a:r>
              <a:rPr lang="en-US" sz="1185" b="1" dirty="0">
                <a:solidFill>
                  <a:srgbClr val="FFFFFF"/>
                </a:solidFill>
                <a:latin typeface="Helvetica Neue"/>
              </a:rPr>
              <a:t>T=320 K</a:t>
            </a:r>
            <a:endParaRPr sz="1185" b="1" dirty="0">
              <a:solidFill>
                <a:srgbClr val="FFFFFF"/>
              </a:solidFill>
              <a:latin typeface="Helvetica Neue"/>
            </a:endParaRPr>
          </a:p>
        </p:txBody>
      </p:sp>
      <p:cxnSp>
        <p:nvCxnSpPr>
          <p:cNvPr id="54" name="Connector 9">
            <a:extLst>
              <a:ext uri="{FF2B5EF4-FFF2-40B4-BE49-F238E27FC236}">
                <a16:creationId xmlns:a16="http://schemas.microsoft.com/office/drawing/2014/main" id="{5804F4D4-4EF6-F4DB-C04C-21FBDFD888BB}"/>
              </a:ext>
            </a:extLst>
          </p:cNvPr>
          <p:cNvCxnSpPr>
            <a:cxnSpLocks/>
          </p:cNvCxnSpPr>
          <p:nvPr/>
        </p:nvCxnSpPr>
        <p:spPr>
          <a:xfrm>
            <a:off x="7218041" y="3388953"/>
            <a:ext cx="394047" cy="288225"/>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9">
            <a:extLst>
              <a:ext uri="{FF2B5EF4-FFF2-40B4-BE49-F238E27FC236}">
                <a16:creationId xmlns:a16="http://schemas.microsoft.com/office/drawing/2014/main" id="{A6080B79-3BB5-87C6-1D8C-A941AD1C630A}"/>
              </a:ext>
            </a:extLst>
          </p:cNvPr>
          <p:cNvCxnSpPr>
            <a:cxnSpLocks/>
          </p:cNvCxnSpPr>
          <p:nvPr/>
        </p:nvCxnSpPr>
        <p:spPr>
          <a:xfrm flipV="1">
            <a:off x="8873174" y="3996988"/>
            <a:ext cx="316782" cy="30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3">
            <a:extLst>
              <a:ext uri="{FF2B5EF4-FFF2-40B4-BE49-F238E27FC236}">
                <a16:creationId xmlns:a16="http://schemas.microsoft.com/office/drawing/2014/main" id="{D68BD4DF-B2CF-C4E1-729B-5949F844F68A}"/>
              </a:ext>
            </a:extLst>
          </p:cNvPr>
          <p:cNvSpPr/>
          <p:nvPr/>
        </p:nvSpPr>
        <p:spPr>
          <a:xfrm>
            <a:off x="2935011" y="3880615"/>
            <a:ext cx="1376558" cy="721054"/>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Mutate</a:t>
            </a:r>
            <a:endParaRPr sz="1185" b="1" dirty="0">
              <a:solidFill>
                <a:srgbClr val="FFFFFF"/>
              </a:solidFill>
              <a:latin typeface="Helvetica Neue"/>
            </a:endParaRPr>
          </a:p>
        </p:txBody>
      </p:sp>
      <p:cxnSp>
        <p:nvCxnSpPr>
          <p:cNvPr id="58" name="Connector 9">
            <a:extLst>
              <a:ext uri="{FF2B5EF4-FFF2-40B4-BE49-F238E27FC236}">
                <a16:creationId xmlns:a16="http://schemas.microsoft.com/office/drawing/2014/main" id="{00649BE6-9026-1ED6-95B8-5ACE6DBC8DA0}"/>
              </a:ext>
            </a:extLst>
          </p:cNvPr>
          <p:cNvCxnSpPr>
            <a:cxnSpLocks/>
            <a:endCxn id="57" idx="0"/>
          </p:cNvCxnSpPr>
          <p:nvPr/>
        </p:nvCxnSpPr>
        <p:spPr>
          <a:xfrm>
            <a:off x="3525531" y="3451802"/>
            <a:ext cx="97760" cy="428812"/>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3">
            <a:extLst>
              <a:ext uri="{FF2B5EF4-FFF2-40B4-BE49-F238E27FC236}">
                <a16:creationId xmlns:a16="http://schemas.microsoft.com/office/drawing/2014/main" id="{F07D2726-F71B-2646-B150-6831D71CE83C}"/>
              </a:ext>
            </a:extLst>
          </p:cNvPr>
          <p:cNvSpPr/>
          <p:nvPr/>
        </p:nvSpPr>
        <p:spPr>
          <a:xfrm>
            <a:off x="4341678" y="4536297"/>
            <a:ext cx="1376558" cy="721054"/>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Solvation</a:t>
            </a:r>
            <a:endParaRPr sz="1185" b="1" dirty="0">
              <a:solidFill>
                <a:srgbClr val="FFFFFF"/>
              </a:solidFill>
              <a:latin typeface="Helvetica Neue"/>
            </a:endParaRPr>
          </a:p>
        </p:txBody>
      </p:sp>
      <p:sp>
        <p:nvSpPr>
          <p:cNvPr id="64" name="Rounded Rectangle 3">
            <a:extLst>
              <a:ext uri="{FF2B5EF4-FFF2-40B4-BE49-F238E27FC236}">
                <a16:creationId xmlns:a16="http://schemas.microsoft.com/office/drawing/2014/main" id="{DB19A375-6C98-11CE-C549-83FE782F2C78}"/>
              </a:ext>
            </a:extLst>
          </p:cNvPr>
          <p:cNvSpPr/>
          <p:nvPr/>
        </p:nvSpPr>
        <p:spPr>
          <a:xfrm>
            <a:off x="5964531" y="4540323"/>
            <a:ext cx="1376558" cy="721054"/>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Topology</a:t>
            </a:r>
          </a:p>
          <a:p>
            <a:pPr algn="ctr"/>
            <a:r>
              <a:rPr lang="en-US" sz="1185" b="1" dirty="0">
                <a:solidFill>
                  <a:srgbClr val="FFFFFF"/>
                </a:solidFill>
                <a:latin typeface="Helvetica Neue"/>
              </a:rPr>
              <a:t>mutant</a:t>
            </a:r>
            <a:endParaRPr sz="1185" b="1" dirty="0">
              <a:solidFill>
                <a:srgbClr val="FFFFFF"/>
              </a:solidFill>
              <a:latin typeface="Helvetica Neue"/>
            </a:endParaRPr>
          </a:p>
        </p:txBody>
      </p:sp>
      <p:sp>
        <p:nvSpPr>
          <p:cNvPr id="65" name="Rounded Rectangle 7">
            <a:extLst>
              <a:ext uri="{FF2B5EF4-FFF2-40B4-BE49-F238E27FC236}">
                <a16:creationId xmlns:a16="http://schemas.microsoft.com/office/drawing/2014/main" id="{3A17FE1B-A18F-BCAD-977C-A434C7D6DE08}"/>
              </a:ext>
            </a:extLst>
          </p:cNvPr>
          <p:cNvSpPr/>
          <p:nvPr/>
        </p:nvSpPr>
        <p:spPr>
          <a:xfrm>
            <a:off x="9222458" y="4540351"/>
            <a:ext cx="1361073" cy="712943"/>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Production</a:t>
            </a:r>
          </a:p>
          <a:p>
            <a:pPr algn="ctr"/>
            <a:r>
              <a:rPr lang="en-US" sz="1185" b="1" dirty="0">
                <a:solidFill>
                  <a:srgbClr val="FFFFFF"/>
                </a:solidFill>
                <a:latin typeface="Helvetica Neue"/>
              </a:rPr>
              <a:t>mutant</a:t>
            </a:r>
            <a:endParaRPr sz="1185" b="1" dirty="0">
              <a:solidFill>
                <a:srgbClr val="FFFFFF"/>
              </a:solidFill>
              <a:latin typeface="Helvetica Neue"/>
            </a:endParaRPr>
          </a:p>
        </p:txBody>
      </p:sp>
      <p:sp>
        <p:nvSpPr>
          <p:cNvPr id="66" name="Rounded Rectangle 16">
            <a:extLst>
              <a:ext uri="{FF2B5EF4-FFF2-40B4-BE49-F238E27FC236}">
                <a16:creationId xmlns:a16="http://schemas.microsoft.com/office/drawing/2014/main" id="{352E948A-0C08-CF32-DF26-62B3DDD1F9AF}"/>
              </a:ext>
            </a:extLst>
          </p:cNvPr>
          <p:cNvSpPr/>
          <p:nvPr/>
        </p:nvSpPr>
        <p:spPr>
          <a:xfrm>
            <a:off x="7557376" y="4536297"/>
            <a:ext cx="1376554" cy="72105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lang="en-US" sz="1185" b="1" dirty="0">
                <a:solidFill>
                  <a:srgbClr val="FFFFFF"/>
                </a:solidFill>
                <a:latin typeface="Helvetica Neue"/>
              </a:rPr>
              <a:t>Equilibration</a:t>
            </a:r>
          </a:p>
          <a:p>
            <a:pPr algn="ctr"/>
            <a:r>
              <a:rPr lang="en-US" sz="1185" b="1" dirty="0">
                <a:solidFill>
                  <a:srgbClr val="FFFFFF"/>
                </a:solidFill>
                <a:latin typeface="Helvetica Neue"/>
              </a:rPr>
              <a:t>mutant</a:t>
            </a:r>
            <a:endParaRPr sz="1185" b="1" dirty="0">
              <a:solidFill>
                <a:srgbClr val="FFFFFF"/>
              </a:solidFill>
              <a:latin typeface="Helvetica Neue"/>
            </a:endParaRPr>
          </a:p>
        </p:txBody>
      </p:sp>
      <p:cxnSp>
        <p:nvCxnSpPr>
          <p:cNvPr id="67" name="Connector 9">
            <a:extLst>
              <a:ext uri="{FF2B5EF4-FFF2-40B4-BE49-F238E27FC236}">
                <a16:creationId xmlns:a16="http://schemas.microsoft.com/office/drawing/2014/main" id="{DB0EDE70-DB00-2261-0CA9-40A98BE45F7C}"/>
              </a:ext>
            </a:extLst>
          </p:cNvPr>
          <p:cNvCxnSpPr>
            <a:cxnSpLocks/>
          </p:cNvCxnSpPr>
          <p:nvPr/>
        </p:nvCxnSpPr>
        <p:spPr>
          <a:xfrm>
            <a:off x="4064507" y="4536297"/>
            <a:ext cx="246806" cy="2451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Connector 9">
            <a:extLst>
              <a:ext uri="{FF2B5EF4-FFF2-40B4-BE49-F238E27FC236}">
                <a16:creationId xmlns:a16="http://schemas.microsoft.com/office/drawing/2014/main" id="{630C5610-5E94-50AC-E611-0B0638A53296}"/>
              </a:ext>
            </a:extLst>
          </p:cNvPr>
          <p:cNvCxnSpPr>
            <a:cxnSpLocks/>
          </p:cNvCxnSpPr>
          <p:nvPr/>
        </p:nvCxnSpPr>
        <p:spPr>
          <a:xfrm flipV="1">
            <a:off x="5654019" y="4881246"/>
            <a:ext cx="339873" cy="64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Connector 9">
            <a:extLst>
              <a:ext uri="{FF2B5EF4-FFF2-40B4-BE49-F238E27FC236}">
                <a16:creationId xmlns:a16="http://schemas.microsoft.com/office/drawing/2014/main" id="{BB56D25A-601C-CD7B-F4D1-5FA6BC2CD448}"/>
              </a:ext>
            </a:extLst>
          </p:cNvPr>
          <p:cNvCxnSpPr>
            <a:cxnSpLocks/>
          </p:cNvCxnSpPr>
          <p:nvPr/>
        </p:nvCxnSpPr>
        <p:spPr>
          <a:xfrm flipV="1">
            <a:off x="7217503" y="4876932"/>
            <a:ext cx="339873" cy="64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3" name="Connector 9">
            <a:extLst>
              <a:ext uri="{FF2B5EF4-FFF2-40B4-BE49-F238E27FC236}">
                <a16:creationId xmlns:a16="http://schemas.microsoft.com/office/drawing/2014/main" id="{40AB9FFA-EAC9-A6F2-B049-21949FC66763}"/>
              </a:ext>
            </a:extLst>
          </p:cNvPr>
          <p:cNvCxnSpPr>
            <a:cxnSpLocks/>
          </p:cNvCxnSpPr>
          <p:nvPr/>
        </p:nvCxnSpPr>
        <p:spPr>
          <a:xfrm flipV="1">
            <a:off x="8861628" y="4884474"/>
            <a:ext cx="339873" cy="6454"/>
          </a:xfrm>
          <a:prstGeom prst="line">
            <a:avLst/>
          </a:prstGeom>
          <a:ln w="508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7" name="図 6">
            <a:extLst>
              <a:ext uri="{FF2B5EF4-FFF2-40B4-BE49-F238E27FC236}">
                <a16:creationId xmlns:a16="http://schemas.microsoft.com/office/drawing/2014/main" id="{1A85A655-A38F-CD26-19BB-0849A47F7E19}"/>
              </a:ext>
            </a:extLst>
          </p:cNvPr>
          <p:cNvPicPr>
            <a:picLocks noChangeAspect="1"/>
          </p:cNvPicPr>
          <p:nvPr/>
        </p:nvPicPr>
        <p:blipFill>
          <a:blip r:embed="rId3"/>
          <a:stretch>
            <a:fillRect/>
          </a:stretch>
        </p:blipFill>
        <p:spPr>
          <a:xfrm>
            <a:off x="5710378" y="1458446"/>
            <a:ext cx="2048661" cy="987747"/>
          </a:xfrm>
          <a:prstGeom prst="rect">
            <a:avLst/>
          </a:prstGeom>
        </p:spPr>
      </p:pic>
      <p:pic>
        <p:nvPicPr>
          <p:cNvPr id="8" name="Picture 2">
            <a:extLst>
              <a:ext uri="{FF2B5EF4-FFF2-40B4-BE49-F238E27FC236}">
                <a16:creationId xmlns:a16="http://schemas.microsoft.com/office/drawing/2014/main" id="{083F5E58-7109-9ADC-4D83-A2F21B3A321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83262"/>
          <a:stretch>
            <a:fillRect/>
          </a:stretch>
        </p:blipFill>
        <p:spPr bwMode="auto">
          <a:xfrm>
            <a:off x="1280483" y="1197574"/>
            <a:ext cx="970229" cy="153974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12FD9C8B-0A86-C449-5003-D301639E3F0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1106" r="45864"/>
          <a:stretch>
            <a:fillRect/>
          </a:stretch>
        </p:blipFill>
        <p:spPr bwMode="auto">
          <a:xfrm>
            <a:off x="2973897" y="1197573"/>
            <a:ext cx="755262" cy="153974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331D97A8-C344-DA35-C90D-844C1CAD4AC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7474" r="23265"/>
          <a:stretch>
            <a:fillRect/>
          </a:stretch>
        </p:blipFill>
        <p:spPr bwMode="auto">
          <a:xfrm>
            <a:off x="4439274" y="1197573"/>
            <a:ext cx="1116429" cy="1539748"/>
          </a:xfrm>
          <a:prstGeom prst="rect">
            <a:avLst/>
          </a:prstGeom>
          <a:noFill/>
          <a:extLst>
            <a:ext uri="{909E8E84-426E-40DD-AFC4-6F175D3DCCD1}">
              <a14:hiddenFill xmlns:a14="http://schemas.microsoft.com/office/drawing/2010/main">
                <a:solidFill>
                  <a:srgbClr val="FFFFFF"/>
                </a:solidFill>
              </a14:hiddenFill>
            </a:ext>
          </a:extLst>
        </p:spPr>
      </p:pic>
      <p:sp>
        <p:nvSpPr>
          <p:cNvPr id="74" name="TextBox 73"/>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乱数、温度、変異などを変えた比較は別の分岐として保存する。共通の入力と変更した条件を区別する。</a:t>
            </a:r>
          </a:p>
        </p:txBody>
      </p:sp>
      <p:sp>
        <p:nvSpPr>
          <p:cNvPr id="75" name="TextBox 74"/>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再実行では、完了済みの根拠を使って続きへ進む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dag.png"/>
          <p:cNvPicPr>
            <a:picLocks noChangeAspect="1"/>
          </p:cNvPicPr>
          <p:nvPr/>
        </p:nvPicPr>
        <p:blipFill>
          <a:blip r:embed="rId3"/>
          <a:stretch>
            <a:fillRect/>
          </a:stretch>
        </p:blipFill>
        <p:spPr>
          <a:xfrm>
            <a:off x="7570953" y="1508760"/>
            <a:ext cx="3466133"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inspect_jobで状態と成果物を読む。explain_nodeで次の段階の入力条件を確認する。</a:t>
            </a:r>
          </a:p>
          <a:p>
            <a:pPr algn="l">
              <a:lnSpc>
                <a:spcPts val="2497"/>
              </a:lnSpc>
            </a:pPr>
            <a:r>
              <a:rPr sz="1850" b="0" lang="ja-JP" altLang="en-US">
                <a:solidFill>
                  <a:srgbClr val="333333"/>
                </a:solidFill>
                <a:latin typeface="Noto Sans JP"/>
                <a:ea typeface="Noto Sans JP"/>
              </a:rPr>
              <a:t>trace_failureで失敗した段階と理由を追う。</a:t>
            </a:r>
          </a:p>
          <a:p>
            <a:pPr algn="l">
              <a:lnSpc>
                <a:spcPts val="2497"/>
              </a:lnSpc>
            </a:pPr>
            <a:r>
              <a:rPr sz="1850" b="0" lang="ja-JP" altLang="en-US">
                <a:solidFill>
                  <a:srgbClr val="333333"/>
                </a:solidFill>
                <a:latin typeface="Noto Sans JP"/>
                <a:ea typeface="Noto Sans JP"/>
              </a:rPr>
              <a:t>ファイルが存在するだけで完了とせず、正しい入力に対応した出力かを検査する。</a:t>
            </a:r>
          </a:p>
          <a:p>
            <a:pPr algn="l">
              <a:lnSpc>
                <a:spcPts val="2497"/>
              </a:lnSpc>
            </a:pPr>
            <a:r>
              <a:rPr sz="1850" b="0" lang="ja-JP" altLang="en-US">
                <a:solidFill>
                  <a:srgbClr val="333333"/>
                </a:solidFill>
                <a:latin typeface="Noto Sans JP"/>
                <a:ea typeface="Noto Sans JP"/>
              </a:rPr>
              <a:t>2026年10月11日のローカルREADMEにある操作の役割。</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44" name="正方形/長方形 43">
            <a:extLst>
              <a:ext uri="{FF2B5EF4-FFF2-40B4-BE49-F238E27FC236}">
                <a16:creationId xmlns:a16="http://schemas.microsoft.com/office/drawing/2014/main" id="{D2E07E31-8C6C-44BA-A6E1-53DC087CFA5D}"/>
              </a:ext>
            </a:extLst>
          </p:cNvPr>
          <p:cNvSpPr>
            <a:spLocks noGrp="1"/>
          </p:cNvSpPr>
          <p:nvPr/>
        </p:nvSpPr>
        <p:spPr>
          <a:xfrm>
            <a:off x="934567" y="54864"/>
            <a:ext cx="10322560" cy="580644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4DD1ED44-AFC8-4819-AD15-2576724AB86B}"/>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2637928F-9B4E-4C21-BEE2-9DB95D64F8F0}"/>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CB3AA937-F196-46BB-A87A-0A9F8A92D338}"/>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18A113B-1119-474C-9543-E5DD4D632664}"/>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sz="850" b="1">
                <a:solidFill>
                  <a:srgbClr val="0E3A75"/>
                </a:solidFill>
                <a:latin typeface="Aptos"/>
                <a:ea typeface="Aptos"/>
                <a:cs typeface="Aptos"/>
              </a:rPr>
              <a:t>CHECKS BEFORE RUNNING MD</a:t>
            </a:r>
          </a:p>
        </p:txBody>
      </p:sp>
      <p:sp>
        <p:nvSpPr>
          <p:cNvPr id="6" name="正方形/長方形 5">
            <a:extLst>
              <a:ext uri="{FF2B5EF4-FFF2-40B4-BE49-F238E27FC236}">
                <a16:creationId xmlns:a16="http://schemas.microsoft.com/office/drawing/2014/main" id="{F5A753B3-E282-4DDC-8B72-36C5A3C01C9D}"/>
              </a:ext>
            </a:extLst>
          </p:cNvPr>
          <p:cNvSpPr>
            <a:spLocks noGrp="1"/>
          </p:cNvSpPr>
          <p:nvPr/>
        </p:nvSpPr>
        <p:spPr>
          <a:xfrm>
            <a:off x="1321663" y="716153"/>
            <a:ext cx="9306433" cy="74193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lang="en-US" sz="2254" b="1" dirty="0">
                <a:solidFill>
                  <a:srgbClr val="172033"/>
                </a:solidFill>
                <a:latin typeface="Aptos Display"/>
                <a:ea typeface="Aptos Display"/>
                <a:cs typeface="Aptos Display"/>
              </a:rPr>
              <a:t>CLI</a:t>
            </a:r>
            <a:r>
              <a:rPr sz="2254" b="1" dirty="0">
                <a:solidFill>
                  <a:srgbClr val="172033"/>
                </a:solidFill>
                <a:latin typeface="Aptos Display"/>
                <a:ea typeface="Aptos Display"/>
                <a:cs typeface="Aptos Display"/>
              </a:rPr>
              <a:t> </a:t>
            </a:r>
            <a:r>
              <a:rPr lang="en-US" sz="2254" b="1" dirty="0">
                <a:solidFill>
                  <a:srgbClr val="172033"/>
                </a:solidFill>
                <a:latin typeface="Aptos Display"/>
                <a:ea typeface="Aptos Display"/>
                <a:cs typeface="Aptos Display"/>
              </a:rPr>
              <a:t>stops</a:t>
            </a:r>
            <a:r>
              <a:rPr sz="2254" b="1" dirty="0">
                <a:solidFill>
                  <a:srgbClr val="172033"/>
                </a:solidFill>
                <a:latin typeface="Aptos Display"/>
                <a:ea typeface="Aptos Display"/>
                <a:cs typeface="Aptos Display"/>
              </a:rPr>
              <a:t> risky chemistry choices instead of quietly continuing.</a:t>
            </a:r>
          </a:p>
        </p:txBody>
      </p:sp>
      <p:sp>
        <p:nvSpPr>
          <p:cNvPr id="9" name="正方形/長方形 8">
            <a:extLst>
              <a:ext uri="{FF2B5EF4-FFF2-40B4-BE49-F238E27FC236}">
                <a16:creationId xmlns:a16="http://schemas.microsoft.com/office/drawing/2014/main" id="{91567085-303E-4DF6-810B-8A9B64E05E3B}"/>
              </a:ext>
            </a:extLst>
          </p:cNvPr>
          <p:cNvSpPr>
            <a:spLocks noGrp="1"/>
          </p:cNvSpPr>
          <p:nvPr/>
        </p:nvSpPr>
        <p:spPr>
          <a:xfrm>
            <a:off x="1515211" y="1587119"/>
            <a:ext cx="4072572" cy="2548382"/>
          </a:xfrm>
          <a:prstGeom prst="rect">
            <a:avLst/>
          </a:prstGeom>
          <a:solidFill>
            <a:srgbClr val="FCF7F6"/>
          </a:solidFill>
          <a:ln w="13335">
            <a:solidFill>
              <a:srgbClr val="D4DAE2"/>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FDCEAD6B-6ABB-4437-8B15-3533F4E1FC00}"/>
              </a:ext>
            </a:extLst>
          </p:cNvPr>
          <p:cNvSpPr>
            <a:spLocks noGrp="1"/>
          </p:cNvSpPr>
          <p:nvPr/>
        </p:nvSpPr>
        <p:spPr>
          <a:xfrm>
            <a:off x="1515211" y="1587119"/>
            <a:ext cx="4072572" cy="56451"/>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2EAE0859-1C85-4451-B073-10E3EFA2E5C4}"/>
              </a:ext>
            </a:extLst>
          </p:cNvPr>
          <p:cNvSpPr>
            <a:spLocks noGrp="1"/>
          </p:cNvSpPr>
          <p:nvPr/>
        </p:nvSpPr>
        <p:spPr>
          <a:xfrm>
            <a:off x="1660372" y="1764538"/>
            <a:ext cx="3782250" cy="25806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9F423A"/>
                </a:solidFill>
                <a:latin typeface="Aptos"/>
                <a:ea typeface="Aptos"/>
                <a:cs typeface="Aptos"/>
              </a:defRPr>
            </a:pPr>
            <a:r>
              <a:rPr sz="1302" b="1">
                <a:solidFill>
                  <a:srgbClr val="9F423A"/>
                </a:solidFill>
                <a:latin typeface="Aptos"/>
                <a:ea typeface="Aptos"/>
                <a:cs typeface="Aptos"/>
              </a:rPr>
              <a:t>Structured guardrail result</a:t>
            </a:r>
          </a:p>
        </p:txBody>
      </p:sp>
      <p:sp>
        <p:nvSpPr>
          <p:cNvPr id="12" name="正方形/長方形 11">
            <a:extLst>
              <a:ext uri="{FF2B5EF4-FFF2-40B4-BE49-F238E27FC236}">
                <a16:creationId xmlns:a16="http://schemas.microsoft.com/office/drawing/2014/main" id="{F5FD942B-23F1-4BA3-BA95-801815216CF2}"/>
              </a:ext>
            </a:extLst>
          </p:cNvPr>
          <p:cNvSpPr>
            <a:spLocks noGrp="1"/>
          </p:cNvSpPr>
          <p:nvPr/>
        </p:nvSpPr>
        <p:spPr>
          <a:xfrm>
            <a:off x="1676501" y="2175827"/>
            <a:ext cx="56451" cy="56451"/>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E4870F0F-DCE0-4C8B-A0FE-CAAFB8FA583E}"/>
              </a:ext>
            </a:extLst>
          </p:cNvPr>
          <p:cNvSpPr>
            <a:spLocks noGrp="1"/>
          </p:cNvSpPr>
          <p:nvPr/>
        </p:nvSpPr>
        <p:spPr>
          <a:xfrm>
            <a:off x="1805533" y="2103247"/>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3" b="0">
                <a:solidFill>
                  <a:srgbClr val="5B6573"/>
                </a:solidFill>
                <a:latin typeface="Aptos"/>
                <a:ea typeface="Aptos"/>
                <a:cs typeface="Aptos"/>
              </a:defRPr>
            </a:pPr>
            <a:r>
              <a:rPr sz="1143" b="0">
                <a:solidFill>
                  <a:srgbClr val="5B6573"/>
                </a:solidFill>
                <a:latin typeface="Aptos"/>
                <a:ea typeface="Aptos"/>
                <a:cs typeface="Aptos"/>
              </a:rPr>
              <a:t>field</a:t>
            </a:r>
          </a:p>
        </p:txBody>
      </p:sp>
      <p:sp>
        <p:nvSpPr>
          <p:cNvPr id="14" name="正方形/長方形 13">
            <a:extLst>
              <a:ext uri="{FF2B5EF4-FFF2-40B4-BE49-F238E27FC236}">
                <a16:creationId xmlns:a16="http://schemas.microsoft.com/office/drawing/2014/main" id="{021F6A90-285C-4C5A-A6FE-730D9089DBBD}"/>
              </a:ext>
            </a:extLst>
          </p:cNvPr>
          <p:cNvSpPr>
            <a:spLocks noGrp="1"/>
          </p:cNvSpPr>
          <p:nvPr/>
        </p:nvSpPr>
        <p:spPr>
          <a:xfrm>
            <a:off x="1676501" y="2466149"/>
            <a:ext cx="56451" cy="56451"/>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EEC00260-D9CD-4A71-AD1F-989EA89C2372}"/>
              </a:ext>
            </a:extLst>
          </p:cNvPr>
          <p:cNvSpPr>
            <a:spLocks noGrp="1"/>
          </p:cNvSpPr>
          <p:nvPr/>
        </p:nvSpPr>
        <p:spPr>
          <a:xfrm>
            <a:off x="1805533" y="2393569"/>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3" b="0">
                <a:solidFill>
                  <a:srgbClr val="5B6573"/>
                </a:solidFill>
                <a:latin typeface="Aptos"/>
                <a:ea typeface="Aptos"/>
                <a:cs typeface="Aptos"/>
              </a:defRPr>
            </a:pPr>
            <a:r>
              <a:rPr sz="1143" b="0">
                <a:solidFill>
                  <a:srgbClr val="5B6573"/>
                </a:solidFill>
                <a:latin typeface="Aptos"/>
                <a:ea typeface="Aptos"/>
                <a:cs typeface="Aptos"/>
              </a:rPr>
              <a:t>message</a:t>
            </a:r>
          </a:p>
        </p:txBody>
      </p:sp>
      <p:sp>
        <p:nvSpPr>
          <p:cNvPr id="16" name="正方形/長方形 15">
            <a:extLst>
              <a:ext uri="{FF2B5EF4-FFF2-40B4-BE49-F238E27FC236}">
                <a16:creationId xmlns:a16="http://schemas.microsoft.com/office/drawing/2014/main" id="{A763EC78-40DC-40EE-B806-9E04FFCED22C}"/>
              </a:ext>
            </a:extLst>
          </p:cNvPr>
          <p:cNvSpPr>
            <a:spLocks noGrp="1"/>
          </p:cNvSpPr>
          <p:nvPr/>
        </p:nvSpPr>
        <p:spPr>
          <a:xfrm>
            <a:off x="1676501" y="2756471"/>
            <a:ext cx="56451" cy="56451"/>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358A48B3-AA0B-45D5-8736-CD57A8D4FC3B}"/>
              </a:ext>
            </a:extLst>
          </p:cNvPr>
          <p:cNvSpPr>
            <a:spLocks noGrp="1"/>
          </p:cNvSpPr>
          <p:nvPr/>
        </p:nvSpPr>
        <p:spPr>
          <a:xfrm>
            <a:off x="1805533" y="2683891"/>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3" b="0">
                <a:solidFill>
                  <a:srgbClr val="5B6573"/>
                </a:solidFill>
                <a:latin typeface="Aptos"/>
                <a:ea typeface="Aptos"/>
                <a:cs typeface="Aptos"/>
              </a:defRPr>
            </a:pPr>
            <a:r>
              <a:rPr sz="1143" b="0">
                <a:solidFill>
                  <a:srgbClr val="5B6573"/>
                </a:solidFill>
                <a:latin typeface="Aptos"/>
                <a:ea typeface="Aptos"/>
                <a:cs typeface="Aptos"/>
              </a:rPr>
              <a:t>severity</a:t>
            </a:r>
          </a:p>
        </p:txBody>
      </p:sp>
      <p:sp>
        <p:nvSpPr>
          <p:cNvPr id="18" name="正方形/長方形 17">
            <a:extLst>
              <a:ext uri="{FF2B5EF4-FFF2-40B4-BE49-F238E27FC236}">
                <a16:creationId xmlns:a16="http://schemas.microsoft.com/office/drawing/2014/main" id="{85C7C284-591B-41E2-90ED-DEC2C5066AA9}"/>
              </a:ext>
            </a:extLst>
          </p:cNvPr>
          <p:cNvSpPr>
            <a:spLocks noGrp="1"/>
          </p:cNvSpPr>
          <p:nvPr/>
        </p:nvSpPr>
        <p:spPr>
          <a:xfrm>
            <a:off x="1676501" y="3046793"/>
            <a:ext cx="56451" cy="56451"/>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93C85E0F-3AE1-4A6C-8003-EB97B3BAEBA6}"/>
              </a:ext>
            </a:extLst>
          </p:cNvPr>
          <p:cNvSpPr>
            <a:spLocks noGrp="1"/>
          </p:cNvSpPr>
          <p:nvPr/>
        </p:nvSpPr>
        <p:spPr>
          <a:xfrm>
            <a:off x="1805533" y="2974213"/>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3" b="0">
                <a:solidFill>
                  <a:srgbClr val="5B6573"/>
                </a:solidFill>
                <a:latin typeface="Aptos"/>
                <a:ea typeface="Aptos"/>
                <a:cs typeface="Aptos"/>
              </a:defRPr>
            </a:pPr>
            <a:r>
              <a:rPr sz="1143" b="0">
                <a:solidFill>
                  <a:srgbClr val="5B6573"/>
                </a:solidFill>
                <a:latin typeface="Aptos"/>
                <a:ea typeface="Aptos"/>
                <a:cs typeface="Aptos"/>
              </a:rPr>
              <a:t>actual / expected</a:t>
            </a:r>
          </a:p>
        </p:txBody>
      </p:sp>
      <p:sp>
        <p:nvSpPr>
          <p:cNvPr id="20" name="正方形/長方形 19">
            <a:extLst>
              <a:ext uri="{FF2B5EF4-FFF2-40B4-BE49-F238E27FC236}">
                <a16:creationId xmlns:a16="http://schemas.microsoft.com/office/drawing/2014/main" id="{ED16D180-0695-4EB1-A44B-6CC56CD7E31E}"/>
              </a:ext>
            </a:extLst>
          </p:cNvPr>
          <p:cNvSpPr>
            <a:spLocks noGrp="1"/>
          </p:cNvSpPr>
          <p:nvPr/>
        </p:nvSpPr>
        <p:spPr>
          <a:xfrm>
            <a:off x="1676501" y="3337115"/>
            <a:ext cx="56451" cy="56451"/>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B5975E1B-0BFD-4891-A1A0-DF178AA04B19}"/>
              </a:ext>
            </a:extLst>
          </p:cNvPr>
          <p:cNvSpPr>
            <a:spLocks noGrp="1"/>
          </p:cNvSpPr>
          <p:nvPr/>
        </p:nvSpPr>
        <p:spPr>
          <a:xfrm>
            <a:off x="1805533" y="3264535"/>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3" b="0">
                <a:solidFill>
                  <a:srgbClr val="5B6573"/>
                </a:solidFill>
                <a:latin typeface="Aptos"/>
                <a:ea typeface="Aptos"/>
                <a:cs typeface="Aptos"/>
              </a:defRPr>
            </a:pPr>
            <a:r>
              <a:rPr sz="1143" b="0">
                <a:solidFill>
                  <a:srgbClr val="5B6573"/>
                </a:solidFill>
                <a:latin typeface="Aptos"/>
                <a:ea typeface="Aptos"/>
                <a:cs typeface="Aptos"/>
              </a:rPr>
              <a:t>suggested_fix</a:t>
            </a:r>
          </a:p>
        </p:txBody>
      </p:sp>
      <p:sp>
        <p:nvSpPr>
          <p:cNvPr id="22" name="正方形/長方形 21">
            <a:extLst>
              <a:ext uri="{FF2B5EF4-FFF2-40B4-BE49-F238E27FC236}">
                <a16:creationId xmlns:a16="http://schemas.microsoft.com/office/drawing/2014/main" id="{586F8643-2915-480F-B43E-A704AACA87ED}"/>
              </a:ext>
            </a:extLst>
          </p:cNvPr>
          <p:cNvSpPr>
            <a:spLocks noGrp="1"/>
          </p:cNvSpPr>
          <p:nvPr/>
        </p:nvSpPr>
        <p:spPr>
          <a:xfrm>
            <a:off x="1676501" y="3627437"/>
            <a:ext cx="56451" cy="56451"/>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F54EA559-1997-441F-9BE8-F8F7A38458AB}"/>
              </a:ext>
            </a:extLst>
          </p:cNvPr>
          <p:cNvSpPr>
            <a:spLocks noGrp="1"/>
          </p:cNvSpPr>
          <p:nvPr/>
        </p:nvSpPr>
        <p:spPr>
          <a:xfrm>
            <a:off x="1805533" y="3554857"/>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3" b="0">
                <a:solidFill>
                  <a:srgbClr val="5B6573"/>
                </a:solidFill>
                <a:latin typeface="Aptos"/>
                <a:ea typeface="Aptos"/>
                <a:cs typeface="Aptos"/>
              </a:defRPr>
            </a:pPr>
            <a:r>
              <a:rPr sz="1143" b="0">
                <a:solidFill>
                  <a:srgbClr val="5B6573"/>
                </a:solidFill>
                <a:latin typeface="Aptos"/>
                <a:ea typeface="Aptos"/>
                <a:cs typeface="Aptos"/>
              </a:rPr>
              <a:t>stable code</a:t>
            </a:r>
          </a:p>
        </p:txBody>
      </p:sp>
      <p:sp>
        <p:nvSpPr>
          <p:cNvPr id="24" name="正方形/長方形 23">
            <a:extLst>
              <a:ext uri="{FF2B5EF4-FFF2-40B4-BE49-F238E27FC236}">
                <a16:creationId xmlns:a16="http://schemas.microsoft.com/office/drawing/2014/main" id="{7470323F-B0B3-432D-927A-D44C5C709ADC}"/>
              </a:ext>
            </a:extLst>
          </p:cNvPr>
          <p:cNvSpPr>
            <a:spLocks noGrp="1"/>
          </p:cNvSpPr>
          <p:nvPr/>
        </p:nvSpPr>
        <p:spPr>
          <a:xfrm>
            <a:off x="1821662" y="4216146"/>
            <a:ext cx="3306445" cy="70967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2A3DB467-EDFC-4AED-835F-1E114A38455E}"/>
              </a:ext>
            </a:extLst>
          </p:cNvPr>
          <p:cNvSpPr>
            <a:spLocks noGrp="1"/>
          </p:cNvSpPr>
          <p:nvPr/>
        </p:nvSpPr>
        <p:spPr>
          <a:xfrm>
            <a:off x="1950694" y="4329049"/>
            <a:ext cx="3048381" cy="16129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7" b="0">
                <a:solidFill>
                  <a:srgbClr val="E8EEF8"/>
                </a:solidFill>
                <a:latin typeface="Aptos Mono"/>
                <a:ea typeface="Aptos Mono"/>
                <a:cs typeface="Aptos Mono"/>
              </a:defRPr>
            </a:pPr>
            <a:r>
              <a:rPr sz="857" b="0">
                <a:solidFill>
                  <a:srgbClr val="E8EEF8"/>
                </a:solidFill>
                <a:latin typeface="Aptos Mono"/>
                <a:ea typeface="Aptos Mono"/>
                <a:cs typeface="Aptos Mono"/>
              </a:rPr>
              <a:t>code: forcefield_water_blocked</a:t>
            </a:r>
          </a:p>
        </p:txBody>
      </p:sp>
      <p:sp>
        <p:nvSpPr>
          <p:cNvPr id="26" name="正方形/長方形 25">
            <a:extLst>
              <a:ext uri="{FF2B5EF4-FFF2-40B4-BE49-F238E27FC236}">
                <a16:creationId xmlns:a16="http://schemas.microsoft.com/office/drawing/2014/main" id="{2C462F96-58C6-4BA9-9974-D76914A3F26E}"/>
              </a:ext>
            </a:extLst>
          </p:cNvPr>
          <p:cNvSpPr>
            <a:spLocks noGrp="1"/>
          </p:cNvSpPr>
          <p:nvPr/>
        </p:nvSpPr>
        <p:spPr>
          <a:xfrm>
            <a:off x="1950694" y="4506468"/>
            <a:ext cx="3048381" cy="16129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7" b="0">
                <a:solidFill>
                  <a:srgbClr val="E8EEF8"/>
                </a:solidFill>
                <a:latin typeface="Aptos Mono"/>
                <a:ea typeface="Aptos Mono"/>
                <a:cs typeface="Aptos Mono"/>
              </a:defRPr>
            </a:pPr>
            <a:r>
              <a:rPr sz="857" b="0">
                <a:solidFill>
                  <a:srgbClr val="E8EEF8"/>
                </a:solidFill>
                <a:latin typeface="Aptos Mono"/>
                <a:ea typeface="Aptos Mono"/>
                <a:cs typeface="Aptos Mono"/>
              </a:rPr>
              <a:t>actual: ff19SB + tip3p</a:t>
            </a:r>
          </a:p>
        </p:txBody>
      </p:sp>
      <p:sp>
        <p:nvSpPr>
          <p:cNvPr id="27" name="正方形/長方形 26">
            <a:extLst>
              <a:ext uri="{FF2B5EF4-FFF2-40B4-BE49-F238E27FC236}">
                <a16:creationId xmlns:a16="http://schemas.microsoft.com/office/drawing/2014/main" id="{E07BCE53-222F-4065-A00F-5EA331809B3F}"/>
              </a:ext>
            </a:extLst>
          </p:cNvPr>
          <p:cNvSpPr>
            <a:spLocks noGrp="1"/>
          </p:cNvSpPr>
          <p:nvPr/>
        </p:nvSpPr>
        <p:spPr>
          <a:xfrm>
            <a:off x="1950694" y="4683887"/>
            <a:ext cx="3048381" cy="16129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7" b="0">
                <a:solidFill>
                  <a:srgbClr val="E8EEF8"/>
                </a:solidFill>
                <a:latin typeface="Aptos Mono"/>
                <a:ea typeface="Aptos Mono"/>
                <a:cs typeface="Aptos Mono"/>
              </a:defRPr>
            </a:pPr>
            <a:r>
              <a:rPr sz="857" b="0">
                <a:solidFill>
                  <a:srgbClr val="E8EEF8"/>
                </a:solidFill>
                <a:latin typeface="Aptos Mono"/>
                <a:ea typeface="Aptos Mono"/>
                <a:cs typeface="Aptos Mono"/>
              </a:rPr>
              <a:t>expected: ff19SB + OPC</a:t>
            </a:r>
          </a:p>
        </p:txBody>
      </p:sp>
      <p:sp>
        <p:nvSpPr>
          <p:cNvPr id="28" name="正方形/長方形 27">
            <a:extLst>
              <a:ext uri="{FF2B5EF4-FFF2-40B4-BE49-F238E27FC236}">
                <a16:creationId xmlns:a16="http://schemas.microsoft.com/office/drawing/2014/main" id="{1F871A56-684A-4F78-8198-D03F2EFFDAA1}"/>
              </a:ext>
            </a:extLst>
          </p:cNvPr>
          <p:cNvSpPr>
            <a:spLocks noGrp="1"/>
          </p:cNvSpPr>
          <p:nvPr/>
        </p:nvSpPr>
        <p:spPr>
          <a:xfrm>
            <a:off x="6273266" y="1587119"/>
            <a:ext cx="4072572" cy="2548382"/>
          </a:xfrm>
          <a:prstGeom prst="rect">
            <a:avLst/>
          </a:prstGeom>
          <a:solidFill>
            <a:srgbClr val="F7FAFD"/>
          </a:solidFill>
          <a:ln w="13335">
            <a:solidFill>
              <a:srgbClr val="D4DAE2"/>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B6FDE321-B757-485E-ADF4-32D477A81E22}"/>
              </a:ext>
            </a:extLst>
          </p:cNvPr>
          <p:cNvSpPr>
            <a:spLocks noGrp="1"/>
          </p:cNvSpPr>
          <p:nvPr/>
        </p:nvSpPr>
        <p:spPr>
          <a:xfrm>
            <a:off x="6273266" y="1587119"/>
            <a:ext cx="4072572" cy="5645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15998796-A069-4E31-819D-25599120ED1D}"/>
              </a:ext>
            </a:extLst>
          </p:cNvPr>
          <p:cNvSpPr>
            <a:spLocks noGrp="1"/>
          </p:cNvSpPr>
          <p:nvPr/>
        </p:nvSpPr>
        <p:spPr>
          <a:xfrm>
            <a:off x="6418427" y="1764538"/>
            <a:ext cx="3782250" cy="25806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0E3A75"/>
                </a:solidFill>
                <a:latin typeface="Aptos"/>
                <a:ea typeface="Aptos"/>
                <a:cs typeface="Aptos"/>
              </a:defRPr>
            </a:pPr>
            <a:r>
              <a:rPr sz="1302" b="1">
                <a:solidFill>
                  <a:srgbClr val="0E3A75"/>
                </a:solidFill>
                <a:latin typeface="Aptos"/>
                <a:ea typeface="Aptos"/>
                <a:cs typeface="Aptos"/>
              </a:rPr>
              <a:t>Topology contract</a:t>
            </a:r>
          </a:p>
        </p:txBody>
      </p:sp>
      <p:sp>
        <p:nvSpPr>
          <p:cNvPr id="31" name="正方形/長方形 30">
            <a:extLst>
              <a:ext uri="{FF2B5EF4-FFF2-40B4-BE49-F238E27FC236}">
                <a16:creationId xmlns:a16="http://schemas.microsoft.com/office/drawing/2014/main" id="{2DA8E7B9-D1B3-474E-B4CA-DAEF5DA0C1BD}"/>
              </a:ext>
            </a:extLst>
          </p:cNvPr>
          <p:cNvSpPr>
            <a:spLocks noGrp="1"/>
          </p:cNvSpPr>
          <p:nvPr/>
        </p:nvSpPr>
        <p:spPr>
          <a:xfrm>
            <a:off x="6434556" y="2175827"/>
            <a:ext cx="56451" cy="5645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653C45DE-86A4-4E20-9985-35166FF03A84}"/>
              </a:ext>
            </a:extLst>
          </p:cNvPr>
          <p:cNvSpPr>
            <a:spLocks noGrp="1"/>
          </p:cNvSpPr>
          <p:nvPr/>
        </p:nvSpPr>
        <p:spPr>
          <a:xfrm>
            <a:off x="6563588" y="2103247"/>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9" b="0">
                <a:solidFill>
                  <a:srgbClr val="5B6573"/>
                </a:solidFill>
                <a:latin typeface="Aptos"/>
                <a:ea typeface="Aptos"/>
                <a:cs typeface="Aptos"/>
              </a:defRPr>
            </a:pPr>
            <a:r>
              <a:rPr sz="1079" b="0">
                <a:solidFill>
                  <a:srgbClr val="5B6573"/>
                </a:solidFill>
                <a:latin typeface="Aptos"/>
                <a:ea typeface="Aptos"/>
                <a:cs typeface="Aptos"/>
              </a:rPr>
              <a:t>prep supplies chemistry and records</a:t>
            </a:r>
          </a:p>
        </p:txBody>
      </p:sp>
      <p:sp>
        <p:nvSpPr>
          <p:cNvPr id="33" name="正方形/長方形 32">
            <a:extLst>
              <a:ext uri="{FF2B5EF4-FFF2-40B4-BE49-F238E27FC236}">
                <a16:creationId xmlns:a16="http://schemas.microsoft.com/office/drawing/2014/main" id="{73E4156E-60ED-4C29-A081-50E24FF61E96}"/>
              </a:ext>
            </a:extLst>
          </p:cNvPr>
          <p:cNvSpPr>
            <a:spLocks noGrp="1"/>
          </p:cNvSpPr>
          <p:nvPr/>
        </p:nvSpPr>
        <p:spPr>
          <a:xfrm>
            <a:off x="6434556" y="2546794"/>
            <a:ext cx="56451" cy="5645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CEF9246C-D6DD-4F75-B2B9-DCF68531AFBD}"/>
              </a:ext>
            </a:extLst>
          </p:cNvPr>
          <p:cNvSpPr>
            <a:spLocks noGrp="1"/>
          </p:cNvSpPr>
          <p:nvPr/>
        </p:nvSpPr>
        <p:spPr>
          <a:xfrm>
            <a:off x="6563588" y="2474214"/>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9" b="0">
                <a:solidFill>
                  <a:srgbClr val="5B6573"/>
                </a:solidFill>
                <a:latin typeface="Aptos"/>
                <a:ea typeface="Aptos"/>
                <a:cs typeface="Aptos"/>
              </a:defRPr>
            </a:pPr>
            <a:r>
              <a:rPr sz="1079" b="0">
                <a:solidFill>
                  <a:srgbClr val="5B6573"/>
                </a:solidFill>
                <a:latin typeface="Aptos"/>
                <a:ea typeface="Aptos"/>
                <a:cs typeface="Aptos"/>
              </a:rPr>
              <a:t>topo resolves force fields and parameters</a:t>
            </a:r>
          </a:p>
        </p:txBody>
      </p:sp>
      <p:sp>
        <p:nvSpPr>
          <p:cNvPr id="35" name="正方形/長方形 34">
            <a:extLst>
              <a:ext uri="{FF2B5EF4-FFF2-40B4-BE49-F238E27FC236}">
                <a16:creationId xmlns:a16="http://schemas.microsoft.com/office/drawing/2014/main" id="{ABD742E2-EB86-4A86-9ADF-1157A540350D}"/>
              </a:ext>
            </a:extLst>
          </p:cNvPr>
          <p:cNvSpPr>
            <a:spLocks noGrp="1"/>
          </p:cNvSpPr>
          <p:nvPr/>
        </p:nvSpPr>
        <p:spPr>
          <a:xfrm>
            <a:off x="6434556" y="2917761"/>
            <a:ext cx="56451" cy="5645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CD1EE98C-8310-4FF4-92B3-EB69C0129E2B}"/>
              </a:ext>
            </a:extLst>
          </p:cNvPr>
          <p:cNvSpPr>
            <a:spLocks noGrp="1"/>
          </p:cNvSpPr>
          <p:nvPr/>
        </p:nvSpPr>
        <p:spPr>
          <a:xfrm>
            <a:off x="6563588" y="2845181"/>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9" b="0">
                <a:solidFill>
                  <a:srgbClr val="5B6573"/>
                </a:solidFill>
                <a:latin typeface="Aptos"/>
                <a:ea typeface="Aptos"/>
                <a:cs typeface="Aptos"/>
              </a:defRPr>
            </a:pPr>
            <a:r>
              <a:rPr sz="1079" b="0">
                <a:solidFill>
                  <a:srgbClr val="5B6573"/>
                </a:solidFill>
                <a:latin typeface="Aptos"/>
                <a:ea typeface="Aptos"/>
                <a:cs typeface="Aptos"/>
              </a:rPr>
              <a:t>topo emits an OpenMM XML triple</a:t>
            </a:r>
          </a:p>
        </p:txBody>
      </p:sp>
      <p:sp>
        <p:nvSpPr>
          <p:cNvPr id="37" name="正方形/長方形 36">
            <a:extLst>
              <a:ext uri="{FF2B5EF4-FFF2-40B4-BE49-F238E27FC236}">
                <a16:creationId xmlns:a16="http://schemas.microsoft.com/office/drawing/2014/main" id="{42E82A1A-18A1-4AD4-A6D4-D7A8DF1E1BE4}"/>
              </a:ext>
            </a:extLst>
          </p:cNvPr>
          <p:cNvSpPr>
            <a:spLocks noGrp="1"/>
          </p:cNvSpPr>
          <p:nvPr/>
        </p:nvSpPr>
        <p:spPr>
          <a:xfrm>
            <a:off x="6434556" y="3288728"/>
            <a:ext cx="56451" cy="5645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3AEDDF14-F44E-4C8A-A16B-2E966034851D}"/>
              </a:ext>
            </a:extLst>
          </p:cNvPr>
          <p:cNvSpPr>
            <a:spLocks noGrp="1"/>
          </p:cNvSpPr>
          <p:nvPr/>
        </p:nvSpPr>
        <p:spPr>
          <a:xfrm>
            <a:off x="6563588" y="3216148"/>
            <a:ext cx="3653218" cy="19354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9" b="0">
                <a:solidFill>
                  <a:srgbClr val="5B6573"/>
                </a:solidFill>
                <a:latin typeface="Aptos"/>
                <a:ea typeface="Aptos"/>
                <a:cs typeface="Aptos"/>
              </a:defRPr>
            </a:pPr>
            <a:r>
              <a:rPr sz="1079" b="0">
                <a:solidFill>
                  <a:srgbClr val="5B6573"/>
                </a:solidFill>
                <a:latin typeface="Aptos"/>
                <a:ea typeface="Aptos"/>
                <a:cs typeface="Aptos"/>
              </a:rPr>
              <a:t>eq/prod/analyze consume DAG output files</a:t>
            </a:r>
          </a:p>
        </p:txBody>
      </p:sp>
      <p:sp>
        <p:nvSpPr>
          <p:cNvPr id="39" name="正方形/長方形 38">
            <a:extLst>
              <a:ext uri="{FF2B5EF4-FFF2-40B4-BE49-F238E27FC236}">
                <a16:creationId xmlns:a16="http://schemas.microsoft.com/office/drawing/2014/main" id="{4539BEF2-C886-461D-96BD-530CC9510E3E}"/>
              </a:ext>
            </a:extLst>
          </p:cNvPr>
          <p:cNvSpPr>
            <a:spLocks noGrp="1"/>
          </p:cNvSpPr>
          <p:nvPr/>
        </p:nvSpPr>
        <p:spPr>
          <a:xfrm>
            <a:off x="6611975" y="4216146"/>
            <a:ext cx="2999994" cy="70967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52443F7F-31AF-4984-8BC2-499A5CC21D8D}"/>
              </a:ext>
            </a:extLst>
          </p:cNvPr>
          <p:cNvSpPr>
            <a:spLocks noGrp="1"/>
          </p:cNvSpPr>
          <p:nvPr/>
        </p:nvSpPr>
        <p:spPr>
          <a:xfrm>
            <a:off x="6741007" y="4329049"/>
            <a:ext cx="2741930" cy="16129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9" b="0">
                <a:solidFill>
                  <a:srgbClr val="E8EEF8"/>
                </a:solidFill>
                <a:latin typeface="Aptos Mono"/>
                <a:ea typeface="Aptos Mono"/>
                <a:cs typeface="Aptos Mono"/>
              </a:defRPr>
            </a:pPr>
            <a:r>
              <a:rPr sz="889" b="0">
                <a:solidFill>
                  <a:srgbClr val="E8EEF8"/>
                </a:solidFill>
                <a:latin typeface="Aptos Mono"/>
                <a:ea typeface="Aptos Mono"/>
                <a:cs typeface="Aptos Mono"/>
              </a:rPr>
              <a:t>system.system.xml</a:t>
            </a:r>
          </a:p>
        </p:txBody>
      </p:sp>
      <p:sp>
        <p:nvSpPr>
          <p:cNvPr id="41" name="正方形/長方形 40">
            <a:extLst>
              <a:ext uri="{FF2B5EF4-FFF2-40B4-BE49-F238E27FC236}">
                <a16:creationId xmlns:a16="http://schemas.microsoft.com/office/drawing/2014/main" id="{8FFF961C-9066-409F-AF60-1E51797ABEFC}"/>
              </a:ext>
            </a:extLst>
          </p:cNvPr>
          <p:cNvSpPr>
            <a:spLocks noGrp="1"/>
          </p:cNvSpPr>
          <p:nvPr/>
        </p:nvSpPr>
        <p:spPr>
          <a:xfrm>
            <a:off x="6741007" y="4506468"/>
            <a:ext cx="2741930" cy="16129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9" b="0">
                <a:solidFill>
                  <a:srgbClr val="E8EEF8"/>
                </a:solidFill>
                <a:latin typeface="Aptos Mono"/>
                <a:ea typeface="Aptos Mono"/>
                <a:cs typeface="Aptos Mono"/>
              </a:defRPr>
            </a:pPr>
            <a:r>
              <a:rPr sz="889" b="0">
                <a:solidFill>
                  <a:srgbClr val="E8EEF8"/>
                </a:solidFill>
                <a:latin typeface="Aptos Mono"/>
                <a:ea typeface="Aptos Mono"/>
                <a:cs typeface="Aptos Mono"/>
              </a:rPr>
              <a:t>system.topology.pdb</a:t>
            </a:r>
          </a:p>
        </p:txBody>
      </p:sp>
      <p:sp>
        <p:nvSpPr>
          <p:cNvPr id="42" name="正方形/長方形 41">
            <a:extLst>
              <a:ext uri="{FF2B5EF4-FFF2-40B4-BE49-F238E27FC236}">
                <a16:creationId xmlns:a16="http://schemas.microsoft.com/office/drawing/2014/main" id="{2A4424EA-E30C-46A9-A8C1-6F0C42B441F7}"/>
              </a:ext>
            </a:extLst>
          </p:cNvPr>
          <p:cNvSpPr>
            <a:spLocks noGrp="1"/>
          </p:cNvSpPr>
          <p:nvPr/>
        </p:nvSpPr>
        <p:spPr>
          <a:xfrm>
            <a:off x="6741007" y="4683887"/>
            <a:ext cx="2741930" cy="16129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9" b="0">
                <a:solidFill>
                  <a:srgbClr val="E8EEF8"/>
                </a:solidFill>
                <a:latin typeface="Aptos Mono"/>
                <a:ea typeface="Aptos Mono"/>
                <a:cs typeface="Aptos Mono"/>
              </a:defRPr>
            </a:pPr>
            <a:r>
              <a:rPr sz="889" b="0">
                <a:solidFill>
                  <a:srgbClr val="E8EEF8"/>
                </a:solidFill>
                <a:latin typeface="Aptos Mono"/>
                <a:ea typeface="Aptos Mono"/>
                <a:cs typeface="Aptos Mono"/>
              </a:rPr>
              <a:t>system.state.xml</a:t>
            </a:r>
          </a:p>
        </p:txBody>
      </p:sp>
      <p:sp>
        <p:nvSpPr>
          <p:cNvPr id="43" name="正方形/長方形 42">
            <a:extLst>
              <a:ext uri="{FF2B5EF4-FFF2-40B4-BE49-F238E27FC236}">
                <a16:creationId xmlns:a16="http://schemas.microsoft.com/office/drawing/2014/main" id="{EA92A408-AE3A-438E-B8F7-D6877EAC69A5}"/>
              </a:ext>
            </a:extLst>
          </p:cNvPr>
          <p:cNvSpPr>
            <a:spLocks noGrp="1"/>
          </p:cNvSpPr>
          <p:nvPr/>
        </p:nvSpPr>
        <p:spPr>
          <a:xfrm>
            <a:off x="1708759" y="5151628"/>
            <a:ext cx="8709660"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6" b="1">
                <a:solidFill>
                  <a:srgbClr val="172033"/>
                </a:solidFill>
                <a:latin typeface="Aptos"/>
                <a:ea typeface="Aptos"/>
                <a:cs typeface="Aptos"/>
              </a:defRPr>
            </a:pPr>
            <a:r>
              <a:rPr sz="1206" b="1">
                <a:solidFill>
                  <a:srgbClr val="172033"/>
                </a:solidFill>
                <a:latin typeface="Aptos"/>
                <a:ea typeface="Aptos"/>
                <a:cs typeface="Aptos"/>
              </a:rPr>
              <a:t>Result: agents can react to clear error codes, humans can check decisions, and doubtful systems do not quietly enter production MD.</a:t>
            </a:r>
          </a:p>
        </p:txBody>
      </p:sp>
      <p:sp>
        <p:nvSpPr>
          <p:cNvPr id="45" name="TextBox 44"/>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電荷・結合・残基・水モデルなど、化学的な前提を点検する。入力の不整合を放置したまま本計算へ進めない。</a:t>
            </a:r>
          </a:p>
        </p:txBody>
      </p:sp>
      <p:sp>
        <p:nvSpPr>
          <p:cNvPr id="46" name="TextBox 45"/>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6C1CFE5C-8E5C-4CB4-B3BE-4EF626FC54F1}"/>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95851D71-A726-4A79-8827-49E4B692A5F8}"/>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307F25D3-23FE-46C5-BC1A-C0463BBC7B85}"/>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67B1C13-3BA5-4B51-9B54-DCC80162FB47}"/>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lang="en-US" sz="1354" b="1" dirty="0" err="1">
                <a:solidFill>
                  <a:srgbClr val="0E3A75"/>
                </a:solidFill>
                <a:latin typeface="Aptos"/>
                <a:ea typeface="Aptos"/>
                <a:cs typeface="Aptos"/>
              </a:rPr>
              <a:t>MDPrepBench</a:t>
            </a:r>
            <a:r>
              <a:rPr lang="en-US" sz="1354" b="1" dirty="0">
                <a:solidFill>
                  <a:srgbClr val="0E3A75"/>
                </a:solidFill>
                <a:latin typeface="Aptos"/>
                <a:ea typeface="Aptos"/>
                <a:cs typeface="Aptos"/>
              </a:rPr>
              <a:t> Overview</a:t>
            </a:r>
            <a:endParaRPr sz="1354" b="1" dirty="0">
              <a:solidFill>
                <a:srgbClr val="0E3A75"/>
              </a:solidFill>
              <a:latin typeface="Aptos"/>
              <a:ea typeface="Aptos"/>
              <a:cs typeface="Aptos"/>
            </a:endParaRPr>
          </a:p>
        </p:txBody>
      </p:sp>
      <p:sp>
        <p:nvSpPr>
          <p:cNvPr id="6" name="正方形/長方形 5">
            <a:extLst>
              <a:ext uri="{FF2B5EF4-FFF2-40B4-BE49-F238E27FC236}">
                <a16:creationId xmlns:a16="http://schemas.microsoft.com/office/drawing/2014/main" id="{2422A3DE-5204-40E2-BFE9-8418AC86A66D}"/>
              </a:ext>
            </a:extLst>
          </p:cNvPr>
          <p:cNvSpPr>
            <a:spLocks noGrp="1"/>
          </p:cNvSpPr>
          <p:nvPr/>
        </p:nvSpPr>
        <p:spPr>
          <a:xfrm>
            <a:off x="1321662" y="947648"/>
            <a:ext cx="9851375" cy="65452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sz="2254" b="1" dirty="0" err="1">
                <a:solidFill>
                  <a:srgbClr val="172033"/>
                </a:solidFill>
                <a:latin typeface="Aptos Display"/>
                <a:ea typeface="Aptos Display"/>
                <a:cs typeface="Aptos Display"/>
              </a:rPr>
              <a:t>MD</a:t>
            </a:r>
            <a:r>
              <a:rPr lang="en-US" sz="2254" b="1" dirty="0" err="1">
                <a:solidFill>
                  <a:srgbClr val="172033"/>
                </a:solidFill>
                <a:latin typeface="Aptos Display"/>
                <a:ea typeface="Aptos Display"/>
                <a:cs typeface="Aptos Display"/>
              </a:rPr>
              <a:t>Prep</a:t>
            </a:r>
            <a:r>
              <a:rPr sz="2254" b="1" dirty="0" err="1">
                <a:solidFill>
                  <a:srgbClr val="172033"/>
                </a:solidFill>
                <a:latin typeface="Aptos Display"/>
                <a:ea typeface="Aptos Display"/>
                <a:cs typeface="Aptos Display"/>
              </a:rPr>
              <a:t>Bench</a:t>
            </a:r>
            <a:r>
              <a:rPr lang="en-US" sz="2254" b="1" dirty="0">
                <a:solidFill>
                  <a:srgbClr val="172033"/>
                </a:solidFill>
                <a:latin typeface="Aptos Display"/>
                <a:ea typeface="Aptos Display"/>
                <a:cs typeface="Aptos Display"/>
              </a:rPr>
              <a:t>: Evaluating MD agent’s abilities for preparing MD systems</a:t>
            </a:r>
            <a:endParaRPr sz="2254" b="1" dirty="0">
              <a:solidFill>
                <a:srgbClr val="172033"/>
              </a:solidFill>
              <a:latin typeface="Aptos Display"/>
              <a:ea typeface="Aptos Display"/>
              <a:cs typeface="Aptos Display"/>
            </a:endParaRPr>
          </a:p>
        </p:txBody>
      </p:sp>
      <p:sp>
        <p:nvSpPr>
          <p:cNvPr id="9" name="正方形/長方形 8">
            <a:extLst>
              <a:ext uri="{FF2B5EF4-FFF2-40B4-BE49-F238E27FC236}">
                <a16:creationId xmlns:a16="http://schemas.microsoft.com/office/drawing/2014/main" id="{28EF0630-75F5-4C66-8F9D-599B0DAB9D2E}"/>
              </a:ext>
            </a:extLst>
          </p:cNvPr>
          <p:cNvSpPr>
            <a:spLocks noGrp="1"/>
          </p:cNvSpPr>
          <p:nvPr/>
        </p:nvSpPr>
        <p:spPr>
          <a:xfrm>
            <a:off x="1224889" y="1667410"/>
            <a:ext cx="3086757" cy="3321461"/>
          </a:xfrm>
          <a:prstGeom prst="rect">
            <a:avLst/>
          </a:prstGeom>
          <a:solidFill>
            <a:srgbClr val="F7FAFD"/>
          </a:solidFill>
          <a:ln w="13335">
            <a:solidFill>
              <a:srgbClr val="D4DAE2"/>
            </a:solidFill>
            <a:prstDash val="solid"/>
          </a:ln>
        </p:spPr>
        <p:txBody>
          <a:bodyPr/>
          <a:lstStyle/>
          <a:p>
            <a:endParaRPr lang="ja-JP" altLang="en-US" sz="3048"/>
          </a:p>
        </p:txBody>
      </p:sp>
      <p:sp>
        <p:nvSpPr>
          <p:cNvPr id="10" name="正方形/長方形 9">
            <a:extLst>
              <a:ext uri="{FF2B5EF4-FFF2-40B4-BE49-F238E27FC236}">
                <a16:creationId xmlns:a16="http://schemas.microsoft.com/office/drawing/2014/main" id="{B4E5DBF8-7835-4F56-B68C-0A57EEEF88BA}"/>
              </a:ext>
            </a:extLst>
          </p:cNvPr>
          <p:cNvSpPr>
            <a:spLocks noGrp="1"/>
          </p:cNvSpPr>
          <p:nvPr/>
        </p:nvSpPr>
        <p:spPr>
          <a:xfrm>
            <a:off x="1224889" y="1659171"/>
            <a:ext cx="3086757" cy="64692"/>
          </a:xfrm>
          <a:prstGeom prst="rect">
            <a:avLst/>
          </a:prstGeom>
          <a:solidFill>
            <a:srgbClr val="0E3A75"/>
          </a:solidFill>
          <a:ln w="0">
            <a:solidFill>
              <a:srgbClr val="000000">
                <a:alpha val="0"/>
              </a:srgbClr>
            </a:solidFill>
            <a:prstDash val="solid"/>
          </a:ln>
        </p:spPr>
        <p:txBody>
          <a:bodyPr/>
          <a:lstStyle/>
          <a:p>
            <a:endParaRPr lang="ja-JP" altLang="en-US" sz="8128"/>
          </a:p>
        </p:txBody>
      </p:sp>
      <p:sp>
        <p:nvSpPr>
          <p:cNvPr id="11" name="正方形/長方形 10">
            <a:extLst>
              <a:ext uri="{FF2B5EF4-FFF2-40B4-BE49-F238E27FC236}">
                <a16:creationId xmlns:a16="http://schemas.microsoft.com/office/drawing/2014/main" id="{35435F39-64F2-4463-A4E6-DC4F8F45F943}"/>
              </a:ext>
            </a:extLst>
          </p:cNvPr>
          <p:cNvSpPr>
            <a:spLocks noGrp="1"/>
          </p:cNvSpPr>
          <p:nvPr/>
        </p:nvSpPr>
        <p:spPr>
          <a:xfrm>
            <a:off x="1380199" y="1844829"/>
            <a:ext cx="3845000" cy="40114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0E3A75"/>
                </a:solidFill>
                <a:latin typeface="Aptos"/>
                <a:ea typeface="Aptos"/>
                <a:cs typeface="Aptos"/>
              </a:defRPr>
            </a:pPr>
            <a:r>
              <a:rPr sz="1693" b="1" dirty="0">
                <a:solidFill>
                  <a:srgbClr val="0E3A75"/>
                </a:solidFill>
                <a:latin typeface="Aptos"/>
                <a:ea typeface="Aptos"/>
                <a:cs typeface="Aptos"/>
              </a:rPr>
              <a:t>What is measured</a:t>
            </a:r>
          </a:p>
        </p:txBody>
      </p:sp>
      <p:sp>
        <p:nvSpPr>
          <p:cNvPr id="12" name="正方形/長方形 11">
            <a:extLst>
              <a:ext uri="{FF2B5EF4-FFF2-40B4-BE49-F238E27FC236}">
                <a16:creationId xmlns:a16="http://schemas.microsoft.com/office/drawing/2014/main" id="{17E80AC5-5D5B-4FB4-B030-738E85A4534C}"/>
              </a:ext>
            </a:extLst>
          </p:cNvPr>
          <p:cNvSpPr>
            <a:spLocks noGrp="1"/>
          </p:cNvSpPr>
          <p:nvPr/>
        </p:nvSpPr>
        <p:spPr>
          <a:xfrm>
            <a:off x="1380199" y="2215796"/>
            <a:ext cx="2761185" cy="75806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B6573"/>
                </a:solidFill>
                <a:latin typeface="Aptos"/>
                <a:ea typeface="Aptos"/>
                <a:cs typeface="Aptos"/>
              </a:defRPr>
            </a:pPr>
            <a:r>
              <a:rPr sz="1354" b="1" dirty="0">
                <a:solidFill>
                  <a:srgbClr val="5B6573"/>
                </a:solidFill>
                <a:latin typeface="Aptos"/>
                <a:ea typeface="Aptos"/>
                <a:cs typeface="Aptos"/>
              </a:rPr>
              <a:t>Can the agent turn messy public structural inputs into minimizable, reloadable MD systems?</a:t>
            </a:r>
          </a:p>
        </p:txBody>
      </p:sp>
      <p:sp>
        <p:nvSpPr>
          <p:cNvPr id="13" name="正方形/長方形 12">
            <a:extLst>
              <a:ext uri="{FF2B5EF4-FFF2-40B4-BE49-F238E27FC236}">
                <a16:creationId xmlns:a16="http://schemas.microsoft.com/office/drawing/2014/main" id="{E66B4D4D-3796-4CC2-AB43-14940A550146}"/>
              </a:ext>
            </a:extLst>
          </p:cNvPr>
          <p:cNvSpPr>
            <a:spLocks noGrp="1"/>
          </p:cNvSpPr>
          <p:nvPr/>
        </p:nvSpPr>
        <p:spPr>
          <a:xfrm>
            <a:off x="1380199" y="3102891"/>
            <a:ext cx="2761185" cy="75806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B6573"/>
                </a:solidFill>
                <a:latin typeface="Aptos"/>
                <a:ea typeface="Aptos"/>
                <a:cs typeface="Aptos"/>
              </a:defRPr>
            </a:pPr>
            <a:r>
              <a:rPr sz="1354" b="1" dirty="0">
                <a:solidFill>
                  <a:srgbClr val="5B6573"/>
                </a:solidFill>
                <a:latin typeface="Aptos"/>
                <a:ea typeface="Aptos"/>
                <a:cs typeface="Aptos"/>
              </a:rPr>
              <a:t>Does it preserve requested chemistry: ligands, ions, PTMs, protonation, membranes, solvent model?</a:t>
            </a:r>
          </a:p>
        </p:txBody>
      </p:sp>
      <p:sp>
        <p:nvSpPr>
          <p:cNvPr id="14" name="正方形/長方形 13">
            <a:extLst>
              <a:ext uri="{FF2B5EF4-FFF2-40B4-BE49-F238E27FC236}">
                <a16:creationId xmlns:a16="http://schemas.microsoft.com/office/drawing/2014/main" id="{8DF8D7BB-3EA7-4899-9316-67BC676ECC82}"/>
              </a:ext>
            </a:extLst>
          </p:cNvPr>
          <p:cNvSpPr>
            <a:spLocks noGrp="1"/>
          </p:cNvSpPr>
          <p:nvPr/>
        </p:nvSpPr>
        <p:spPr>
          <a:xfrm>
            <a:off x="1380199" y="4110765"/>
            <a:ext cx="2761185" cy="65549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B6573"/>
                </a:solidFill>
                <a:latin typeface="Aptos"/>
                <a:ea typeface="Aptos"/>
                <a:cs typeface="Aptos"/>
              </a:defRPr>
            </a:pPr>
            <a:r>
              <a:rPr sz="1354" b="1" dirty="0">
                <a:solidFill>
                  <a:srgbClr val="5B6573"/>
                </a:solidFill>
                <a:latin typeface="Aptos"/>
                <a:ea typeface="Aptos"/>
                <a:cs typeface="Aptos"/>
              </a:rPr>
              <a:t>Does it submit clear records and evidence, not just a plausible narrative?</a:t>
            </a:r>
          </a:p>
        </p:txBody>
      </p:sp>
      <p:sp>
        <p:nvSpPr>
          <p:cNvPr id="15" name="正方形/長方形 14">
            <a:extLst>
              <a:ext uri="{FF2B5EF4-FFF2-40B4-BE49-F238E27FC236}">
                <a16:creationId xmlns:a16="http://schemas.microsoft.com/office/drawing/2014/main" id="{793EFDF2-F8B0-4AA7-B33F-A3AE6836922A}"/>
              </a:ext>
            </a:extLst>
          </p:cNvPr>
          <p:cNvSpPr>
            <a:spLocks noGrp="1"/>
          </p:cNvSpPr>
          <p:nvPr/>
        </p:nvSpPr>
        <p:spPr>
          <a:xfrm>
            <a:off x="4601968" y="1667410"/>
            <a:ext cx="3086757" cy="3321460"/>
          </a:xfrm>
          <a:prstGeom prst="rect">
            <a:avLst/>
          </a:prstGeom>
          <a:solidFill>
            <a:srgbClr val="F8F7FC"/>
          </a:solidFill>
          <a:ln w="13335">
            <a:solidFill>
              <a:srgbClr val="D4DAE2"/>
            </a:solidFill>
            <a:prstDash val="solid"/>
          </a:ln>
        </p:spPr>
        <p:txBody>
          <a:bodyPr/>
          <a:lstStyle/>
          <a:p>
            <a:endParaRPr lang="ja-JP" altLang="en-US" sz="3048"/>
          </a:p>
        </p:txBody>
      </p:sp>
      <p:sp>
        <p:nvSpPr>
          <p:cNvPr id="16" name="正方形/長方形 15">
            <a:extLst>
              <a:ext uri="{FF2B5EF4-FFF2-40B4-BE49-F238E27FC236}">
                <a16:creationId xmlns:a16="http://schemas.microsoft.com/office/drawing/2014/main" id="{D8A0596C-A8E1-4989-9B0B-2CC52718E8AF}"/>
              </a:ext>
            </a:extLst>
          </p:cNvPr>
          <p:cNvSpPr>
            <a:spLocks noGrp="1"/>
          </p:cNvSpPr>
          <p:nvPr/>
        </p:nvSpPr>
        <p:spPr>
          <a:xfrm>
            <a:off x="4601968" y="1661584"/>
            <a:ext cx="3086757" cy="71456"/>
          </a:xfrm>
          <a:prstGeom prst="rect">
            <a:avLst/>
          </a:prstGeom>
          <a:solidFill>
            <a:srgbClr val="4D4B7D"/>
          </a:solidFill>
          <a:ln w="0">
            <a:solidFill>
              <a:srgbClr val="000000">
                <a:alpha val="0"/>
              </a:srgbClr>
            </a:solidFill>
            <a:prstDash val="solid"/>
          </a:ln>
        </p:spPr>
        <p:txBody>
          <a:bodyPr/>
          <a:lstStyle/>
          <a:p>
            <a:endParaRPr lang="ja-JP" altLang="en-US" sz="8128"/>
          </a:p>
        </p:txBody>
      </p:sp>
      <p:sp>
        <p:nvSpPr>
          <p:cNvPr id="17" name="正方形/長方形 16">
            <a:extLst>
              <a:ext uri="{FF2B5EF4-FFF2-40B4-BE49-F238E27FC236}">
                <a16:creationId xmlns:a16="http://schemas.microsoft.com/office/drawing/2014/main" id="{2C8EED1B-6633-4AD0-819A-20D89E2E560D}"/>
              </a:ext>
            </a:extLst>
          </p:cNvPr>
          <p:cNvSpPr>
            <a:spLocks noGrp="1"/>
          </p:cNvSpPr>
          <p:nvPr/>
        </p:nvSpPr>
        <p:spPr>
          <a:xfrm>
            <a:off x="4785504" y="1844829"/>
            <a:ext cx="3077005" cy="35935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4D4B7D"/>
                </a:solidFill>
                <a:latin typeface="Aptos"/>
                <a:ea typeface="Aptos"/>
                <a:cs typeface="Aptos"/>
              </a:defRPr>
            </a:pPr>
            <a:r>
              <a:rPr sz="1693" b="1">
                <a:solidFill>
                  <a:srgbClr val="4D4B7D"/>
                </a:solidFill>
                <a:latin typeface="Aptos"/>
                <a:ea typeface="Aptos"/>
                <a:cs typeface="Aptos"/>
              </a:rPr>
              <a:t>Submission contract</a:t>
            </a:r>
          </a:p>
        </p:txBody>
      </p:sp>
      <p:sp>
        <p:nvSpPr>
          <p:cNvPr id="34" name="正方形/長方形 33">
            <a:extLst>
              <a:ext uri="{FF2B5EF4-FFF2-40B4-BE49-F238E27FC236}">
                <a16:creationId xmlns:a16="http://schemas.microsoft.com/office/drawing/2014/main" id="{95D6682C-6519-4290-84AF-BE23CE06D824}"/>
              </a:ext>
            </a:extLst>
          </p:cNvPr>
          <p:cNvSpPr>
            <a:spLocks noGrp="1"/>
          </p:cNvSpPr>
          <p:nvPr/>
        </p:nvSpPr>
        <p:spPr>
          <a:xfrm>
            <a:off x="7908412" y="1667410"/>
            <a:ext cx="2928319" cy="3321459"/>
          </a:xfrm>
          <a:prstGeom prst="rect">
            <a:avLst/>
          </a:prstGeom>
          <a:solidFill>
            <a:srgbClr val="F7FBF8"/>
          </a:solidFill>
          <a:ln w="13335">
            <a:solidFill>
              <a:srgbClr val="D4DAE2"/>
            </a:solidFill>
            <a:prstDash val="solid"/>
          </a:ln>
        </p:spPr>
        <p:txBody>
          <a:bodyPr/>
          <a:lstStyle/>
          <a:p>
            <a:endParaRPr lang="ja-JP" altLang="en-US" sz="3048"/>
          </a:p>
        </p:txBody>
      </p:sp>
      <p:sp>
        <p:nvSpPr>
          <p:cNvPr id="35" name="正方形/長方形 34">
            <a:extLst>
              <a:ext uri="{FF2B5EF4-FFF2-40B4-BE49-F238E27FC236}">
                <a16:creationId xmlns:a16="http://schemas.microsoft.com/office/drawing/2014/main" id="{59ED2CD1-9C04-4CDF-9CD5-F3391BA34D45}"/>
              </a:ext>
            </a:extLst>
          </p:cNvPr>
          <p:cNvSpPr>
            <a:spLocks noGrp="1"/>
          </p:cNvSpPr>
          <p:nvPr/>
        </p:nvSpPr>
        <p:spPr>
          <a:xfrm>
            <a:off x="7908413" y="1667410"/>
            <a:ext cx="2928318" cy="64516"/>
          </a:xfrm>
          <a:prstGeom prst="rect">
            <a:avLst/>
          </a:prstGeom>
          <a:solidFill>
            <a:srgbClr val="2D6D4B"/>
          </a:solidFill>
          <a:ln w="0">
            <a:solidFill>
              <a:srgbClr val="000000">
                <a:alpha val="0"/>
              </a:srgbClr>
            </a:solidFill>
            <a:prstDash val="solid"/>
          </a:ln>
        </p:spPr>
        <p:txBody>
          <a:bodyPr/>
          <a:lstStyle/>
          <a:p>
            <a:endParaRPr lang="ja-JP" altLang="en-US" sz="8128"/>
          </a:p>
        </p:txBody>
      </p:sp>
      <p:sp>
        <p:nvSpPr>
          <p:cNvPr id="36" name="正方形/長方形 35">
            <a:extLst>
              <a:ext uri="{FF2B5EF4-FFF2-40B4-BE49-F238E27FC236}">
                <a16:creationId xmlns:a16="http://schemas.microsoft.com/office/drawing/2014/main" id="{23E7A2B4-F263-447F-BBF2-123885A19F59}"/>
              </a:ext>
            </a:extLst>
          </p:cNvPr>
          <p:cNvSpPr>
            <a:spLocks noGrp="1"/>
          </p:cNvSpPr>
          <p:nvPr/>
        </p:nvSpPr>
        <p:spPr>
          <a:xfrm>
            <a:off x="8053573" y="1838135"/>
            <a:ext cx="3706953" cy="32941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02" b="1">
                <a:solidFill>
                  <a:srgbClr val="2D6D4B"/>
                </a:solidFill>
                <a:latin typeface="Aptos"/>
                <a:ea typeface="Aptos"/>
                <a:cs typeface="Aptos"/>
              </a:defRPr>
            </a:pPr>
            <a:r>
              <a:rPr sz="1693" b="1" dirty="0">
                <a:solidFill>
                  <a:srgbClr val="2D6D4B"/>
                </a:solidFill>
                <a:latin typeface="Aptos"/>
                <a:ea typeface="Aptos"/>
                <a:cs typeface="Aptos"/>
              </a:rPr>
              <a:t>Scoring checks</a:t>
            </a:r>
          </a:p>
        </p:txBody>
      </p:sp>
      <p:sp>
        <p:nvSpPr>
          <p:cNvPr id="74" name="角丸四角形 73">
            <a:extLst>
              <a:ext uri="{FF2B5EF4-FFF2-40B4-BE49-F238E27FC236}">
                <a16:creationId xmlns:a16="http://schemas.microsoft.com/office/drawing/2014/main" id="{1FBA386B-9933-FC48-8558-353CD1277EFC}"/>
              </a:ext>
            </a:extLst>
          </p:cNvPr>
          <p:cNvSpPr/>
          <p:nvPr/>
        </p:nvSpPr>
        <p:spPr>
          <a:xfrm>
            <a:off x="4785504" y="2234464"/>
            <a:ext cx="2758059" cy="238709"/>
          </a:xfrm>
          <a:prstGeom prst="roundRect">
            <a:avLst/>
          </a:prstGeom>
          <a:solidFill>
            <a:srgbClr val="F8F7FC"/>
          </a:solidFill>
          <a:ln w="9525">
            <a:solidFill>
              <a:srgbClr val="D9D3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354" b="1" dirty="0" err="1">
                <a:solidFill>
                  <a:srgbClr val="535C70"/>
                </a:solidFill>
              </a:rPr>
              <a:t>manifest.json</a:t>
            </a:r>
            <a:endParaRPr lang="ja-JP" altLang="en-US" sz="1354" b="1">
              <a:solidFill>
                <a:srgbClr val="535C70"/>
              </a:solidFill>
            </a:endParaRPr>
          </a:p>
        </p:txBody>
      </p:sp>
      <p:sp>
        <p:nvSpPr>
          <p:cNvPr id="75" name="角丸四角形 74">
            <a:extLst>
              <a:ext uri="{FF2B5EF4-FFF2-40B4-BE49-F238E27FC236}">
                <a16:creationId xmlns:a16="http://schemas.microsoft.com/office/drawing/2014/main" id="{22F93E04-43B0-7C41-AAAC-2AEA1291B445}"/>
              </a:ext>
            </a:extLst>
          </p:cNvPr>
          <p:cNvSpPr/>
          <p:nvPr/>
        </p:nvSpPr>
        <p:spPr>
          <a:xfrm>
            <a:off x="4785504" y="2534463"/>
            <a:ext cx="2758059" cy="238709"/>
          </a:xfrm>
          <a:prstGeom prst="roundRect">
            <a:avLst/>
          </a:prstGeom>
          <a:solidFill>
            <a:srgbClr val="F8F7FC"/>
          </a:solidFill>
          <a:ln w="9525">
            <a:solidFill>
              <a:srgbClr val="D9D3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354" b="1" dirty="0" err="1">
                <a:solidFill>
                  <a:srgbClr val="535C70"/>
                </a:solidFill>
              </a:rPr>
              <a:t>metrics.json</a:t>
            </a:r>
            <a:endParaRPr lang="ja-JP" altLang="en-US" sz="1354" b="1">
              <a:solidFill>
                <a:srgbClr val="535C70"/>
              </a:solidFill>
            </a:endParaRPr>
          </a:p>
        </p:txBody>
      </p:sp>
      <p:sp>
        <p:nvSpPr>
          <p:cNvPr id="76" name="角丸四角形 75">
            <a:extLst>
              <a:ext uri="{FF2B5EF4-FFF2-40B4-BE49-F238E27FC236}">
                <a16:creationId xmlns:a16="http://schemas.microsoft.com/office/drawing/2014/main" id="{979C55B3-6429-2347-B507-4444C7C23A3D}"/>
              </a:ext>
            </a:extLst>
          </p:cNvPr>
          <p:cNvSpPr/>
          <p:nvPr/>
        </p:nvSpPr>
        <p:spPr>
          <a:xfrm>
            <a:off x="4785504" y="2834463"/>
            <a:ext cx="2758059" cy="238709"/>
          </a:xfrm>
          <a:prstGeom prst="roundRect">
            <a:avLst/>
          </a:prstGeom>
          <a:solidFill>
            <a:srgbClr val="F8F7FC"/>
          </a:solidFill>
          <a:ln w="9525">
            <a:solidFill>
              <a:srgbClr val="D9D3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354" b="1">
                <a:solidFill>
                  <a:srgbClr val="535C70"/>
                </a:solidFill>
              </a:rPr>
              <a:t>provenance.json</a:t>
            </a:r>
            <a:endParaRPr lang="ja-JP" altLang="en-US" sz="1354" b="1">
              <a:solidFill>
                <a:srgbClr val="535C70"/>
              </a:solidFill>
            </a:endParaRPr>
          </a:p>
        </p:txBody>
      </p:sp>
      <p:sp>
        <p:nvSpPr>
          <p:cNvPr id="77" name="角丸四角形 76">
            <a:extLst>
              <a:ext uri="{FF2B5EF4-FFF2-40B4-BE49-F238E27FC236}">
                <a16:creationId xmlns:a16="http://schemas.microsoft.com/office/drawing/2014/main" id="{995B4BA1-8A10-BC49-BD79-3BE182983744}"/>
              </a:ext>
            </a:extLst>
          </p:cNvPr>
          <p:cNvSpPr/>
          <p:nvPr/>
        </p:nvSpPr>
        <p:spPr>
          <a:xfrm>
            <a:off x="4785504" y="3134462"/>
            <a:ext cx="2758059" cy="238709"/>
          </a:xfrm>
          <a:prstGeom prst="roundRect">
            <a:avLst/>
          </a:prstGeom>
          <a:solidFill>
            <a:srgbClr val="F8F7FC"/>
          </a:solidFill>
          <a:ln w="9525">
            <a:solidFill>
              <a:srgbClr val="D9D3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354" b="1">
                <a:solidFill>
                  <a:srgbClr val="535C70"/>
                </a:solidFill>
              </a:rPr>
              <a:t>evidence_report.json</a:t>
            </a:r>
            <a:endParaRPr lang="ja-JP" altLang="en-US" sz="1354" b="1">
              <a:solidFill>
                <a:srgbClr val="535C70"/>
              </a:solidFill>
            </a:endParaRPr>
          </a:p>
        </p:txBody>
      </p:sp>
      <p:sp>
        <p:nvSpPr>
          <p:cNvPr id="78" name="角丸四角形 77">
            <a:extLst>
              <a:ext uri="{FF2B5EF4-FFF2-40B4-BE49-F238E27FC236}">
                <a16:creationId xmlns:a16="http://schemas.microsoft.com/office/drawing/2014/main" id="{66721AF3-84B7-2848-AE91-E9C77D5ED4EF}"/>
              </a:ext>
            </a:extLst>
          </p:cNvPr>
          <p:cNvSpPr/>
          <p:nvPr/>
        </p:nvSpPr>
        <p:spPr>
          <a:xfrm>
            <a:off x="4785504" y="3434461"/>
            <a:ext cx="2758059" cy="238709"/>
          </a:xfrm>
          <a:prstGeom prst="roundRect">
            <a:avLst/>
          </a:prstGeom>
          <a:solidFill>
            <a:srgbClr val="F8F7FC"/>
          </a:solidFill>
          <a:ln w="9525">
            <a:solidFill>
              <a:srgbClr val="D9D3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354" b="1">
                <a:solidFill>
                  <a:srgbClr val="535C70"/>
                </a:solidFill>
              </a:rPr>
              <a:t>prepared_structure.pdb</a:t>
            </a:r>
            <a:endParaRPr lang="ja-JP" altLang="en-US" sz="1354" b="1">
              <a:solidFill>
                <a:srgbClr val="535C70"/>
              </a:solidFill>
            </a:endParaRPr>
          </a:p>
        </p:txBody>
      </p:sp>
      <p:sp>
        <p:nvSpPr>
          <p:cNvPr id="79" name="角丸四角形 78">
            <a:extLst>
              <a:ext uri="{FF2B5EF4-FFF2-40B4-BE49-F238E27FC236}">
                <a16:creationId xmlns:a16="http://schemas.microsoft.com/office/drawing/2014/main" id="{5BFFEE6D-CA3D-0742-A499-C85945C33411}"/>
              </a:ext>
            </a:extLst>
          </p:cNvPr>
          <p:cNvSpPr/>
          <p:nvPr/>
        </p:nvSpPr>
        <p:spPr>
          <a:xfrm>
            <a:off x="4785504" y="3734461"/>
            <a:ext cx="2758059" cy="238709"/>
          </a:xfrm>
          <a:prstGeom prst="roundRect">
            <a:avLst/>
          </a:prstGeom>
          <a:solidFill>
            <a:srgbClr val="F8F7FC"/>
          </a:solidFill>
          <a:ln w="9525">
            <a:solidFill>
              <a:srgbClr val="D9D3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354" b="1">
                <a:solidFill>
                  <a:srgbClr val="535C70"/>
                </a:solidFill>
              </a:rPr>
              <a:t>minimized_structure.pdb</a:t>
            </a:r>
            <a:endParaRPr lang="ja-JP" altLang="en-US" sz="1354" b="1">
              <a:solidFill>
                <a:srgbClr val="535C70"/>
              </a:solidFill>
            </a:endParaRPr>
          </a:p>
        </p:txBody>
      </p:sp>
      <p:sp>
        <p:nvSpPr>
          <p:cNvPr id="80" name="角丸四角形 79">
            <a:extLst>
              <a:ext uri="{FF2B5EF4-FFF2-40B4-BE49-F238E27FC236}">
                <a16:creationId xmlns:a16="http://schemas.microsoft.com/office/drawing/2014/main" id="{B700BCC3-D0D8-FC4A-8B6D-31C919BA313F}"/>
              </a:ext>
            </a:extLst>
          </p:cNvPr>
          <p:cNvSpPr/>
          <p:nvPr/>
        </p:nvSpPr>
        <p:spPr>
          <a:xfrm>
            <a:off x="4785504" y="4034460"/>
            <a:ext cx="2758059" cy="238709"/>
          </a:xfrm>
          <a:prstGeom prst="roundRect">
            <a:avLst/>
          </a:prstGeom>
          <a:solidFill>
            <a:srgbClr val="F8F7FC"/>
          </a:solidFill>
          <a:ln w="9525">
            <a:solidFill>
              <a:srgbClr val="D9D3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354" b="1">
                <a:solidFill>
                  <a:srgbClr val="535C70"/>
                </a:solidFill>
              </a:rPr>
              <a:t>minimization_report.json</a:t>
            </a:r>
            <a:endParaRPr lang="ja-JP" altLang="en-US" sz="1354" b="1">
              <a:solidFill>
                <a:srgbClr val="535C70"/>
              </a:solidFill>
            </a:endParaRPr>
          </a:p>
        </p:txBody>
      </p:sp>
      <p:sp>
        <p:nvSpPr>
          <p:cNvPr id="81" name="角丸四角形 80">
            <a:extLst>
              <a:ext uri="{FF2B5EF4-FFF2-40B4-BE49-F238E27FC236}">
                <a16:creationId xmlns:a16="http://schemas.microsoft.com/office/drawing/2014/main" id="{115A4B3F-E0AF-6543-8C07-492AE1D42C6B}"/>
              </a:ext>
            </a:extLst>
          </p:cNvPr>
          <p:cNvSpPr/>
          <p:nvPr/>
        </p:nvSpPr>
        <p:spPr>
          <a:xfrm>
            <a:off x="4785504" y="4334459"/>
            <a:ext cx="2758059" cy="238709"/>
          </a:xfrm>
          <a:prstGeom prst="roundRect">
            <a:avLst/>
          </a:prstGeom>
          <a:solidFill>
            <a:srgbClr val="F8F7FC"/>
          </a:solidFill>
          <a:ln w="9525">
            <a:solidFill>
              <a:srgbClr val="D9D3EE"/>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354" b="1">
                <a:solidFill>
                  <a:srgbClr val="535C70"/>
                </a:solidFill>
              </a:rPr>
              <a:t>OpenMM XML triple</a:t>
            </a:r>
            <a:endParaRPr lang="ja-JP" altLang="en-US" sz="1354" b="1">
              <a:solidFill>
                <a:srgbClr val="535C70"/>
              </a:solidFill>
            </a:endParaRPr>
          </a:p>
        </p:txBody>
      </p:sp>
      <p:sp>
        <p:nvSpPr>
          <p:cNvPr id="82" name="角丸四角形 81">
            <a:extLst>
              <a:ext uri="{FF2B5EF4-FFF2-40B4-BE49-F238E27FC236}">
                <a16:creationId xmlns:a16="http://schemas.microsoft.com/office/drawing/2014/main" id="{E622F9BE-4082-A440-BE45-023E67BE8B40}"/>
              </a:ext>
            </a:extLst>
          </p:cNvPr>
          <p:cNvSpPr/>
          <p:nvPr/>
        </p:nvSpPr>
        <p:spPr>
          <a:xfrm>
            <a:off x="7976154" y="2236899"/>
            <a:ext cx="2757920" cy="292603"/>
          </a:xfrm>
          <a:prstGeom prst="roundRect">
            <a:avLst/>
          </a:prstGeom>
          <a:solidFill>
            <a:srgbClr val="F6FBF8"/>
          </a:solidFill>
          <a:ln w="9525">
            <a:solidFill>
              <a:srgbClr val="C7DED1"/>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185" b="1">
                <a:solidFill>
                  <a:srgbClr val="405064"/>
                </a:solidFill>
              </a:rPr>
              <a:t>required and forbidden files</a:t>
            </a:r>
            <a:endParaRPr lang="ja-JP" altLang="en-US" sz="1185" b="1">
              <a:solidFill>
                <a:srgbClr val="405064"/>
              </a:solidFill>
            </a:endParaRPr>
          </a:p>
        </p:txBody>
      </p:sp>
      <p:sp>
        <p:nvSpPr>
          <p:cNvPr id="83" name="角丸四角形 82">
            <a:extLst>
              <a:ext uri="{FF2B5EF4-FFF2-40B4-BE49-F238E27FC236}">
                <a16:creationId xmlns:a16="http://schemas.microsoft.com/office/drawing/2014/main" id="{185CAD3C-D883-F047-B8FB-9BB6B358BA77}"/>
              </a:ext>
            </a:extLst>
          </p:cNvPr>
          <p:cNvSpPr/>
          <p:nvPr/>
        </p:nvSpPr>
        <p:spPr>
          <a:xfrm>
            <a:off x="7976154" y="2593887"/>
            <a:ext cx="2757920" cy="292603"/>
          </a:xfrm>
          <a:prstGeom prst="roundRect">
            <a:avLst/>
          </a:prstGeom>
          <a:solidFill>
            <a:srgbClr val="F6FBF8"/>
          </a:solidFill>
          <a:ln w="9525">
            <a:solidFill>
              <a:srgbClr val="C7DED1"/>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185" b="1">
                <a:solidFill>
                  <a:srgbClr val="405064"/>
                </a:solidFill>
              </a:rPr>
              <a:t>JSON schema and file integrity</a:t>
            </a:r>
            <a:endParaRPr lang="ja-JP" altLang="en-US" sz="1185" b="1">
              <a:solidFill>
                <a:srgbClr val="405064"/>
              </a:solidFill>
            </a:endParaRPr>
          </a:p>
        </p:txBody>
      </p:sp>
      <p:sp>
        <p:nvSpPr>
          <p:cNvPr id="84" name="角丸四角形 83">
            <a:extLst>
              <a:ext uri="{FF2B5EF4-FFF2-40B4-BE49-F238E27FC236}">
                <a16:creationId xmlns:a16="http://schemas.microsoft.com/office/drawing/2014/main" id="{C07C9CFB-2C1F-CD44-B1A5-65706F4C0C7D}"/>
              </a:ext>
            </a:extLst>
          </p:cNvPr>
          <p:cNvSpPr/>
          <p:nvPr/>
        </p:nvSpPr>
        <p:spPr>
          <a:xfrm>
            <a:off x="7976154" y="2950875"/>
            <a:ext cx="2757920" cy="292603"/>
          </a:xfrm>
          <a:prstGeom prst="roundRect">
            <a:avLst/>
          </a:prstGeom>
          <a:solidFill>
            <a:srgbClr val="F6FBF8"/>
          </a:solidFill>
          <a:ln w="9525">
            <a:solidFill>
              <a:srgbClr val="C7DED1"/>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185" b="1">
                <a:solidFill>
                  <a:srgbClr val="405064"/>
                </a:solidFill>
              </a:rPr>
              <a:t>component and residue-state rescans</a:t>
            </a:r>
            <a:endParaRPr lang="ja-JP" altLang="en-US" sz="1185" b="1">
              <a:solidFill>
                <a:srgbClr val="405064"/>
              </a:solidFill>
            </a:endParaRPr>
          </a:p>
        </p:txBody>
      </p:sp>
      <p:sp>
        <p:nvSpPr>
          <p:cNvPr id="85" name="角丸四角形 84">
            <a:extLst>
              <a:ext uri="{FF2B5EF4-FFF2-40B4-BE49-F238E27FC236}">
                <a16:creationId xmlns:a16="http://schemas.microsoft.com/office/drawing/2014/main" id="{EECDFCB2-BEF2-914A-BD48-BBBC59E3A81F}"/>
              </a:ext>
            </a:extLst>
          </p:cNvPr>
          <p:cNvSpPr/>
          <p:nvPr/>
        </p:nvSpPr>
        <p:spPr>
          <a:xfrm>
            <a:off x="7976154" y="3307864"/>
            <a:ext cx="2757920" cy="292603"/>
          </a:xfrm>
          <a:prstGeom prst="roundRect">
            <a:avLst/>
          </a:prstGeom>
          <a:solidFill>
            <a:srgbClr val="F6FBF8"/>
          </a:solidFill>
          <a:ln w="9525">
            <a:solidFill>
              <a:srgbClr val="C7DED1"/>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185" b="1">
                <a:solidFill>
                  <a:srgbClr val="405064"/>
                </a:solidFill>
              </a:rPr>
              <a:t>RMSD / candidate selection checks</a:t>
            </a:r>
            <a:endParaRPr lang="ja-JP" altLang="en-US" sz="1185" b="1">
              <a:solidFill>
                <a:srgbClr val="405064"/>
              </a:solidFill>
            </a:endParaRPr>
          </a:p>
        </p:txBody>
      </p:sp>
      <p:sp>
        <p:nvSpPr>
          <p:cNvPr id="86" name="角丸四角形 85">
            <a:extLst>
              <a:ext uri="{FF2B5EF4-FFF2-40B4-BE49-F238E27FC236}">
                <a16:creationId xmlns:a16="http://schemas.microsoft.com/office/drawing/2014/main" id="{49CBF6A5-8A18-0F43-AD3E-E48AA5A05DC9}"/>
              </a:ext>
            </a:extLst>
          </p:cNvPr>
          <p:cNvSpPr/>
          <p:nvPr/>
        </p:nvSpPr>
        <p:spPr>
          <a:xfrm>
            <a:off x="7976154" y="3664853"/>
            <a:ext cx="2757920" cy="292603"/>
          </a:xfrm>
          <a:prstGeom prst="roundRect">
            <a:avLst/>
          </a:prstGeom>
          <a:solidFill>
            <a:srgbClr val="F6FBF8"/>
          </a:solidFill>
          <a:ln w="9525">
            <a:solidFill>
              <a:srgbClr val="C7DED1"/>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185" b="1">
                <a:solidFill>
                  <a:srgbClr val="405064"/>
                </a:solidFill>
              </a:rPr>
              <a:t>OpenMM system load and energy rescan</a:t>
            </a:r>
            <a:endParaRPr lang="ja-JP" altLang="en-US" sz="1185" b="1">
              <a:solidFill>
                <a:srgbClr val="405064"/>
              </a:solidFill>
            </a:endParaRPr>
          </a:p>
        </p:txBody>
      </p:sp>
      <p:sp>
        <p:nvSpPr>
          <p:cNvPr id="87" name="角丸四角形 86">
            <a:extLst>
              <a:ext uri="{FF2B5EF4-FFF2-40B4-BE49-F238E27FC236}">
                <a16:creationId xmlns:a16="http://schemas.microsoft.com/office/drawing/2014/main" id="{D2EB37B9-E990-CA4F-B323-E7525C3F2F1A}"/>
              </a:ext>
            </a:extLst>
          </p:cNvPr>
          <p:cNvSpPr/>
          <p:nvPr/>
        </p:nvSpPr>
        <p:spPr>
          <a:xfrm>
            <a:off x="7976154" y="4021841"/>
            <a:ext cx="2757920" cy="292603"/>
          </a:xfrm>
          <a:prstGeom prst="roundRect">
            <a:avLst/>
          </a:prstGeom>
          <a:solidFill>
            <a:srgbClr val="F6FBF8"/>
          </a:solidFill>
          <a:ln w="9525">
            <a:solidFill>
              <a:srgbClr val="C7DED1"/>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185" b="1">
                <a:solidFill>
                  <a:srgbClr val="405064"/>
                </a:solidFill>
              </a:rPr>
              <a:t>minimization report and structure rescan</a:t>
            </a:r>
            <a:endParaRPr lang="ja-JP" altLang="en-US" sz="1185" b="1">
              <a:solidFill>
                <a:srgbClr val="405064"/>
              </a:solidFill>
            </a:endParaRPr>
          </a:p>
        </p:txBody>
      </p:sp>
      <p:sp>
        <p:nvSpPr>
          <p:cNvPr id="88" name="TextBox 87"/>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準備の評価では、再読込・エネルギー再計算・要求された化学状態の保持を点検する。最小化成功だけでは不十分。</a:t>
            </a:r>
          </a:p>
        </p:txBody>
      </p:sp>
      <p:sp>
        <p:nvSpPr>
          <p:cNvPr id="89" name="TextBox 8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9" name="正方形/長方形 28">
            <a:extLst>
              <a:ext uri="{FF2B5EF4-FFF2-40B4-BE49-F238E27FC236}">
                <a16:creationId xmlns:a16="http://schemas.microsoft.com/office/drawing/2014/main" id="{65295B83-C58E-4DA1-9B19-E0EC629FD2A6}"/>
              </a:ext>
            </a:extLst>
          </p:cNvPr>
          <p:cNvSpPr>
            <a:spLocks noGrp="1"/>
          </p:cNvSpPr>
          <p:nvPr/>
        </p:nvSpPr>
        <p:spPr>
          <a:xfrm>
            <a:off x="934567" y="54864"/>
            <a:ext cx="10322560" cy="580644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48D90FB1-6472-477D-8EB4-58EDB550B538}"/>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A27F8BC2-409B-4182-B9C6-F0568FF85E20}"/>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3F1ABB03-B67C-428E-A3C3-885AC8AB3E30}"/>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C913CFB8-F77C-402C-8019-69EB04ED3064}"/>
              </a:ext>
            </a:extLst>
          </p:cNvPr>
          <p:cNvSpPr>
            <a:spLocks noGrp="1"/>
          </p:cNvSpPr>
          <p:nvPr/>
        </p:nvSpPr>
        <p:spPr>
          <a:xfrm>
            <a:off x="1321663" y="716153"/>
            <a:ext cx="9193530" cy="46774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sz="2254" b="1">
                <a:solidFill>
                  <a:srgbClr val="172033"/>
                </a:solidFill>
                <a:latin typeface="Aptos Display"/>
                <a:ea typeface="Aptos Display"/>
                <a:cs typeface="Aptos Display"/>
              </a:rPr>
              <a:t>Prepared structures are inspectable, not only scorable.</a:t>
            </a:r>
          </a:p>
        </p:txBody>
      </p:sp>
      <p:sp>
        <p:nvSpPr>
          <p:cNvPr id="9" name="正方形/長方形 8">
            <a:extLst>
              <a:ext uri="{FF2B5EF4-FFF2-40B4-BE49-F238E27FC236}">
                <a16:creationId xmlns:a16="http://schemas.microsoft.com/office/drawing/2014/main" id="{1B8010F7-D426-4E02-AEBC-4E37BD33E77B}"/>
              </a:ext>
            </a:extLst>
          </p:cNvPr>
          <p:cNvSpPr>
            <a:spLocks noGrp="1"/>
          </p:cNvSpPr>
          <p:nvPr/>
        </p:nvSpPr>
        <p:spPr>
          <a:xfrm>
            <a:off x="1402308" y="1248410"/>
            <a:ext cx="4467733" cy="1919351"/>
          </a:xfrm>
          <a:prstGeom prst="rect">
            <a:avLst/>
          </a:prstGeom>
          <a:solidFill>
            <a:srgbClr val="FFFFFF"/>
          </a:solidFill>
          <a:ln w="10478">
            <a:solidFill>
              <a:srgbClr val="D4DAE2"/>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9FA4F087-7435-4C39-92D3-3AAE0B72E7C7}"/>
              </a:ext>
            </a:extLst>
          </p:cNvPr>
          <p:cNvSpPr>
            <a:spLocks noGrp="1"/>
          </p:cNvSpPr>
          <p:nvPr/>
        </p:nvSpPr>
        <p:spPr>
          <a:xfrm>
            <a:off x="1402308" y="1248410"/>
            <a:ext cx="4467733" cy="5645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9891D905-A455-4257-B751-D2ED441D78DF}"/>
              </a:ext>
            </a:extLst>
          </p:cNvPr>
          <p:cNvSpPr>
            <a:spLocks noGrp="1"/>
          </p:cNvSpPr>
          <p:nvPr/>
        </p:nvSpPr>
        <p:spPr>
          <a:xfrm>
            <a:off x="1531340" y="1393571"/>
            <a:ext cx="4209669" cy="17741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92" b="1">
                <a:solidFill>
                  <a:srgbClr val="0E3A75"/>
                </a:solidFill>
                <a:latin typeface="Aptos"/>
                <a:ea typeface="Aptos"/>
                <a:cs typeface="Aptos"/>
              </a:defRPr>
            </a:pPr>
            <a:r>
              <a:rPr sz="1354" b="1">
                <a:solidFill>
                  <a:srgbClr val="0E3A75"/>
                </a:solidFill>
                <a:latin typeface="Aptos"/>
                <a:ea typeface="Aptos"/>
                <a:cs typeface="Aptos"/>
              </a:rPr>
              <a:t>P02: chain A + AP5</a:t>
            </a:r>
          </a:p>
        </p:txBody>
      </p:sp>
      <p:pic>
        <p:nvPicPr>
          <p:cNvPr id="12" name="図 11"/>
          <p:cNvPicPr>
            <a:picLocks noChangeAspect="1"/>
          </p:cNvPicPr>
          <p:nvPr/>
        </p:nvPicPr>
        <p:blipFill>
          <a:blip r:embed="rId3"/>
          <a:stretch/>
        </p:blipFill>
        <p:spPr>
          <a:xfrm>
            <a:off x="2603918" y="1603248"/>
            <a:ext cx="2064512" cy="1290320"/>
          </a:xfrm>
          <a:prstGeom prst="rect">
            <a:avLst/>
          </a:prstGeom>
        </p:spPr>
      </p:pic>
      <p:sp>
        <p:nvSpPr>
          <p:cNvPr id="13" name="正方形/長方形 12">
            <a:extLst>
              <a:ext uri="{FF2B5EF4-FFF2-40B4-BE49-F238E27FC236}">
                <a16:creationId xmlns:a16="http://schemas.microsoft.com/office/drawing/2014/main" id="{2AB85BEB-6D18-4729-BBEB-9A365F20A3C4}"/>
              </a:ext>
            </a:extLst>
          </p:cNvPr>
          <p:cNvSpPr>
            <a:spLocks noGrp="1"/>
          </p:cNvSpPr>
          <p:nvPr/>
        </p:nvSpPr>
        <p:spPr>
          <a:xfrm>
            <a:off x="1531340" y="2925826"/>
            <a:ext cx="4209669" cy="14516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43" b="0">
                <a:solidFill>
                  <a:srgbClr val="5B6573"/>
                </a:solidFill>
                <a:latin typeface="Aptos"/>
                <a:ea typeface="Aptos"/>
                <a:cs typeface="Aptos"/>
              </a:defRPr>
            </a:pPr>
            <a:r>
              <a:rPr sz="931" b="0" dirty="0">
                <a:solidFill>
                  <a:srgbClr val="5B6573"/>
                </a:solidFill>
                <a:latin typeface="Aptos"/>
                <a:ea typeface="Aptos"/>
                <a:cs typeface="Aptos"/>
              </a:rPr>
              <a:t>AP5 ligand retained; solvent hidden; protein shown with translucent surface.</a:t>
            </a:r>
          </a:p>
        </p:txBody>
      </p:sp>
      <p:sp>
        <p:nvSpPr>
          <p:cNvPr id="14" name="正方形/長方形 13">
            <a:extLst>
              <a:ext uri="{FF2B5EF4-FFF2-40B4-BE49-F238E27FC236}">
                <a16:creationId xmlns:a16="http://schemas.microsoft.com/office/drawing/2014/main" id="{7E18DE6F-5365-47AD-BB82-166E13968304}"/>
              </a:ext>
            </a:extLst>
          </p:cNvPr>
          <p:cNvSpPr>
            <a:spLocks noGrp="1"/>
          </p:cNvSpPr>
          <p:nvPr/>
        </p:nvSpPr>
        <p:spPr>
          <a:xfrm>
            <a:off x="6321653" y="1248410"/>
            <a:ext cx="4467733" cy="1919351"/>
          </a:xfrm>
          <a:prstGeom prst="rect">
            <a:avLst/>
          </a:prstGeom>
          <a:solidFill>
            <a:srgbClr val="FFFFFF"/>
          </a:solidFill>
          <a:ln w="10478">
            <a:solidFill>
              <a:srgbClr val="D4DAE2"/>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36992BFD-741E-43B3-9FB3-8B07775E41AB}"/>
              </a:ext>
            </a:extLst>
          </p:cNvPr>
          <p:cNvSpPr>
            <a:spLocks noGrp="1"/>
          </p:cNvSpPr>
          <p:nvPr/>
        </p:nvSpPr>
        <p:spPr>
          <a:xfrm>
            <a:off x="6321653" y="1248410"/>
            <a:ext cx="4467733" cy="56451"/>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EC546110-19ED-4CD4-9CFB-903DEAB57EBB}"/>
              </a:ext>
            </a:extLst>
          </p:cNvPr>
          <p:cNvSpPr>
            <a:spLocks noGrp="1"/>
          </p:cNvSpPr>
          <p:nvPr/>
        </p:nvSpPr>
        <p:spPr>
          <a:xfrm>
            <a:off x="6450685" y="1393571"/>
            <a:ext cx="4209669" cy="17741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92" b="1">
                <a:solidFill>
                  <a:srgbClr val="A66A00"/>
                </a:solidFill>
                <a:latin typeface="Aptos"/>
                <a:ea typeface="Aptos"/>
                <a:cs typeface="Aptos"/>
              </a:defRPr>
            </a:pPr>
            <a:r>
              <a:rPr sz="1354" b="1">
                <a:solidFill>
                  <a:srgbClr val="A66A00"/>
                </a:solidFill>
                <a:latin typeface="Aptos"/>
                <a:ea typeface="Aptos"/>
                <a:cs typeface="Aptos"/>
              </a:rPr>
              <a:t>P06: calmodulin + Ca2+</a:t>
            </a:r>
          </a:p>
        </p:txBody>
      </p:sp>
      <p:pic>
        <p:nvPicPr>
          <p:cNvPr id="17" name="図 16"/>
          <p:cNvPicPr>
            <a:picLocks noChangeAspect="1"/>
          </p:cNvPicPr>
          <p:nvPr/>
        </p:nvPicPr>
        <p:blipFill>
          <a:blip r:embed="rId6"/>
          <a:stretch/>
        </p:blipFill>
        <p:spPr>
          <a:xfrm>
            <a:off x="7523263" y="1603248"/>
            <a:ext cx="2064512" cy="1290320"/>
          </a:xfrm>
          <a:prstGeom prst="rect">
            <a:avLst/>
          </a:prstGeom>
        </p:spPr>
      </p:pic>
      <p:sp>
        <p:nvSpPr>
          <p:cNvPr id="18" name="正方形/長方形 17">
            <a:extLst>
              <a:ext uri="{FF2B5EF4-FFF2-40B4-BE49-F238E27FC236}">
                <a16:creationId xmlns:a16="http://schemas.microsoft.com/office/drawing/2014/main" id="{86B24364-B445-4A50-B11B-E8FB622A048E}"/>
              </a:ext>
            </a:extLst>
          </p:cNvPr>
          <p:cNvSpPr>
            <a:spLocks noGrp="1"/>
          </p:cNvSpPr>
          <p:nvPr/>
        </p:nvSpPr>
        <p:spPr>
          <a:xfrm>
            <a:off x="6450685" y="2925826"/>
            <a:ext cx="4209669" cy="14516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43" b="0">
                <a:solidFill>
                  <a:srgbClr val="5B6573"/>
                </a:solidFill>
                <a:latin typeface="Aptos"/>
                <a:ea typeface="Aptos"/>
                <a:cs typeface="Aptos"/>
              </a:defRPr>
            </a:pPr>
            <a:r>
              <a:rPr sz="743" b="0">
                <a:solidFill>
                  <a:srgbClr val="5B6573"/>
                </a:solidFill>
                <a:latin typeface="Aptos"/>
                <a:ea typeface="Aptos"/>
                <a:cs typeface="Aptos"/>
              </a:rPr>
              <a:t>Calcium ions near the protein are visible as yellow spheres.</a:t>
            </a:r>
          </a:p>
        </p:txBody>
      </p:sp>
      <p:sp>
        <p:nvSpPr>
          <p:cNvPr id="19" name="正方形/長方形 18">
            <a:extLst>
              <a:ext uri="{FF2B5EF4-FFF2-40B4-BE49-F238E27FC236}">
                <a16:creationId xmlns:a16="http://schemas.microsoft.com/office/drawing/2014/main" id="{92F0522F-DE4C-4932-9CA4-7F4010781ED9}"/>
              </a:ext>
            </a:extLst>
          </p:cNvPr>
          <p:cNvSpPr>
            <a:spLocks noGrp="1"/>
          </p:cNvSpPr>
          <p:nvPr/>
        </p:nvSpPr>
        <p:spPr>
          <a:xfrm>
            <a:off x="1402308" y="3280664"/>
            <a:ext cx="4467733" cy="1919351"/>
          </a:xfrm>
          <a:prstGeom prst="rect">
            <a:avLst/>
          </a:prstGeom>
          <a:solidFill>
            <a:srgbClr val="FFFFFF"/>
          </a:solidFill>
          <a:ln w="10478">
            <a:solidFill>
              <a:srgbClr val="D4DAE2"/>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193EBC8D-BB4E-40E6-A6BA-05F7151324BF}"/>
              </a:ext>
            </a:extLst>
          </p:cNvPr>
          <p:cNvSpPr>
            <a:spLocks noGrp="1"/>
          </p:cNvSpPr>
          <p:nvPr/>
        </p:nvSpPr>
        <p:spPr>
          <a:xfrm>
            <a:off x="1402308" y="3280664"/>
            <a:ext cx="4467733" cy="56451"/>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E9437F53-114B-4A93-A7B8-F4E4C67A2B68}"/>
              </a:ext>
            </a:extLst>
          </p:cNvPr>
          <p:cNvSpPr>
            <a:spLocks noGrp="1"/>
          </p:cNvSpPr>
          <p:nvPr/>
        </p:nvSpPr>
        <p:spPr>
          <a:xfrm>
            <a:off x="1531340" y="3425825"/>
            <a:ext cx="4209669" cy="17741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92" b="1">
                <a:solidFill>
                  <a:srgbClr val="2D6D4B"/>
                </a:solidFill>
                <a:latin typeface="Aptos"/>
                <a:ea typeface="Aptos"/>
                <a:cs typeface="Aptos"/>
              </a:defRPr>
            </a:pPr>
            <a:r>
              <a:rPr sz="1354" b="1">
                <a:solidFill>
                  <a:srgbClr val="2D6D4B"/>
                </a:solidFill>
                <a:latin typeface="Aptos"/>
                <a:ea typeface="Aptos"/>
                <a:cs typeface="Aptos"/>
              </a:rPr>
              <a:t>P14: glycoprotein</a:t>
            </a:r>
          </a:p>
        </p:txBody>
      </p:sp>
      <p:pic>
        <p:nvPicPr>
          <p:cNvPr id="22" name="図 21"/>
          <p:cNvPicPr>
            <a:picLocks noChangeAspect="1"/>
          </p:cNvPicPr>
          <p:nvPr/>
        </p:nvPicPr>
        <p:blipFill>
          <a:blip r:embed="rId5"/>
          <a:stretch/>
        </p:blipFill>
        <p:spPr>
          <a:xfrm>
            <a:off x="2603918" y="3635502"/>
            <a:ext cx="2064512" cy="1290320"/>
          </a:xfrm>
          <a:prstGeom prst="rect">
            <a:avLst/>
          </a:prstGeom>
        </p:spPr>
      </p:pic>
      <p:sp>
        <p:nvSpPr>
          <p:cNvPr id="23" name="正方形/長方形 22">
            <a:extLst>
              <a:ext uri="{FF2B5EF4-FFF2-40B4-BE49-F238E27FC236}">
                <a16:creationId xmlns:a16="http://schemas.microsoft.com/office/drawing/2014/main" id="{C16FCB32-4533-4707-A1B5-D0C09CFC4B8A}"/>
              </a:ext>
            </a:extLst>
          </p:cNvPr>
          <p:cNvSpPr>
            <a:spLocks noGrp="1"/>
          </p:cNvSpPr>
          <p:nvPr/>
        </p:nvSpPr>
        <p:spPr>
          <a:xfrm>
            <a:off x="1531340" y="4958080"/>
            <a:ext cx="4209669" cy="14516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43" b="0">
                <a:solidFill>
                  <a:srgbClr val="5B6573"/>
                </a:solidFill>
                <a:latin typeface="Aptos"/>
                <a:ea typeface="Aptos"/>
                <a:cs typeface="Aptos"/>
              </a:defRPr>
            </a:pPr>
            <a:r>
              <a:rPr sz="931" b="0">
                <a:solidFill>
                  <a:srgbClr val="5B6573"/>
                </a:solidFill>
                <a:latin typeface="Aptos"/>
                <a:ea typeface="Aptos"/>
                <a:cs typeface="Aptos"/>
              </a:rPr>
              <a:t>Glycan-like non-standard residues are emphasized in orange.</a:t>
            </a:r>
          </a:p>
        </p:txBody>
      </p:sp>
      <p:sp>
        <p:nvSpPr>
          <p:cNvPr id="24" name="正方形/長方形 23">
            <a:extLst>
              <a:ext uri="{FF2B5EF4-FFF2-40B4-BE49-F238E27FC236}">
                <a16:creationId xmlns:a16="http://schemas.microsoft.com/office/drawing/2014/main" id="{6C464A2F-83ED-4FE3-A451-8C957FE4B055}"/>
              </a:ext>
            </a:extLst>
          </p:cNvPr>
          <p:cNvSpPr>
            <a:spLocks noGrp="1"/>
          </p:cNvSpPr>
          <p:nvPr/>
        </p:nvSpPr>
        <p:spPr>
          <a:xfrm>
            <a:off x="6321653" y="3280664"/>
            <a:ext cx="4467733" cy="1919351"/>
          </a:xfrm>
          <a:prstGeom prst="rect">
            <a:avLst/>
          </a:prstGeom>
          <a:solidFill>
            <a:srgbClr val="FFFFFF"/>
          </a:solidFill>
          <a:ln w="10478">
            <a:solidFill>
              <a:srgbClr val="D4DAE2"/>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4ECF775E-9CA9-4E41-8326-E421BC8B2469}"/>
              </a:ext>
            </a:extLst>
          </p:cNvPr>
          <p:cNvSpPr>
            <a:spLocks noGrp="1"/>
          </p:cNvSpPr>
          <p:nvPr/>
        </p:nvSpPr>
        <p:spPr>
          <a:xfrm>
            <a:off x="6321653" y="3280664"/>
            <a:ext cx="4467733" cy="56451"/>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72504C31-432A-4E10-B44E-8F430B281269}"/>
              </a:ext>
            </a:extLst>
          </p:cNvPr>
          <p:cNvSpPr>
            <a:spLocks noGrp="1"/>
          </p:cNvSpPr>
          <p:nvPr/>
        </p:nvSpPr>
        <p:spPr>
          <a:xfrm>
            <a:off x="6450685" y="3425825"/>
            <a:ext cx="4209669" cy="17741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92" b="1">
                <a:solidFill>
                  <a:srgbClr val="4D4B7D"/>
                </a:solidFill>
                <a:latin typeface="Aptos"/>
                <a:ea typeface="Aptos"/>
                <a:cs typeface="Aptos"/>
              </a:defRPr>
            </a:pPr>
            <a:r>
              <a:rPr sz="1354" b="1">
                <a:solidFill>
                  <a:srgbClr val="4D4B7D"/>
                </a:solidFill>
                <a:latin typeface="Aptos"/>
                <a:ea typeface="Aptos"/>
                <a:cs typeface="Aptos"/>
              </a:rPr>
              <a:t>P17: DNA duplex</a:t>
            </a:r>
          </a:p>
        </p:txBody>
      </p:sp>
      <p:pic>
        <p:nvPicPr>
          <p:cNvPr id="27" name="図 26"/>
          <p:cNvPicPr>
            <a:picLocks noChangeAspect="1"/>
          </p:cNvPicPr>
          <p:nvPr/>
        </p:nvPicPr>
        <p:blipFill>
          <a:blip r:embed="rId4"/>
          <a:stretch/>
        </p:blipFill>
        <p:spPr>
          <a:xfrm>
            <a:off x="7523263" y="3635502"/>
            <a:ext cx="2064512" cy="1290320"/>
          </a:xfrm>
          <a:prstGeom prst="rect">
            <a:avLst/>
          </a:prstGeom>
        </p:spPr>
      </p:pic>
      <p:sp>
        <p:nvSpPr>
          <p:cNvPr id="28" name="正方形/長方形 27">
            <a:extLst>
              <a:ext uri="{FF2B5EF4-FFF2-40B4-BE49-F238E27FC236}">
                <a16:creationId xmlns:a16="http://schemas.microsoft.com/office/drawing/2014/main" id="{66FB2F31-DA2D-4199-BAF0-ECAC44C66156}"/>
              </a:ext>
            </a:extLst>
          </p:cNvPr>
          <p:cNvSpPr>
            <a:spLocks noGrp="1"/>
          </p:cNvSpPr>
          <p:nvPr/>
        </p:nvSpPr>
        <p:spPr>
          <a:xfrm>
            <a:off x="6450685" y="4958080"/>
            <a:ext cx="4209669" cy="14516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43" b="0">
                <a:solidFill>
                  <a:srgbClr val="5B6573"/>
                </a:solidFill>
                <a:latin typeface="Aptos"/>
                <a:ea typeface="Aptos"/>
                <a:cs typeface="Aptos"/>
              </a:defRPr>
            </a:pPr>
            <a:r>
              <a:rPr sz="931" b="0">
                <a:solidFill>
                  <a:srgbClr val="5B6573"/>
                </a:solidFill>
                <a:latin typeface="Aptos"/>
                <a:ea typeface="Aptos"/>
                <a:cs typeface="Aptos"/>
              </a:rPr>
              <a:t>Prepared nucleic-acid system shown without solvent or periodic-box clutter.</a:t>
            </a:r>
          </a:p>
        </p:txBody>
      </p:sp>
      <p:sp>
        <p:nvSpPr>
          <p:cNvPr id="7" name="正方形/長方形 6">
            <a:extLst>
              <a:ext uri="{FF2B5EF4-FFF2-40B4-BE49-F238E27FC236}">
                <a16:creationId xmlns:a16="http://schemas.microsoft.com/office/drawing/2014/main" id="{3E36F74B-AB74-4E53-46FB-B65C6A1E6550}"/>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lang="en-US" sz="1354" b="1" dirty="0" err="1">
                <a:solidFill>
                  <a:srgbClr val="0E3A75"/>
                </a:solidFill>
                <a:latin typeface="Aptos"/>
                <a:ea typeface="Aptos"/>
                <a:cs typeface="Aptos"/>
              </a:rPr>
              <a:t>MDPrepBench</a:t>
            </a:r>
            <a:endParaRPr sz="1354" b="1" dirty="0">
              <a:solidFill>
                <a:srgbClr val="0E3A75"/>
              </a:solidFill>
              <a:latin typeface="Aptos"/>
              <a:ea typeface="Aptos"/>
              <a:cs typeface="Aptos"/>
            </a:endParaRPr>
          </a:p>
        </p:txBody>
      </p:sp>
      <p:sp>
        <p:nvSpPr>
          <p:cNvPr id="30" name="TextBox 29"/>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生成された構造は数値評価だけでなく、成分・配置・欠損・意図しない変化を目で点検する。</a:t>
            </a:r>
          </a:p>
        </p:txBody>
      </p:sp>
      <p:sp>
        <p:nvSpPr>
          <p:cNvPr id="31" name="TextBox 30"/>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6377D365-F28F-2EF8-44FE-29445903AE88}"/>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3B5209C9-323A-4448-6A28-9C50C549D95F}"/>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EC638EC1-1F43-A729-04A9-804F0474BB00}"/>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B154A47A-580C-A22E-DC16-52C9970115CE}"/>
              </a:ext>
            </a:extLst>
          </p:cNvPr>
          <p:cNvSpPr>
            <a:spLocks noGrp="1"/>
          </p:cNvSpPr>
          <p:nvPr/>
        </p:nvSpPr>
        <p:spPr>
          <a:xfrm>
            <a:off x="1321663" y="807724"/>
            <a:ext cx="9193530" cy="46774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4" b="1">
                <a:solidFill>
                  <a:srgbClr val="172033"/>
                </a:solidFill>
                <a:latin typeface="Aptos Display"/>
                <a:ea typeface="Aptos Display"/>
                <a:cs typeface="Aptos Display"/>
              </a:defRPr>
            </a:pPr>
            <a:r>
              <a:rPr lang="en-US" sz="2709" b="1" dirty="0">
                <a:solidFill>
                  <a:srgbClr val="172033"/>
                </a:solidFill>
                <a:latin typeface="Aptos Display"/>
                <a:ea typeface="Aptos Display"/>
                <a:cs typeface="Aptos Display"/>
              </a:rPr>
              <a:t>Results of </a:t>
            </a:r>
            <a:r>
              <a:rPr lang="en-US" sz="2709" b="1" dirty="0" err="1">
                <a:solidFill>
                  <a:srgbClr val="172033"/>
                </a:solidFill>
                <a:latin typeface="Aptos Display"/>
                <a:ea typeface="Aptos Display"/>
                <a:cs typeface="Aptos Display"/>
              </a:rPr>
              <a:t>MDPrepBench</a:t>
            </a:r>
            <a:endParaRPr sz="2709" b="1" dirty="0">
              <a:solidFill>
                <a:srgbClr val="172033"/>
              </a:solidFill>
              <a:latin typeface="Aptos Display"/>
              <a:ea typeface="Aptos Display"/>
              <a:cs typeface="Aptos Display"/>
            </a:endParaRPr>
          </a:p>
        </p:txBody>
      </p:sp>
      <p:graphicFrame>
        <p:nvGraphicFramePr>
          <p:cNvPr id="11" name="表 10">
            <a:extLst>
              <a:ext uri="{FF2B5EF4-FFF2-40B4-BE49-F238E27FC236}">
                <a16:creationId xmlns:a16="http://schemas.microsoft.com/office/drawing/2014/main" id="{6DF20E84-DB11-444E-8659-3CD242E308EC}"/>
              </a:ext>
            </a:extLst>
          </p:cNvPr>
          <p:cNvGraphicFramePr>
            <a:graphicFrameLocks noGrp="1"/>
          </p:cNvGraphicFramePr>
          <p:nvPr>
            <p:extLst>
              <p:ext uri="{D42A27DB-BD31-4B8C-83A1-F6EECF244321}">
                <p14:modId xmlns:p14="http://schemas.microsoft.com/office/powerpoint/2010/main" val="199769071"/>
              </p:ext>
            </p:extLst>
          </p:nvPr>
        </p:nvGraphicFramePr>
        <p:xfrm>
          <a:off x="1096897" y="1552519"/>
          <a:ext cx="10052009" cy="2523840"/>
        </p:xfrm>
        <a:graphic>
          <a:graphicData uri="http://schemas.openxmlformats.org/drawingml/2006/table">
            <a:tbl>
              <a:tblPr firstRow="1" bandRow="1">
                <a:tableStyleId>{5C22544A-7EE6-4342-B048-85BDC9FD1C3A}</a:tableStyleId>
              </a:tblPr>
              <a:tblGrid>
                <a:gridCol w="2797081">
                  <a:extLst>
                    <a:ext uri="{9D8B030D-6E8A-4147-A177-3AD203B41FA5}">
                      <a16:colId xmlns:a16="http://schemas.microsoft.com/office/drawing/2014/main" val="1750500870"/>
                    </a:ext>
                  </a:extLst>
                </a:gridCol>
                <a:gridCol w="2228923">
                  <a:extLst>
                    <a:ext uri="{9D8B030D-6E8A-4147-A177-3AD203B41FA5}">
                      <a16:colId xmlns:a16="http://schemas.microsoft.com/office/drawing/2014/main" val="2644358625"/>
                    </a:ext>
                  </a:extLst>
                </a:gridCol>
                <a:gridCol w="2513002">
                  <a:extLst>
                    <a:ext uri="{9D8B030D-6E8A-4147-A177-3AD203B41FA5}">
                      <a16:colId xmlns:a16="http://schemas.microsoft.com/office/drawing/2014/main" val="682342318"/>
                    </a:ext>
                  </a:extLst>
                </a:gridCol>
                <a:gridCol w="2513002">
                  <a:extLst>
                    <a:ext uri="{9D8B030D-6E8A-4147-A177-3AD203B41FA5}">
                      <a16:colId xmlns:a16="http://schemas.microsoft.com/office/drawing/2014/main" val="1695122663"/>
                    </a:ext>
                  </a:extLst>
                </a:gridCol>
              </a:tblGrid>
              <a:tr h="841279">
                <a:tc>
                  <a:txBody>
                    <a:bodyPr/>
                    <a:lstStyle/>
                    <a:p>
                      <a:pPr algn="ctr"/>
                      <a:r>
                        <a:rPr lang="ja-JP" altLang="en-US" sz="2116" b="1">
                          <a:solidFill>
                            <a:srgbClr val="FFFFFF"/>
                          </a:solidFill>
                        </a:rPr>
                        <a:t>model / harness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A82"/>
                    </a:solidFill>
                  </a:tcPr>
                </a:tc>
                <a:tc>
                  <a:txBody>
                    <a:bodyPr/>
                    <a:lstStyle/>
                    <a:p>
                      <a:pPr algn="ctr"/>
                      <a:r>
                        <a:rPr lang="ja-JP" altLang="en-US" sz="2116" b="1">
                          <a:solidFill>
                            <a:srgbClr val="FFFFFF"/>
                          </a:solidFill>
                        </a:rPr>
                        <a:t>skills+CLI</a:t>
                      </a:r>
                      <a:r>
                        <a:rPr lang="en-US" altLang="ja-JP" sz="2116" b="1" dirty="0">
                          <a:solidFill>
                            <a:srgbClr val="FFFFFF"/>
                          </a:solidFill>
                        </a:rPr>
                        <a:t>s</a:t>
                      </a:r>
                      <a:endParaRPr lang="ja-JP" altLang="en-US" sz="2116" b="1">
                        <a:solidFill>
                          <a:srgbClr val="FFFFFF"/>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A82"/>
                    </a:solidFill>
                  </a:tcPr>
                </a:tc>
                <a:tc>
                  <a:txBody>
                    <a:bodyPr/>
                    <a:lstStyle/>
                    <a:p>
                      <a:pPr algn="ctr"/>
                      <a:r>
                        <a:rPr lang="ja-JP" altLang="en-US" sz="2116" b="1">
                          <a:solidFill>
                            <a:srgbClr val="FFFFFF"/>
                          </a:solidFill>
                        </a:rPr>
                        <a:t>CLI</a:t>
                      </a:r>
                      <a:r>
                        <a:rPr lang="en-US" altLang="ja-JP" sz="2116" b="1" dirty="0">
                          <a:solidFill>
                            <a:srgbClr val="FFFFFF"/>
                          </a:solidFill>
                        </a:rPr>
                        <a:t>s</a:t>
                      </a:r>
                      <a:r>
                        <a:rPr lang="ja-JP" altLang="en-US" sz="2116" b="1">
                          <a:solidFill>
                            <a:srgbClr val="FFFFFF"/>
                          </a:solidFill>
                        </a:rPr>
                        <a:t>-only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A82"/>
                    </a:solidFill>
                  </a:tcPr>
                </a:tc>
                <a:tc>
                  <a:txBody>
                    <a:bodyPr/>
                    <a:lstStyle/>
                    <a:p>
                      <a:pPr algn="ctr"/>
                      <a:r>
                        <a:rPr lang="ja-JP" altLang="en-US" sz="2116" b="1">
                          <a:solidFill>
                            <a:srgbClr val="FFFFFF"/>
                          </a:solidFill>
                        </a:rPr>
                        <a:t>free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A82"/>
                    </a:solidFill>
                  </a:tcPr>
                </a:tc>
                <a:extLst>
                  <a:ext uri="{0D108BD9-81ED-4DB2-BD59-A6C34878D82A}">
                    <a16:rowId xmlns:a16="http://schemas.microsoft.com/office/drawing/2014/main" val="961503901"/>
                  </a:ext>
                </a:extLst>
              </a:tr>
              <a:tr h="841279">
                <a:tc>
                  <a:txBody>
                    <a:bodyPr/>
                    <a:lstStyle/>
                    <a:p>
                      <a:pPr algn="ctr"/>
                      <a:r>
                        <a:rPr lang="en-US" altLang="ja-JP" sz="2116" b="1" dirty="0">
                          <a:solidFill>
                            <a:srgbClr val="172033"/>
                          </a:solidFill>
                        </a:rPr>
                        <a:t>Haiku 4.5 / </a:t>
                      </a:r>
                      <a:r>
                        <a:rPr lang="en-US" altLang="ja-JP" sz="2116" b="1" dirty="0" err="1">
                          <a:solidFill>
                            <a:srgbClr val="172033"/>
                          </a:solidFill>
                        </a:rPr>
                        <a:t>claude</a:t>
                      </a:r>
                      <a:r>
                        <a:rPr lang="en-US" altLang="ja-JP" sz="2116" b="1" dirty="0">
                          <a:solidFill>
                            <a:srgbClr val="172033"/>
                          </a:solidFill>
                        </a:rPr>
                        <a:t>-code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5FA"/>
                    </a:solidFill>
                  </a:tcPr>
                </a:tc>
                <a:tc>
                  <a:txBody>
                    <a:bodyPr/>
                    <a:lstStyle/>
                    <a:p>
                      <a:pPr algn="ctr"/>
                      <a:r>
                        <a:rPr lang="ja-JP" altLang="en-US" sz="2116" b="0">
                          <a:solidFill>
                            <a:srgbClr val="172033"/>
                          </a:solidFill>
                        </a:rPr>
                        <a:t>22/2</a:t>
                      </a:r>
                      <a:r>
                        <a:rPr lang="en-US" altLang="ja-JP" sz="2116" b="0" dirty="0">
                          <a:solidFill>
                            <a:srgbClr val="172033"/>
                          </a:solidFill>
                        </a:rPr>
                        <a:t>5</a:t>
                      </a:r>
                      <a:endParaRPr lang="ja-JP" altLang="en-US" sz="2116" b="0">
                        <a:solidFill>
                          <a:srgbClr val="172033"/>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5FA"/>
                    </a:solidFill>
                  </a:tcPr>
                </a:tc>
                <a:tc>
                  <a:txBody>
                    <a:bodyPr/>
                    <a:lstStyle/>
                    <a:p>
                      <a:pPr algn="ctr"/>
                      <a:r>
                        <a:rPr lang="ja-JP" altLang="en-US" sz="2116" b="0">
                          <a:solidFill>
                            <a:srgbClr val="172033"/>
                          </a:solidFill>
                        </a:rPr>
                        <a:t>7/25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5FA"/>
                    </a:solidFill>
                  </a:tcPr>
                </a:tc>
                <a:tc>
                  <a:txBody>
                    <a:bodyPr/>
                    <a:lstStyle/>
                    <a:p>
                      <a:pPr algn="ctr"/>
                      <a:r>
                        <a:rPr lang="ja-JP" altLang="en-US" sz="2116" b="0">
                          <a:solidFill>
                            <a:srgbClr val="172033"/>
                          </a:solidFill>
                        </a:rPr>
                        <a:t>5/25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5FA"/>
                    </a:solidFill>
                  </a:tcPr>
                </a:tc>
                <a:extLst>
                  <a:ext uri="{0D108BD9-81ED-4DB2-BD59-A6C34878D82A}">
                    <a16:rowId xmlns:a16="http://schemas.microsoft.com/office/drawing/2014/main" val="1236581862"/>
                  </a:ext>
                </a:extLst>
              </a:tr>
              <a:tr h="841281">
                <a:tc>
                  <a:txBody>
                    <a:bodyPr/>
                    <a:lstStyle/>
                    <a:p>
                      <a:pPr algn="ctr"/>
                      <a:r>
                        <a:rPr lang="en-US" altLang="ja-JP" sz="2116" b="1" dirty="0">
                          <a:solidFill>
                            <a:srgbClr val="172033"/>
                          </a:solidFill>
                        </a:rPr>
                        <a:t>D</a:t>
                      </a:r>
                      <a:r>
                        <a:rPr lang="ja-JP" altLang="en-US" sz="2116" b="1">
                          <a:solidFill>
                            <a:srgbClr val="172033"/>
                          </a:solidFill>
                        </a:rPr>
                        <a:t>eep</a:t>
                      </a:r>
                      <a:r>
                        <a:rPr lang="en-US" altLang="ja-JP" sz="2116" b="1" dirty="0">
                          <a:solidFill>
                            <a:srgbClr val="172033"/>
                          </a:solidFill>
                        </a:rPr>
                        <a:t>S</a:t>
                      </a:r>
                      <a:r>
                        <a:rPr lang="ja-JP" altLang="en-US" sz="2116" b="1">
                          <a:solidFill>
                            <a:srgbClr val="172033"/>
                          </a:solidFill>
                        </a:rPr>
                        <a:t>eek-v4-flash / 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ja-JP" altLang="en-US" sz="2116" b="0">
                          <a:solidFill>
                            <a:srgbClr val="172033"/>
                          </a:solidFill>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ja-JP" altLang="en-US" sz="2116" b="0">
                          <a:solidFill>
                            <a:srgbClr val="172033"/>
                          </a:solidFill>
                        </a:rPr>
                        <a:t>7/25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ja-JP" sz="2116" b="0" dirty="0">
                          <a:solidFill>
                            <a:srgbClr val="172033"/>
                          </a:solidFill>
                        </a:rPr>
                        <a:t>13/25</a:t>
                      </a:r>
                      <a:endParaRPr lang="ja-JP" altLang="en-US" sz="2116" b="0">
                        <a:solidFill>
                          <a:srgbClr val="172033"/>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77443472"/>
                  </a:ext>
                </a:extLst>
              </a:tr>
            </a:tbl>
          </a:graphicData>
        </a:graphic>
      </p:graphicFrame>
      <p:sp>
        <p:nvSpPr>
          <p:cNvPr id="13" name="テキスト ボックス 12">
            <a:extLst>
              <a:ext uri="{FF2B5EF4-FFF2-40B4-BE49-F238E27FC236}">
                <a16:creationId xmlns:a16="http://schemas.microsoft.com/office/drawing/2014/main" id="{FF308CAE-6BF9-304E-9FC9-173B83946401}"/>
              </a:ext>
            </a:extLst>
          </p:cNvPr>
          <p:cNvSpPr txBox="1"/>
          <p:nvPr/>
        </p:nvSpPr>
        <p:spPr>
          <a:xfrm>
            <a:off x="1096897" y="4310231"/>
            <a:ext cx="10191716" cy="1276879"/>
          </a:xfrm>
          <a:prstGeom prst="rect">
            <a:avLst/>
          </a:prstGeom>
          <a:noFill/>
        </p:spPr>
        <p:txBody>
          <a:bodyPr vertOverflow="overflow" vert="horz" wrap="square" rtlCol="0" anchor="t">
            <a:normAutofit/>
          </a:bodyPr>
          <a:lstStyle/>
          <a:p>
            <a:pPr marL="285750" indent="-171450">
              <a:lnSpc>
                <a:spcPct val="150000"/>
              </a:lnSpc>
              <a:buChar char="•"/>
            </a:pPr>
            <a:r>
              <a:rPr lang="en-US" altLang="ja-JP" sz="2032" b="1" dirty="0">
                <a:solidFill>
                  <a:srgbClr val="C00000"/>
                </a:solidFill>
              </a:rPr>
              <a:t>In this 25-task comparison: haiku falls from skills+CLI to CLI-only to free (passes 22→7→5).</a:t>
            </a:r>
            <a:r>
              <a:rPr lang="en-US" altLang="ja-JP" sz="2032" dirty="0">
                <a:solidFill>
                  <a:srgbClr val="172033"/>
                </a:solidFill>
              </a:rPr>
              <a:t/>
            </a:r>
            <a:r>
              <a:rPr lang="en-US" altLang="ja-JP" sz="2032" dirty="0" err="1">
                <a:solidFill>
                  <a:srgbClr val="172033"/>
                </a:solidFill>
              </a:rPr>
              <a:t/>
            </a:r>
            <a:r>
              <a:rPr lang="en-US" altLang="ja-JP" sz="2032" dirty="0">
                <a:solidFill>
                  <a:srgbClr val="172033"/>
                </a:solidFill>
              </a:rPr>
              <a:t/>
            </a:r>
          </a:p>
          <a:p>
            <a:pPr marL="285750" indent="-171450">
              <a:lnSpc>
                <a:spcPct val="150000"/>
              </a:lnSpc>
              <a:buChar char="•"/>
            </a:pPr>
            <a:r>
              <a:rPr lang="en-US" altLang="ja-JP" sz="2032" dirty="0">
                <a:solidFill>
                  <a:srgbClr val="172033"/>
                </a:solidFill>
              </a:rPr>
              <a:t>CLI alone adds little: CLI-only (7/25) and free (5/25) are close; the value is in the skill layer.</a:t>
            </a:r>
          </a:p>
        </p:txBody>
      </p:sp>
      <p:sp>
        <p:nvSpPr>
          <p:cNvPr id="7" name="正方形/長方形 6">
            <a:extLst>
              <a:ext uri="{FF2B5EF4-FFF2-40B4-BE49-F238E27FC236}">
                <a16:creationId xmlns:a16="http://schemas.microsoft.com/office/drawing/2014/main" id="{E0F679BB-E35D-D8F4-47A3-D65764BD0345}"/>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lang="en-US" sz="1354" b="1" dirty="0" err="1">
                <a:solidFill>
                  <a:srgbClr val="0E3A75"/>
                </a:solidFill>
                <a:latin typeface="Aptos"/>
                <a:ea typeface="Aptos"/>
                <a:cs typeface="Aptos"/>
              </a:rPr>
              <a:t>MDPrepBench</a:t>
            </a:r>
            <a:r>
              <a:rPr lang="en-US" sz="1354" b="1" dirty="0">
                <a:solidFill>
                  <a:srgbClr val="0E3A75"/>
                </a:solidFill>
                <a:latin typeface="Aptos"/>
                <a:ea typeface="Aptos"/>
                <a:cs typeface="Aptos"/>
              </a:rPr>
              <a:t> Results</a:t>
            </a:r>
            <a:endParaRPr sz="1354" b="1" dirty="0">
              <a:solidFill>
                <a:srgbClr val="0E3A75"/>
              </a:solidFill>
              <a:latin typeface="Aptos"/>
              <a:ea typeface="Aptos"/>
              <a:cs typeface="Aptos"/>
            </a:endParaRPr>
          </a:p>
        </p:txBody>
      </p:sp>
      <p:sp>
        <p:nvSpPr>
          <p:cNvPr id="14" name="TextBox 13"/>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2026年6月発表時の25課題による比較。現在の版・別の課題集合の性能とは区別する。</a:t>
            </a:r>
          </a:p>
        </p:txBody>
      </p:sp>
      <p:sp>
        <p:nvSpPr>
          <p:cNvPr id="15" name="TextBox 14"/>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ベンチマーク結果は、条件と失敗例まで読む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dag.png"/>
          <p:cNvPicPr>
            <a:picLocks noChangeAspect="1"/>
          </p:cNvPicPr>
          <p:nvPr/>
        </p:nvPicPr>
        <p:blipFill>
          <a:blip r:embed="rId3"/>
          <a:stretch>
            <a:fillRect/>
          </a:stretch>
        </p:blipFill>
        <p:spPr>
          <a:xfrm>
            <a:off x="7570953" y="1508760"/>
            <a:ext cx="3466133"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課題集合、入力、モデル版、制限時間、計算環境、採点基準を揃える。</a:t>
            </a:r>
          </a:p>
          <a:p>
            <a:pPr algn="l">
              <a:lnSpc>
                <a:spcPts val="2497"/>
              </a:lnSpc>
            </a:pPr>
            <a:r>
              <a:rPr sz="1850" b="0" lang="ja-JP" altLang="en-US">
                <a:solidFill>
                  <a:srgbClr val="333333"/>
                </a:solidFill>
                <a:latin typeface="Noto Sans JP"/>
                <a:ea typeface="Noto Sans JP"/>
              </a:rPr>
              <a:t>途中で停止した実行や、提出物がない実行を完了した評価と混ぜない。</a:t>
            </a:r>
          </a:p>
          <a:p>
            <a:pPr algn="l">
              <a:lnSpc>
                <a:spcPts val="2497"/>
              </a:lnSpc>
            </a:pPr>
            <a:r>
              <a:rPr sz="1850" b="0" lang="ja-JP" altLang="en-US">
                <a:solidFill>
                  <a:srgbClr val="333333"/>
                </a:solidFill>
                <a:latin typeface="Noto Sans JP"/>
                <a:ea typeface="Noto Sans JP"/>
              </a:rPr>
              <a:t>成功率に加え、どの化学状態や段階で失敗するかを調べる。</a:t>
            </a:r>
          </a:p>
          <a:p>
            <a:pPr algn="l">
              <a:lnSpc>
                <a:spcPts val="2497"/>
              </a:lnSpc>
            </a:pPr>
            <a:r>
              <a:rPr sz="1850" b="0" lang="ja-JP" altLang="en-US">
                <a:solidFill>
                  <a:srgbClr val="333333"/>
                </a:solidFill>
                <a:latin typeface="Noto Sans JP"/>
                <a:ea typeface="Noto Sans JP"/>
              </a:rPr>
              <a:t>過去の25課題の点数から、現在の任意の系の成功率は予測できない。</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C4725227-EEF8-A985-C2B1-FBA772997416}"/>
              </a:ext>
            </a:extLst>
          </p:cNvPr>
          <p:cNvSpPr>
            <a:spLocks noGrp="1"/>
          </p:cNvSpPr>
          <p:nvPr/>
        </p:nvSpPr>
        <p:spPr>
          <a:xfrm>
            <a:off x="934567" y="54864"/>
            <a:ext cx="10322560" cy="64516"/>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139250-7F02-8751-278F-E0D06EC0893D}"/>
              </a:ext>
            </a:extLst>
          </p:cNvPr>
          <p:cNvSpPr>
            <a:spLocks noGrp="1"/>
          </p:cNvSpPr>
          <p:nvPr/>
        </p:nvSpPr>
        <p:spPr>
          <a:xfrm>
            <a:off x="1224889" y="329057"/>
            <a:ext cx="145161" cy="14516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259238E6-F3DC-4377-2396-01EF4B8D85FA}"/>
              </a:ext>
            </a:extLst>
          </p:cNvPr>
          <p:cNvSpPr>
            <a:spLocks noGrp="1"/>
          </p:cNvSpPr>
          <p:nvPr/>
        </p:nvSpPr>
        <p:spPr>
          <a:xfrm>
            <a:off x="1224889" y="562927"/>
            <a:ext cx="1919351" cy="2419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DCEC6D1-087D-523A-B460-C1CF04F3C385}"/>
              </a:ext>
            </a:extLst>
          </p:cNvPr>
          <p:cNvSpPr>
            <a:spLocks noGrp="1"/>
          </p:cNvSpPr>
          <p:nvPr/>
        </p:nvSpPr>
        <p:spPr>
          <a:xfrm>
            <a:off x="1482953" y="304863"/>
            <a:ext cx="3790315" cy="2258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lang="en-US" sz="1354" b="1" dirty="0">
                <a:solidFill>
                  <a:srgbClr val="0E3A75"/>
                </a:solidFill>
                <a:latin typeface="Aptos"/>
                <a:ea typeface="Aptos"/>
                <a:cs typeface="Aptos"/>
              </a:rPr>
              <a:t>Use case 2</a:t>
            </a:r>
            <a:endParaRPr sz="1354" b="1" dirty="0">
              <a:solidFill>
                <a:srgbClr val="0E3A75"/>
              </a:solidFill>
              <a:latin typeface="Aptos"/>
              <a:ea typeface="Aptos"/>
              <a:cs typeface="Aptos"/>
            </a:endParaRPr>
          </a:p>
        </p:txBody>
      </p:sp>
      <p:pic>
        <p:nvPicPr>
          <p:cNvPr id="7" name="図 6">
            <a:extLst>
              <a:ext uri="{FF2B5EF4-FFF2-40B4-BE49-F238E27FC236}">
                <a16:creationId xmlns:a16="http://schemas.microsoft.com/office/drawing/2014/main" id="{E376268C-B95A-F8E2-09D8-38FFE832E8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3395" y="1265730"/>
            <a:ext cx="6433803" cy="4595573"/>
          </a:xfrm>
          <a:prstGeom prst="rect">
            <a:avLst/>
          </a:prstGeom>
        </p:spPr>
      </p:pic>
      <p:sp>
        <p:nvSpPr>
          <p:cNvPr id="9" name="テキスト ボックス 8">
            <a:extLst>
              <a:ext uri="{FF2B5EF4-FFF2-40B4-BE49-F238E27FC236}">
                <a16:creationId xmlns:a16="http://schemas.microsoft.com/office/drawing/2014/main" id="{0CB293C7-1E3B-B2AC-C38E-85E14C0DF0F9}"/>
              </a:ext>
            </a:extLst>
          </p:cNvPr>
          <p:cNvSpPr txBox="1"/>
          <p:nvPr/>
        </p:nvSpPr>
        <p:spPr>
          <a:xfrm>
            <a:off x="3452913" y="172051"/>
            <a:ext cx="7686911" cy="390876"/>
          </a:xfrm>
          <a:prstGeom prst="rect">
            <a:avLst/>
          </a:prstGeom>
          <a:noFill/>
        </p:spPr>
        <p:txBody>
          <a:bodyPr wrap="square" rtlCol="0">
            <a:spAutoFit/>
          </a:bodyPr>
          <a:lstStyle/>
          <a:p>
            <a:r>
              <a:rPr kumimoji="1" lang="en-US" altLang="ja-JP" sz="2032" dirty="0"/>
              <a:t>Finding the folding temperature of WW-domain (</a:t>
            </a:r>
            <a:r>
              <a:rPr kumimoji="1" lang="ja-JP" altLang="en-US" sz="2032"/>
              <a:t>転移温度の探索</a:t>
            </a:r>
            <a:r>
              <a:rPr kumimoji="1" lang="en-US" altLang="ja-JP" sz="2032" dirty="0"/>
              <a:t>)</a:t>
            </a:r>
            <a:endParaRPr kumimoji="1" lang="ja-JP" altLang="en-US" sz="2032"/>
          </a:p>
        </p:txBody>
      </p:sp>
      <p:pic>
        <p:nvPicPr>
          <p:cNvPr id="10" name="図 9">
            <a:extLst>
              <a:ext uri="{FF2B5EF4-FFF2-40B4-BE49-F238E27FC236}">
                <a16:creationId xmlns:a16="http://schemas.microsoft.com/office/drawing/2014/main" id="{04E3B35F-4A73-E5DA-65E2-E509F55F36B5}"/>
              </a:ext>
            </a:extLst>
          </p:cNvPr>
          <p:cNvPicPr>
            <a:picLocks noChangeAspect="1"/>
          </p:cNvPicPr>
          <p:nvPr/>
        </p:nvPicPr>
        <p:blipFill>
          <a:blip r:embed="rId5"/>
          <a:stretch>
            <a:fillRect/>
          </a:stretch>
        </p:blipFill>
        <p:spPr>
          <a:xfrm>
            <a:off x="9122041" y="3424448"/>
            <a:ext cx="1003830" cy="1225989"/>
          </a:xfrm>
          <a:prstGeom prst="rect">
            <a:avLst/>
          </a:prstGeom>
        </p:spPr>
      </p:pic>
      <p:pic>
        <p:nvPicPr>
          <p:cNvPr id="11" name="図 10">
            <a:extLst>
              <a:ext uri="{FF2B5EF4-FFF2-40B4-BE49-F238E27FC236}">
                <a16:creationId xmlns:a16="http://schemas.microsoft.com/office/drawing/2014/main" id="{90D16666-6F14-1AA0-BD8C-9DC2014439B1}"/>
              </a:ext>
            </a:extLst>
          </p:cNvPr>
          <p:cNvPicPr>
            <a:picLocks noChangeAspect="1"/>
          </p:cNvPicPr>
          <p:nvPr/>
        </p:nvPicPr>
        <p:blipFill>
          <a:blip r:embed="rId4"/>
          <a:stretch>
            <a:fillRect/>
          </a:stretch>
        </p:blipFill>
        <p:spPr>
          <a:xfrm>
            <a:off x="6694464" y="3760641"/>
            <a:ext cx="644806" cy="788095"/>
          </a:xfrm>
          <a:prstGeom prst="rect">
            <a:avLst/>
          </a:prstGeom>
        </p:spPr>
      </p:pic>
      <p:sp>
        <p:nvSpPr>
          <p:cNvPr id="12" name="テキスト ボックス 11">
            <a:extLst>
              <a:ext uri="{FF2B5EF4-FFF2-40B4-BE49-F238E27FC236}">
                <a16:creationId xmlns:a16="http://schemas.microsoft.com/office/drawing/2014/main" id="{83997C65-1362-9655-1F5C-7C25024AF3BD}"/>
              </a:ext>
            </a:extLst>
          </p:cNvPr>
          <p:cNvSpPr txBox="1"/>
          <p:nvPr/>
        </p:nvSpPr>
        <p:spPr>
          <a:xfrm>
            <a:off x="3197631" y="665831"/>
            <a:ext cx="7463277" cy="390876"/>
          </a:xfrm>
          <a:prstGeom prst="rect">
            <a:avLst/>
          </a:prstGeom>
          <a:noFill/>
        </p:spPr>
        <p:txBody>
          <a:bodyPr wrap="square" rtlCol="0">
            <a:spAutoFit/>
          </a:bodyPr>
          <a:lstStyle/>
          <a:p>
            <a:r>
              <a:rPr kumimoji="1" lang="en-US" altLang="ja-JP" sz="2032" dirty="0"/>
              <a:t>Prompt: Find the folding temperature of ww-domain by using 9 GPUs</a:t>
            </a:r>
            <a:endParaRPr kumimoji="1" lang="ja-JP" altLang="en-US" sz="2032"/>
          </a:p>
        </p:txBody>
      </p:sp>
      <p:sp>
        <p:nvSpPr>
          <p:cNvPr id="13" name="正方形/長方形 12">
            <a:extLst>
              <a:ext uri="{FF2B5EF4-FFF2-40B4-BE49-F238E27FC236}">
                <a16:creationId xmlns:a16="http://schemas.microsoft.com/office/drawing/2014/main" id="{6E5F5452-1AB2-F328-A5B8-80A4B0190F6C}"/>
              </a:ext>
            </a:extLst>
          </p:cNvPr>
          <p:cNvSpPr>
            <a:spLocks noGrp="1"/>
          </p:cNvSpPr>
          <p:nvPr/>
        </p:nvSpPr>
        <p:spPr>
          <a:xfrm>
            <a:off x="1370050" y="822182"/>
            <a:ext cx="1440486" cy="55973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50" b="1">
                <a:solidFill>
                  <a:srgbClr val="0E3A75"/>
                </a:solidFill>
                <a:latin typeface="Aptos"/>
                <a:ea typeface="Aptos"/>
                <a:cs typeface="Aptos"/>
              </a:defRPr>
            </a:pPr>
            <a:r>
              <a:rPr lang="en-US" sz="1354" b="1" dirty="0">
                <a:solidFill>
                  <a:srgbClr val="0E3A75"/>
                </a:solidFill>
                <a:latin typeface="Aptos"/>
                <a:ea typeface="Aptos"/>
                <a:cs typeface="Aptos"/>
              </a:rPr>
              <a:t>Optimization</a:t>
            </a:r>
            <a:endParaRPr sz="1354" b="1" dirty="0">
              <a:solidFill>
                <a:srgbClr val="0E3A75"/>
              </a:solidFill>
              <a:latin typeface="Aptos"/>
              <a:ea typeface="Aptos"/>
              <a:cs typeface="Aptos"/>
            </a:endParaRPr>
          </a:p>
        </p:txBody>
      </p:sp>
      <p:sp>
        <p:nvSpPr>
          <p:cNvPr id="14" name="TextBox 13"/>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折り畳み温度を探す利用例。温度・状態の定義、反復計算、収束の確認が必要で、一度の短い軌跡では決まらない。</a:t>
            </a:r>
          </a:p>
        </p:txBody>
      </p:sp>
      <p:sp>
        <p:nvSpPr>
          <p:cNvPr id="15" name="TextBox 14"/>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教員デモ：計算の入力から根拠までをたどる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dflow.png"/>
          <p:cNvPicPr>
            <a:picLocks noChangeAspect="1"/>
          </p:cNvPicPr>
          <p:nvPr/>
        </p:nvPicPr>
        <p:blipFill>
          <a:blip r:embed="rId3"/>
          <a:stretch>
            <a:fillRect/>
          </a:stretch>
        </p:blipFill>
        <p:spPr>
          <a:xfrm>
            <a:off x="7689889" y="1508760"/>
            <a:ext cx="3228261"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題材は第11回と同じ水中ペプチドの短い計算。</a:t>
            </a:r>
          </a:p>
          <a:p>
            <a:pPr algn="l">
              <a:lnSpc>
                <a:spcPts val="2497"/>
              </a:lnSpc>
            </a:pPr>
            <a:r>
              <a:rPr sz="1850" b="0" lang="ja-JP" altLang="en-US">
                <a:solidFill>
                  <a:srgbClr val="333333"/>
                </a:solidFill>
                <a:latin typeface="Noto Sans JP"/>
                <a:ea typeface="Noto Sans JP"/>
              </a:rPr>
              <a:t>最初に条件・出力を指定した依頼文を読み、どの段階に対応するかを確認する。</a:t>
            </a:r>
          </a:p>
          <a:p>
            <a:pPr algn="l">
              <a:lnSpc>
                <a:spcPts val="2497"/>
              </a:lnSpc>
            </a:pPr>
            <a:r>
              <a:rPr sz="1850" b="0" lang="ja-JP" altLang="en-US">
                <a:solidFill>
                  <a:srgbClr val="333333"/>
                </a:solidFill>
                <a:latin typeface="Noto Sans JP"/>
                <a:ea typeface="Noto Sans JP"/>
              </a:rPr>
              <a:t>次に保存された構造・温度・エネルギー・実行条件を開く。</a:t>
            </a:r>
          </a:p>
          <a:p>
            <a:pPr algn="l">
              <a:lnSpc>
                <a:spcPts val="2497"/>
              </a:lnSpc>
            </a:pPr>
            <a:r>
              <a:rPr sz="1850" b="0" lang="ja-JP" altLang="en-US">
                <a:solidFill>
                  <a:srgbClr val="333333"/>
                </a:solidFill>
                <a:latin typeface="Noto Sans JP"/>
                <a:ea typeface="Noto Sans JP"/>
              </a:rPr>
              <a:t>新しい大規模計算ではなく、既存の短い実行の記録とMDClawのDAGの読み方を示す。</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デモで見るもの：説明と成果物が一致するか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280160"/>
            <a:ext cx="10972800" cy="14630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「300 Kで動かした」という説明なら、積分器の設定と温度ログを見る。</a:t>
            </a:r>
          </a:p>
          <a:p>
            <a:pPr algn="l">
              <a:lnSpc>
                <a:spcPts val="2295"/>
              </a:lnSpc>
            </a:pPr>
            <a:r>
              <a:rPr sz="1700" b="0" lang="ja-JP" altLang="en-US">
                <a:solidFill>
                  <a:srgbClr val="333333"/>
                </a:solidFill>
                <a:latin typeface="Noto Sans JP"/>
                <a:ea typeface="Noto Sans JP"/>
              </a:rPr>
              <a:t>「5 ps」という説明なら、2 fs×2500ステップとの一致を見る。</a:t>
            </a:r>
          </a:p>
          <a:p>
            <a:pPr algn="l">
              <a:lnSpc>
                <a:spcPts val="2295"/>
              </a:lnSpc>
            </a:pPr>
            <a:r>
              <a:rPr sz="1700" b="0" lang="ja-JP" altLang="en-US">
                <a:solidFill>
                  <a:srgbClr val="333333"/>
                </a:solidFill>
                <a:latin typeface="Noto Sans JP"/>
                <a:ea typeface="Noto Sans JP"/>
              </a:rPr>
              <a:t>「構造が安定」という説明には、計算長・反復・観測量の根拠が必要。</a:t>
            </a:r>
          </a:p>
          <a:p>
            <a:pPr algn="l">
              <a:lnSpc>
                <a:spcPts val="2295"/>
              </a:lnSpc>
            </a:pPr>
            <a:r>
              <a:rPr sz="1700" b="0" lang="ja-JP" altLang="en-US">
                <a:solidFill>
                  <a:srgbClr val="333333"/>
                </a:solidFill>
                <a:latin typeface="Noto Sans JP"/>
                <a:ea typeface="Noto Sans JP"/>
              </a:rPr>
              <a:t>右は第11回Notebookを実行して得た温度・エネルギー。</a:t>
            </a:r>
          </a:p>
        </p:txBody>
      </p:sp>
      <p:pic>
        <p:nvPicPr>
          <p:cNvPr id="7" name="Picture 6" descr="11_temperature_energy.png"/>
          <p:cNvPicPr>
            <a:picLocks noChangeAspect="1"/>
          </p:cNvPicPr>
          <p:nvPr/>
        </p:nvPicPr>
        <p:blipFill>
          <a:blip r:embed="rId3"/>
          <a:stretch>
            <a:fillRect/>
          </a:stretch>
        </p:blipFill>
        <p:spPr>
          <a:xfrm>
            <a:off x="1143000" y="2834640"/>
            <a:ext cx="9875519" cy="3291839"/>
          </a:xfrm>
          <a:prstGeom prst="rect">
            <a:avLst/>
          </a:prstGeom>
        </p:spPr>
      </p:pic>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次の計算は、残っている不確実性から決める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15.png"/>
          <p:cNvPicPr>
            <a:picLocks noChangeAspect="1"/>
          </p:cNvPicPr>
          <p:nvPr/>
        </p:nvPicPr>
        <p:blipFill>
          <a:blip r:embed="rId3"/>
          <a:stretch>
            <a:fillRect/>
          </a:stretch>
        </p:blipFill>
        <p:spPr>
          <a:xfrm>
            <a:off x="7953247" y="1508760"/>
            <a:ext cx="2701545"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温度は合うが構造が動かない：単に短い可能性がある。</a:t>
            </a:r>
          </a:p>
          <a:p>
            <a:pPr algn="l">
              <a:lnSpc>
                <a:spcPts val="2497"/>
              </a:lnSpc>
            </a:pPr>
            <a:r>
              <a:rPr sz="1850" b="0" lang="ja-JP" altLang="en-US">
                <a:solidFill>
                  <a:srgbClr val="333333"/>
                </a:solidFill>
                <a:latin typeface="Noto Sans JP"/>
                <a:ea typeface="Noto Sans JP"/>
              </a:rPr>
              <a:t>反復ごとの割合が違う：探索や緩和が足りない可能性がある。</a:t>
            </a:r>
          </a:p>
          <a:p>
            <a:pPr algn="l">
              <a:lnSpc>
                <a:spcPts val="2497"/>
              </a:lnSpc>
            </a:pPr>
            <a:r>
              <a:rPr sz="1850" b="0" lang="ja-JP" altLang="en-US">
                <a:solidFill>
                  <a:srgbClr val="333333"/>
                </a:solidFill>
                <a:latin typeface="Noto Sans JP"/>
                <a:ea typeface="Noto Sans JP"/>
              </a:rPr>
              <a:t>モデル間で結果が違う：力場や観測モデルの仮定を点検する。</a:t>
            </a:r>
          </a:p>
          <a:p>
            <a:pPr algn="l">
              <a:lnSpc>
                <a:spcPts val="2497"/>
              </a:lnSpc>
            </a:pPr>
            <a:r>
              <a:rPr sz="1850" b="0" lang="ja-JP" altLang="en-US">
                <a:solidFill>
                  <a:srgbClr val="333333"/>
                </a:solidFill>
                <a:latin typeface="Noto Sans JP"/>
                <a:ea typeface="Noto Sans JP"/>
              </a:rPr>
              <a:t>追加するデータが、どの不確実性を減らすかを先に決める。</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授業全体：配列・構造・分布・観測・判断を結ぶ</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15.png"/>
          <p:cNvPicPr>
            <a:picLocks noChangeAspect="1"/>
          </p:cNvPicPr>
          <p:nvPr/>
        </p:nvPicPr>
        <p:blipFill>
          <a:blip r:embed="rId3"/>
          <a:stretch>
            <a:fillRect/>
          </a:stretch>
        </p:blipFill>
        <p:spPr>
          <a:xfrm>
            <a:off x="7953247" y="1508760"/>
            <a:ext cx="2701545"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配列から構造を予測し、目的の構造に合う配列を設計する。</a:t>
            </a:r>
          </a:p>
          <a:p>
            <a:pPr algn="l">
              <a:lnSpc>
                <a:spcPts val="2497"/>
              </a:lnSpc>
            </a:pPr>
            <a:r>
              <a:rPr sz="1850" b="0" lang="ja-JP" altLang="en-US">
                <a:solidFill>
                  <a:srgbClr val="333333"/>
                </a:solidFill>
                <a:latin typeface="Noto Sans JP"/>
                <a:ea typeface="Noto Sans JP"/>
              </a:rPr>
              <a:t>相互作用から構造の分布と動きを計算する。</a:t>
            </a:r>
          </a:p>
          <a:p>
            <a:pPr algn="l">
              <a:lnSpc>
                <a:spcPts val="2497"/>
              </a:lnSpc>
            </a:pPr>
            <a:r>
              <a:rPr sz="1850" b="0" lang="ja-JP" altLang="en-US">
                <a:solidFill>
                  <a:srgbClr val="333333"/>
                </a:solidFill>
                <a:latin typeface="Noto Sans JP"/>
                <a:ea typeface="Noto Sans JP"/>
              </a:rPr>
              <a:t>実験の観測を通じてモデルを評価・補正する。</a:t>
            </a:r>
          </a:p>
          <a:p>
            <a:pPr algn="l">
              <a:lnSpc>
                <a:spcPts val="2497"/>
              </a:lnSpc>
            </a:pPr>
            <a:r>
              <a:rPr sz="1850" b="0" lang="ja-JP" altLang="en-US">
                <a:solidFill>
                  <a:srgbClr val="333333"/>
                </a:solidFill>
                <a:latin typeface="Noto Sans JP"/>
                <a:ea typeface="Noto Sans JP"/>
              </a:rPr>
              <a:t>エージェントはこれらの計算と記録をつなぐ。判断の根拠は、条件のそろったデータと検証に置く。</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まとめ：自動化するほど、根拠を追える記録が要る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dag.png"/>
          <p:cNvPicPr>
            <a:picLocks noChangeAspect="1"/>
          </p:cNvPicPr>
          <p:nvPr/>
        </p:nvPicPr>
        <p:blipFill>
          <a:blip r:embed="rId3"/>
          <a:stretch>
            <a:fillRect/>
          </a:stretch>
        </p:blipFill>
        <p:spPr>
          <a:xfrm>
            <a:off x="7570953" y="1508760"/>
            <a:ext cx="3466133" cy="4251960"/>
          </a:xfrm>
          <a:prstGeom prst="rect">
            <a:avLst/>
          </a:prstGeom>
        </p:spPr>
      </p:pic>
      <p:sp>
        <p:nvSpPr>
          <p:cNvPr id="7" name="TextBox 6"/>
          <p:cNvSpPr txBox="1"/>
          <p:nvPr/>
        </p:nvSpPr>
        <p:spPr>
          <a:xfrm>
            <a:off x="594360" y="1444752"/>
            <a:ext cx="6172200" cy="4069080"/>
          </a:xfrm>
          <a:prstGeom prst="rect">
            <a:avLst/>
          </a:prstGeom>
          <a:noFill/>
        </p:spPr>
        <p:txBody>
          <a:bodyPr wrap="square" lIns="0" rIns="0" tIns="0" bIns="0" anchor="t">
            <a:noAutofit/>
          </a:bodyPr>
          <a:lstStyle/>
          <a:p>
            <a:pPr algn="l">
              <a:lnSpc>
                <a:spcPts val="2497"/>
              </a:lnSpc>
            </a:pPr>
            <a:r>
              <a:rPr sz="1850" b="0" lang="ja-JP" altLang="en-US">
                <a:solidFill>
                  <a:srgbClr val="333333"/>
                </a:solidFill>
                <a:latin typeface="Noto Sans JP"/>
                <a:ea typeface="Noto Sans JP"/>
              </a:rPr>
              <a:t>AI Scientistは仮説や手順を広げる。計算・実験が検証の手掛かりを与える。</a:t>
            </a:r>
          </a:p>
          <a:p>
            <a:pPr algn="l">
              <a:lnSpc>
                <a:spcPts val="2497"/>
              </a:lnSpc>
            </a:pPr>
            <a:r>
              <a:rPr sz="1850" b="0" lang="ja-JP" altLang="en-US">
                <a:solidFill>
                  <a:srgbClr val="333333"/>
                </a:solidFill>
                <a:latin typeface="Noto Sans JP"/>
                <a:ea typeface="Noto Sans JP"/>
              </a:rPr>
              <a:t>転移学習ではデータ数に加え、配列の多様性とラベルの意味が重要。</a:t>
            </a:r>
          </a:p>
          <a:p>
            <a:pPr algn="l">
              <a:lnSpc>
                <a:spcPts val="2497"/>
              </a:lnSpc>
            </a:pPr>
            <a:r>
              <a:rPr sz="1850" b="0" lang="ja-JP" altLang="en-US">
                <a:solidFill>
                  <a:srgbClr val="333333"/>
                </a:solidFill>
                <a:latin typeface="Noto Sans JP"/>
                <a:ea typeface="Noto Sans JP"/>
              </a:rPr>
              <a:t>MDClawでは計画・操作・成果物・失敗をつなぎ、同じ条件で比較できる形に残す。</a:t>
            </a:r>
          </a:p>
          <a:p>
            <a:pPr algn="l">
              <a:lnSpc>
                <a:spcPts val="2497"/>
              </a:lnSpc>
            </a:pPr>
            <a:r>
              <a:rPr sz="1850" b="0" lang="ja-JP" altLang="en-US">
                <a:solidFill>
                  <a:srgbClr val="333333"/>
                </a:solidFill>
                <a:latin typeface="Noto Sans JP"/>
                <a:ea typeface="Noto Sans JP"/>
              </a:rPr>
              <a:t>実行成功を、そのまま科学的結論へ置き換えない。</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付録：導出と補足資料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463040"/>
            <a:ext cx="10881360" cy="4480560"/>
          </a:xfrm>
          <a:prstGeom prst="rect">
            <a:avLst/>
          </a:prstGeom>
          <a:noFill/>
        </p:spPr>
        <p:txBody>
          <a:bodyPr wrap="square" lIns="0" rIns="0" tIns="0" bIns="0" anchor="t">
            <a:noAutofit/>
          </a:bodyPr>
          <a:lstStyle/>
          <a:p>
            <a:pPr algn="l">
              <a:lnSpc>
                <a:spcPts val="3105"/>
              </a:lnSpc>
            </a:pPr>
            <a:r>
              <a:rPr sz="2300" b="0" lang="ja-JP" altLang="en-US">
                <a:solidFill>
                  <a:srgbClr val="333333"/>
                </a:solidFill>
                <a:latin typeface="Noto Sans JP"/>
                <a:ea typeface="Noto Sans JP"/>
              </a:rPr>
              <a:t>ここからは本編の補足です。</a:t>
            </a:r>
          </a:p>
          <a:p>
            <a:pPr algn="l">
              <a:lnSpc>
                <a:spcPts val="3105"/>
              </a:lnSpc>
            </a:pPr>
            <a:r>
              <a:rPr sz="2300" b="0" lang="ja-JP" altLang="en-US">
                <a:solidFill>
                  <a:srgbClr val="333333"/>
                </a:solidFill>
                <a:latin typeface="Noto Sans JP"/>
                <a:ea typeface="Noto Sans JP"/>
              </a:rPr>
              <a:t>導出の途中式、計算条件、研究例の詳細を示します。</a:t>
            </a:r>
          </a:p>
          <a:p>
            <a:pPr algn="l">
              <a:lnSpc>
                <a:spcPts val="3105"/>
              </a:lnSpc>
            </a:pPr>
            <a:r>
              <a:rPr sz="2300" b="0" lang="ja-JP" altLang="en-US">
                <a:solidFill>
                  <a:srgbClr val="333333"/>
                </a:solidFill>
                <a:latin typeface="Noto Sans JP"/>
                <a:ea typeface="Noto Sans JP"/>
              </a:rPr>
              <a:t>本編の各手法の前提と対応させて読んでください。</a:t>
            </a:r>
          </a:p>
        </p:txBody>
      </p:sp>
      <p:sp>
        <p:nvSpPr>
          <p:cNvPr id="7" name="TextBox 6"/>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50129265-9412-40B0-B254-DD0C43D7348D}"/>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CC3551B5-A9A7-400B-AF7A-CBB13B6D5829}"/>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A51CC0A7-6A4C-4B5D-A062-233013561C84}"/>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70AB1BA-1271-4E1A-8748-B7EC639997C2}"/>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lang="en-US" sz="1525" b="1" dirty="0" err="1">
                <a:solidFill>
                  <a:srgbClr val="0E3A75"/>
                </a:solidFill>
                <a:latin typeface="Aptos"/>
                <a:ea typeface="Aptos"/>
                <a:cs typeface="Aptos"/>
              </a:rPr>
              <a:t>MDPrepBench</a:t>
            </a:r>
            <a:endParaRPr sz="1525" b="1" dirty="0">
              <a:solidFill>
                <a:srgbClr val="0E3A75"/>
              </a:solidFill>
              <a:latin typeface="Aptos"/>
              <a:ea typeface="Aptos"/>
              <a:cs typeface="Aptos"/>
            </a:endParaRPr>
          </a:p>
        </p:txBody>
      </p:sp>
      <p:sp>
        <p:nvSpPr>
          <p:cNvPr id="6" name="正方形/長方形 5">
            <a:extLst>
              <a:ext uri="{FF2B5EF4-FFF2-40B4-BE49-F238E27FC236}">
                <a16:creationId xmlns:a16="http://schemas.microsoft.com/office/drawing/2014/main" id="{5BE11EFB-63CE-4E90-A925-E4A644A9D711}"/>
              </a:ext>
            </a:extLst>
          </p:cNvPr>
          <p:cNvSpPr>
            <a:spLocks noGrp="1"/>
          </p:cNvSpPr>
          <p:nvPr/>
        </p:nvSpPr>
        <p:spPr>
          <a:xfrm>
            <a:off x="720191" y="799465"/>
            <a:ext cx="780923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lang="en-US" sz="2538" b="1" dirty="0" err="1">
                <a:solidFill>
                  <a:srgbClr val="172033"/>
                </a:solidFill>
                <a:latin typeface="Aptos Display"/>
                <a:ea typeface="Aptos Display"/>
                <a:cs typeface="Aptos Display"/>
              </a:rPr>
              <a:t>MDPrepBench</a:t>
            </a:r>
            <a:r>
              <a:rPr sz="2538" b="1" dirty="0">
                <a:solidFill>
                  <a:srgbClr val="172033"/>
                </a:solidFill>
                <a:latin typeface="Aptos Display"/>
                <a:ea typeface="Aptos Display"/>
                <a:cs typeface="Aptos Display"/>
              </a:rPr>
              <a:t> tasks P01-P13.</a:t>
            </a:r>
          </a:p>
        </p:txBody>
      </p:sp>
      <p:pic>
        <p:nvPicPr>
          <p:cNvPr id="76" name="図 75">
            <a:extLst>
              <a:ext uri="{FF2B5EF4-FFF2-40B4-BE49-F238E27FC236}">
                <a16:creationId xmlns:a16="http://schemas.microsoft.com/office/drawing/2014/main" id="{56B15E29-ADA4-CBCC-7E60-ABCAF8198E24}"/>
              </a:ext>
            </a:extLst>
          </p:cNvPr>
          <p:cNvPicPr>
            <a:picLocks noChangeAspect="1"/>
          </p:cNvPicPr>
          <p:nvPr/>
        </p:nvPicPr>
        <p:blipFill>
          <a:blip r:embed="rId3"/>
          <a:stretch>
            <a:fillRect/>
          </a:stretch>
        </p:blipFill>
        <p:spPr>
          <a:xfrm>
            <a:off x="301282" y="1335213"/>
            <a:ext cx="11606084" cy="4103160"/>
          </a:xfrm>
          <a:prstGeom prst="rect">
            <a:avLst/>
          </a:prstGeom>
        </p:spPr>
      </p:pic>
      <p:sp>
        <p:nvSpPr>
          <p:cNvPr id="77" name="TextBox 76"/>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1C81C51A-24EC-4296-8ADA-993DFD577814}"/>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C6A0EE9C-6253-4D00-8709-C70833DAE9DB}"/>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A767C702-F572-44E6-9696-9BAD60BF0C1F}"/>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7A9A5906-3C3A-4466-AB56-447666FDED8D}"/>
              </a:ext>
            </a:extLst>
          </p:cNvPr>
          <p:cNvSpPr>
            <a:spLocks noGrp="1"/>
          </p:cNvSpPr>
          <p:nvPr/>
        </p:nvSpPr>
        <p:spPr>
          <a:xfrm>
            <a:off x="720191" y="799465"/>
            <a:ext cx="780923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lang="en-US" sz="2538" b="1" dirty="0" err="1">
                <a:solidFill>
                  <a:srgbClr val="172033"/>
                </a:solidFill>
                <a:latin typeface="Aptos Display"/>
                <a:ea typeface="Aptos Display"/>
                <a:cs typeface="Aptos Display"/>
              </a:rPr>
              <a:t>MDPrepBench</a:t>
            </a:r>
            <a:r>
              <a:rPr lang="en-US" sz="2538" b="1" dirty="0">
                <a:solidFill>
                  <a:srgbClr val="172033"/>
                </a:solidFill>
                <a:latin typeface="Aptos Display"/>
                <a:ea typeface="Aptos Display"/>
                <a:cs typeface="Aptos Display"/>
              </a:rPr>
              <a:t> </a:t>
            </a:r>
            <a:r>
              <a:rPr sz="2538" b="1" dirty="0">
                <a:solidFill>
                  <a:srgbClr val="172033"/>
                </a:solidFill>
                <a:latin typeface="Aptos Display"/>
                <a:ea typeface="Aptos Display"/>
                <a:cs typeface="Aptos Display"/>
              </a:rPr>
              <a:t>tasks P14-P25.</a:t>
            </a:r>
          </a:p>
        </p:txBody>
      </p:sp>
      <p:sp>
        <p:nvSpPr>
          <p:cNvPr id="7" name="正方形/長方形 6">
            <a:extLst>
              <a:ext uri="{FF2B5EF4-FFF2-40B4-BE49-F238E27FC236}">
                <a16:creationId xmlns:a16="http://schemas.microsoft.com/office/drawing/2014/main" id="{870748A4-607C-1B04-80B5-AA0478C63857}"/>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lang="en-US" sz="1525" b="1" dirty="0" err="1">
                <a:solidFill>
                  <a:srgbClr val="0E3A75"/>
                </a:solidFill>
                <a:latin typeface="Aptos"/>
                <a:ea typeface="Aptos"/>
                <a:cs typeface="Aptos"/>
              </a:rPr>
              <a:t>MDPrepBench</a:t>
            </a:r>
            <a:endParaRPr sz="1525" b="1" dirty="0">
              <a:solidFill>
                <a:srgbClr val="0E3A75"/>
              </a:solidFill>
              <a:latin typeface="Aptos"/>
              <a:ea typeface="Aptos"/>
              <a:cs typeface="Aptos"/>
            </a:endParaRPr>
          </a:p>
        </p:txBody>
      </p:sp>
      <p:pic>
        <p:nvPicPr>
          <p:cNvPr id="70" name="図 69">
            <a:extLst>
              <a:ext uri="{FF2B5EF4-FFF2-40B4-BE49-F238E27FC236}">
                <a16:creationId xmlns:a16="http://schemas.microsoft.com/office/drawing/2014/main" id="{7EC9FFA1-902F-0530-5646-A1CF33F00961}"/>
              </a:ext>
            </a:extLst>
          </p:cNvPr>
          <p:cNvPicPr>
            <a:picLocks noChangeAspect="1"/>
          </p:cNvPicPr>
          <p:nvPr/>
        </p:nvPicPr>
        <p:blipFill>
          <a:blip r:embed="rId3"/>
          <a:stretch>
            <a:fillRect/>
          </a:stretch>
        </p:blipFill>
        <p:spPr>
          <a:xfrm>
            <a:off x="373295" y="1398778"/>
            <a:ext cx="11475643" cy="4057045"/>
          </a:xfrm>
          <a:prstGeom prst="rect">
            <a:avLst/>
          </a:prstGeom>
        </p:spPr>
      </p:pic>
      <p:sp>
        <p:nvSpPr>
          <p:cNvPr id="71" name="TextBox 70"/>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E7C676A5-2F23-CC86-10A4-D2E779BC067A}"/>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B872857E-3CC3-2D95-487C-53EBCEC72504}"/>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BF690546-1110-6841-38AF-092A4FD54F9C}"/>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47F21E0-DBF1-F18F-DA5A-755E66AE326A}"/>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lang="en-US" sz="1525" b="1" dirty="0" err="1">
                <a:solidFill>
                  <a:srgbClr val="0E3A75"/>
                </a:solidFill>
                <a:latin typeface="Aptos"/>
                <a:ea typeface="Aptos"/>
                <a:cs typeface="Aptos"/>
              </a:rPr>
              <a:t>MDPrepBench</a:t>
            </a:r>
            <a:r>
              <a:rPr lang="en-US" sz="1525" b="1" dirty="0">
                <a:solidFill>
                  <a:srgbClr val="0E3A75"/>
                </a:solidFill>
                <a:latin typeface="Aptos"/>
                <a:ea typeface="Aptos"/>
                <a:cs typeface="Aptos"/>
              </a:rPr>
              <a:t> Overview</a:t>
            </a:r>
            <a:endParaRPr sz="1525" b="1" dirty="0">
              <a:solidFill>
                <a:srgbClr val="0E3A75"/>
              </a:solidFill>
              <a:latin typeface="Aptos"/>
              <a:ea typeface="Aptos"/>
              <a:cs typeface="Aptos"/>
            </a:endParaRPr>
          </a:p>
        </p:txBody>
      </p:sp>
      <p:sp>
        <p:nvSpPr>
          <p:cNvPr id="6" name="正方形/長方形 5">
            <a:extLst>
              <a:ext uri="{FF2B5EF4-FFF2-40B4-BE49-F238E27FC236}">
                <a16:creationId xmlns:a16="http://schemas.microsoft.com/office/drawing/2014/main" id="{B29DD40F-DD61-C2EA-FFB1-B4D875A834C6}"/>
              </a:ext>
            </a:extLst>
          </p:cNvPr>
          <p:cNvSpPr>
            <a:spLocks noGrp="1"/>
          </p:cNvSpPr>
          <p:nvPr/>
        </p:nvSpPr>
        <p:spPr>
          <a:xfrm>
            <a:off x="720191" y="799465"/>
            <a:ext cx="9625330" cy="63688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sz="2538" b="1" dirty="0" err="1">
                <a:solidFill>
                  <a:srgbClr val="172033"/>
                </a:solidFill>
                <a:latin typeface="Aptos Display"/>
                <a:ea typeface="Aptos Display"/>
                <a:cs typeface="Aptos Display"/>
              </a:rPr>
              <a:t>MD</a:t>
            </a:r>
            <a:r>
              <a:rPr lang="en-US" sz="2538" b="1" dirty="0" err="1">
                <a:solidFill>
                  <a:srgbClr val="172033"/>
                </a:solidFill>
                <a:latin typeface="Aptos Display"/>
                <a:ea typeface="Aptos Display"/>
                <a:cs typeface="Aptos Display"/>
              </a:rPr>
              <a:t>Prep</a:t>
            </a:r>
            <a:r>
              <a:rPr sz="2538" b="1" dirty="0" err="1">
                <a:solidFill>
                  <a:srgbClr val="172033"/>
                </a:solidFill>
                <a:latin typeface="Aptos Display"/>
                <a:ea typeface="Aptos Display"/>
                <a:cs typeface="Aptos Display"/>
              </a:rPr>
              <a:t>Bench</a:t>
            </a:r>
            <a:r>
              <a:rPr lang="en-US" sz="2538" b="1" dirty="0">
                <a:solidFill>
                  <a:srgbClr val="172033"/>
                </a:solidFill>
                <a:latin typeface="Aptos Display"/>
                <a:ea typeface="Aptos Display"/>
                <a:cs typeface="Aptos Display"/>
              </a:rPr>
              <a:t>: Example of a prompt (P01)</a:t>
            </a:r>
            <a:endParaRPr sz="2538" b="1" dirty="0">
              <a:solidFill>
                <a:srgbClr val="172033"/>
              </a:solidFill>
              <a:latin typeface="Aptos Display"/>
              <a:ea typeface="Aptos Display"/>
              <a:cs typeface="Aptos Display"/>
            </a:endParaRPr>
          </a:p>
        </p:txBody>
      </p:sp>
      <p:sp>
        <p:nvSpPr>
          <p:cNvPr id="7" name="テキスト ボックス 6">
            <a:extLst>
              <a:ext uri="{FF2B5EF4-FFF2-40B4-BE49-F238E27FC236}">
                <a16:creationId xmlns:a16="http://schemas.microsoft.com/office/drawing/2014/main" id="{F02665A9-4117-5C33-355F-B800C831939F}"/>
              </a:ext>
            </a:extLst>
          </p:cNvPr>
          <p:cNvSpPr txBox="1"/>
          <p:nvPr/>
        </p:nvSpPr>
        <p:spPr>
          <a:xfrm>
            <a:off x="529500" y="1326134"/>
            <a:ext cx="11132693" cy="5252104"/>
          </a:xfrm>
          <a:prstGeom prst="rect">
            <a:avLst/>
          </a:prstGeom>
          <a:noFill/>
          <a:ln>
            <a:solidFill>
              <a:srgbClr val="000000"/>
            </a:solidFill>
          </a:ln>
        </p:spPr>
        <p:txBody>
          <a:bodyPr wrap="square" rtlCol="0">
            <a:spAutoFit/>
          </a:bodyPr>
          <a:lstStyle/>
          <a:p>
            <a:r>
              <a:rPr kumimoji="1" lang="en-US" altLang="ja-JP" sz="2097" dirty="0"/>
              <a:t>Use this prompt as the task statement. Retrieve public sources as needed, and do not read `truth/` or `scorer/` if those directories exist.</a:t>
            </a:r>
          </a:p>
          <a:p>
            <a:endParaRPr kumimoji="1" lang="en-US" altLang="ja-JP" sz="2097" dirty="0"/>
          </a:p>
          <a:p>
            <a:r>
              <a:rPr kumimoji="1" lang="en-US" altLang="ja-JP" sz="2097" dirty="0">
                <a:solidFill>
                  <a:srgbClr val="C00000"/>
                </a:solidFill>
              </a:rPr>
              <a:t>Task: Simple monomer preparation: retrieve T4 lysozyme chain A, clean it, prepare an explicit-water-compatible topology, and report that no unintended ligands were retained.</a:t>
            </a:r>
          </a:p>
          <a:p>
            <a:endParaRPr kumimoji="1" lang="en-US" altLang="ja-JP" sz="2097" dirty="0"/>
          </a:p>
          <a:p>
            <a:r>
              <a:rPr kumimoji="1" lang="en-US" altLang="ja-JP" sz="2097" dirty="0"/>
              <a:t>Public source anchors: PDB 2LZM.</a:t>
            </a:r>
          </a:p>
          <a:p>
            <a:endParaRPr kumimoji="1" lang="en-US" altLang="ja-JP" sz="2097" dirty="0"/>
          </a:p>
          <a:p>
            <a:r>
              <a:rPr kumimoji="1" lang="en-US" altLang="ja-JP" sz="2097" dirty="0"/>
              <a:t>Your submission directory must contain:</a:t>
            </a:r>
          </a:p>
          <a:p>
            <a:endParaRPr kumimoji="1" lang="en-US" altLang="ja-JP" sz="2097" dirty="0"/>
          </a:p>
          <a:p>
            <a:r>
              <a:rPr kumimoji="1" lang="en-US" altLang="ja-JP" sz="2097" dirty="0"/>
              <a:t>- `</a:t>
            </a:r>
            <a:r>
              <a:rPr kumimoji="1" lang="en-US" altLang="ja-JP" sz="2097" dirty="0" err="1"/>
              <a:t>manifest.json</a:t>
            </a:r>
            <a:r>
              <a:rPr kumimoji="1" lang="en-US" altLang="ja-JP" sz="2097" dirty="0"/>
              <a:t>`</a:t>
            </a:r>
          </a:p>
          <a:p>
            <a:r>
              <a:rPr kumimoji="1" lang="en-US" altLang="ja-JP" sz="2097" dirty="0"/>
              <a:t>- `</a:t>
            </a:r>
            <a:r>
              <a:rPr kumimoji="1" lang="en-US" altLang="ja-JP" sz="2097" dirty="0" err="1"/>
              <a:t>metrics.json</a:t>
            </a:r>
            <a:r>
              <a:rPr kumimoji="1" lang="en-US" altLang="ja-JP" sz="2097" dirty="0"/>
              <a:t>`</a:t>
            </a:r>
          </a:p>
          <a:p>
            <a:r>
              <a:rPr kumimoji="1" lang="en-US" altLang="ja-JP" sz="2097" dirty="0"/>
              <a:t>- `</a:t>
            </a:r>
            <a:r>
              <a:rPr kumimoji="1" lang="en-US" altLang="ja-JP" sz="2097" dirty="0" err="1"/>
              <a:t>provenance.json</a:t>
            </a:r>
            <a:r>
              <a:rPr kumimoji="1" lang="en-US" altLang="ja-JP" sz="2097" dirty="0"/>
              <a:t>`</a:t>
            </a:r>
          </a:p>
          <a:p>
            <a:r>
              <a:rPr kumimoji="1" lang="en-US" altLang="ja-JP" sz="2097" dirty="0"/>
              <a:t>- `</a:t>
            </a:r>
            <a:r>
              <a:rPr kumimoji="1" lang="en-US" altLang="ja-JP" sz="2097" dirty="0" err="1"/>
              <a:t>evidence_report.json</a:t>
            </a:r>
            <a:r>
              <a:rPr kumimoji="1" lang="en-US" altLang="ja-JP" sz="2097" dirty="0"/>
              <a:t>`</a:t>
            </a:r>
          </a:p>
          <a:p>
            <a:r>
              <a:rPr kumimoji="1" lang="en-US" altLang="ja-JP" sz="2097" dirty="0"/>
              <a:t>- `</a:t>
            </a:r>
            <a:r>
              <a:rPr kumimoji="1" lang="en-US" altLang="ja-JP" sz="2097" dirty="0" err="1"/>
              <a:t>prepared_structure.pdb</a:t>
            </a:r>
            <a:r>
              <a:rPr kumimoji="1" lang="en-US" altLang="ja-JP" sz="2097" dirty="0"/>
              <a:t>`</a:t>
            </a:r>
          </a:p>
          <a:p>
            <a:r>
              <a:rPr kumimoji="1" lang="en-US" altLang="ja-JP" sz="2097" dirty="0"/>
              <a:t>~~~~</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3" name="テキスト ボックス 52">
            <a:extLst>
              <a:ext uri="{FF2B5EF4-FFF2-40B4-BE49-F238E27FC236}">
                <a16:creationId xmlns:a16="http://schemas.microsoft.com/office/drawing/2014/main" id="{D375BE13-2B61-C64D-A072-ABB49CAC8A23}"/>
              </a:ext>
            </a:extLst>
          </p:cNvPr>
          <p:cNvSpPr txBox="1"/>
          <p:nvPr/>
        </p:nvSpPr>
        <p:spPr>
          <a:xfrm>
            <a:off x="817049" y="938699"/>
            <a:ext cx="9225788" cy="920157"/>
          </a:xfrm>
          <a:prstGeom prst="rect">
            <a:avLst/>
          </a:prstGeom>
          <a:noFill/>
        </p:spPr>
        <p:txBody>
          <a:bodyPr vertOverflow="overflow" vert="horz" wrap="square" rtlCol="0" anchor="t">
            <a:normAutofit/>
          </a:bodyPr>
          <a:lstStyle/>
          <a:p>
            <a:pPr algn="l"/>
            <a:r>
              <a:rPr lang="en-US" altLang="ja-JP" sz="2669" b="1" dirty="0">
                <a:solidFill>
                  <a:srgbClr val="0F172A"/>
                </a:solidFill>
                <a:latin typeface="Arial"/>
                <a:cs typeface="Arial"/>
              </a:rPr>
              <a:t>DAG-based workflow enables self-repair: </a:t>
            </a:r>
            <a:br>
              <a:rPr lang="en-US" altLang="ja-JP" sz="2669" b="1" dirty="0">
                <a:solidFill>
                  <a:srgbClr val="0F172A"/>
                </a:solidFill>
                <a:latin typeface="Arial"/>
                <a:cs typeface="Arial"/>
              </a:rPr>
            </a:br>
            <a:r>
              <a:rPr lang="en-US" altLang="ja-JP" sz="2669" b="1" dirty="0">
                <a:solidFill>
                  <a:srgbClr val="0F172A"/>
                </a:solidFill>
                <a:latin typeface="Arial"/>
                <a:cs typeface="Arial"/>
              </a:rPr>
              <a:t>readable examples of where the mechanism worked</a:t>
            </a:r>
            <a:endParaRPr lang="ja-JP" altLang="en-US" sz="2669" b="1">
              <a:solidFill>
                <a:srgbClr val="0F172A"/>
              </a:solidFill>
              <a:latin typeface="Arial"/>
              <a:cs typeface="Arial"/>
            </a:endParaRPr>
          </a:p>
        </p:txBody>
      </p:sp>
      <p:sp>
        <p:nvSpPr>
          <p:cNvPr id="59" name="テキスト ボックス 58">
            <a:extLst>
              <a:ext uri="{FF2B5EF4-FFF2-40B4-BE49-F238E27FC236}">
                <a16:creationId xmlns:a16="http://schemas.microsoft.com/office/drawing/2014/main" id="{46AEA404-3181-2744-BD84-4FA5D3A52E52}"/>
              </a:ext>
            </a:extLst>
          </p:cNvPr>
          <p:cNvSpPr txBox="1"/>
          <p:nvPr/>
        </p:nvSpPr>
        <p:spPr>
          <a:xfrm>
            <a:off x="877586" y="1858856"/>
            <a:ext cx="10436521" cy="254254"/>
          </a:xfrm>
          <a:prstGeom prst="rect">
            <a:avLst/>
          </a:prstGeom>
          <a:noFill/>
        </p:spPr>
        <p:txBody>
          <a:bodyPr vertOverflow="overflow" vert="horz" wrap="square" rtlCol="0" anchor="t">
            <a:normAutofit fontScale="92500" lnSpcReduction="10000"/>
          </a:bodyPr>
          <a:lstStyle/>
          <a:p>
            <a:pPr algn="l"/>
            <a:r>
              <a:rPr lang="en-US" altLang="ja-JP" sz="1239" b="1" dirty="0">
                <a:solidFill>
                  <a:srgbClr val="FFFFFF"/>
                </a:solidFill>
                <a:latin typeface="Arial"/>
                <a:cs typeface="Arial"/>
              </a:rPr>
              <a:t>Self-repair flipped FAIL → PASS</a:t>
            </a:r>
            <a:endParaRPr lang="ja-JP" altLang="en-US" sz="1239" b="1">
              <a:solidFill>
                <a:srgbClr val="FFFFFF"/>
              </a:solidFill>
              <a:latin typeface="Arial"/>
              <a:cs typeface="Arial"/>
            </a:endParaRPr>
          </a:p>
        </p:txBody>
      </p:sp>
      <p:sp>
        <p:nvSpPr>
          <p:cNvPr id="96" name="正方形/長方形 95">
            <a:extLst>
              <a:ext uri="{FF2B5EF4-FFF2-40B4-BE49-F238E27FC236}">
                <a16:creationId xmlns:a16="http://schemas.microsoft.com/office/drawing/2014/main" id="{C7C99839-F147-69DE-BBC1-54AC5047F53F}"/>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lang="en-US" sz="1525" b="1" dirty="0" err="1">
                <a:solidFill>
                  <a:srgbClr val="0E3A75"/>
                </a:solidFill>
                <a:latin typeface="Aptos"/>
                <a:ea typeface="Aptos"/>
                <a:cs typeface="Aptos"/>
              </a:rPr>
              <a:t>MDPrepBench</a:t>
            </a:r>
            <a:r>
              <a:rPr lang="en-US" sz="1525" b="1" dirty="0">
                <a:solidFill>
                  <a:srgbClr val="0E3A75"/>
                </a:solidFill>
                <a:latin typeface="Aptos"/>
                <a:ea typeface="Aptos"/>
                <a:cs typeface="Aptos"/>
              </a:rPr>
              <a:t> Results</a:t>
            </a:r>
            <a:endParaRPr sz="1525" b="1" dirty="0">
              <a:solidFill>
                <a:srgbClr val="0E3A75"/>
              </a:solidFill>
              <a:latin typeface="Aptos"/>
              <a:ea typeface="Aptos"/>
              <a:cs typeface="Aptos"/>
            </a:endParaRPr>
          </a:p>
        </p:txBody>
      </p:sp>
      <p:sp>
        <p:nvSpPr>
          <p:cNvPr id="97" name="正方形/長方形 96">
            <a:extLst>
              <a:ext uri="{FF2B5EF4-FFF2-40B4-BE49-F238E27FC236}">
                <a16:creationId xmlns:a16="http://schemas.microsoft.com/office/drawing/2014/main" id="{5F1F5213-4BAA-064F-DB8D-AB8A6C0B18FA}"/>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98" name="正方形/長方形 97">
            <a:extLst>
              <a:ext uri="{FF2B5EF4-FFF2-40B4-BE49-F238E27FC236}">
                <a16:creationId xmlns:a16="http://schemas.microsoft.com/office/drawing/2014/main" id="{10E2B481-87FE-EB1A-D938-8DAF26940FD1}"/>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pic>
        <p:nvPicPr>
          <p:cNvPr id="2" name="図 1">
            <a:extLst>
              <a:ext uri="{FF2B5EF4-FFF2-40B4-BE49-F238E27FC236}">
                <a16:creationId xmlns:a16="http://schemas.microsoft.com/office/drawing/2014/main" id="{19A280C0-B61D-B686-F9ED-3A5356DBB497}"/>
              </a:ext>
            </a:extLst>
          </p:cNvPr>
          <p:cNvPicPr>
            <a:picLocks noChangeAspect="1"/>
          </p:cNvPicPr>
          <p:nvPr/>
        </p:nvPicPr>
        <p:blipFill>
          <a:blip r:embed="rId3"/>
          <a:stretch>
            <a:fillRect/>
          </a:stretch>
        </p:blipFill>
        <p:spPr>
          <a:xfrm>
            <a:off x="357297" y="2326858"/>
            <a:ext cx="11477099" cy="2887666"/>
          </a:xfrm>
          <a:prstGeom prst="rect">
            <a:avLst/>
          </a:prstGeom>
        </p:spPr>
      </p:pic>
      <p:sp>
        <p:nvSpPr>
          <p:cNvPr id="99" name="TextBox 9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C61EDE1F-4ED7-432D-8B58-CF7C9679710D}"/>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7F9498E5-6D63-4A6B-88CA-96F581D2C326}"/>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B3A6A4D5-F955-4216-827A-2B400034A367}"/>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ED9509D-B68C-486D-AA3C-29557F9A33BD}"/>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10 EXAMPLE WORKFLOWS</a:t>
            </a:r>
          </a:p>
        </p:txBody>
      </p:sp>
      <p:sp>
        <p:nvSpPr>
          <p:cNvPr id="6" name="正方形/長方形 5">
            <a:extLst>
              <a:ext uri="{FF2B5EF4-FFF2-40B4-BE49-F238E27FC236}">
                <a16:creationId xmlns:a16="http://schemas.microsoft.com/office/drawing/2014/main" id="{75C4063E-4F39-4378-8938-DE4A4B86C16F}"/>
              </a:ext>
            </a:extLst>
          </p:cNvPr>
          <p:cNvSpPr>
            <a:spLocks noGrp="1"/>
          </p:cNvSpPr>
          <p:nvPr/>
        </p:nvSpPr>
        <p:spPr>
          <a:xfrm>
            <a:off x="720191" y="799465"/>
            <a:ext cx="889889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sz="2538" b="1" dirty="0">
                <a:solidFill>
                  <a:srgbClr val="172033"/>
                </a:solidFill>
                <a:latin typeface="Aptos Display"/>
                <a:ea typeface="Aptos Display"/>
                <a:cs typeface="Aptos Display"/>
              </a:rPr>
              <a:t>Five common ways </a:t>
            </a:r>
            <a:r>
              <a:rPr sz="2538" b="1" dirty="0" err="1">
                <a:solidFill>
                  <a:srgbClr val="172033"/>
                </a:solidFill>
                <a:latin typeface="Aptos Display"/>
                <a:ea typeface="Aptos Display"/>
                <a:cs typeface="Aptos Display"/>
              </a:rPr>
              <a:t>MDClaw</a:t>
            </a:r>
            <a:r>
              <a:rPr sz="2538" b="1" dirty="0">
                <a:solidFill>
                  <a:srgbClr val="172033"/>
                </a:solidFill>
                <a:latin typeface="Aptos Display"/>
                <a:ea typeface="Aptos Display"/>
                <a:cs typeface="Aptos Display"/>
              </a:rPr>
              <a:t> turns a request into a recorded MD workflow.</a:t>
            </a:r>
          </a:p>
        </p:txBody>
      </p:sp>
      <p:sp>
        <p:nvSpPr>
          <p:cNvPr id="9" name="正方形/長方形 8">
            <a:extLst>
              <a:ext uri="{FF2B5EF4-FFF2-40B4-BE49-F238E27FC236}">
                <a16:creationId xmlns:a16="http://schemas.microsoft.com/office/drawing/2014/main" id="{9BCCB800-0B7E-47DC-885C-9EA143608D33}"/>
              </a:ext>
            </a:extLst>
          </p:cNvPr>
          <p:cNvSpPr>
            <a:spLocks noGrp="1"/>
          </p:cNvSpPr>
          <p:nvPr/>
        </p:nvSpPr>
        <p:spPr>
          <a:xfrm>
            <a:off x="774674" y="1943608"/>
            <a:ext cx="1943227" cy="2542540"/>
          </a:xfrm>
          <a:prstGeom prst="rect">
            <a:avLst/>
          </a:prstGeom>
          <a:solidFill>
            <a:srgbClr val="F7FAFD"/>
          </a:solidFill>
          <a:ln w="14288">
            <a:solidFill>
              <a:srgbClr val="0E3A75"/>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385DDE6B-BC53-4EBF-B1DA-6993C58D86F3}"/>
              </a:ext>
            </a:extLst>
          </p:cNvPr>
          <p:cNvSpPr>
            <a:spLocks noGrp="1"/>
          </p:cNvSpPr>
          <p:nvPr/>
        </p:nvSpPr>
        <p:spPr>
          <a:xfrm>
            <a:off x="774674" y="1943608"/>
            <a:ext cx="1943227"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FF609A46-36B8-4519-BEB3-2692B33A4C5C}"/>
              </a:ext>
            </a:extLst>
          </p:cNvPr>
          <p:cNvSpPr>
            <a:spLocks noGrp="1"/>
          </p:cNvSpPr>
          <p:nvPr/>
        </p:nvSpPr>
        <p:spPr>
          <a:xfrm>
            <a:off x="910881" y="2125218"/>
            <a:ext cx="345059" cy="34505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61C19196-95FC-4BC6-8CCA-F5B0DEF1D09A}"/>
              </a:ext>
            </a:extLst>
          </p:cNvPr>
          <p:cNvSpPr>
            <a:spLocks noGrp="1"/>
          </p:cNvSpPr>
          <p:nvPr/>
        </p:nvSpPr>
        <p:spPr>
          <a:xfrm>
            <a:off x="1337665"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Direct MD workflow</a:t>
            </a:r>
          </a:p>
        </p:txBody>
      </p:sp>
      <p:pic>
        <p:nvPicPr>
          <p:cNvPr id="14" name="グラフィックス 13"/>
          <p:cNvPicPr>
            <a:picLocks noChangeAspect="1"/>
          </p:cNvPicPr>
          <p:nvPr/>
        </p:nvPicPr>
        <p:blipFill>
          <a:blip>
            <a:extLst>
              <a:ext uri="{96DAC541-7B7A-43D3-8B79-37D633B846F1}">
                <asvg:svgBlip xmlns:asvg="http://schemas.microsoft.com/office/drawing/2016/SVG/main" r:embed="rId3"/>
              </a:ext>
            </a:extLst>
          </a:blip>
          <a:stretch/>
        </p:blipFill>
        <p:spPr>
          <a:xfrm>
            <a:off x="1464792" y="2779014"/>
            <a:ext cx="708279" cy="708279"/>
          </a:xfrm>
          <a:prstGeom prst="rect">
            <a:avLst/>
          </a:prstGeom>
        </p:spPr>
      </p:pic>
      <p:sp>
        <p:nvSpPr>
          <p:cNvPr id="15" name="正方形/長方形 14">
            <a:extLst>
              <a:ext uri="{FF2B5EF4-FFF2-40B4-BE49-F238E27FC236}">
                <a16:creationId xmlns:a16="http://schemas.microsoft.com/office/drawing/2014/main" id="{64A1660C-F73B-40ED-BB8D-46B58A91E737}"/>
              </a:ext>
            </a:extLst>
          </p:cNvPr>
          <p:cNvSpPr>
            <a:spLocks noGrp="1"/>
          </p:cNvSpPr>
          <p:nvPr/>
        </p:nvSpPr>
        <p:spPr>
          <a:xfrm>
            <a:off x="938123"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Create a thin study and run one jobs/main DAG.</a:t>
            </a:r>
          </a:p>
        </p:txBody>
      </p:sp>
      <p:sp>
        <p:nvSpPr>
          <p:cNvPr id="16" name="正方形/長方形 15">
            <a:extLst>
              <a:ext uri="{FF2B5EF4-FFF2-40B4-BE49-F238E27FC236}">
                <a16:creationId xmlns:a16="http://schemas.microsoft.com/office/drawing/2014/main" id="{B8DC36C0-A3C7-48D3-A5C3-BF4FDEE3CB9D}"/>
              </a:ext>
            </a:extLst>
          </p:cNvPr>
          <p:cNvSpPr>
            <a:spLocks noGrp="1"/>
          </p:cNvSpPr>
          <p:nvPr/>
        </p:nvSpPr>
        <p:spPr>
          <a:xfrm>
            <a:off x="2935833" y="1943608"/>
            <a:ext cx="1943227" cy="2542540"/>
          </a:xfrm>
          <a:prstGeom prst="rect">
            <a:avLst/>
          </a:prstGeom>
          <a:solidFill>
            <a:srgbClr val="F8F7FC"/>
          </a:solidFill>
          <a:ln w="14288">
            <a:solidFill>
              <a:srgbClr val="4D4B7D"/>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BC78AE03-2587-435C-878C-7CBCCC08E1FA}"/>
              </a:ext>
            </a:extLst>
          </p:cNvPr>
          <p:cNvSpPr>
            <a:spLocks noGrp="1"/>
          </p:cNvSpPr>
          <p:nvPr/>
        </p:nvSpPr>
        <p:spPr>
          <a:xfrm>
            <a:off x="2935833" y="1943608"/>
            <a:ext cx="1943227"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5DC0A9D8-2F81-40C6-89B5-6A1D9E232D13}"/>
              </a:ext>
            </a:extLst>
          </p:cNvPr>
          <p:cNvSpPr>
            <a:spLocks noGrp="1"/>
          </p:cNvSpPr>
          <p:nvPr/>
        </p:nvSpPr>
        <p:spPr>
          <a:xfrm>
            <a:off x="3072040" y="2125218"/>
            <a:ext cx="345059" cy="345059"/>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98485F93-3287-4B47-B105-47AD2FBA78F5}"/>
              </a:ext>
            </a:extLst>
          </p:cNvPr>
          <p:cNvSpPr>
            <a:spLocks noGrp="1"/>
          </p:cNvSpPr>
          <p:nvPr/>
        </p:nvSpPr>
        <p:spPr>
          <a:xfrm>
            <a:off x="3498824"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Question-driven plan</a:t>
            </a:r>
          </a:p>
        </p:txBody>
      </p:sp>
      <p:pic>
        <p:nvPicPr>
          <p:cNvPr id="21" name="グラフィックス 20"/>
          <p:cNvPicPr>
            <a:picLocks noChangeAspect="1"/>
          </p:cNvPicPr>
          <p:nvPr/>
        </p:nvPicPr>
        <p:blipFill>
          <a:blip>
            <a:extLst>
              <a:ext uri="{96DAC541-7B7A-43D3-8B79-37D633B846F1}">
                <asvg:svgBlip xmlns:asvg="http://schemas.microsoft.com/office/drawing/2016/SVG/main" r:embed="rId7"/>
              </a:ext>
            </a:extLst>
          </a:blip>
          <a:stretch/>
        </p:blipFill>
        <p:spPr>
          <a:xfrm>
            <a:off x="3625951" y="2779014"/>
            <a:ext cx="708279" cy="708279"/>
          </a:xfrm>
          <a:prstGeom prst="rect">
            <a:avLst/>
          </a:prstGeom>
        </p:spPr>
      </p:pic>
      <p:sp>
        <p:nvSpPr>
          <p:cNvPr id="22" name="正方形/長方形 21">
            <a:extLst>
              <a:ext uri="{FF2B5EF4-FFF2-40B4-BE49-F238E27FC236}">
                <a16:creationId xmlns:a16="http://schemas.microsoft.com/office/drawing/2014/main" id="{BFC288E5-0B12-4229-AA6A-95A1EFE0BB36}"/>
              </a:ext>
            </a:extLst>
          </p:cNvPr>
          <p:cNvSpPr>
            <a:spLocks noGrp="1"/>
          </p:cNvSpPr>
          <p:nvPr/>
        </p:nvSpPr>
        <p:spPr>
          <a:xfrm>
            <a:off x="3099282"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Translate a scientific question into jobs, observables, and criteria.</a:t>
            </a:r>
          </a:p>
        </p:txBody>
      </p:sp>
      <p:sp>
        <p:nvSpPr>
          <p:cNvPr id="23" name="正方形/長方形 22">
            <a:extLst>
              <a:ext uri="{FF2B5EF4-FFF2-40B4-BE49-F238E27FC236}">
                <a16:creationId xmlns:a16="http://schemas.microsoft.com/office/drawing/2014/main" id="{BD457EFE-D93C-45F6-8A6B-4B655533B227}"/>
              </a:ext>
            </a:extLst>
          </p:cNvPr>
          <p:cNvSpPr>
            <a:spLocks noGrp="1"/>
          </p:cNvSpPr>
          <p:nvPr/>
        </p:nvSpPr>
        <p:spPr>
          <a:xfrm>
            <a:off x="5096992" y="1943608"/>
            <a:ext cx="1943227" cy="2542540"/>
          </a:xfrm>
          <a:prstGeom prst="rect">
            <a:avLst/>
          </a:prstGeom>
          <a:solidFill>
            <a:srgbClr val="F7FBF8"/>
          </a:solidFill>
          <a:ln w="14288">
            <a:solidFill>
              <a:srgbClr val="2D6D4B"/>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3426B70D-0136-4892-943D-F162F2364FBE}"/>
              </a:ext>
            </a:extLst>
          </p:cNvPr>
          <p:cNvSpPr>
            <a:spLocks noGrp="1"/>
          </p:cNvSpPr>
          <p:nvPr/>
        </p:nvSpPr>
        <p:spPr>
          <a:xfrm>
            <a:off x="5096992" y="1943608"/>
            <a:ext cx="1943227"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E317EAFF-2FD0-4D1D-85D8-CD90A0116F7F}"/>
              </a:ext>
            </a:extLst>
          </p:cNvPr>
          <p:cNvSpPr>
            <a:spLocks noGrp="1"/>
          </p:cNvSpPr>
          <p:nvPr/>
        </p:nvSpPr>
        <p:spPr>
          <a:xfrm>
            <a:off x="5233199" y="2125218"/>
            <a:ext cx="345059" cy="345059"/>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CCB31B59-A1F3-49E5-AC92-3E4068C86C8C}"/>
              </a:ext>
            </a:extLst>
          </p:cNvPr>
          <p:cNvSpPr>
            <a:spLocks noGrp="1"/>
          </p:cNvSpPr>
          <p:nvPr/>
        </p:nvSpPr>
        <p:spPr>
          <a:xfrm>
            <a:off x="5659983"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End-to-end answer</a:t>
            </a:r>
          </a:p>
        </p:txBody>
      </p:sp>
      <p:pic>
        <p:nvPicPr>
          <p:cNvPr id="28" name="グラフィックス 27"/>
          <p:cNvPicPr>
            <a:picLocks noChangeAspect="1"/>
          </p:cNvPicPr>
          <p:nvPr/>
        </p:nvPicPr>
        <p:blipFill>
          <a:blip>
            <a:extLst>
              <a:ext uri="{96DAC541-7B7A-43D3-8B79-37D633B846F1}">
                <asvg:svgBlip xmlns:asvg="http://schemas.microsoft.com/office/drawing/2016/SVG/main" r:embed="rId6"/>
              </a:ext>
            </a:extLst>
          </a:blip>
          <a:stretch/>
        </p:blipFill>
        <p:spPr>
          <a:xfrm>
            <a:off x="5787110" y="2779014"/>
            <a:ext cx="708279" cy="708279"/>
          </a:xfrm>
          <a:prstGeom prst="rect">
            <a:avLst/>
          </a:prstGeom>
        </p:spPr>
      </p:pic>
      <p:sp>
        <p:nvSpPr>
          <p:cNvPr id="29" name="正方形/長方形 28">
            <a:extLst>
              <a:ext uri="{FF2B5EF4-FFF2-40B4-BE49-F238E27FC236}">
                <a16:creationId xmlns:a16="http://schemas.microsoft.com/office/drawing/2014/main" id="{9F62AAFD-F5B0-40E6-A747-3C0D60892C0E}"/>
              </a:ext>
            </a:extLst>
          </p:cNvPr>
          <p:cNvSpPr>
            <a:spLocks noGrp="1"/>
          </p:cNvSpPr>
          <p:nvPr/>
        </p:nvSpPr>
        <p:spPr>
          <a:xfrm>
            <a:off x="5260441"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Run MD, analyze trajectories, and return evidence plus uncertainty.</a:t>
            </a:r>
          </a:p>
        </p:txBody>
      </p:sp>
      <p:sp>
        <p:nvSpPr>
          <p:cNvPr id="30" name="正方形/長方形 29">
            <a:extLst>
              <a:ext uri="{FF2B5EF4-FFF2-40B4-BE49-F238E27FC236}">
                <a16:creationId xmlns:a16="http://schemas.microsoft.com/office/drawing/2014/main" id="{AF05C558-FF27-46A8-B616-33726AA5A6D5}"/>
              </a:ext>
            </a:extLst>
          </p:cNvPr>
          <p:cNvSpPr>
            <a:spLocks noGrp="1"/>
          </p:cNvSpPr>
          <p:nvPr/>
        </p:nvSpPr>
        <p:spPr>
          <a:xfrm>
            <a:off x="7258151" y="1943608"/>
            <a:ext cx="1943227" cy="2542540"/>
          </a:xfrm>
          <a:prstGeom prst="rect">
            <a:avLst/>
          </a:prstGeom>
          <a:solidFill>
            <a:srgbClr val="FCFAF2"/>
          </a:solidFill>
          <a:ln w="14288">
            <a:solidFill>
              <a:srgbClr val="A66A00"/>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9ECB3F8F-172D-4390-8462-6D0D0178D2CE}"/>
              </a:ext>
            </a:extLst>
          </p:cNvPr>
          <p:cNvSpPr>
            <a:spLocks noGrp="1"/>
          </p:cNvSpPr>
          <p:nvPr/>
        </p:nvSpPr>
        <p:spPr>
          <a:xfrm>
            <a:off x="7258151" y="1943608"/>
            <a:ext cx="1943227" cy="63563"/>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3532DBAD-763A-4E90-91E5-05C91FB92FA1}"/>
              </a:ext>
            </a:extLst>
          </p:cNvPr>
          <p:cNvSpPr>
            <a:spLocks noGrp="1"/>
          </p:cNvSpPr>
          <p:nvPr/>
        </p:nvSpPr>
        <p:spPr>
          <a:xfrm>
            <a:off x="7394358" y="2125218"/>
            <a:ext cx="345059" cy="345059"/>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7639B2C4-BAD6-4955-B59A-83DDDD1C2701}"/>
              </a:ext>
            </a:extLst>
          </p:cNvPr>
          <p:cNvSpPr>
            <a:spLocks noGrp="1"/>
          </p:cNvSpPr>
          <p:nvPr/>
        </p:nvSpPr>
        <p:spPr>
          <a:xfrm>
            <a:off x="7821142"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WT vs mutant</a:t>
            </a:r>
          </a:p>
        </p:txBody>
      </p:sp>
      <p:pic>
        <p:nvPicPr>
          <p:cNvPr id="35" name="グラフィックス 34"/>
          <p:cNvPicPr>
            <a:picLocks noChangeAspect="1"/>
          </p:cNvPicPr>
          <p:nvPr/>
        </p:nvPicPr>
        <p:blipFill>
          <a:blip>
            <a:extLst>
              <a:ext uri="{96DAC541-7B7A-43D3-8B79-37D633B846F1}">
                <asvg:svgBlip xmlns:asvg="http://schemas.microsoft.com/office/drawing/2016/SVG/main" r:embed="rId5"/>
              </a:ext>
            </a:extLst>
          </a:blip>
          <a:stretch/>
        </p:blipFill>
        <p:spPr>
          <a:xfrm>
            <a:off x="7948269" y="2779014"/>
            <a:ext cx="708279" cy="708279"/>
          </a:xfrm>
          <a:prstGeom prst="rect">
            <a:avLst/>
          </a:prstGeom>
        </p:spPr>
      </p:pic>
      <p:sp>
        <p:nvSpPr>
          <p:cNvPr id="36" name="正方形/長方形 35">
            <a:extLst>
              <a:ext uri="{FF2B5EF4-FFF2-40B4-BE49-F238E27FC236}">
                <a16:creationId xmlns:a16="http://schemas.microsoft.com/office/drawing/2014/main" id="{D9A53915-78BD-4A2E-9973-C41D12A1835F}"/>
              </a:ext>
            </a:extLst>
          </p:cNvPr>
          <p:cNvSpPr>
            <a:spLocks noGrp="1"/>
          </p:cNvSpPr>
          <p:nvPr/>
        </p:nvSpPr>
        <p:spPr>
          <a:xfrm>
            <a:off x="7421600"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Branch from prep and keep variant history explicit.</a:t>
            </a:r>
          </a:p>
        </p:txBody>
      </p:sp>
      <p:sp>
        <p:nvSpPr>
          <p:cNvPr id="37" name="正方形/長方形 36">
            <a:extLst>
              <a:ext uri="{FF2B5EF4-FFF2-40B4-BE49-F238E27FC236}">
                <a16:creationId xmlns:a16="http://schemas.microsoft.com/office/drawing/2014/main" id="{1D66CCC9-54F7-4B3D-9A73-0E20C07E8888}"/>
              </a:ext>
            </a:extLst>
          </p:cNvPr>
          <p:cNvSpPr>
            <a:spLocks noGrp="1"/>
          </p:cNvSpPr>
          <p:nvPr/>
        </p:nvSpPr>
        <p:spPr>
          <a:xfrm>
            <a:off x="9419310" y="1943608"/>
            <a:ext cx="1943227" cy="2542540"/>
          </a:xfrm>
          <a:prstGeom prst="rect">
            <a:avLst/>
          </a:prstGeom>
          <a:solidFill>
            <a:srgbClr val="E9F7F8"/>
          </a:solidFill>
          <a:ln w="14288">
            <a:solidFill>
              <a:srgbClr val="1F6674"/>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0AD730A8-3BCA-4826-8D63-89680F64E100}"/>
              </a:ext>
            </a:extLst>
          </p:cNvPr>
          <p:cNvSpPr>
            <a:spLocks noGrp="1"/>
          </p:cNvSpPr>
          <p:nvPr/>
        </p:nvSpPr>
        <p:spPr>
          <a:xfrm>
            <a:off x="9419310" y="1943608"/>
            <a:ext cx="1943227" cy="63563"/>
          </a:xfrm>
          <a:prstGeom prst="rect">
            <a:avLst/>
          </a:prstGeom>
          <a:solidFill>
            <a:srgbClr val="1F6674"/>
          </a:solidFill>
          <a:ln w="0">
            <a:solidFill>
              <a:srgbClr val="000000">
                <a:alpha val="0"/>
              </a:srgbClr>
            </a:solidFill>
            <a:prstDash val="solid"/>
          </a:ln>
        </p:spPr>
        <p:txBody>
          <a:bodyPr/>
          <a:lstStyle/>
          <a:p>
            <a:endParaRPr lang="ja-JP" altLang="en-US"/>
          </a:p>
        </p:txBody>
      </p:sp>
      <p:sp>
        <p:nvSpPr>
          <p:cNvPr id="39" name="正方形/長方形 38">
            <a:extLst>
              <a:ext uri="{FF2B5EF4-FFF2-40B4-BE49-F238E27FC236}">
                <a16:creationId xmlns:a16="http://schemas.microsoft.com/office/drawing/2014/main" id="{D7EBFAD5-AEB6-4C37-85E1-40AEC1318FDC}"/>
              </a:ext>
            </a:extLst>
          </p:cNvPr>
          <p:cNvSpPr>
            <a:spLocks noGrp="1"/>
          </p:cNvSpPr>
          <p:nvPr/>
        </p:nvSpPr>
        <p:spPr>
          <a:xfrm>
            <a:off x="9555517" y="2125218"/>
            <a:ext cx="345059" cy="345059"/>
          </a:xfrm>
          <a:prstGeom prst="rect">
            <a:avLst/>
          </a:prstGeom>
          <a:solidFill>
            <a:srgbClr val="1F6674"/>
          </a:solidFill>
          <a:ln w="0">
            <a:solidFill>
              <a:srgbClr val="000000">
                <a:alpha val="0"/>
              </a:srgbClr>
            </a:solidFill>
            <a:prstDash val="solid"/>
          </a:ln>
        </p:spPr>
        <p:txBody>
          <a:bodyPr/>
          <a:lstStyle/>
          <a:p>
            <a:endParaRPr lang="ja-JP" altLang="en-US"/>
          </a:p>
        </p:txBody>
      </p:sp>
      <p:sp>
        <p:nvSpPr>
          <p:cNvPr id="41" name="正方形/長方形 40">
            <a:extLst>
              <a:ext uri="{FF2B5EF4-FFF2-40B4-BE49-F238E27FC236}">
                <a16:creationId xmlns:a16="http://schemas.microsoft.com/office/drawing/2014/main" id="{6E4F6D12-B295-423E-82DF-5FB01761DFC2}"/>
              </a:ext>
            </a:extLst>
          </p:cNvPr>
          <p:cNvSpPr>
            <a:spLocks noGrp="1"/>
          </p:cNvSpPr>
          <p:nvPr/>
        </p:nvSpPr>
        <p:spPr>
          <a:xfrm>
            <a:off x="9982301"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Ligand / ion setup</a:t>
            </a:r>
          </a:p>
        </p:txBody>
      </p:sp>
      <p:pic>
        <p:nvPicPr>
          <p:cNvPr id="42" name="グラフィックス 41"/>
          <p:cNvPicPr>
            <a:picLocks noChangeAspect="1"/>
          </p:cNvPicPr>
          <p:nvPr/>
        </p:nvPicPr>
        <p:blipFill>
          <a:blip>
            <a:extLst>
              <a:ext uri="{96DAC541-7B7A-43D3-8B79-37D633B846F1}">
                <asvg:svgBlip xmlns:asvg="http://schemas.microsoft.com/office/drawing/2016/SVG/main" r:embed="rId4"/>
              </a:ext>
            </a:extLst>
          </a:blip>
          <a:stretch/>
        </p:blipFill>
        <p:spPr>
          <a:xfrm>
            <a:off x="10109428" y="2779014"/>
            <a:ext cx="708279" cy="708279"/>
          </a:xfrm>
          <a:prstGeom prst="rect">
            <a:avLst/>
          </a:prstGeom>
        </p:spPr>
      </p:pic>
      <p:sp>
        <p:nvSpPr>
          <p:cNvPr id="43" name="正方形/長方形 42">
            <a:extLst>
              <a:ext uri="{FF2B5EF4-FFF2-40B4-BE49-F238E27FC236}">
                <a16:creationId xmlns:a16="http://schemas.microsoft.com/office/drawing/2014/main" id="{5A353B3E-FE6A-47CF-A329-D2870D7749ED}"/>
              </a:ext>
            </a:extLst>
          </p:cNvPr>
          <p:cNvSpPr>
            <a:spLocks noGrp="1"/>
          </p:cNvSpPr>
          <p:nvPr/>
        </p:nvSpPr>
        <p:spPr>
          <a:xfrm>
            <a:off x="9582759"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Preserve selected components and document chemistry.</a:t>
            </a:r>
          </a:p>
        </p:txBody>
      </p:sp>
      <p:sp>
        <p:nvSpPr>
          <p:cNvPr id="44" name="TextBox 4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B1B7B928-0756-4962-977C-4B5453A2E1EF}"/>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D35C2E39-C163-480D-93E3-40C4FB215068}"/>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BAB413FF-00CA-4D57-9F6D-B202497A9B45}"/>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4DCA0DA-014D-4C96-8881-300DE36E2409}"/>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10 EXAMPLE WORKFLOWS</a:t>
            </a:r>
          </a:p>
        </p:txBody>
      </p:sp>
      <p:sp>
        <p:nvSpPr>
          <p:cNvPr id="6" name="正方形/長方形 5">
            <a:extLst>
              <a:ext uri="{FF2B5EF4-FFF2-40B4-BE49-F238E27FC236}">
                <a16:creationId xmlns:a16="http://schemas.microsoft.com/office/drawing/2014/main" id="{65B3F97A-B5F8-49F6-A79D-0FA027822171}"/>
              </a:ext>
            </a:extLst>
          </p:cNvPr>
          <p:cNvSpPr>
            <a:spLocks noGrp="1"/>
          </p:cNvSpPr>
          <p:nvPr/>
        </p:nvSpPr>
        <p:spPr>
          <a:xfrm>
            <a:off x="720191" y="799465"/>
            <a:ext cx="889889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sz="2538" b="1">
                <a:solidFill>
                  <a:srgbClr val="172033"/>
                </a:solidFill>
                <a:latin typeface="Aptos Display"/>
                <a:ea typeface="Aptos Display"/>
                <a:cs typeface="Aptos Display"/>
              </a:rPr>
              <a:t>Five advanced patterns show why DAG management matters at AI-HPC scale.</a:t>
            </a:r>
          </a:p>
        </p:txBody>
      </p:sp>
      <p:sp>
        <p:nvSpPr>
          <p:cNvPr id="9" name="正方形/長方形 8">
            <a:extLst>
              <a:ext uri="{FF2B5EF4-FFF2-40B4-BE49-F238E27FC236}">
                <a16:creationId xmlns:a16="http://schemas.microsoft.com/office/drawing/2014/main" id="{3EBAA3AF-BB66-4877-BEB7-A986518C6457}"/>
              </a:ext>
            </a:extLst>
          </p:cNvPr>
          <p:cNvSpPr>
            <a:spLocks noGrp="1"/>
          </p:cNvSpPr>
          <p:nvPr/>
        </p:nvSpPr>
        <p:spPr>
          <a:xfrm>
            <a:off x="774674" y="1943608"/>
            <a:ext cx="1943227" cy="2542540"/>
          </a:xfrm>
          <a:prstGeom prst="rect">
            <a:avLst/>
          </a:prstGeom>
          <a:solidFill>
            <a:srgbClr val="F8F7FC"/>
          </a:solidFill>
          <a:ln w="14288">
            <a:solidFill>
              <a:srgbClr val="4D4B7D"/>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CFA1C3D8-7BAD-4A90-8BD8-5EA74E725297}"/>
              </a:ext>
            </a:extLst>
          </p:cNvPr>
          <p:cNvSpPr>
            <a:spLocks noGrp="1"/>
          </p:cNvSpPr>
          <p:nvPr/>
        </p:nvSpPr>
        <p:spPr>
          <a:xfrm>
            <a:off x="774674" y="1943608"/>
            <a:ext cx="1943227"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21173C9E-66BD-405F-A96E-02E218F2A0BF}"/>
              </a:ext>
            </a:extLst>
          </p:cNvPr>
          <p:cNvSpPr>
            <a:spLocks noGrp="1"/>
          </p:cNvSpPr>
          <p:nvPr/>
        </p:nvSpPr>
        <p:spPr>
          <a:xfrm>
            <a:off x="910881" y="2125218"/>
            <a:ext cx="345059" cy="345059"/>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7C468FBB-A7D0-45A8-9999-84C1B1CC5C4D}"/>
              </a:ext>
            </a:extLst>
          </p:cNvPr>
          <p:cNvSpPr>
            <a:spLocks noGrp="1"/>
          </p:cNvSpPr>
          <p:nvPr/>
        </p:nvSpPr>
        <p:spPr>
          <a:xfrm>
            <a:off x="1337665"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PTM branch</a:t>
            </a:r>
          </a:p>
        </p:txBody>
      </p:sp>
      <p:pic>
        <p:nvPicPr>
          <p:cNvPr id="14" name="グラフィックス 13"/>
          <p:cNvPicPr>
            <a:picLocks noChangeAspect="1"/>
          </p:cNvPicPr>
          <p:nvPr/>
        </p:nvPicPr>
        <p:blipFill>
          <a:blip>
            <a:extLst>
              <a:ext uri="{96DAC541-7B7A-43D3-8B79-37D633B846F1}">
                <asvg:svgBlip xmlns:asvg="http://schemas.microsoft.com/office/drawing/2016/SVG/main" r:embed="rId3"/>
              </a:ext>
            </a:extLst>
          </a:blip>
          <a:stretch/>
        </p:blipFill>
        <p:spPr>
          <a:xfrm>
            <a:off x="1464792" y="2779014"/>
            <a:ext cx="708279" cy="708279"/>
          </a:xfrm>
          <a:prstGeom prst="rect">
            <a:avLst/>
          </a:prstGeom>
        </p:spPr>
      </p:pic>
      <p:sp>
        <p:nvSpPr>
          <p:cNvPr id="15" name="正方形/長方形 14">
            <a:extLst>
              <a:ext uri="{FF2B5EF4-FFF2-40B4-BE49-F238E27FC236}">
                <a16:creationId xmlns:a16="http://schemas.microsoft.com/office/drawing/2014/main" id="{2C03F688-61AC-4FC6-90D3-3DF551EF5ADC}"/>
              </a:ext>
            </a:extLst>
          </p:cNvPr>
          <p:cNvSpPr>
            <a:spLocks noGrp="1"/>
          </p:cNvSpPr>
          <p:nvPr/>
        </p:nvSpPr>
        <p:spPr>
          <a:xfrm>
            <a:off x="938123"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Restore deposited PTMs or create requested modifications.</a:t>
            </a:r>
          </a:p>
        </p:txBody>
      </p:sp>
      <p:sp>
        <p:nvSpPr>
          <p:cNvPr id="16" name="正方形/長方形 15">
            <a:extLst>
              <a:ext uri="{FF2B5EF4-FFF2-40B4-BE49-F238E27FC236}">
                <a16:creationId xmlns:a16="http://schemas.microsoft.com/office/drawing/2014/main" id="{3B94E65B-ACCC-41A9-B7A0-C8B71E0E80CF}"/>
              </a:ext>
            </a:extLst>
          </p:cNvPr>
          <p:cNvSpPr>
            <a:spLocks noGrp="1"/>
          </p:cNvSpPr>
          <p:nvPr/>
        </p:nvSpPr>
        <p:spPr>
          <a:xfrm>
            <a:off x="2935833" y="1943608"/>
            <a:ext cx="1943227" cy="2542540"/>
          </a:xfrm>
          <a:prstGeom prst="rect">
            <a:avLst/>
          </a:prstGeom>
          <a:solidFill>
            <a:srgbClr val="E9F7F8"/>
          </a:solidFill>
          <a:ln w="14288">
            <a:solidFill>
              <a:srgbClr val="1F6674"/>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0DBA2227-AEE9-4C45-8747-16A350EC1CAE}"/>
              </a:ext>
            </a:extLst>
          </p:cNvPr>
          <p:cNvSpPr>
            <a:spLocks noGrp="1"/>
          </p:cNvSpPr>
          <p:nvPr/>
        </p:nvSpPr>
        <p:spPr>
          <a:xfrm>
            <a:off x="2935833" y="1943608"/>
            <a:ext cx="1943227" cy="63563"/>
          </a:xfrm>
          <a:prstGeom prst="rect">
            <a:avLst/>
          </a:prstGeom>
          <a:solidFill>
            <a:srgbClr val="1F6674"/>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386DECB9-80FE-47E4-9273-26F6C5C9A1E2}"/>
              </a:ext>
            </a:extLst>
          </p:cNvPr>
          <p:cNvSpPr>
            <a:spLocks noGrp="1"/>
          </p:cNvSpPr>
          <p:nvPr/>
        </p:nvSpPr>
        <p:spPr>
          <a:xfrm>
            <a:off x="3072040" y="2125218"/>
            <a:ext cx="345059" cy="345059"/>
          </a:xfrm>
          <a:prstGeom prst="rect">
            <a:avLst/>
          </a:prstGeom>
          <a:solidFill>
            <a:srgbClr val="1F6674"/>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FF2F059C-2D2B-4DBD-9F5B-82DB842D5804}"/>
              </a:ext>
            </a:extLst>
          </p:cNvPr>
          <p:cNvSpPr>
            <a:spLocks noGrp="1"/>
          </p:cNvSpPr>
          <p:nvPr/>
        </p:nvSpPr>
        <p:spPr>
          <a:xfrm>
            <a:off x="3498824"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Membrane system</a:t>
            </a:r>
          </a:p>
        </p:txBody>
      </p:sp>
      <p:pic>
        <p:nvPicPr>
          <p:cNvPr id="21" name="グラフィックス 20"/>
          <p:cNvPicPr>
            <a:picLocks noChangeAspect="1"/>
          </p:cNvPicPr>
          <p:nvPr/>
        </p:nvPicPr>
        <p:blipFill>
          <a:blip>
            <a:extLst>
              <a:ext uri="{96DAC541-7B7A-43D3-8B79-37D633B846F1}">
                <asvg:svgBlip xmlns:asvg="http://schemas.microsoft.com/office/drawing/2016/SVG/main" r:embed="rId7"/>
              </a:ext>
            </a:extLst>
          </a:blip>
          <a:stretch/>
        </p:blipFill>
        <p:spPr>
          <a:xfrm>
            <a:off x="3625951" y="2779014"/>
            <a:ext cx="708279" cy="708279"/>
          </a:xfrm>
          <a:prstGeom prst="rect">
            <a:avLst/>
          </a:prstGeom>
        </p:spPr>
      </p:pic>
      <p:sp>
        <p:nvSpPr>
          <p:cNvPr id="22" name="正方形/長方形 21">
            <a:extLst>
              <a:ext uri="{FF2B5EF4-FFF2-40B4-BE49-F238E27FC236}">
                <a16:creationId xmlns:a16="http://schemas.microsoft.com/office/drawing/2014/main" id="{C89CDF72-3843-4B4F-B5EE-498BC971A423}"/>
              </a:ext>
            </a:extLst>
          </p:cNvPr>
          <p:cNvSpPr>
            <a:spLocks noGrp="1"/>
          </p:cNvSpPr>
          <p:nvPr/>
        </p:nvSpPr>
        <p:spPr>
          <a:xfrm>
            <a:off x="3099282"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Embed a protein in explicit membrane and water.</a:t>
            </a:r>
          </a:p>
        </p:txBody>
      </p:sp>
      <p:sp>
        <p:nvSpPr>
          <p:cNvPr id="23" name="正方形/長方形 22">
            <a:extLst>
              <a:ext uri="{FF2B5EF4-FFF2-40B4-BE49-F238E27FC236}">
                <a16:creationId xmlns:a16="http://schemas.microsoft.com/office/drawing/2014/main" id="{C3B19BA5-7AB3-4A63-8455-767DC61C8865}"/>
              </a:ext>
            </a:extLst>
          </p:cNvPr>
          <p:cNvSpPr>
            <a:spLocks noGrp="1"/>
          </p:cNvSpPr>
          <p:nvPr/>
        </p:nvSpPr>
        <p:spPr>
          <a:xfrm>
            <a:off x="5096992" y="1943608"/>
            <a:ext cx="1943227" cy="2542540"/>
          </a:xfrm>
          <a:prstGeom prst="rect">
            <a:avLst/>
          </a:prstGeom>
          <a:solidFill>
            <a:srgbClr val="F7FAFD"/>
          </a:solidFill>
          <a:ln w="14288">
            <a:solidFill>
              <a:srgbClr val="0E3A75"/>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B545FD29-ED75-4B99-A171-CF5D516C9E4E}"/>
              </a:ext>
            </a:extLst>
          </p:cNvPr>
          <p:cNvSpPr>
            <a:spLocks noGrp="1"/>
          </p:cNvSpPr>
          <p:nvPr/>
        </p:nvSpPr>
        <p:spPr>
          <a:xfrm>
            <a:off x="5096992" y="1943608"/>
            <a:ext cx="1943227"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EFC8BEC7-3687-4A63-91F2-F9DC8B2A0744}"/>
              </a:ext>
            </a:extLst>
          </p:cNvPr>
          <p:cNvSpPr>
            <a:spLocks noGrp="1"/>
          </p:cNvSpPr>
          <p:nvPr/>
        </p:nvSpPr>
        <p:spPr>
          <a:xfrm>
            <a:off x="5233199" y="2125218"/>
            <a:ext cx="345059" cy="34505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2E592E7E-D141-47EB-8B5C-7E964C786F2F}"/>
              </a:ext>
            </a:extLst>
          </p:cNvPr>
          <p:cNvSpPr>
            <a:spLocks noGrp="1"/>
          </p:cNvSpPr>
          <p:nvPr/>
        </p:nvSpPr>
        <p:spPr>
          <a:xfrm>
            <a:off x="5659983"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Surrogate ensemble</a:t>
            </a:r>
          </a:p>
        </p:txBody>
      </p:sp>
      <p:pic>
        <p:nvPicPr>
          <p:cNvPr id="28" name="グラフィックス 27"/>
          <p:cNvPicPr>
            <a:picLocks noChangeAspect="1"/>
          </p:cNvPicPr>
          <p:nvPr/>
        </p:nvPicPr>
        <p:blipFill>
          <a:blip>
            <a:extLst>
              <a:ext uri="{96DAC541-7B7A-43D3-8B79-37D633B846F1}">
                <asvg:svgBlip xmlns:asvg="http://schemas.microsoft.com/office/drawing/2016/SVG/main" r:embed="rId6"/>
              </a:ext>
            </a:extLst>
          </a:blip>
          <a:stretch/>
        </p:blipFill>
        <p:spPr>
          <a:xfrm>
            <a:off x="5787110" y="2779014"/>
            <a:ext cx="708279" cy="708279"/>
          </a:xfrm>
          <a:prstGeom prst="rect">
            <a:avLst/>
          </a:prstGeom>
        </p:spPr>
      </p:pic>
      <p:sp>
        <p:nvSpPr>
          <p:cNvPr id="29" name="正方形/長方形 28">
            <a:extLst>
              <a:ext uri="{FF2B5EF4-FFF2-40B4-BE49-F238E27FC236}">
                <a16:creationId xmlns:a16="http://schemas.microsoft.com/office/drawing/2014/main" id="{8A3A059E-3A9C-4219-B27C-E27D8CD9F98C}"/>
              </a:ext>
            </a:extLst>
          </p:cNvPr>
          <p:cNvSpPr>
            <a:spLocks noGrp="1"/>
          </p:cNvSpPr>
          <p:nvPr/>
        </p:nvSpPr>
        <p:spPr>
          <a:xfrm>
            <a:off x="5260441"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Use BioEmu or Boltz candidates as source bundle members.</a:t>
            </a:r>
          </a:p>
        </p:txBody>
      </p:sp>
      <p:sp>
        <p:nvSpPr>
          <p:cNvPr id="30" name="正方形/長方形 29">
            <a:extLst>
              <a:ext uri="{FF2B5EF4-FFF2-40B4-BE49-F238E27FC236}">
                <a16:creationId xmlns:a16="http://schemas.microsoft.com/office/drawing/2014/main" id="{E2BCF735-C557-4EBB-B5FC-B49B2C2BB657}"/>
              </a:ext>
            </a:extLst>
          </p:cNvPr>
          <p:cNvSpPr>
            <a:spLocks noGrp="1"/>
          </p:cNvSpPr>
          <p:nvPr/>
        </p:nvSpPr>
        <p:spPr>
          <a:xfrm>
            <a:off x="7258151" y="1943608"/>
            <a:ext cx="1943227" cy="2542540"/>
          </a:xfrm>
          <a:prstGeom prst="rect">
            <a:avLst/>
          </a:prstGeom>
          <a:solidFill>
            <a:srgbClr val="FCFAF2"/>
          </a:solidFill>
          <a:ln w="14288">
            <a:solidFill>
              <a:srgbClr val="A66A00"/>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AFB8826B-BBDB-4892-8A82-3F1D271D427E}"/>
              </a:ext>
            </a:extLst>
          </p:cNvPr>
          <p:cNvSpPr>
            <a:spLocks noGrp="1"/>
          </p:cNvSpPr>
          <p:nvPr/>
        </p:nvSpPr>
        <p:spPr>
          <a:xfrm>
            <a:off x="7258151" y="1943608"/>
            <a:ext cx="1943227" cy="63563"/>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22AE2B93-E0AC-496F-ACEB-C6F0EE65A060}"/>
              </a:ext>
            </a:extLst>
          </p:cNvPr>
          <p:cNvSpPr>
            <a:spLocks noGrp="1"/>
          </p:cNvSpPr>
          <p:nvPr/>
        </p:nvSpPr>
        <p:spPr>
          <a:xfrm>
            <a:off x="7394358" y="2125218"/>
            <a:ext cx="345059" cy="345059"/>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14979697-32A1-48B4-9D68-E07F02C9298D}"/>
              </a:ext>
            </a:extLst>
          </p:cNvPr>
          <p:cNvSpPr>
            <a:spLocks noGrp="1"/>
          </p:cNvSpPr>
          <p:nvPr/>
        </p:nvSpPr>
        <p:spPr>
          <a:xfrm>
            <a:off x="7821142"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HPC continuation</a:t>
            </a:r>
          </a:p>
        </p:txBody>
      </p:sp>
      <p:pic>
        <p:nvPicPr>
          <p:cNvPr id="35" name="グラフィックス 34"/>
          <p:cNvPicPr>
            <a:picLocks noChangeAspect="1"/>
          </p:cNvPicPr>
          <p:nvPr/>
        </p:nvPicPr>
        <p:blipFill>
          <a:blip>
            <a:extLst>
              <a:ext uri="{96DAC541-7B7A-43D3-8B79-37D633B846F1}">
                <asvg:svgBlip xmlns:asvg="http://schemas.microsoft.com/office/drawing/2016/SVG/main" r:embed="rId5"/>
              </a:ext>
            </a:extLst>
          </a:blip>
          <a:stretch/>
        </p:blipFill>
        <p:spPr>
          <a:xfrm>
            <a:off x="7948269" y="2779014"/>
            <a:ext cx="708279" cy="708279"/>
          </a:xfrm>
          <a:prstGeom prst="rect">
            <a:avLst/>
          </a:prstGeom>
        </p:spPr>
      </p:pic>
      <p:sp>
        <p:nvSpPr>
          <p:cNvPr id="36" name="正方形/長方形 35">
            <a:extLst>
              <a:ext uri="{FF2B5EF4-FFF2-40B4-BE49-F238E27FC236}">
                <a16:creationId xmlns:a16="http://schemas.microsoft.com/office/drawing/2014/main" id="{3088DB6B-4B16-43A7-83B7-C09D7F1A8A09}"/>
              </a:ext>
            </a:extLst>
          </p:cNvPr>
          <p:cNvSpPr>
            <a:spLocks noGrp="1"/>
          </p:cNvSpPr>
          <p:nvPr/>
        </p:nvSpPr>
        <p:spPr>
          <a:xfrm>
            <a:off x="7421600"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Extend production segments and keep the chain checkable.</a:t>
            </a:r>
          </a:p>
        </p:txBody>
      </p:sp>
      <p:sp>
        <p:nvSpPr>
          <p:cNvPr id="37" name="正方形/長方形 36">
            <a:extLst>
              <a:ext uri="{FF2B5EF4-FFF2-40B4-BE49-F238E27FC236}">
                <a16:creationId xmlns:a16="http://schemas.microsoft.com/office/drawing/2014/main" id="{83D94D0A-6946-4998-9F23-A31B9A74354A}"/>
              </a:ext>
            </a:extLst>
          </p:cNvPr>
          <p:cNvSpPr>
            <a:spLocks noGrp="1"/>
          </p:cNvSpPr>
          <p:nvPr/>
        </p:nvSpPr>
        <p:spPr>
          <a:xfrm>
            <a:off x="9419310" y="1943608"/>
            <a:ext cx="1943227" cy="2542540"/>
          </a:xfrm>
          <a:prstGeom prst="rect">
            <a:avLst/>
          </a:prstGeom>
          <a:solidFill>
            <a:srgbClr val="F7FBF8"/>
          </a:solidFill>
          <a:ln w="14288">
            <a:solidFill>
              <a:srgbClr val="2D6D4B"/>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03EB512C-35ED-442D-8A3A-13914F8EF61C}"/>
              </a:ext>
            </a:extLst>
          </p:cNvPr>
          <p:cNvSpPr>
            <a:spLocks noGrp="1"/>
          </p:cNvSpPr>
          <p:nvPr/>
        </p:nvSpPr>
        <p:spPr>
          <a:xfrm>
            <a:off x="9419310" y="1943608"/>
            <a:ext cx="1943227"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39" name="正方形/長方形 38">
            <a:extLst>
              <a:ext uri="{FF2B5EF4-FFF2-40B4-BE49-F238E27FC236}">
                <a16:creationId xmlns:a16="http://schemas.microsoft.com/office/drawing/2014/main" id="{86AB3278-30E9-4DDF-89B3-7A631C2F05D8}"/>
              </a:ext>
            </a:extLst>
          </p:cNvPr>
          <p:cNvSpPr>
            <a:spLocks noGrp="1"/>
          </p:cNvSpPr>
          <p:nvPr/>
        </p:nvSpPr>
        <p:spPr>
          <a:xfrm>
            <a:off x="9555517" y="2125218"/>
            <a:ext cx="345059" cy="345059"/>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41" name="正方形/長方形 40">
            <a:extLst>
              <a:ext uri="{FF2B5EF4-FFF2-40B4-BE49-F238E27FC236}">
                <a16:creationId xmlns:a16="http://schemas.microsoft.com/office/drawing/2014/main" id="{373E6711-71BB-4B99-BB0D-C799BCFCE5D1}"/>
              </a:ext>
            </a:extLst>
          </p:cNvPr>
          <p:cNvSpPr>
            <a:spLocks noGrp="1"/>
          </p:cNvSpPr>
          <p:nvPr/>
        </p:nvSpPr>
        <p:spPr>
          <a:xfrm>
            <a:off x="9982301" y="2125218"/>
            <a:ext cx="1216787" cy="49034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29" b="1">
                <a:solidFill>
                  <a:srgbClr val="172033"/>
                </a:solidFill>
                <a:latin typeface="Aptos"/>
                <a:ea typeface="Aptos"/>
                <a:cs typeface="Aptos"/>
              </a:defRPr>
            </a:pPr>
            <a:r>
              <a:rPr sz="1229" b="1">
                <a:solidFill>
                  <a:srgbClr val="172033"/>
                </a:solidFill>
                <a:latin typeface="Aptos"/>
                <a:ea typeface="Aptos"/>
                <a:cs typeface="Aptos"/>
              </a:rPr>
              <a:t>Benchmark run</a:t>
            </a:r>
          </a:p>
        </p:txBody>
      </p:sp>
      <p:pic>
        <p:nvPicPr>
          <p:cNvPr id="42" name="グラフィックス 41"/>
          <p:cNvPicPr>
            <a:picLocks noChangeAspect="1"/>
          </p:cNvPicPr>
          <p:nvPr/>
        </p:nvPicPr>
        <p:blipFill>
          <a:blip>
            <a:extLst>
              <a:ext uri="{96DAC541-7B7A-43D3-8B79-37D633B846F1}">
                <asvg:svgBlip xmlns:asvg="http://schemas.microsoft.com/office/drawing/2016/SVG/main" r:embed="rId4"/>
              </a:ext>
            </a:extLst>
          </a:blip>
          <a:stretch/>
        </p:blipFill>
        <p:spPr>
          <a:xfrm>
            <a:off x="10109428" y="2779014"/>
            <a:ext cx="708279" cy="708279"/>
          </a:xfrm>
          <a:prstGeom prst="rect">
            <a:avLst/>
          </a:prstGeom>
        </p:spPr>
      </p:pic>
      <p:sp>
        <p:nvSpPr>
          <p:cNvPr id="43" name="正方形/長方形 42">
            <a:extLst>
              <a:ext uri="{FF2B5EF4-FFF2-40B4-BE49-F238E27FC236}">
                <a16:creationId xmlns:a16="http://schemas.microsoft.com/office/drawing/2014/main" id="{B796D613-98AB-43ED-9920-31F470094527}"/>
              </a:ext>
            </a:extLst>
          </p:cNvPr>
          <p:cNvSpPr>
            <a:spLocks noGrp="1"/>
          </p:cNvSpPr>
          <p:nvPr/>
        </p:nvSpPr>
        <p:spPr>
          <a:xfrm>
            <a:off x="9582759" y="3741547"/>
            <a:ext cx="1616329" cy="56299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29" b="0">
                <a:solidFill>
                  <a:srgbClr val="5B6573"/>
                </a:solidFill>
                <a:latin typeface="Aptos"/>
                <a:ea typeface="Aptos"/>
                <a:cs typeface="Aptos"/>
              </a:defRPr>
            </a:pPr>
            <a:r>
              <a:rPr sz="1029" b="0">
                <a:solidFill>
                  <a:srgbClr val="5B6573"/>
                </a:solidFill>
                <a:latin typeface="Aptos"/>
                <a:ea typeface="Aptos"/>
                <a:cs typeface="Aptos"/>
              </a:rPr>
              <a:t>Expose prompt.md, collect submissions, write score.json.</a:t>
            </a:r>
          </a:p>
        </p:txBody>
      </p:sp>
      <p:sp>
        <p:nvSpPr>
          <p:cNvPr id="44" name="TextBox 4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895033D7-D712-4708-BE97-E381551532EF}"/>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4B78EE0C-CDDC-4433-9B97-479A6A9F2118}"/>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638E8A8B-D17A-4EB1-8DFE-AB797B7BF984}"/>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331E1FA-237C-41AE-A4FA-76B0EF519BD4}"/>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EXECUTION EXAMPLE</a:t>
            </a:r>
          </a:p>
        </p:txBody>
      </p:sp>
      <p:sp>
        <p:nvSpPr>
          <p:cNvPr id="6" name="正方形/長方形 5">
            <a:extLst>
              <a:ext uri="{FF2B5EF4-FFF2-40B4-BE49-F238E27FC236}">
                <a16:creationId xmlns:a16="http://schemas.microsoft.com/office/drawing/2014/main" id="{9CD4626C-6D59-4C0F-9964-8C3628C416A3}"/>
              </a:ext>
            </a:extLst>
          </p:cNvPr>
          <p:cNvSpPr>
            <a:spLocks noGrp="1"/>
          </p:cNvSpPr>
          <p:nvPr/>
        </p:nvSpPr>
        <p:spPr>
          <a:xfrm>
            <a:off x="720191" y="799465"/>
            <a:ext cx="889889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sz="2538" b="1">
                <a:solidFill>
                  <a:srgbClr val="172033"/>
                </a:solidFill>
                <a:latin typeface="Aptos Display"/>
                <a:ea typeface="Aptos Display"/>
                <a:cs typeface="Aptos Display"/>
              </a:rPr>
              <a:t>A scientific question becomes an MD plan, a DAG, and a structure-based answer.</a:t>
            </a:r>
          </a:p>
        </p:txBody>
      </p:sp>
      <p:sp>
        <p:nvSpPr>
          <p:cNvPr id="9" name="正方形/長方形 8">
            <a:extLst>
              <a:ext uri="{FF2B5EF4-FFF2-40B4-BE49-F238E27FC236}">
                <a16:creationId xmlns:a16="http://schemas.microsoft.com/office/drawing/2014/main" id="{543DE3F0-E8FE-4722-AD3C-1430A69459AB}"/>
              </a:ext>
            </a:extLst>
          </p:cNvPr>
          <p:cNvSpPr>
            <a:spLocks noGrp="1"/>
          </p:cNvSpPr>
          <p:nvPr/>
        </p:nvSpPr>
        <p:spPr>
          <a:xfrm>
            <a:off x="938123" y="1780159"/>
            <a:ext cx="2015871" cy="2360930"/>
          </a:xfrm>
          <a:prstGeom prst="rect">
            <a:avLst/>
          </a:prstGeom>
          <a:solidFill>
            <a:srgbClr val="F8F7FC"/>
          </a:solidFill>
          <a:ln w="13335">
            <a:solidFill>
              <a:srgbClr val="D4DAE2"/>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43592453-F774-4531-9BF7-8D6ADB442B2F}"/>
              </a:ext>
            </a:extLst>
          </p:cNvPr>
          <p:cNvSpPr>
            <a:spLocks noGrp="1"/>
          </p:cNvSpPr>
          <p:nvPr/>
        </p:nvSpPr>
        <p:spPr>
          <a:xfrm>
            <a:off x="938123" y="1780159"/>
            <a:ext cx="2015871"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918D2323-DED0-41BA-A853-A74DDCFA10E8}"/>
              </a:ext>
            </a:extLst>
          </p:cNvPr>
          <p:cNvSpPr>
            <a:spLocks noGrp="1"/>
          </p:cNvSpPr>
          <p:nvPr/>
        </p:nvSpPr>
        <p:spPr>
          <a:xfrm>
            <a:off x="1537436" y="1979930"/>
            <a:ext cx="1234948"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4D4B7D"/>
                </a:solidFill>
                <a:latin typeface="Aptos"/>
                <a:ea typeface="Aptos"/>
                <a:cs typeface="Aptos"/>
              </a:defRPr>
            </a:pPr>
            <a:r>
              <a:rPr sz="1466" b="1">
                <a:solidFill>
                  <a:srgbClr val="4D4B7D"/>
                </a:solidFill>
                <a:latin typeface="Aptos"/>
                <a:ea typeface="Aptos"/>
                <a:cs typeface="Aptos"/>
              </a:rPr>
              <a:t>1. Ask</a:t>
            </a:r>
          </a:p>
        </p:txBody>
      </p:sp>
      <p:sp>
        <p:nvSpPr>
          <p:cNvPr id="12" name="正方形/長方形 11">
            <a:extLst>
              <a:ext uri="{FF2B5EF4-FFF2-40B4-BE49-F238E27FC236}">
                <a16:creationId xmlns:a16="http://schemas.microsoft.com/office/drawing/2014/main" id="{DCEBA261-3371-4801-B530-043267AF3AE8}"/>
              </a:ext>
            </a:extLst>
          </p:cNvPr>
          <p:cNvSpPr>
            <a:spLocks noGrp="1"/>
          </p:cNvSpPr>
          <p:nvPr/>
        </p:nvSpPr>
        <p:spPr>
          <a:xfrm>
            <a:off x="1101572" y="2361311"/>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Does H372A alter PDZ3</a:t>
            </a:r>
          </a:p>
        </p:txBody>
      </p:sp>
      <p:sp>
        <p:nvSpPr>
          <p:cNvPr id="13" name="正方形/長方形 12">
            <a:extLst>
              <a:ext uri="{FF2B5EF4-FFF2-40B4-BE49-F238E27FC236}">
                <a16:creationId xmlns:a16="http://schemas.microsoft.com/office/drawing/2014/main" id="{ADC68FDC-35D7-40E3-A083-B51FB9079E1A}"/>
              </a:ext>
            </a:extLst>
          </p:cNvPr>
          <p:cNvSpPr>
            <a:spLocks noGrp="1"/>
          </p:cNvSpPr>
          <p:nvPr/>
        </p:nvSpPr>
        <p:spPr>
          <a:xfrm>
            <a:off x="1101572" y="2597404"/>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dynamic coupling?</a:t>
            </a:r>
          </a:p>
        </p:txBody>
      </p:sp>
      <p:pic>
        <p:nvPicPr>
          <p:cNvPr id="14" name="グラフィックス 13"/>
          <p:cNvPicPr>
            <a:picLocks noChangeAspect="1"/>
          </p:cNvPicPr>
          <p:nvPr/>
        </p:nvPicPr>
        <p:blipFill>
          <a:blip>
            <a:extLst>
              <a:ext uri="{96DAC541-7B7A-43D3-8B79-37D633B846F1}">
                <asvg:svgBlip xmlns:asvg="http://schemas.microsoft.com/office/drawing/2016/SVG/main" r:embed="rId4"/>
              </a:ext>
            </a:extLst>
          </a:blip>
          <a:stretch/>
        </p:blipFill>
        <p:spPr>
          <a:xfrm>
            <a:off x="1119733" y="1979930"/>
            <a:ext cx="308737" cy="308737"/>
          </a:xfrm>
          <a:prstGeom prst="rect">
            <a:avLst/>
          </a:prstGeom>
        </p:spPr>
      </p:pic>
      <p:sp>
        <p:nvSpPr>
          <p:cNvPr id="15" name="正方形/長方形 14">
            <a:extLst>
              <a:ext uri="{FF2B5EF4-FFF2-40B4-BE49-F238E27FC236}">
                <a16:creationId xmlns:a16="http://schemas.microsoft.com/office/drawing/2014/main" id="{9CCB915D-1563-463A-BD5E-F08AD5FC461E}"/>
              </a:ext>
            </a:extLst>
          </p:cNvPr>
          <p:cNvSpPr>
            <a:spLocks noGrp="1"/>
          </p:cNvSpPr>
          <p:nvPr/>
        </p:nvSpPr>
        <p:spPr>
          <a:xfrm>
            <a:off x="2953994" y="2947003"/>
            <a:ext cx="381381" cy="27241"/>
          </a:xfrm>
          <a:prstGeom prst="rect">
            <a:avLst/>
          </a:prstGeom>
          <a:solidFill>
            <a:srgbClr val="D4DAE2"/>
          </a:solidFill>
          <a:ln w="0">
            <a:solidFill>
              <a:srgbClr val="000000">
                <a:alpha val="0"/>
              </a:srgbClr>
            </a:solidFill>
            <a:prstDash val="solid"/>
          </a:ln>
        </p:spPr>
        <p:txBody>
          <a:bodyPr/>
          <a:lstStyle/>
          <a:p>
            <a:endParaRPr lang="ja-JP" altLang="en-US"/>
          </a:p>
        </p:txBody>
      </p:sp>
      <p:pic>
        <p:nvPicPr>
          <p:cNvPr id="16" name="グラフィックス 15"/>
          <p:cNvPicPr>
            <a:picLocks noChangeAspect="1"/>
          </p:cNvPicPr>
          <p:nvPr/>
        </p:nvPicPr>
        <p:blipFill>
          <a:blip>
            <a:extLst>
              <a:ext uri="{96DAC541-7B7A-43D3-8B79-37D633B846F1}">
                <asvg:svgBlip xmlns:asvg="http://schemas.microsoft.com/office/drawing/2016/SVG/main" r:embed="rId10"/>
              </a:ext>
            </a:extLst>
          </a:blip>
          <a:stretch/>
        </p:blipFill>
        <p:spPr>
          <a:xfrm>
            <a:off x="3044799" y="2824416"/>
            <a:ext cx="254254" cy="254254"/>
          </a:xfrm>
          <a:prstGeom prst="rect">
            <a:avLst/>
          </a:prstGeom>
        </p:spPr>
      </p:pic>
      <p:sp>
        <p:nvSpPr>
          <p:cNvPr id="17" name="正方形/長方形 16">
            <a:extLst>
              <a:ext uri="{FF2B5EF4-FFF2-40B4-BE49-F238E27FC236}">
                <a16:creationId xmlns:a16="http://schemas.microsoft.com/office/drawing/2014/main" id="{8F405895-A6BC-4682-A4E6-1DFDC005B269}"/>
              </a:ext>
            </a:extLst>
          </p:cNvPr>
          <p:cNvSpPr>
            <a:spLocks noGrp="1"/>
          </p:cNvSpPr>
          <p:nvPr/>
        </p:nvSpPr>
        <p:spPr>
          <a:xfrm>
            <a:off x="3389858" y="1780159"/>
            <a:ext cx="2015871" cy="2360930"/>
          </a:xfrm>
          <a:prstGeom prst="rect">
            <a:avLst/>
          </a:prstGeom>
          <a:solidFill>
            <a:srgbClr val="F7FAFD"/>
          </a:solidFill>
          <a:ln w="13335">
            <a:solidFill>
              <a:srgbClr val="D4DAE2"/>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920BFB3F-9861-4440-9785-0C39E83AB93C}"/>
              </a:ext>
            </a:extLst>
          </p:cNvPr>
          <p:cNvSpPr>
            <a:spLocks noGrp="1"/>
          </p:cNvSpPr>
          <p:nvPr/>
        </p:nvSpPr>
        <p:spPr>
          <a:xfrm>
            <a:off x="3389858" y="1780159"/>
            <a:ext cx="2015871"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7A3BDC32-B18C-45EE-AA6A-CC36CAEEEA83}"/>
              </a:ext>
            </a:extLst>
          </p:cNvPr>
          <p:cNvSpPr>
            <a:spLocks noGrp="1"/>
          </p:cNvSpPr>
          <p:nvPr/>
        </p:nvSpPr>
        <p:spPr>
          <a:xfrm>
            <a:off x="3989171" y="1979930"/>
            <a:ext cx="1234948"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0E3A75"/>
                </a:solidFill>
                <a:latin typeface="Aptos"/>
                <a:ea typeface="Aptos"/>
                <a:cs typeface="Aptos"/>
              </a:defRPr>
            </a:pPr>
            <a:r>
              <a:rPr sz="1466" b="1">
                <a:solidFill>
                  <a:srgbClr val="0E3A75"/>
                </a:solidFill>
                <a:latin typeface="Aptos"/>
                <a:ea typeface="Aptos"/>
                <a:cs typeface="Aptos"/>
              </a:rPr>
              <a:t>2. Plan</a:t>
            </a:r>
          </a:p>
        </p:txBody>
      </p:sp>
      <p:sp>
        <p:nvSpPr>
          <p:cNvPr id="20" name="正方形/長方形 19">
            <a:extLst>
              <a:ext uri="{FF2B5EF4-FFF2-40B4-BE49-F238E27FC236}">
                <a16:creationId xmlns:a16="http://schemas.microsoft.com/office/drawing/2014/main" id="{14C6CBA9-C89B-477E-AC46-FE3E891945F0}"/>
              </a:ext>
            </a:extLst>
          </p:cNvPr>
          <p:cNvSpPr>
            <a:spLocks noGrp="1"/>
          </p:cNvSpPr>
          <p:nvPr/>
        </p:nvSpPr>
        <p:spPr>
          <a:xfrm>
            <a:off x="3553307" y="2361311"/>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WT and H372A jobs</a:t>
            </a:r>
          </a:p>
        </p:txBody>
      </p:sp>
      <p:sp>
        <p:nvSpPr>
          <p:cNvPr id="21" name="正方形/長方形 20">
            <a:extLst>
              <a:ext uri="{FF2B5EF4-FFF2-40B4-BE49-F238E27FC236}">
                <a16:creationId xmlns:a16="http://schemas.microsoft.com/office/drawing/2014/main" id="{F229DE85-100D-48DC-91BE-419B983BD863}"/>
              </a:ext>
            </a:extLst>
          </p:cNvPr>
          <p:cNvSpPr>
            <a:spLocks noGrp="1"/>
          </p:cNvSpPr>
          <p:nvPr/>
        </p:nvSpPr>
        <p:spPr>
          <a:xfrm>
            <a:off x="3553307" y="2597404"/>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RMSD + contacts</a:t>
            </a:r>
          </a:p>
        </p:txBody>
      </p:sp>
      <p:sp>
        <p:nvSpPr>
          <p:cNvPr id="22" name="正方形/長方形 21">
            <a:extLst>
              <a:ext uri="{FF2B5EF4-FFF2-40B4-BE49-F238E27FC236}">
                <a16:creationId xmlns:a16="http://schemas.microsoft.com/office/drawing/2014/main" id="{94AC73F6-3BAD-42BC-A4D7-F9483AE59F17}"/>
              </a:ext>
            </a:extLst>
          </p:cNvPr>
          <p:cNvSpPr>
            <a:spLocks noGrp="1"/>
          </p:cNvSpPr>
          <p:nvPr/>
        </p:nvSpPr>
        <p:spPr>
          <a:xfrm>
            <a:off x="3553307" y="2833497"/>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decision criteria</a:t>
            </a:r>
          </a:p>
        </p:txBody>
      </p:sp>
      <p:pic>
        <p:nvPicPr>
          <p:cNvPr id="23" name="グラフィックス 22"/>
          <p:cNvPicPr>
            <a:picLocks noChangeAspect="1"/>
          </p:cNvPicPr>
          <p:nvPr/>
        </p:nvPicPr>
        <p:blipFill>
          <a:blip>
            <a:extLst>
              <a:ext uri="{96DAC541-7B7A-43D3-8B79-37D633B846F1}">
                <asvg:svgBlip xmlns:asvg="http://schemas.microsoft.com/office/drawing/2016/SVG/main" r:embed="rId8"/>
              </a:ext>
            </a:extLst>
          </a:blip>
          <a:stretch/>
        </p:blipFill>
        <p:spPr>
          <a:xfrm>
            <a:off x="3571468" y="1979930"/>
            <a:ext cx="308737" cy="308737"/>
          </a:xfrm>
          <a:prstGeom prst="rect">
            <a:avLst/>
          </a:prstGeom>
        </p:spPr>
      </p:pic>
      <p:sp>
        <p:nvSpPr>
          <p:cNvPr id="24" name="正方形/長方形 23">
            <a:extLst>
              <a:ext uri="{FF2B5EF4-FFF2-40B4-BE49-F238E27FC236}">
                <a16:creationId xmlns:a16="http://schemas.microsoft.com/office/drawing/2014/main" id="{3D01E615-6D5E-4A23-B5C2-9C87E3E272D0}"/>
              </a:ext>
            </a:extLst>
          </p:cNvPr>
          <p:cNvSpPr>
            <a:spLocks noGrp="1"/>
          </p:cNvSpPr>
          <p:nvPr/>
        </p:nvSpPr>
        <p:spPr>
          <a:xfrm>
            <a:off x="5405729" y="2947003"/>
            <a:ext cx="381381" cy="27241"/>
          </a:xfrm>
          <a:prstGeom prst="rect">
            <a:avLst/>
          </a:prstGeom>
          <a:solidFill>
            <a:srgbClr val="D4DAE2"/>
          </a:solidFill>
          <a:ln w="0">
            <a:solidFill>
              <a:srgbClr val="000000">
                <a:alpha val="0"/>
              </a:srgbClr>
            </a:solidFill>
            <a:prstDash val="solid"/>
          </a:ln>
        </p:spPr>
        <p:txBody>
          <a:bodyPr/>
          <a:lstStyle/>
          <a:p>
            <a:endParaRPr lang="ja-JP" altLang="en-US"/>
          </a:p>
        </p:txBody>
      </p:sp>
      <p:pic>
        <p:nvPicPr>
          <p:cNvPr id="25" name="グラフィックス 24"/>
          <p:cNvPicPr>
            <a:picLocks noChangeAspect="1"/>
          </p:cNvPicPr>
          <p:nvPr/>
        </p:nvPicPr>
        <p:blipFill>
          <a:blip>
            <a:extLst>
              <a:ext uri="{96DAC541-7B7A-43D3-8B79-37D633B846F1}">
                <asvg:svgBlip xmlns:asvg="http://schemas.microsoft.com/office/drawing/2016/SVG/main" r:embed="rId10"/>
              </a:ext>
            </a:extLst>
          </a:blip>
          <a:stretch/>
        </p:blipFill>
        <p:spPr>
          <a:xfrm>
            <a:off x="5496534" y="2824416"/>
            <a:ext cx="254254" cy="254254"/>
          </a:xfrm>
          <a:prstGeom prst="rect">
            <a:avLst/>
          </a:prstGeom>
        </p:spPr>
      </p:pic>
      <p:sp>
        <p:nvSpPr>
          <p:cNvPr id="26" name="正方形/長方形 25">
            <a:extLst>
              <a:ext uri="{FF2B5EF4-FFF2-40B4-BE49-F238E27FC236}">
                <a16:creationId xmlns:a16="http://schemas.microsoft.com/office/drawing/2014/main" id="{0FE3EE19-4B29-4252-8A26-819624C7DD1E}"/>
              </a:ext>
            </a:extLst>
          </p:cNvPr>
          <p:cNvSpPr>
            <a:spLocks noGrp="1"/>
          </p:cNvSpPr>
          <p:nvPr/>
        </p:nvSpPr>
        <p:spPr>
          <a:xfrm>
            <a:off x="5841593" y="1780159"/>
            <a:ext cx="2015871" cy="2360930"/>
          </a:xfrm>
          <a:prstGeom prst="rect">
            <a:avLst/>
          </a:prstGeom>
          <a:solidFill>
            <a:srgbClr val="FCFAF2"/>
          </a:solidFill>
          <a:ln w="13335">
            <a:solidFill>
              <a:srgbClr val="D4DAE2"/>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A9DE71D8-4D83-4DC4-9D11-810072FFACB6}"/>
              </a:ext>
            </a:extLst>
          </p:cNvPr>
          <p:cNvSpPr>
            <a:spLocks noGrp="1"/>
          </p:cNvSpPr>
          <p:nvPr/>
        </p:nvSpPr>
        <p:spPr>
          <a:xfrm>
            <a:off x="5841593" y="1780159"/>
            <a:ext cx="2015871" cy="63563"/>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0E224078-3049-4FE9-9661-CEC3F2588FF5}"/>
              </a:ext>
            </a:extLst>
          </p:cNvPr>
          <p:cNvSpPr>
            <a:spLocks noGrp="1"/>
          </p:cNvSpPr>
          <p:nvPr/>
        </p:nvSpPr>
        <p:spPr>
          <a:xfrm>
            <a:off x="6440906" y="1979930"/>
            <a:ext cx="1234948"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A66A00"/>
                </a:solidFill>
                <a:latin typeface="Aptos"/>
                <a:ea typeface="Aptos"/>
                <a:cs typeface="Aptos"/>
              </a:defRPr>
            </a:pPr>
            <a:r>
              <a:rPr sz="1466" b="1">
                <a:solidFill>
                  <a:srgbClr val="A66A00"/>
                </a:solidFill>
                <a:latin typeface="Aptos"/>
                <a:ea typeface="Aptos"/>
                <a:cs typeface="Aptos"/>
              </a:rPr>
              <a:t>3. Run</a:t>
            </a:r>
          </a:p>
        </p:txBody>
      </p:sp>
      <p:sp>
        <p:nvSpPr>
          <p:cNvPr id="29" name="正方形/長方形 28">
            <a:extLst>
              <a:ext uri="{FF2B5EF4-FFF2-40B4-BE49-F238E27FC236}">
                <a16:creationId xmlns:a16="http://schemas.microsoft.com/office/drawing/2014/main" id="{C168EEC7-E2EE-421D-913A-FB8D1D9F8A95}"/>
              </a:ext>
            </a:extLst>
          </p:cNvPr>
          <p:cNvSpPr>
            <a:spLocks noGrp="1"/>
          </p:cNvSpPr>
          <p:nvPr/>
        </p:nvSpPr>
        <p:spPr>
          <a:xfrm>
            <a:off x="6005042" y="2361311"/>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source -&gt; prep -&gt; solv</a:t>
            </a:r>
          </a:p>
        </p:txBody>
      </p:sp>
      <p:sp>
        <p:nvSpPr>
          <p:cNvPr id="30" name="正方形/長方形 29">
            <a:extLst>
              <a:ext uri="{FF2B5EF4-FFF2-40B4-BE49-F238E27FC236}">
                <a16:creationId xmlns:a16="http://schemas.microsoft.com/office/drawing/2014/main" id="{D72486BA-2CA3-4F52-9D24-CD0699C08170}"/>
              </a:ext>
            </a:extLst>
          </p:cNvPr>
          <p:cNvSpPr>
            <a:spLocks noGrp="1"/>
          </p:cNvSpPr>
          <p:nvPr/>
        </p:nvSpPr>
        <p:spPr>
          <a:xfrm>
            <a:off x="6005042" y="2597404"/>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-&gt; topo -&gt; eq -&gt; prod</a:t>
            </a:r>
          </a:p>
        </p:txBody>
      </p:sp>
      <p:sp>
        <p:nvSpPr>
          <p:cNvPr id="31" name="正方形/長方形 30">
            <a:extLst>
              <a:ext uri="{FF2B5EF4-FFF2-40B4-BE49-F238E27FC236}">
                <a16:creationId xmlns:a16="http://schemas.microsoft.com/office/drawing/2014/main" id="{95F24159-12C3-4E3C-AA08-D31177E3ED99}"/>
              </a:ext>
            </a:extLst>
          </p:cNvPr>
          <p:cNvSpPr>
            <a:spLocks noGrp="1"/>
          </p:cNvSpPr>
          <p:nvPr/>
        </p:nvSpPr>
        <p:spPr>
          <a:xfrm>
            <a:off x="6005042" y="2833497"/>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-&gt; analyze</a:t>
            </a:r>
          </a:p>
        </p:txBody>
      </p:sp>
      <p:pic>
        <p:nvPicPr>
          <p:cNvPr id="32" name="グラフィックス 31"/>
          <p:cNvPicPr>
            <a:picLocks noChangeAspect="1"/>
          </p:cNvPicPr>
          <p:nvPr/>
        </p:nvPicPr>
        <p:blipFill>
          <a:blip>
            <a:extLst>
              <a:ext uri="{96DAC541-7B7A-43D3-8B79-37D633B846F1}">
                <asvg:svgBlip xmlns:asvg="http://schemas.microsoft.com/office/drawing/2016/SVG/main" r:embed="rId6"/>
              </a:ext>
            </a:extLst>
          </a:blip>
          <a:stretch/>
        </p:blipFill>
        <p:spPr>
          <a:xfrm>
            <a:off x="6023203" y="1979930"/>
            <a:ext cx="308737" cy="308737"/>
          </a:xfrm>
          <a:prstGeom prst="rect">
            <a:avLst/>
          </a:prstGeom>
        </p:spPr>
      </p:pic>
      <p:sp>
        <p:nvSpPr>
          <p:cNvPr id="33" name="正方形/長方形 32">
            <a:extLst>
              <a:ext uri="{FF2B5EF4-FFF2-40B4-BE49-F238E27FC236}">
                <a16:creationId xmlns:a16="http://schemas.microsoft.com/office/drawing/2014/main" id="{128D07E2-67AD-40AF-AB54-09D824E2E739}"/>
              </a:ext>
            </a:extLst>
          </p:cNvPr>
          <p:cNvSpPr>
            <a:spLocks noGrp="1"/>
          </p:cNvSpPr>
          <p:nvPr/>
        </p:nvSpPr>
        <p:spPr>
          <a:xfrm>
            <a:off x="7857464" y="2947003"/>
            <a:ext cx="381381" cy="27241"/>
          </a:xfrm>
          <a:prstGeom prst="rect">
            <a:avLst/>
          </a:prstGeom>
          <a:solidFill>
            <a:srgbClr val="D4DAE2"/>
          </a:solidFill>
          <a:ln w="0">
            <a:solidFill>
              <a:srgbClr val="000000">
                <a:alpha val="0"/>
              </a:srgbClr>
            </a:solidFill>
            <a:prstDash val="solid"/>
          </a:ln>
        </p:spPr>
        <p:txBody>
          <a:bodyPr/>
          <a:lstStyle/>
          <a:p>
            <a:endParaRPr lang="ja-JP" altLang="en-US"/>
          </a:p>
        </p:txBody>
      </p:sp>
      <p:pic>
        <p:nvPicPr>
          <p:cNvPr id="34" name="グラフィックス 33"/>
          <p:cNvPicPr>
            <a:picLocks noChangeAspect="1"/>
          </p:cNvPicPr>
          <p:nvPr/>
        </p:nvPicPr>
        <p:blipFill>
          <a:blip>
            <a:extLst>
              <a:ext uri="{96DAC541-7B7A-43D3-8B79-37D633B846F1}">
                <asvg:svgBlip xmlns:asvg="http://schemas.microsoft.com/office/drawing/2016/SVG/main" r:embed="rId10"/>
              </a:ext>
            </a:extLst>
          </a:blip>
          <a:stretch/>
        </p:blipFill>
        <p:spPr>
          <a:xfrm>
            <a:off x="7948269" y="2824416"/>
            <a:ext cx="254254" cy="254254"/>
          </a:xfrm>
          <a:prstGeom prst="rect">
            <a:avLst/>
          </a:prstGeom>
        </p:spPr>
      </p:pic>
      <p:sp>
        <p:nvSpPr>
          <p:cNvPr id="35" name="正方形/長方形 34">
            <a:extLst>
              <a:ext uri="{FF2B5EF4-FFF2-40B4-BE49-F238E27FC236}">
                <a16:creationId xmlns:a16="http://schemas.microsoft.com/office/drawing/2014/main" id="{4C20D136-4688-4C1C-A758-76470E79C7A1}"/>
              </a:ext>
            </a:extLst>
          </p:cNvPr>
          <p:cNvSpPr>
            <a:spLocks noGrp="1"/>
          </p:cNvSpPr>
          <p:nvPr/>
        </p:nvSpPr>
        <p:spPr>
          <a:xfrm>
            <a:off x="8293328" y="1780159"/>
            <a:ext cx="2015871" cy="2360930"/>
          </a:xfrm>
          <a:prstGeom prst="rect">
            <a:avLst/>
          </a:prstGeom>
          <a:solidFill>
            <a:srgbClr val="F7FBF8"/>
          </a:solidFill>
          <a:ln w="13335">
            <a:solidFill>
              <a:srgbClr val="D4DAE2"/>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109CFD70-840E-4DB4-B07C-FFD5D3A78139}"/>
              </a:ext>
            </a:extLst>
          </p:cNvPr>
          <p:cNvSpPr>
            <a:spLocks noGrp="1"/>
          </p:cNvSpPr>
          <p:nvPr/>
        </p:nvSpPr>
        <p:spPr>
          <a:xfrm>
            <a:off x="8293328" y="1780159"/>
            <a:ext cx="2015871"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37" name="正方形/長方形 36">
            <a:extLst>
              <a:ext uri="{FF2B5EF4-FFF2-40B4-BE49-F238E27FC236}">
                <a16:creationId xmlns:a16="http://schemas.microsoft.com/office/drawing/2014/main" id="{B8A5B999-E22B-4FB7-B274-6969551E0DF9}"/>
              </a:ext>
            </a:extLst>
          </p:cNvPr>
          <p:cNvSpPr>
            <a:spLocks noGrp="1"/>
          </p:cNvSpPr>
          <p:nvPr/>
        </p:nvSpPr>
        <p:spPr>
          <a:xfrm>
            <a:off x="8892641" y="1979930"/>
            <a:ext cx="1234948"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2D6D4B"/>
                </a:solidFill>
                <a:latin typeface="Aptos"/>
                <a:ea typeface="Aptos"/>
                <a:cs typeface="Aptos"/>
              </a:defRPr>
            </a:pPr>
            <a:r>
              <a:rPr sz="1466" b="1">
                <a:solidFill>
                  <a:srgbClr val="2D6D4B"/>
                </a:solidFill>
                <a:latin typeface="Aptos"/>
                <a:ea typeface="Aptos"/>
                <a:cs typeface="Aptos"/>
              </a:rPr>
              <a:t>4. Answer</a:t>
            </a:r>
          </a:p>
        </p:txBody>
      </p:sp>
      <p:sp>
        <p:nvSpPr>
          <p:cNvPr id="38" name="正方形/長方形 37">
            <a:extLst>
              <a:ext uri="{FF2B5EF4-FFF2-40B4-BE49-F238E27FC236}">
                <a16:creationId xmlns:a16="http://schemas.microsoft.com/office/drawing/2014/main" id="{346BBECD-DF63-4F2B-98C6-0DED3C17657A}"/>
              </a:ext>
            </a:extLst>
          </p:cNvPr>
          <p:cNvSpPr>
            <a:spLocks noGrp="1"/>
          </p:cNvSpPr>
          <p:nvPr/>
        </p:nvSpPr>
        <p:spPr>
          <a:xfrm>
            <a:off x="8456777" y="2361311"/>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effect direction</a:t>
            </a:r>
          </a:p>
        </p:txBody>
      </p:sp>
      <p:sp>
        <p:nvSpPr>
          <p:cNvPr id="39" name="正方形/長方形 38">
            <a:extLst>
              <a:ext uri="{FF2B5EF4-FFF2-40B4-BE49-F238E27FC236}">
                <a16:creationId xmlns:a16="http://schemas.microsoft.com/office/drawing/2014/main" id="{C31E18B9-120F-481A-BDA2-F07A2B9424B6}"/>
              </a:ext>
            </a:extLst>
          </p:cNvPr>
          <p:cNvSpPr>
            <a:spLocks noGrp="1"/>
          </p:cNvSpPr>
          <p:nvPr/>
        </p:nvSpPr>
        <p:spPr>
          <a:xfrm>
            <a:off x="8456777" y="2597404"/>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evidence figures</a:t>
            </a:r>
          </a:p>
        </p:txBody>
      </p:sp>
      <p:sp>
        <p:nvSpPr>
          <p:cNvPr id="40" name="正方形/長方形 39">
            <a:extLst>
              <a:ext uri="{FF2B5EF4-FFF2-40B4-BE49-F238E27FC236}">
                <a16:creationId xmlns:a16="http://schemas.microsoft.com/office/drawing/2014/main" id="{7D88A4F1-B150-47C0-94DC-4C0604D8E45E}"/>
              </a:ext>
            </a:extLst>
          </p:cNvPr>
          <p:cNvSpPr>
            <a:spLocks noGrp="1"/>
          </p:cNvSpPr>
          <p:nvPr/>
        </p:nvSpPr>
        <p:spPr>
          <a:xfrm>
            <a:off x="8456777" y="2833497"/>
            <a:ext cx="1688973"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1" b="0">
                <a:solidFill>
                  <a:srgbClr val="5B6573"/>
                </a:solidFill>
                <a:latin typeface="Aptos"/>
                <a:ea typeface="Aptos"/>
                <a:cs typeface="Aptos"/>
              </a:defRPr>
            </a:pPr>
            <a:r>
              <a:rPr sz="1201" b="0">
                <a:solidFill>
                  <a:srgbClr val="5B6573"/>
                </a:solidFill>
                <a:latin typeface="Aptos"/>
                <a:ea typeface="Aptos"/>
                <a:cs typeface="Aptos"/>
              </a:rPr>
              <a:t>uncertainty + next run</a:t>
            </a:r>
          </a:p>
        </p:txBody>
      </p:sp>
      <p:pic>
        <p:nvPicPr>
          <p:cNvPr id="41" name="グラフィックス 40"/>
          <p:cNvPicPr>
            <a:picLocks noChangeAspect="1"/>
          </p:cNvPicPr>
          <p:nvPr/>
        </p:nvPicPr>
        <p:blipFill>
          <a:blip>
            <a:extLst>
              <a:ext uri="{96DAC541-7B7A-43D3-8B79-37D633B846F1}">
                <asvg:svgBlip xmlns:asvg="http://schemas.microsoft.com/office/drawing/2016/SVG/main" r:embed="rId5"/>
              </a:ext>
            </a:extLst>
          </a:blip>
          <a:stretch/>
        </p:blipFill>
        <p:spPr>
          <a:xfrm>
            <a:off x="8474938" y="1979930"/>
            <a:ext cx="308737" cy="308737"/>
          </a:xfrm>
          <a:prstGeom prst="rect">
            <a:avLst/>
          </a:prstGeom>
        </p:spPr>
      </p:pic>
      <p:sp>
        <p:nvSpPr>
          <p:cNvPr id="42" name="正方形/長方形 41">
            <a:extLst>
              <a:ext uri="{FF2B5EF4-FFF2-40B4-BE49-F238E27FC236}">
                <a16:creationId xmlns:a16="http://schemas.microsoft.com/office/drawing/2014/main" id="{711C220C-E1C5-4ED9-98D8-57239D02A170}"/>
              </a:ext>
            </a:extLst>
          </p:cNvPr>
          <p:cNvSpPr>
            <a:spLocks noGrp="1"/>
          </p:cNvSpPr>
          <p:nvPr/>
        </p:nvSpPr>
        <p:spPr>
          <a:xfrm>
            <a:off x="1719046" y="4159250"/>
            <a:ext cx="8644636" cy="871728"/>
          </a:xfrm>
          <a:prstGeom prst="rect">
            <a:avLst/>
          </a:prstGeom>
          <a:solidFill>
            <a:srgbClr val="FFFFFF"/>
          </a:solidFill>
          <a:ln w="14288">
            <a:solidFill>
              <a:srgbClr val="263142"/>
            </a:solidFill>
            <a:prstDash val="solid"/>
          </a:ln>
        </p:spPr>
        <p:txBody>
          <a:bodyPr/>
          <a:lstStyle/>
          <a:p>
            <a:endParaRPr lang="ja-JP" altLang="en-US"/>
          </a:p>
        </p:txBody>
      </p:sp>
      <p:sp>
        <p:nvSpPr>
          <p:cNvPr id="43" name="正方形/長方形 42">
            <a:extLst>
              <a:ext uri="{FF2B5EF4-FFF2-40B4-BE49-F238E27FC236}">
                <a16:creationId xmlns:a16="http://schemas.microsoft.com/office/drawing/2014/main" id="{A174159C-7268-4EEE-96E7-1DD51A4EDD1E}"/>
              </a:ext>
            </a:extLst>
          </p:cNvPr>
          <p:cNvSpPr>
            <a:spLocks noGrp="1"/>
          </p:cNvSpPr>
          <p:nvPr/>
        </p:nvSpPr>
        <p:spPr>
          <a:xfrm>
            <a:off x="1719046" y="4159250"/>
            <a:ext cx="8644636" cy="72644"/>
          </a:xfrm>
          <a:prstGeom prst="rect">
            <a:avLst/>
          </a:prstGeom>
          <a:solidFill>
            <a:srgbClr val="263142"/>
          </a:solidFill>
          <a:ln w="0">
            <a:solidFill>
              <a:srgbClr val="000000">
                <a:alpha val="0"/>
              </a:srgbClr>
            </a:solidFill>
            <a:prstDash val="solid"/>
          </a:ln>
        </p:spPr>
        <p:txBody>
          <a:bodyPr/>
          <a:lstStyle/>
          <a:p>
            <a:endParaRPr lang="ja-JP" altLang="en-US"/>
          </a:p>
        </p:txBody>
      </p:sp>
      <p:sp>
        <p:nvSpPr>
          <p:cNvPr id="44" name="正方形/長方形 43">
            <a:extLst>
              <a:ext uri="{FF2B5EF4-FFF2-40B4-BE49-F238E27FC236}">
                <a16:creationId xmlns:a16="http://schemas.microsoft.com/office/drawing/2014/main" id="{4860201D-6E79-4177-A6DB-0E2FCC6E521A}"/>
              </a:ext>
            </a:extLst>
          </p:cNvPr>
          <p:cNvSpPr>
            <a:spLocks noGrp="1"/>
          </p:cNvSpPr>
          <p:nvPr/>
        </p:nvSpPr>
        <p:spPr>
          <a:xfrm>
            <a:off x="1882495" y="4359021"/>
            <a:ext cx="2011331" cy="472186"/>
          </a:xfrm>
          <a:prstGeom prst="rect">
            <a:avLst/>
          </a:prstGeom>
          <a:solidFill>
            <a:srgbClr val="FAFBFC"/>
          </a:solidFill>
          <a:ln w="11430">
            <a:solidFill>
              <a:srgbClr val="1F6674"/>
            </a:solidFill>
            <a:prstDash val="solid"/>
          </a:ln>
        </p:spPr>
        <p:txBody>
          <a:bodyPr/>
          <a:lstStyle/>
          <a:p>
            <a:endParaRPr lang="ja-JP" altLang="en-US"/>
          </a:p>
        </p:txBody>
      </p:sp>
      <p:pic>
        <p:nvPicPr>
          <p:cNvPr id="45" name="グラフィックス 44"/>
          <p:cNvPicPr>
            <a:picLocks noChangeAspect="1"/>
          </p:cNvPicPr>
          <p:nvPr/>
        </p:nvPicPr>
        <p:blipFill>
          <a:blip>
            <a:extLst>
              <a:ext uri="{96DAC541-7B7A-43D3-8B79-37D633B846F1}">
                <asvg:svgBlip xmlns:asvg="http://schemas.microsoft.com/office/drawing/2016/SVG/main" r:embed="rId3"/>
              </a:ext>
            </a:extLst>
          </a:blip>
          <a:stretch/>
        </p:blipFill>
        <p:spPr>
          <a:xfrm>
            <a:off x="2027783" y="4486148"/>
            <a:ext cx="254254" cy="254254"/>
          </a:xfrm>
          <a:prstGeom prst="rect">
            <a:avLst/>
          </a:prstGeom>
        </p:spPr>
      </p:pic>
      <p:sp>
        <p:nvSpPr>
          <p:cNvPr id="46" name="正方形/長方形 45">
            <a:extLst>
              <a:ext uri="{FF2B5EF4-FFF2-40B4-BE49-F238E27FC236}">
                <a16:creationId xmlns:a16="http://schemas.microsoft.com/office/drawing/2014/main" id="{58755EC8-5C7E-4FF8-ADA4-0C6B3F365E11}"/>
              </a:ext>
            </a:extLst>
          </p:cNvPr>
          <p:cNvSpPr>
            <a:spLocks noGrp="1"/>
          </p:cNvSpPr>
          <p:nvPr/>
        </p:nvSpPr>
        <p:spPr>
          <a:xfrm>
            <a:off x="2372842" y="4467987"/>
            <a:ext cx="1412018" cy="19977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1" b="1">
                <a:solidFill>
                  <a:srgbClr val="1F6674"/>
                </a:solidFill>
                <a:latin typeface="Aptos"/>
                <a:ea typeface="Aptos"/>
                <a:cs typeface="Aptos"/>
              </a:defRPr>
            </a:pPr>
            <a:r>
              <a:rPr sz="1101" b="1">
                <a:solidFill>
                  <a:srgbClr val="1F6674"/>
                </a:solidFill>
                <a:latin typeface="Aptos"/>
                <a:ea typeface="Aptos"/>
                <a:cs typeface="Aptos"/>
              </a:rPr>
              <a:t>Structure</a:t>
            </a:r>
          </a:p>
        </p:txBody>
      </p:sp>
      <p:sp>
        <p:nvSpPr>
          <p:cNvPr id="47" name="正方形/長方形 46">
            <a:extLst>
              <a:ext uri="{FF2B5EF4-FFF2-40B4-BE49-F238E27FC236}">
                <a16:creationId xmlns:a16="http://schemas.microsoft.com/office/drawing/2014/main" id="{2B4BF756-27F1-400B-9723-E7676F68FDBA}"/>
              </a:ext>
            </a:extLst>
          </p:cNvPr>
          <p:cNvSpPr>
            <a:spLocks noGrp="1"/>
          </p:cNvSpPr>
          <p:nvPr/>
        </p:nvSpPr>
        <p:spPr>
          <a:xfrm>
            <a:off x="2372842" y="4667758"/>
            <a:ext cx="1375696" cy="14528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2" b="0">
                <a:solidFill>
                  <a:srgbClr val="5B6573"/>
                </a:solidFill>
                <a:latin typeface="Aptos"/>
                <a:ea typeface="Aptos"/>
                <a:cs typeface="Aptos"/>
              </a:defRPr>
            </a:pPr>
            <a:r>
              <a:rPr sz="772" b="0">
                <a:solidFill>
                  <a:srgbClr val="5B6573"/>
                </a:solidFill>
                <a:latin typeface="Aptos"/>
                <a:ea typeface="Aptos"/>
                <a:cs typeface="Aptos"/>
              </a:rPr>
              <a:t>protein / ligand</a:t>
            </a:r>
          </a:p>
        </p:txBody>
      </p:sp>
      <p:sp>
        <p:nvSpPr>
          <p:cNvPr id="48" name="正方形/長方形 47">
            <a:extLst>
              <a:ext uri="{FF2B5EF4-FFF2-40B4-BE49-F238E27FC236}">
                <a16:creationId xmlns:a16="http://schemas.microsoft.com/office/drawing/2014/main" id="{AB60FE4A-BF37-4010-808F-97B857F11C8D}"/>
              </a:ext>
            </a:extLst>
          </p:cNvPr>
          <p:cNvSpPr>
            <a:spLocks noGrp="1"/>
          </p:cNvSpPr>
          <p:nvPr/>
        </p:nvSpPr>
        <p:spPr>
          <a:xfrm>
            <a:off x="3984631" y="4359021"/>
            <a:ext cx="2011331" cy="472186"/>
          </a:xfrm>
          <a:prstGeom prst="rect">
            <a:avLst/>
          </a:prstGeom>
          <a:solidFill>
            <a:srgbClr val="FFFFFF"/>
          </a:solidFill>
          <a:ln w="11430">
            <a:solidFill>
              <a:srgbClr val="0E3A75"/>
            </a:solidFill>
            <a:prstDash val="solid"/>
          </a:ln>
        </p:spPr>
        <p:txBody>
          <a:bodyPr/>
          <a:lstStyle/>
          <a:p>
            <a:endParaRPr lang="ja-JP" altLang="en-US"/>
          </a:p>
        </p:txBody>
      </p:sp>
      <p:pic>
        <p:nvPicPr>
          <p:cNvPr id="49" name="グラフィックス 48"/>
          <p:cNvPicPr>
            <a:picLocks noChangeAspect="1"/>
          </p:cNvPicPr>
          <p:nvPr/>
        </p:nvPicPr>
        <p:blipFill>
          <a:blip>
            <a:extLst>
              <a:ext uri="{96DAC541-7B7A-43D3-8B79-37D633B846F1}">
                <asvg:svgBlip xmlns:asvg="http://schemas.microsoft.com/office/drawing/2016/SVG/main" r:embed="rId11"/>
              </a:ext>
            </a:extLst>
          </a:blip>
          <a:stretch/>
        </p:blipFill>
        <p:spPr>
          <a:xfrm>
            <a:off x="4129919" y="4486148"/>
            <a:ext cx="254254" cy="254254"/>
          </a:xfrm>
          <a:prstGeom prst="rect">
            <a:avLst/>
          </a:prstGeom>
        </p:spPr>
      </p:pic>
      <p:sp>
        <p:nvSpPr>
          <p:cNvPr id="50" name="正方形/長方形 49">
            <a:extLst>
              <a:ext uri="{FF2B5EF4-FFF2-40B4-BE49-F238E27FC236}">
                <a16:creationId xmlns:a16="http://schemas.microsoft.com/office/drawing/2014/main" id="{D241A561-4CA2-47CB-8C56-8548DE840D26}"/>
              </a:ext>
            </a:extLst>
          </p:cNvPr>
          <p:cNvSpPr>
            <a:spLocks noGrp="1"/>
          </p:cNvSpPr>
          <p:nvPr/>
        </p:nvSpPr>
        <p:spPr>
          <a:xfrm>
            <a:off x="4474978" y="4467987"/>
            <a:ext cx="1412018" cy="19977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1" b="1">
                <a:solidFill>
                  <a:srgbClr val="0E3A75"/>
                </a:solidFill>
                <a:latin typeface="Aptos"/>
                <a:ea typeface="Aptos"/>
                <a:cs typeface="Aptos"/>
              </a:defRPr>
            </a:pPr>
            <a:r>
              <a:rPr sz="1101" b="1">
                <a:solidFill>
                  <a:srgbClr val="0E3A75"/>
                </a:solidFill>
                <a:latin typeface="Aptos"/>
                <a:ea typeface="Aptos"/>
                <a:cs typeface="Aptos"/>
              </a:rPr>
              <a:t>System</a:t>
            </a:r>
          </a:p>
        </p:txBody>
      </p:sp>
      <p:sp>
        <p:nvSpPr>
          <p:cNvPr id="51" name="正方形/長方形 50">
            <a:extLst>
              <a:ext uri="{FF2B5EF4-FFF2-40B4-BE49-F238E27FC236}">
                <a16:creationId xmlns:a16="http://schemas.microsoft.com/office/drawing/2014/main" id="{AF0BE568-60F3-4906-A19B-6B689745424A}"/>
              </a:ext>
            </a:extLst>
          </p:cNvPr>
          <p:cNvSpPr>
            <a:spLocks noGrp="1"/>
          </p:cNvSpPr>
          <p:nvPr/>
        </p:nvSpPr>
        <p:spPr>
          <a:xfrm>
            <a:off x="4474978" y="4667758"/>
            <a:ext cx="1375696" cy="14528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2" b="0">
                <a:solidFill>
                  <a:srgbClr val="5B6573"/>
                </a:solidFill>
                <a:latin typeface="Aptos"/>
                <a:ea typeface="Aptos"/>
                <a:cs typeface="Aptos"/>
              </a:defRPr>
            </a:pPr>
            <a:r>
              <a:rPr sz="772" b="0">
                <a:solidFill>
                  <a:srgbClr val="5B6573"/>
                </a:solidFill>
                <a:latin typeface="Aptos"/>
                <a:ea typeface="Aptos"/>
                <a:cs typeface="Aptos"/>
              </a:rPr>
              <a:t>force field + solvent</a:t>
            </a:r>
          </a:p>
        </p:txBody>
      </p:sp>
      <p:sp>
        <p:nvSpPr>
          <p:cNvPr id="52" name="正方形/長方形 51">
            <a:extLst>
              <a:ext uri="{FF2B5EF4-FFF2-40B4-BE49-F238E27FC236}">
                <a16:creationId xmlns:a16="http://schemas.microsoft.com/office/drawing/2014/main" id="{422E340A-D5A6-43EA-B51E-F556045037F3}"/>
              </a:ext>
            </a:extLst>
          </p:cNvPr>
          <p:cNvSpPr>
            <a:spLocks noGrp="1"/>
          </p:cNvSpPr>
          <p:nvPr/>
        </p:nvSpPr>
        <p:spPr>
          <a:xfrm>
            <a:off x="6086766" y="4359021"/>
            <a:ext cx="2011331" cy="472186"/>
          </a:xfrm>
          <a:prstGeom prst="rect">
            <a:avLst/>
          </a:prstGeom>
          <a:solidFill>
            <a:srgbClr val="FAFBFC"/>
          </a:solidFill>
          <a:ln w="11430">
            <a:solidFill>
              <a:srgbClr val="A66A00"/>
            </a:solidFill>
            <a:prstDash val="solid"/>
          </a:ln>
        </p:spPr>
        <p:txBody>
          <a:bodyPr/>
          <a:lstStyle/>
          <a:p>
            <a:endParaRPr lang="ja-JP" altLang="en-US"/>
          </a:p>
        </p:txBody>
      </p:sp>
      <p:pic>
        <p:nvPicPr>
          <p:cNvPr id="53" name="グラフィックス 52"/>
          <p:cNvPicPr>
            <a:picLocks noChangeAspect="1"/>
          </p:cNvPicPr>
          <p:nvPr/>
        </p:nvPicPr>
        <p:blipFill>
          <a:blip>
            <a:extLst>
              <a:ext uri="{96DAC541-7B7A-43D3-8B79-37D633B846F1}">
                <asvg:svgBlip xmlns:asvg="http://schemas.microsoft.com/office/drawing/2016/SVG/main" r:embed="rId9"/>
              </a:ext>
            </a:extLst>
          </a:blip>
          <a:stretch/>
        </p:blipFill>
        <p:spPr>
          <a:xfrm>
            <a:off x="6232054" y="4486148"/>
            <a:ext cx="254254" cy="254254"/>
          </a:xfrm>
          <a:prstGeom prst="rect">
            <a:avLst/>
          </a:prstGeom>
        </p:spPr>
      </p:pic>
      <p:sp>
        <p:nvSpPr>
          <p:cNvPr id="54" name="正方形/長方形 53">
            <a:extLst>
              <a:ext uri="{FF2B5EF4-FFF2-40B4-BE49-F238E27FC236}">
                <a16:creationId xmlns:a16="http://schemas.microsoft.com/office/drawing/2014/main" id="{3284AA0E-8AA7-4557-9A07-9D6A909476A4}"/>
              </a:ext>
            </a:extLst>
          </p:cNvPr>
          <p:cNvSpPr>
            <a:spLocks noGrp="1"/>
          </p:cNvSpPr>
          <p:nvPr/>
        </p:nvSpPr>
        <p:spPr>
          <a:xfrm>
            <a:off x="6577113" y="4467987"/>
            <a:ext cx="1412018" cy="19977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1" b="1">
                <a:solidFill>
                  <a:srgbClr val="A66A00"/>
                </a:solidFill>
                <a:latin typeface="Aptos"/>
                <a:ea typeface="Aptos"/>
                <a:cs typeface="Aptos"/>
              </a:defRPr>
            </a:pPr>
            <a:r>
              <a:rPr sz="1101" b="1">
                <a:solidFill>
                  <a:srgbClr val="A66A00"/>
                </a:solidFill>
                <a:latin typeface="Aptos"/>
                <a:ea typeface="Aptos"/>
                <a:cs typeface="Aptos"/>
              </a:rPr>
              <a:t>Trajectory</a:t>
            </a:r>
          </a:p>
        </p:txBody>
      </p:sp>
      <p:sp>
        <p:nvSpPr>
          <p:cNvPr id="55" name="正方形/長方形 54">
            <a:extLst>
              <a:ext uri="{FF2B5EF4-FFF2-40B4-BE49-F238E27FC236}">
                <a16:creationId xmlns:a16="http://schemas.microsoft.com/office/drawing/2014/main" id="{476F7459-F96C-477A-AA0C-6F5E8A15AD70}"/>
              </a:ext>
            </a:extLst>
          </p:cNvPr>
          <p:cNvSpPr>
            <a:spLocks noGrp="1"/>
          </p:cNvSpPr>
          <p:nvPr/>
        </p:nvSpPr>
        <p:spPr>
          <a:xfrm>
            <a:off x="6577113" y="4667758"/>
            <a:ext cx="1375696" cy="14528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2" b="0">
                <a:solidFill>
                  <a:srgbClr val="5B6573"/>
                </a:solidFill>
                <a:latin typeface="Aptos"/>
                <a:ea typeface="Aptos"/>
                <a:cs typeface="Aptos"/>
              </a:defRPr>
            </a:pPr>
            <a:r>
              <a:rPr sz="772" b="0">
                <a:solidFill>
                  <a:srgbClr val="5B6573"/>
                </a:solidFill>
                <a:latin typeface="Aptos"/>
                <a:ea typeface="Aptos"/>
                <a:cs typeface="Aptos"/>
              </a:rPr>
              <a:t>positions over time</a:t>
            </a:r>
          </a:p>
        </p:txBody>
      </p:sp>
      <p:sp>
        <p:nvSpPr>
          <p:cNvPr id="56" name="正方形/長方形 55">
            <a:extLst>
              <a:ext uri="{FF2B5EF4-FFF2-40B4-BE49-F238E27FC236}">
                <a16:creationId xmlns:a16="http://schemas.microsoft.com/office/drawing/2014/main" id="{4CF685C8-7674-4673-AB72-C71D5B96996C}"/>
              </a:ext>
            </a:extLst>
          </p:cNvPr>
          <p:cNvSpPr>
            <a:spLocks noGrp="1"/>
          </p:cNvSpPr>
          <p:nvPr/>
        </p:nvSpPr>
        <p:spPr>
          <a:xfrm>
            <a:off x="8188902" y="4359021"/>
            <a:ext cx="2011331" cy="472186"/>
          </a:xfrm>
          <a:prstGeom prst="rect">
            <a:avLst/>
          </a:prstGeom>
          <a:solidFill>
            <a:srgbClr val="FFFFFF"/>
          </a:solidFill>
          <a:ln w="11430">
            <a:solidFill>
              <a:srgbClr val="2D6D4B"/>
            </a:solidFill>
            <a:prstDash val="solid"/>
          </a:ln>
        </p:spPr>
        <p:txBody>
          <a:bodyPr/>
          <a:lstStyle/>
          <a:p>
            <a:endParaRPr lang="ja-JP" altLang="en-US"/>
          </a:p>
        </p:txBody>
      </p:sp>
      <p:pic>
        <p:nvPicPr>
          <p:cNvPr id="57" name="グラフィックス 56"/>
          <p:cNvPicPr>
            <a:picLocks noChangeAspect="1"/>
          </p:cNvPicPr>
          <p:nvPr/>
        </p:nvPicPr>
        <p:blipFill>
          <a:blip>
            <a:extLst>
              <a:ext uri="{96DAC541-7B7A-43D3-8B79-37D633B846F1}">
                <asvg:svgBlip xmlns:asvg="http://schemas.microsoft.com/office/drawing/2016/SVG/main" r:embed="rId7"/>
              </a:ext>
            </a:extLst>
          </a:blip>
          <a:stretch/>
        </p:blipFill>
        <p:spPr>
          <a:xfrm>
            <a:off x="8334190" y="4486148"/>
            <a:ext cx="254254" cy="254254"/>
          </a:xfrm>
          <a:prstGeom prst="rect">
            <a:avLst/>
          </a:prstGeom>
        </p:spPr>
      </p:pic>
      <p:sp>
        <p:nvSpPr>
          <p:cNvPr id="58" name="正方形/長方形 57">
            <a:extLst>
              <a:ext uri="{FF2B5EF4-FFF2-40B4-BE49-F238E27FC236}">
                <a16:creationId xmlns:a16="http://schemas.microsoft.com/office/drawing/2014/main" id="{0C2716A0-3624-4C2B-996E-1BFE7FADFF33}"/>
              </a:ext>
            </a:extLst>
          </p:cNvPr>
          <p:cNvSpPr>
            <a:spLocks noGrp="1"/>
          </p:cNvSpPr>
          <p:nvPr/>
        </p:nvSpPr>
        <p:spPr>
          <a:xfrm>
            <a:off x="8679249" y="4467987"/>
            <a:ext cx="1412018" cy="19977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1" b="1">
                <a:solidFill>
                  <a:srgbClr val="2D6D4B"/>
                </a:solidFill>
                <a:latin typeface="Aptos"/>
                <a:ea typeface="Aptos"/>
                <a:cs typeface="Aptos"/>
              </a:defRPr>
            </a:pPr>
            <a:r>
              <a:rPr sz="1101" b="1">
                <a:solidFill>
                  <a:srgbClr val="2D6D4B"/>
                </a:solidFill>
                <a:latin typeface="Aptos"/>
                <a:ea typeface="Aptos"/>
                <a:cs typeface="Aptos"/>
              </a:rPr>
              <a:t>Evidence</a:t>
            </a:r>
          </a:p>
        </p:txBody>
      </p:sp>
      <p:sp>
        <p:nvSpPr>
          <p:cNvPr id="59" name="正方形/長方形 58">
            <a:extLst>
              <a:ext uri="{FF2B5EF4-FFF2-40B4-BE49-F238E27FC236}">
                <a16:creationId xmlns:a16="http://schemas.microsoft.com/office/drawing/2014/main" id="{8A22FA64-A39A-45E2-B86C-6A503CE219EF}"/>
              </a:ext>
            </a:extLst>
          </p:cNvPr>
          <p:cNvSpPr>
            <a:spLocks noGrp="1"/>
          </p:cNvSpPr>
          <p:nvPr/>
        </p:nvSpPr>
        <p:spPr>
          <a:xfrm>
            <a:off x="8679249" y="4667758"/>
            <a:ext cx="1375696" cy="14528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2" b="0">
                <a:solidFill>
                  <a:srgbClr val="5B6573"/>
                </a:solidFill>
                <a:latin typeface="Aptos"/>
                <a:ea typeface="Aptos"/>
                <a:cs typeface="Aptos"/>
              </a:defRPr>
            </a:pPr>
            <a:r>
              <a:rPr sz="772" b="0">
                <a:solidFill>
                  <a:srgbClr val="5B6573"/>
                </a:solidFill>
                <a:latin typeface="Aptos"/>
                <a:ea typeface="Aptos"/>
                <a:cs typeface="Aptos"/>
              </a:rPr>
              <a:t>plots + report</a:t>
            </a:r>
          </a:p>
        </p:txBody>
      </p:sp>
      <p:sp>
        <p:nvSpPr>
          <p:cNvPr id="60" name="正方形/長方形 59">
            <a:extLst>
              <a:ext uri="{FF2B5EF4-FFF2-40B4-BE49-F238E27FC236}">
                <a16:creationId xmlns:a16="http://schemas.microsoft.com/office/drawing/2014/main" id="{B3D3B3E5-97BD-4321-94B6-CB44CBE3C74D}"/>
              </a:ext>
            </a:extLst>
          </p:cNvPr>
          <p:cNvSpPr>
            <a:spLocks noGrp="1"/>
          </p:cNvSpPr>
          <p:nvPr/>
        </p:nvSpPr>
        <p:spPr>
          <a:xfrm>
            <a:off x="1719046" y="5158105"/>
            <a:ext cx="8644636" cy="490347"/>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61" name="正方形/長方形 60">
            <a:extLst>
              <a:ext uri="{FF2B5EF4-FFF2-40B4-BE49-F238E27FC236}">
                <a16:creationId xmlns:a16="http://schemas.microsoft.com/office/drawing/2014/main" id="{AD279BDD-CA66-4D40-8CE9-52819E1FB302}"/>
              </a:ext>
            </a:extLst>
          </p:cNvPr>
          <p:cNvSpPr>
            <a:spLocks noGrp="1"/>
          </p:cNvSpPr>
          <p:nvPr/>
        </p:nvSpPr>
        <p:spPr>
          <a:xfrm>
            <a:off x="1864334" y="5285232"/>
            <a:ext cx="8354060" cy="1816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6" b="0">
                <a:solidFill>
                  <a:srgbClr val="E8EEF8"/>
                </a:solidFill>
                <a:latin typeface="Aptos Mono"/>
                <a:ea typeface="Aptos Mono"/>
                <a:cs typeface="Aptos Mono"/>
              </a:defRPr>
            </a:pPr>
            <a:r>
              <a:rPr sz="886" b="0">
                <a:solidFill>
                  <a:srgbClr val="E8EEF8"/>
                </a:solidFill>
                <a:latin typeface="Aptos Mono"/>
                <a:ea typeface="Aptos Mono"/>
                <a:cs typeface="Aptos Mono"/>
              </a:rPr>
              <a:t>md-study / md-prepare: record the question, jobs, observables, and create DAG nodes</a:t>
            </a:r>
          </a:p>
        </p:txBody>
      </p:sp>
      <p:sp>
        <p:nvSpPr>
          <p:cNvPr id="62" name="正方形/長方形 61">
            <a:extLst>
              <a:ext uri="{FF2B5EF4-FFF2-40B4-BE49-F238E27FC236}">
                <a16:creationId xmlns:a16="http://schemas.microsoft.com/office/drawing/2014/main" id="{5538E12C-66D8-4CC6-9CEA-E479F802FBD4}"/>
              </a:ext>
            </a:extLst>
          </p:cNvPr>
          <p:cNvSpPr>
            <a:spLocks noGrp="1"/>
          </p:cNvSpPr>
          <p:nvPr/>
        </p:nvSpPr>
        <p:spPr>
          <a:xfrm>
            <a:off x="1864334" y="5503164"/>
            <a:ext cx="8354060" cy="1816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6" b="0">
                <a:solidFill>
                  <a:srgbClr val="E8EEF8"/>
                </a:solidFill>
                <a:latin typeface="Aptos Mono"/>
                <a:ea typeface="Aptos Mono"/>
                <a:cs typeface="Aptos Mono"/>
              </a:defRPr>
            </a:pPr>
            <a:r>
              <a:rPr sz="886" b="0">
                <a:solidFill>
                  <a:srgbClr val="E8EEF8"/>
                </a:solidFill>
                <a:latin typeface="Aptos Mono"/>
                <a:ea typeface="Aptos Mono"/>
                <a:cs typeface="Aptos Mono"/>
              </a:rPr>
              <a:t>md-analyze: produce evidence report; comparisons require explicit mapping</a:t>
            </a:r>
          </a:p>
        </p:txBody>
      </p:sp>
      <p:sp>
        <p:nvSpPr>
          <p:cNvPr id="63" name="正方形/長方形 62">
            <a:extLst>
              <a:ext uri="{FF2B5EF4-FFF2-40B4-BE49-F238E27FC236}">
                <a16:creationId xmlns:a16="http://schemas.microsoft.com/office/drawing/2014/main" id="{B2D9AE7B-1B89-490D-B6F7-891DF4C61403}"/>
              </a:ext>
            </a:extLst>
          </p:cNvPr>
          <p:cNvSpPr>
            <a:spLocks noGrp="1"/>
          </p:cNvSpPr>
          <p:nvPr/>
        </p:nvSpPr>
        <p:spPr>
          <a:xfrm>
            <a:off x="1646402" y="5848223"/>
            <a:ext cx="8989695"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23" b="1">
                <a:solidFill>
                  <a:srgbClr val="172033"/>
                </a:solidFill>
                <a:latin typeface="Aptos"/>
                <a:ea typeface="Aptos"/>
                <a:cs typeface="Aptos"/>
              </a:defRPr>
            </a:pPr>
            <a:r>
              <a:rPr sz="1323" b="1">
                <a:solidFill>
                  <a:srgbClr val="172033"/>
                </a:solidFill>
                <a:latin typeface="Aptos"/>
                <a:ea typeface="Aptos"/>
                <a:cs typeface="Aptos"/>
              </a:rPr>
              <a:t>The answer is not just prose. It is backed by output files and a recorded workflow history.</a:t>
            </a:r>
          </a:p>
        </p:txBody>
      </p:sp>
      <p:sp>
        <p:nvSpPr>
          <p:cNvPr id="64" name="TextBox 6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B30B8669-4550-4227-A8DD-F9E84CDADBFD}"/>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710F1130-5E09-4F18-A0B5-51D1B8C77652}"/>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3F3F800A-7E3A-4884-921C-D31832BA1A7B}"/>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0DF8CE3-0037-4785-AA3E-5F6B4CF61F01}"/>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NODE LIFECYCLE</a:t>
            </a:r>
          </a:p>
        </p:txBody>
      </p:sp>
      <p:sp>
        <p:nvSpPr>
          <p:cNvPr id="6" name="正方形/長方形 5">
            <a:extLst>
              <a:ext uri="{FF2B5EF4-FFF2-40B4-BE49-F238E27FC236}">
                <a16:creationId xmlns:a16="http://schemas.microsoft.com/office/drawing/2014/main" id="{3645A786-9BDA-4E0C-9994-812A613E969F}"/>
              </a:ext>
            </a:extLst>
          </p:cNvPr>
          <p:cNvSpPr>
            <a:spLocks noGrp="1"/>
          </p:cNvSpPr>
          <p:nvPr/>
        </p:nvSpPr>
        <p:spPr>
          <a:xfrm>
            <a:off x="720191" y="799465"/>
            <a:ext cx="889889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sz="2538" b="1">
                <a:solidFill>
                  <a:srgbClr val="172033"/>
                </a:solidFill>
                <a:latin typeface="Aptos Display"/>
                <a:ea typeface="Aptos Display"/>
                <a:cs typeface="Aptos Display"/>
              </a:rPr>
              <a:t>Each workflow step is created, run, completed or failed, and then kept as a record.</a:t>
            </a:r>
          </a:p>
        </p:txBody>
      </p:sp>
      <p:sp>
        <p:nvSpPr>
          <p:cNvPr id="9" name="正方形/長方形 8">
            <a:extLst>
              <a:ext uri="{FF2B5EF4-FFF2-40B4-BE49-F238E27FC236}">
                <a16:creationId xmlns:a16="http://schemas.microsoft.com/office/drawing/2014/main" id="{5C284035-2462-4E7A-9C7C-FC4F012F8951}"/>
              </a:ext>
            </a:extLst>
          </p:cNvPr>
          <p:cNvSpPr>
            <a:spLocks noGrp="1"/>
          </p:cNvSpPr>
          <p:nvPr/>
        </p:nvSpPr>
        <p:spPr>
          <a:xfrm>
            <a:off x="938123" y="2162166"/>
            <a:ext cx="2043112" cy="926211"/>
          </a:xfrm>
          <a:prstGeom prst="rect">
            <a:avLst/>
          </a:prstGeom>
          <a:solidFill>
            <a:srgbClr val="F8F7FC"/>
          </a:solidFill>
          <a:ln w="14288">
            <a:solidFill>
              <a:srgbClr val="4D4B7D"/>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55C35658-CF0F-44F6-A0E6-21C11267A7F9}"/>
              </a:ext>
            </a:extLst>
          </p:cNvPr>
          <p:cNvSpPr>
            <a:spLocks noGrp="1"/>
          </p:cNvSpPr>
          <p:nvPr/>
        </p:nvSpPr>
        <p:spPr>
          <a:xfrm>
            <a:off x="938123" y="2162166"/>
            <a:ext cx="2043112" cy="54483"/>
          </a:xfrm>
          <a:prstGeom prst="rect">
            <a:avLst/>
          </a:prstGeom>
          <a:solidFill>
            <a:srgbClr val="4D4B7D"/>
          </a:solidFill>
          <a:ln w="0">
            <a:solidFill>
              <a:srgbClr val="000000">
                <a:alpha val="0"/>
              </a:srgbClr>
            </a:solidFill>
            <a:prstDash val="solid"/>
          </a:ln>
        </p:spPr>
        <p:txBody>
          <a:bodyPr/>
          <a:lstStyle/>
          <a:p>
            <a:endParaRPr lang="ja-JP" altLang="en-US"/>
          </a:p>
        </p:txBody>
      </p:sp>
      <p:pic>
        <p:nvPicPr>
          <p:cNvPr id="11" name="グラフィックス 10"/>
          <p:cNvPicPr>
            <a:picLocks noChangeAspect="1"/>
          </p:cNvPicPr>
          <p:nvPr/>
        </p:nvPicPr>
        <p:blipFill>
          <a:blip>
            <a:extLst>
              <a:ext uri="{96DAC541-7B7A-43D3-8B79-37D633B846F1}">
                <asvg:svgBlip xmlns:asvg="http://schemas.microsoft.com/office/drawing/2016/SVG/main" r:embed="rId3"/>
              </a:ext>
            </a:extLst>
          </a:blip>
          <a:stretch/>
        </p:blipFill>
        <p:spPr>
          <a:xfrm>
            <a:off x="1083411" y="2361937"/>
            <a:ext cx="290576" cy="290576"/>
          </a:xfrm>
          <a:prstGeom prst="rect">
            <a:avLst/>
          </a:prstGeom>
        </p:spPr>
      </p:pic>
      <p:sp>
        <p:nvSpPr>
          <p:cNvPr id="12" name="正方形/長方形 11">
            <a:extLst>
              <a:ext uri="{FF2B5EF4-FFF2-40B4-BE49-F238E27FC236}">
                <a16:creationId xmlns:a16="http://schemas.microsoft.com/office/drawing/2014/main" id="{880CE5A3-BFA5-433B-9E2F-0487AC6A36BE}"/>
              </a:ext>
            </a:extLst>
          </p:cNvPr>
          <p:cNvSpPr>
            <a:spLocks noGrp="1"/>
          </p:cNvSpPr>
          <p:nvPr/>
        </p:nvSpPr>
        <p:spPr>
          <a:xfrm>
            <a:off x="1446631" y="2352856"/>
            <a:ext cx="1407477"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4D4B7D"/>
                </a:solidFill>
                <a:latin typeface="Aptos"/>
                <a:ea typeface="Aptos"/>
                <a:cs typeface="Aptos"/>
              </a:defRPr>
            </a:pPr>
            <a:r>
              <a:rPr sz="1329" b="1">
                <a:solidFill>
                  <a:srgbClr val="4D4B7D"/>
                </a:solidFill>
                <a:latin typeface="Aptos"/>
                <a:ea typeface="Aptos"/>
                <a:cs typeface="Aptos"/>
              </a:rPr>
              <a:t>create_node</a:t>
            </a:r>
          </a:p>
        </p:txBody>
      </p:sp>
      <p:sp>
        <p:nvSpPr>
          <p:cNvPr id="13" name="正方形/長方形 12">
            <a:extLst>
              <a:ext uri="{FF2B5EF4-FFF2-40B4-BE49-F238E27FC236}">
                <a16:creationId xmlns:a16="http://schemas.microsoft.com/office/drawing/2014/main" id="{D50796EC-2DA3-4E2B-84F6-909DD472B26C}"/>
              </a:ext>
            </a:extLst>
          </p:cNvPr>
          <p:cNvSpPr>
            <a:spLocks noGrp="1"/>
          </p:cNvSpPr>
          <p:nvPr/>
        </p:nvSpPr>
        <p:spPr>
          <a:xfrm>
            <a:off x="1101572" y="2688835"/>
            <a:ext cx="1716214"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allocate ID</a:t>
            </a:r>
          </a:p>
          <a:p>
            <a:pPr algn="l">
              <a:defRPr sz="972" b="0">
                <a:solidFill>
                  <a:srgbClr val="5B6573"/>
                </a:solidFill>
                <a:latin typeface="Aptos"/>
                <a:ea typeface="Aptos"/>
                <a:cs typeface="Aptos"/>
              </a:defRPr>
            </a:pPr>
            <a:r>
              <a:rPr sz="972" b="0">
                <a:solidFill>
                  <a:srgbClr val="5B6573"/>
                </a:solidFill>
                <a:latin typeface="Aptos"/>
                <a:ea typeface="Aptos"/>
                <a:cs typeface="Aptos"/>
              </a:rPr>
              <a:t>write node.json</a:t>
            </a:r>
          </a:p>
        </p:txBody>
      </p:sp>
      <p:sp>
        <p:nvSpPr>
          <p:cNvPr id="14" name="正方形/長方形 13">
            <a:extLst>
              <a:ext uri="{FF2B5EF4-FFF2-40B4-BE49-F238E27FC236}">
                <a16:creationId xmlns:a16="http://schemas.microsoft.com/office/drawing/2014/main" id="{D0CEF5B9-2709-475F-9036-A7833B5F7E98}"/>
              </a:ext>
            </a:extLst>
          </p:cNvPr>
          <p:cNvSpPr>
            <a:spLocks noGrp="1"/>
          </p:cNvSpPr>
          <p:nvPr/>
        </p:nvSpPr>
        <p:spPr>
          <a:xfrm>
            <a:off x="2990316" y="2575329"/>
            <a:ext cx="562991" cy="27241"/>
          </a:xfrm>
          <a:prstGeom prst="rect">
            <a:avLst/>
          </a:prstGeom>
          <a:solidFill>
            <a:srgbClr val="D4DAE2"/>
          </a:solidFill>
          <a:ln w="0">
            <a:solidFill>
              <a:srgbClr val="000000">
                <a:alpha val="0"/>
              </a:srgbClr>
            </a:solidFill>
            <a:prstDash val="solid"/>
          </a:ln>
        </p:spPr>
        <p:txBody>
          <a:bodyPr/>
          <a:lstStyle/>
          <a:p>
            <a:endParaRPr lang="ja-JP" altLang="en-US"/>
          </a:p>
        </p:txBody>
      </p:sp>
      <p:pic>
        <p:nvPicPr>
          <p:cNvPr id="15" name="グラフィックス 14"/>
          <p:cNvPicPr>
            <a:picLocks noChangeAspect="1"/>
          </p:cNvPicPr>
          <p:nvPr/>
        </p:nvPicPr>
        <p:blipFill>
          <a:blip>
            <a:extLst>
              <a:ext uri="{96DAC541-7B7A-43D3-8B79-37D633B846F1}">
                <asvg:svgBlip xmlns:asvg="http://schemas.microsoft.com/office/drawing/2016/SVG/main" r:embed="rId7"/>
              </a:ext>
            </a:extLst>
          </a:blip>
          <a:stretch/>
        </p:blipFill>
        <p:spPr>
          <a:xfrm>
            <a:off x="3171926" y="2452742"/>
            <a:ext cx="254254" cy="254254"/>
          </a:xfrm>
          <a:prstGeom prst="rect">
            <a:avLst/>
          </a:prstGeom>
        </p:spPr>
      </p:pic>
      <p:sp>
        <p:nvSpPr>
          <p:cNvPr id="16" name="正方形/長方形 15">
            <a:extLst>
              <a:ext uri="{FF2B5EF4-FFF2-40B4-BE49-F238E27FC236}">
                <a16:creationId xmlns:a16="http://schemas.microsoft.com/office/drawing/2014/main" id="{C95D18F9-410C-4710-A55E-0080F25969B1}"/>
              </a:ext>
            </a:extLst>
          </p:cNvPr>
          <p:cNvSpPr>
            <a:spLocks noGrp="1"/>
          </p:cNvSpPr>
          <p:nvPr/>
        </p:nvSpPr>
        <p:spPr>
          <a:xfrm>
            <a:off x="3616870" y="2162166"/>
            <a:ext cx="2043112" cy="926211"/>
          </a:xfrm>
          <a:prstGeom prst="rect">
            <a:avLst/>
          </a:prstGeom>
          <a:solidFill>
            <a:srgbClr val="F7FAFD"/>
          </a:solidFill>
          <a:ln w="14288">
            <a:solidFill>
              <a:srgbClr val="0E3A75"/>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7EB0F6B7-5355-4A79-9410-7C312CBD4937}"/>
              </a:ext>
            </a:extLst>
          </p:cNvPr>
          <p:cNvSpPr>
            <a:spLocks noGrp="1"/>
          </p:cNvSpPr>
          <p:nvPr/>
        </p:nvSpPr>
        <p:spPr>
          <a:xfrm>
            <a:off x="3616870" y="2162166"/>
            <a:ext cx="2043112" cy="54483"/>
          </a:xfrm>
          <a:prstGeom prst="rect">
            <a:avLst/>
          </a:prstGeom>
          <a:solidFill>
            <a:srgbClr val="0E3A75"/>
          </a:solidFill>
          <a:ln w="0">
            <a:solidFill>
              <a:srgbClr val="000000">
                <a:alpha val="0"/>
              </a:srgbClr>
            </a:solidFill>
            <a:prstDash val="solid"/>
          </a:ln>
        </p:spPr>
        <p:txBody>
          <a:bodyPr/>
          <a:lstStyle/>
          <a:p>
            <a:endParaRPr lang="ja-JP" altLang="en-US"/>
          </a:p>
        </p:txBody>
      </p:sp>
      <p:pic>
        <p:nvPicPr>
          <p:cNvPr id="18" name="グラフィックス 17"/>
          <p:cNvPicPr>
            <a:picLocks noChangeAspect="1"/>
          </p:cNvPicPr>
          <p:nvPr/>
        </p:nvPicPr>
        <p:blipFill>
          <a:blip>
            <a:extLst>
              <a:ext uri="{96DAC541-7B7A-43D3-8B79-37D633B846F1}">
                <asvg:svgBlip xmlns:asvg="http://schemas.microsoft.com/office/drawing/2016/SVG/main" r:embed="rId6"/>
              </a:ext>
            </a:extLst>
          </a:blip>
          <a:stretch/>
        </p:blipFill>
        <p:spPr>
          <a:xfrm>
            <a:off x="3762158" y="2361937"/>
            <a:ext cx="290576" cy="290576"/>
          </a:xfrm>
          <a:prstGeom prst="rect">
            <a:avLst/>
          </a:prstGeom>
        </p:spPr>
      </p:pic>
      <p:sp>
        <p:nvSpPr>
          <p:cNvPr id="19" name="正方形/長方形 18">
            <a:extLst>
              <a:ext uri="{FF2B5EF4-FFF2-40B4-BE49-F238E27FC236}">
                <a16:creationId xmlns:a16="http://schemas.microsoft.com/office/drawing/2014/main" id="{F5E0AC2A-42E8-41D3-97D1-6761FB819177}"/>
              </a:ext>
            </a:extLst>
          </p:cNvPr>
          <p:cNvSpPr>
            <a:spLocks noGrp="1"/>
          </p:cNvSpPr>
          <p:nvPr/>
        </p:nvSpPr>
        <p:spPr>
          <a:xfrm>
            <a:off x="4125378" y="2352856"/>
            <a:ext cx="1407477"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0E3A75"/>
                </a:solidFill>
                <a:latin typeface="Aptos"/>
                <a:ea typeface="Aptos"/>
                <a:cs typeface="Aptos"/>
              </a:defRPr>
            </a:pPr>
            <a:r>
              <a:rPr sz="1329" b="1">
                <a:solidFill>
                  <a:srgbClr val="0E3A75"/>
                </a:solidFill>
                <a:latin typeface="Aptos"/>
                <a:ea typeface="Aptos"/>
                <a:cs typeface="Aptos"/>
              </a:rPr>
              <a:t>begin_node</a:t>
            </a:r>
          </a:p>
        </p:txBody>
      </p:sp>
      <p:sp>
        <p:nvSpPr>
          <p:cNvPr id="20" name="正方形/長方形 19">
            <a:extLst>
              <a:ext uri="{FF2B5EF4-FFF2-40B4-BE49-F238E27FC236}">
                <a16:creationId xmlns:a16="http://schemas.microsoft.com/office/drawing/2014/main" id="{52448D19-5963-479F-9C3B-70494BBF4377}"/>
              </a:ext>
            </a:extLst>
          </p:cNvPr>
          <p:cNvSpPr>
            <a:spLocks noGrp="1"/>
          </p:cNvSpPr>
          <p:nvPr/>
        </p:nvSpPr>
        <p:spPr>
          <a:xfrm>
            <a:off x="3780319" y="2688835"/>
            <a:ext cx="1716214"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status: running</a:t>
            </a:r>
          </a:p>
          <a:p>
            <a:pPr algn="l">
              <a:defRPr sz="972" b="0">
                <a:solidFill>
                  <a:srgbClr val="5B6573"/>
                </a:solidFill>
                <a:latin typeface="Aptos"/>
                <a:ea typeface="Aptos"/>
                <a:cs typeface="Aptos"/>
              </a:defRPr>
            </a:pPr>
            <a:r>
              <a:rPr sz="972" b="0">
                <a:solidFill>
                  <a:srgbClr val="5B6573"/>
                </a:solidFill>
                <a:latin typeface="Aptos"/>
                <a:ea typeface="Aptos"/>
                <a:cs typeface="Aptos"/>
              </a:rPr>
              <a:t>write tool_started</a:t>
            </a:r>
          </a:p>
        </p:txBody>
      </p:sp>
      <p:sp>
        <p:nvSpPr>
          <p:cNvPr id="21" name="正方形/長方形 20">
            <a:extLst>
              <a:ext uri="{FF2B5EF4-FFF2-40B4-BE49-F238E27FC236}">
                <a16:creationId xmlns:a16="http://schemas.microsoft.com/office/drawing/2014/main" id="{A303442C-78F0-4701-8A81-D83044AE7F42}"/>
              </a:ext>
            </a:extLst>
          </p:cNvPr>
          <p:cNvSpPr>
            <a:spLocks noGrp="1"/>
          </p:cNvSpPr>
          <p:nvPr/>
        </p:nvSpPr>
        <p:spPr>
          <a:xfrm>
            <a:off x="5669063" y="2575329"/>
            <a:ext cx="562991" cy="27241"/>
          </a:xfrm>
          <a:prstGeom prst="rect">
            <a:avLst/>
          </a:prstGeom>
          <a:solidFill>
            <a:srgbClr val="D4DAE2"/>
          </a:solidFill>
          <a:ln w="0">
            <a:solidFill>
              <a:srgbClr val="000000">
                <a:alpha val="0"/>
              </a:srgbClr>
            </a:solidFill>
            <a:prstDash val="solid"/>
          </a:ln>
        </p:spPr>
        <p:txBody>
          <a:bodyPr/>
          <a:lstStyle/>
          <a:p>
            <a:endParaRPr lang="ja-JP" altLang="en-US"/>
          </a:p>
        </p:txBody>
      </p:sp>
      <p:pic>
        <p:nvPicPr>
          <p:cNvPr id="22" name="グラフィックス 21"/>
          <p:cNvPicPr>
            <a:picLocks noChangeAspect="1"/>
          </p:cNvPicPr>
          <p:nvPr/>
        </p:nvPicPr>
        <p:blipFill>
          <a:blip>
            <a:extLst>
              <a:ext uri="{96DAC541-7B7A-43D3-8B79-37D633B846F1}">
                <asvg:svgBlip xmlns:asvg="http://schemas.microsoft.com/office/drawing/2016/SVG/main" r:embed="rId7"/>
              </a:ext>
            </a:extLst>
          </a:blip>
          <a:stretch/>
        </p:blipFill>
        <p:spPr>
          <a:xfrm>
            <a:off x="5850673" y="2452742"/>
            <a:ext cx="254254" cy="254254"/>
          </a:xfrm>
          <a:prstGeom prst="rect">
            <a:avLst/>
          </a:prstGeom>
        </p:spPr>
      </p:pic>
      <p:sp>
        <p:nvSpPr>
          <p:cNvPr id="23" name="正方形/長方形 22">
            <a:extLst>
              <a:ext uri="{FF2B5EF4-FFF2-40B4-BE49-F238E27FC236}">
                <a16:creationId xmlns:a16="http://schemas.microsoft.com/office/drawing/2014/main" id="{72A09379-61C1-43D2-AA25-0322CAD68F69}"/>
              </a:ext>
            </a:extLst>
          </p:cNvPr>
          <p:cNvSpPr>
            <a:spLocks noGrp="1"/>
          </p:cNvSpPr>
          <p:nvPr/>
        </p:nvSpPr>
        <p:spPr>
          <a:xfrm>
            <a:off x="6295618" y="2162166"/>
            <a:ext cx="2043112" cy="926211"/>
          </a:xfrm>
          <a:prstGeom prst="rect">
            <a:avLst/>
          </a:prstGeom>
          <a:solidFill>
            <a:srgbClr val="F7FBF8"/>
          </a:solidFill>
          <a:ln w="14288">
            <a:solidFill>
              <a:srgbClr val="2D6D4B"/>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CBBACCDF-F70E-4318-A7DF-607077F9CB9B}"/>
              </a:ext>
            </a:extLst>
          </p:cNvPr>
          <p:cNvSpPr>
            <a:spLocks noGrp="1"/>
          </p:cNvSpPr>
          <p:nvPr/>
        </p:nvSpPr>
        <p:spPr>
          <a:xfrm>
            <a:off x="6295618" y="2162166"/>
            <a:ext cx="2043112" cy="54483"/>
          </a:xfrm>
          <a:prstGeom prst="rect">
            <a:avLst/>
          </a:prstGeom>
          <a:solidFill>
            <a:srgbClr val="2D6D4B"/>
          </a:solidFill>
          <a:ln w="0">
            <a:solidFill>
              <a:srgbClr val="000000">
                <a:alpha val="0"/>
              </a:srgbClr>
            </a:solidFill>
            <a:prstDash val="solid"/>
          </a:ln>
        </p:spPr>
        <p:txBody>
          <a:bodyPr/>
          <a:lstStyle/>
          <a:p>
            <a:endParaRPr lang="ja-JP" altLang="en-US"/>
          </a:p>
        </p:txBody>
      </p:sp>
      <p:pic>
        <p:nvPicPr>
          <p:cNvPr id="25" name="グラフィックス 24"/>
          <p:cNvPicPr>
            <a:picLocks noChangeAspect="1"/>
          </p:cNvPicPr>
          <p:nvPr/>
        </p:nvPicPr>
        <p:blipFill>
          <a:blip>
            <a:extLst>
              <a:ext uri="{96DAC541-7B7A-43D3-8B79-37D633B846F1}">
                <asvg:svgBlip xmlns:asvg="http://schemas.microsoft.com/office/drawing/2016/SVG/main" r:embed="rId5"/>
              </a:ext>
            </a:extLst>
          </a:blip>
          <a:stretch/>
        </p:blipFill>
        <p:spPr>
          <a:xfrm>
            <a:off x="6440906" y="2361937"/>
            <a:ext cx="290576" cy="290576"/>
          </a:xfrm>
          <a:prstGeom prst="rect">
            <a:avLst/>
          </a:prstGeom>
        </p:spPr>
      </p:pic>
      <p:sp>
        <p:nvSpPr>
          <p:cNvPr id="26" name="正方形/長方形 25">
            <a:extLst>
              <a:ext uri="{FF2B5EF4-FFF2-40B4-BE49-F238E27FC236}">
                <a16:creationId xmlns:a16="http://schemas.microsoft.com/office/drawing/2014/main" id="{5908F322-F157-4567-A7EB-DC8C5E8CA25C}"/>
              </a:ext>
            </a:extLst>
          </p:cNvPr>
          <p:cNvSpPr>
            <a:spLocks noGrp="1"/>
          </p:cNvSpPr>
          <p:nvPr/>
        </p:nvSpPr>
        <p:spPr>
          <a:xfrm>
            <a:off x="6804126" y="2352856"/>
            <a:ext cx="1407477"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2D6D4B"/>
                </a:solidFill>
                <a:latin typeface="Aptos"/>
                <a:ea typeface="Aptos"/>
                <a:cs typeface="Aptos"/>
              </a:defRPr>
            </a:pPr>
            <a:r>
              <a:rPr sz="1329" b="1">
                <a:solidFill>
                  <a:srgbClr val="2D6D4B"/>
                </a:solidFill>
                <a:latin typeface="Aptos"/>
                <a:ea typeface="Aptos"/>
                <a:cs typeface="Aptos"/>
              </a:rPr>
              <a:t>complete_node</a:t>
            </a:r>
          </a:p>
        </p:txBody>
      </p:sp>
      <p:sp>
        <p:nvSpPr>
          <p:cNvPr id="27" name="正方形/長方形 26">
            <a:extLst>
              <a:ext uri="{FF2B5EF4-FFF2-40B4-BE49-F238E27FC236}">
                <a16:creationId xmlns:a16="http://schemas.microsoft.com/office/drawing/2014/main" id="{7E371914-52E6-4FFB-9776-222EFCC500F2}"/>
              </a:ext>
            </a:extLst>
          </p:cNvPr>
          <p:cNvSpPr>
            <a:spLocks noGrp="1"/>
          </p:cNvSpPr>
          <p:nvPr/>
        </p:nvSpPr>
        <p:spPr>
          <a:xfrm>
            <a:off x="6459067" y="2688835"/>
            <a:ext cx="1716214"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register output files</a:t>
            </a:r>
          </a:p>
          <a:p>
            <a:pPr algn="l">
              <a:defRPr sz="972" b="0">
                <a:solidFill>
                  <a:srgbClr val="5B6573"/>
                </a:solidFill>
                <a:latin typeface="Aptos"/>
                <a:ea typeface="Aptos"/>
                <a:cs typeface="Aptos"/>
              </a:defRPr>
            </a:pPr>
            <a:r>
              <a:rPr sz="972" b="0">
                <a:solidFill>
                  <a:srgbClr val="5B6573"/>
                </a:solidFill>
                <a:latin typeface="Aptos"/>
                <a:ea typeface="Aptos"/>
                <a:cs typeface="Aptos"/>
              </a:rPr>
              <a:t>status: completed</a:t>
            </a:r>
          </a:p>
        </p:txBody>
      </p:sp>
      <p:sp>
        <p:nvSpPr>
          <p:cNvPr id="28" name="正方形/長方形 27">
            <a:extLst>
              <a:ext uri="{FF2B5EF4-FFF2-40B4-BE49-F238E27FC236}">
                <a16:creationId xmlns:a16="http://schemas.microsoft.com/office/drawing/2014/main" id="{E97180A5-12CB-4C0A-AA33-D62BAB1100B0}"/>
              </a:ext>
            </a:extLst>
          </p:cNvPr>
          <p:cNvSpPr>
            <a:spLocks noGrp="1"/>
          </p:cNvSpPr>
          <p:nvPr/>
        </p:nvSpPr>
        <p:spPr>
          <a:xfrm>
            <a:off x="8347811" y="2575329"/>
            <a:ext cx="562991" cy="27241"/>
          </a:xfrm>
          <a:prstGeom prst="rect">
            <a:avLst/>
          </a:prstGeom>
          <a:solidFill>
            <a:srgbClr val="D4DAE2"/>
          </a:solidFill>
          <a:ln w="0">
            <a:solidFill>
              <a:srgbClr val="000000">
                <a:alpha val="0"/>
              </a:srgbClr>
            </a:solidFill>
            <a:prstDash val="solid"/>
          </a:ln>
        </p:spPr>
        <p:txBody>
          <a:bodyPr/>
          <a:lstStyle/>
          <a:p>
            <a:endParaRPr lang="ja-JP" altLang="en-US"/>
          </a:p>
        </p:txBody>
      </p:sp>
      <p:pic>
        <p:nvPicPr>
          <p:cNvPr id="29" name="グラフィックス 28"/>
          <p:cNvPicPr>
            <a:picLocks noChangeAspect="1"/>
          </p:cNvPicPr>
          <p:nvPr/>
        </p:nvPicPr>
        <p:blipFill>
          <a:blip>
            <a:extLst>
              <a:ext uri="{96DAC541-7B7A-43D3-8B79-37D633B846F1}">
                <asvg:svgBlip xmlns:asvg="http://schemas.microsoft.com/office/drawing/2016/SVG/main" r:embed="rId7"/>
              </a:ext>
            </a:extLst>
          </a:blip>
          <a:stretch/>
        </p:blipFill>
        <p:spPr>
          <a:xfrm>
            <a:off x="8529421" y="2452742"/>
            <a:ext cx="254254" cy="254254"/>
          </a:xfrm>
          <a:prstGeom prst="rect">
            <a:avLst/>
          </a:prstGeom>
        </p:spPr>
      </p:pic>
      <p:sp>
        <p:nvSpPr>
          <p:cNvPr id="30" name="正方形/長方形 29">
            <a:extLst>
              <a:ext uri="{FF2B5EF4-FFF2-40B4-BE49-F238E27FC236}">
                <a16:creationId xmlns:a16="http://schemas.microsoft.com/office/drawing/2014/main" id="{BEED1FDF-CB08-46D9-8122-7848C1DC1736}"/>
              </a:ext>
            </a:extLst>
          </p:cNvPr>
          <p:cNvSpPr>
            <a:spLocks noGrp="1"/>
          </p:cNvSpPr>
          <p:nvPr/>
        </p:nvSpPr>
        <p:spPr>
          <a:xfrm>
            <a:off x="8974365" y="2162166"/>
            <a:ext cx="2043112" cy="926211"/>
          </a:xfrm>
          <a:prstGeom prst="rect">
            <a:avLst/>
          </a:prstGeom>
          <a:solidFill>
            <a:srgbClr val="FCF7F6"/>
          </a:solidFill>
          <a:ln w="14288">
            <a:solidFill>
              <a:srgbClr val="9F423A"/>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CFF095CD-511F-4E10-BEAD-2D998D5BC27B}"/>
              </a:ext>
            </a:extLst>
          </p:cNvPr>
          <p:cNvSpPr>
            <a:spLocks noGrp="1"/>
          </p:cNvSpPr>
          <p:nvPr/>
        </p:nvSpPr>
        <p:spPr>
          <a:xfrm>
            <a:off x="8974365" y="2162166"/>
            <a:ext cx="2043112" cy="54483"/>
          </a:xfrm>
          <a:prstGeom prst="rect">
            <a:avLst/>
          </a:prstGeom>
          <a:solidFill>
            <a:srgbClr val="9F423A"/>
          </a:solidFill>
          <a:ln w="0">
            <a:solidFill>
              <a:srgbClr val="000000">
                <a:alpha val="0"/>
              </a:srgbClr>
            </a:solidFill>
            <a:prstDash val="solid"/>
          </a:ln>
        </p:spPr>
        <p:txBody>
          <a:bodyPr/>
          <a:lstStyle/>
          <a:p>
            <a:endParaRPr lang="ja-JP" altLang="en-US"/>
          </a:p>
        </p:txBody>
      </p:sp>
      <p:pic>
        <p:nvPicPr>
          <p:cNvPr id="32" name="グラフィックス 31"/>
          <p:cNvPicPr>
            <a:picLocks noChangeAspect="1"/>
          </p:cNvPicPr>
          <p:nvPr/>
        </p:nvPicPr>
        <p:blipFill>
          <a:blip>
            <a:extLst>
              <a:ext uri="{96DAC541-7B7A-43D3-8B79-37D633B846F1}">
                <asvg:svgBlip xmlns:asvg="http://schemas.microsoft.com/office/drawing/2016/SVG/main" r:embed="rId4"/>
              </a:ext>
            </a:extLst>
          </a:blip>
          <a:stretch/>
        </p:blipFill>
        <p:spPr>
          <a:xfrm>
            <a:off x="9119653" y="2361937"/>
            <a:ext cx="290576" cy="290576"/>
          </a:xfrm>
          <a:prstGeom prst="rect">
            <a:avLst/>
          </a:prstGeom>
        </p:spPr>
      </p:pic>
      <p:sp>
        <p:nvSpPr>
          <p:cNvPr id="33" name="正方形/長方形 32">
            <a:extLst>
              <a:ext uri="{FF2B5EF4-FFF2-40B4-BE49-F238E27FC236}">
                <a16:creationId xmlns:a16="http://schemas.microsoft.com/office/drawing/2014/main" id="{C9048C51-5EAB-4186-869E-F9CF25A8609E}"/>
              </a:ext>
            </a:extLst>
          </p:cNvPr>
          <p:cNvSpPr>
            <a:spLocks noGrp="1"/>
          </p:cNvSpPr>
          <p:nvPr/>
        </p:nvSpPr>
        <p:spPr>
          <a:xfrm>
            <a:off x="9482873" y="2352856"/>
            <a:ext cx="1407477"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9F423A"/>
                </a:solidFill>
                <a:latin typeface="Aptos"/>
                <a:ea typeface="Aptos"/>
                <a:cs typeface="Aptos"/>
              </a:defRPr>
            </a:pPr>
            <a:r>
              <a:rPr sz="1329" b="1">
                <a:solidFill>
                  <a:srgbClr val="9F423A"/>
                </a:solidFill>
                <a:latin typeface="Aptos"/>
                <a:ea typeface="Aptos"/>
                <a:cs typeface="Aptos"/>
              </a:rPr>
              <a:t>fail_node</a:t>
            </a:r>
          </a:p>
        </p:txBody>
      </p:sp>
      <p:sp>
        <p:nvSpPr>
          <p:cNvPr id="34" name="正方形/長方形 33">
            <a:extLst>
              <a:ext uri="{FF2B5EF4-FFF2-40B4-BE49-F238E27FC236}">
                <a16:creationId xmlns:a16="http://schemas.microsoft.com/office/drawing/2014/main" id="{E98C98B7-4F8C-45AF-9531-37CDF894658F}"/>
              </a:ext>
            </a:extLst>
          </p:cNvPr>
          <p:cNvSpPr>
            <a:spLocks noGrp="1"/>
          </p:cNvSpPr>
          <p:nvPr/>
        </p:nvSpPr>
        <p:spPr>
          <a:xfrm>
            <a:off x="9137814" y="2688835"/>
            <a:ext cx="1716214"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record structured errors</a:t>
            </a:r>
          </a:p>
          <a:p>
            <a:pPr algn="l">
              <a:defRPr sz="972" b="0">
                <a:solidFill>
                  <a:srgbClr val="5B6573"/>
                </a:solidFill>
                <a:latin typeface="Aptos"/>
                <a:ea typeface="Aptos"/>
                <a:cs typeface="Aptos"/>
              </a:defRPr>
            </a:pPr>
            <a:r>
              <a:rPr sz="972" b="0">
                <a:solidFill>
                  <a:srgbClr val="5B6573"/>
                </a:solidFill>
                <a:latin typeface="Aptos"/>
                <a:ea typeface="Aptos"/>
                <a:cs typeface="Aptos"/>
              </a:rPr>
              <a:t>status: failed</a:t>
            </a:r>
          </a:p>
        </p:txBody>
      </p:sp>
      <p:sp>
        <p:nvSpPr>
          <p:cNvPr id="35" name="正方形/長方形 34">
            <a:extLst>
              <a:ext uri="{FF2B5EF4-FFF2-40B4-BE49-F238E27FC236}">
                <a16:creationId xmlns:a16="http://schemas.microsoft.com/office/drawing/2014/main" id="{773D7C9B-5D8C-4EDA-8083-71EF80C0D245}"/>
              </a:ext>
            </a:extLst>
          </p:cNvPr>
          <p:cNvSpPr>
            <a:spLocks noGrp="1"/>
          </p:cNvSpPr>
          <p:nvPr/>
        </p:nvSpPr>
        <p:spPr>
          <a:xfrm>
            <a:off x="1228699" y="3814817"/>
            <a:ext cx="4649216" cy="1198626"/>
          </a:xfrm>
          <a:prstGeom prst="rect">
            <a:avLst/>
          </a:prstGeom>
          <a:solidFill>
            <a:srgbClr val="F7FBF8"/>
          </a:solidFill>
          <a:ln w="13335">
            <a:solidFill>
              <a:srgbClr val="D4DAE2"/>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D22D6ACD-1B43-4947-BC19-E15D82B1CB79}"/>
              </a:ext>
            </a:extLst>
          </p:cNvPr>
          <p:cNvSpPr>
            <a:spLocks noGrp="1"/>
          </p:cNvSpPr>
          <p:nvPr/>
        </p:nvSpPr>
        <p:spPr>
          <a:xfrm>
            <a:off x="1228699" y="3814817"/>
            <a:ext cx="4649216"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37" name="正方形/長方形 36">
            <a:extLst>
              <a:ext uri="{FF2B5EF4-FFF2-40B4-BE49-F238E27FC236}">
                <a16:creationId xmlns:a16="http://schemas.microsoft.com/office/drawing/2014/main" id="{4E47987F-1E95-4C68-9A74-CC555F8F95A8}"/>
              </a:ext>
            </a:extLst>
          </p:cNvPr>
          <p:cNvSpPr>
            <a:spLocks noGrp="1"/>
          </p:cNvSpPr>
          <p:nvPr/>
        </p:nvSpPr>
        <p:spPr>
          <a:xfrm>
            <a:off x="1392148" y="4014588"/>
            <a:ext cx="4322318"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2D6D4B"/>
                </a:solidFill>
                <a:latin typeface="Aptos"/>
                <a:ea typeface="Aptos"/>
                <a:cs typeface="Aptos"/>
              </a:defRPr>
            </a:pPr>
            <a:r>
              <a:rPr sz="1466" b="1">
                <a:solidFill>
                  <a:srgbClr val="2D6D4B"/>
                </a:solidFill>
                <a:latin typeface="Aptos"/>
                <a:ea typeface="Aptos"/>
                <a:cs typeface="Aptos"/>
              </a:rPr>
              <a:t>Sealing rule</a:t>
            </a:r>
          </a:p>
        </p:txBody>
      </p:sp>
      <p:sp>
        <p:nvSpPr>
          <p:cNvPr id="38" name="正方形/長方形 37">
            <a:extLst>
              <a:ext uri="{FF2B5EF4-FFF2-40B4-BE49-F238E27FC236}">
                <a16:creationId xmlns:a16="http://schemas.microsoft.com/office/drawing/2014/main" id="{B63544C7-7229-4BCF-97DF-DA6AF5097C1D}"/>
              </a:ext>
            </a:extLst>
          </p:cNvPr>
          <p:cNvSpPr>
            <a:spLocks noGrp="1"/>
          </p:cNvSpPr>
          <p:nvPr/>
        </p:nvSpPr>
        <p:spPr>
          <a:xfrm>
            <a:off x="1410309" y="4477693"/>
            <a:ext cx="63563"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39" name="正方形/長方形 38">
            <a:extLst>
              <a:ext uri="{FF2B5EF4-FFF2-40B4-BE49-F238E27FC236}">
                <a16:creationId xmlns:a16="http://schemas.microsoft.com/office/drawing/2014/main" id="{4B60B476-3163-40FE-A209-895659A8DBFE}"/>
              </a:ext>
            </a:extLst>
          </p:cNvPr>
          <p:cNvSpPr>
            <a:spLocks noGrp="1"/>
          </p:cNvSpPr>
          <p:nvPr/>
        </p:nvSpPr>
        <p:spPr>
          <a:xfrm>
            <a:off x="1555597" y="4395969"/>
            <a:ext cx="4177030"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5B6573"/>
                </a:solidFill>
                <a:latin typeface="Aptos"/>
                <a:ea typeface="Aptos"/>
                <a:cs typeface="Aptos"/>
              </a:defRPr>
            </a:pPr>
            <a:r>
              <a:rPr sz="1215" b="0">
                <a:solidFill>
                  <a:srgbClr val="5B6573"/>
                </a:solidFill>
                <a:latin typeface="Aptos"/>
                <a:ea typeface="Aptos"/>
                <a:cs typeface="Aptos"/>
              </a:rPr>
              <a:t>Completed node.json records are scientific evidence records.</a:t>
            </a:r>
          </a:p>
        </p:txBody>
      </p:sp>
      <p:sp>
        <p:nvSpPr>
          <p:cNvPr id="40" name="正方形/長方形 39">
            <a:extLst>
              <a:ext uri="{FF2B5EF4-FFF2-40B4-BE49-F238E27FC236}">
                <a16:creationId xmlns:a16="http://schemas.microsoft.com/office/drawing/2014/main" id="{9AFDA33A-698E-4912-9069-76F078AF2366}"/>
              </a:ext>
            </a:extLst>
          </p:cNvPr>
          <p:cNvSpPr>
            <a:spLocks noGrp="1"/>
          </p:cNvSpPr>
          <p:nvPr/>
        </p:nvSpPr>
        <p:spPr>
          <a:xfrm>
            <a:off x="1410309" y="4859074"/>
            <a:ext cx="63563"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41" name="正方形/長方形 40">
            <a:extLst>
              <a:ext uri="{FF2B5EF4-FFF2-40B4-BE49-F238E27FC236}">
                <a16:creationId xmlns:a16="http://schemas.microsoft.com/office/drawing/2014/main" id="{905444CA-21EA-44EC-8F92-62D15049A8A8}"/>
              </a:ext>
            </a:extLst>
          </p:cNvPr>
          <p:cNvSpPr>
            <a:spLocks noGrp="1"/>
          </p:cNvSpPr>
          <p:nvPr/>
        </p:nvSpPr>
        <p:spPr>
          <a:xfrm>
            <a:off x="1555597" y="4777350"/>
            <a:ext cx="4177030"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5B6573"/>
                </a:solidFill>
                <a:latin typeface="Aptos"/>
                <a:ea typeface="Aptos"/>
                <a:cs typeface="Aptos"/>
              </a:defRPr>
            </a:pPr>
            <a:r>
              <a:rPr sz="1215" b="0">
                <a:solidFill>
                  <a:srgbClr val="5B6573"/>
                </a:solidFill>
                <a:latin typeface="Aptos"/>
                <a:ea typeface="Aptos"/>
                <a:cs typeface="Aptos"/>
              </a:rPr>
              <a:t>Post-completion observations go to append-only events.</a:t>
            </a:r>
          </a:p>
        </p:txBody>
      </p:sp>
      <p:sp>
        <p:nvSpPr>
          <p:cNvPr id="42" name="正方形/長方形 41">
            <a:extLst>
              <a:ext uri="{FF2B5EF4-FFF2-40B4-BE49-F238E27FC236}">
                <a16:creationId xmlns:a16="http://schemas.microsoft.com/office/drawing/2014/main" id="{E8143E14-817F-44F8-897F-8112AD329BD3}"/>
              </a:ext>
            </a:extLst>
          </p:cNvPr>
          <p:cNvSpPr>
            <a:spLocks noGrp="1"/>
          </p:cNvSpPr>
          <p:nvPr/>
        </p:nvSpPr>
        <p:spPr>
          <a:xfrm>
            <a:off x="6404584" y="3814817"/>
            <a:ext cx="4649216" cy="1198626"/>
          </a:xfrm>
          <a:prstGeom prst="rect">
            <a:avLst/>
          </a:prstGeom>
          <a:solidFill>
            <a:srgbClr val="FCFAF2"/>
          </a:solidFill>
          <a:ln w="13335">
            <a:solidFill>
              <a:srgbClr val="D4DAE2"/>
            </a:solidFill>
            <a:prstDash val="solid"/>
          </a:ln>
        </p:spPr>
        <p:txBody>
          <a:bodyPr/>
          <a:lstStyle/>
          <a:p>
            <a:endParaRPr lang="ja-JP" altLang="en-US"/>
          </a:p>
        </p:txBody>
      </p:sp>
      <p:sp>
        <p:nvSpPr>
          <p:cNvPr id="43" name="正方形/長方形 42">
            <a:extLst>
              <a:ext uri="{FF2B5EF4-FFF2-40B4-BE49-F238E27FC236}">
                <a16:creationId xmlns:a16="http://schemas.microsoft.com/office/drawing/2014/main" id="{523C36D9-B960-4F8E-B47D-FB3C54458044}"/>
              </a:ext>
            </a:extLst>
          </p:cNvPr>
          <p:cNvSpPr>
            <a:spLocks noGrp="1"/>
          </p:cNvSpPr>
          <p:nvPr/>
        </p:nvSpPr>
        <p:spPr>
          <a:xfrm>
            <a:off x="6404584" y="3814817"/>
            <a:ext cx="4649216" cy="63563"/>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44" name="正方形/長方形 43">
            <a:extLst>
              <a:ext uri="{FF2B5EF4-FFF2-40B4-BE49-F238E27FC236}">
                <a16:creationId xmlns:a16="http://schemas.microsoft.com/office/drawing/2014/main" id="{2E89939E-1A2C-44C9-9CCB-9E89DA83D3C1}"/>
              </a:ext>
            </a:extLst>
          </p:cNvPr>
          <p:cNvSpPr>
            <a:spLocks noGrp="1"/>
          </p:cNvSpPr>
          <p:nvPr/>
        </p:nvSpPr>
        <p:spPr>
          <a:xfrm>
            <a:off x="6568033" y="4014588"/>
            <a:ext cx="4322318"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A66A00"/>
                </a:solidFill>
                <a:latin typeface="Aptos"/>
                <a:ea typeface="Aptos"/>
                <a:cs typeface="Aptos"/>
              </a:defRPr>
            </a:pPr>
            <a:r>
              <a:rPr sz="1466" b="1">
                <a:solidFill>
                  <a:srgbClr val="A66A00"/>
                </a:solidFill>
                <a:latin typeface="Aptos"/>
                <a:ea typeface="Aptos"/>
                <a:cs typeface="Aptos"/>
              </a:rPr>
              <a:t>Retry rule</a:t>
            </a:r>
          </a:p>
        </p:txBody>
      </p:sp>
      <p:sp>
        <p:nvSpPr>
          <p:cNvPr id="45" name="正方形/長方形 44">
            <a:extLst>
              <a:ext uri="{FF2B5EF4-FFF2-40B4-BE49-F238E27FC236}">
                <a16:creationId xmlns:a16="http://schemas.microsoft.com/office/drawing/2014/main" id="{1EFA9E01-C993-4D18-B853-AF96FBE4BEFA}"/>
              </a:ext>
            </a:extLst>
          </p:cNvPr>
          <p:cNvSpPr>
            <a:spLocks noGrp="1"/>
          </p:cNvSpPr>
          <p:nvPr/>
        </p:nvSpPr>
        <p:spPr>
          <a:xfrm>
            <a:off x="6586194" y="4477693"/>
            <a:ext cx="63563" cy="63563"/>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46" name="正方形/長方形 45">
            <a:extLst>
              <a:ext uri="{FF2B5EF4-FFF2-40B4-BE49-F238E27FC236}">
                <a16:creationId xmlns:a16="http://schemas.microsoft.com/office/drawing/2014/main" id="{359B38BD-5B21-4DA7-A032-9894EF1B5A2D}"/>
              </a:ext>
            </a:extLst>
          </p:cNvPr>
          <p:cNvSpPr>
            <a:spLocks noGrp="1"/>
          </p:cNvSpPr>
          <p:nvPr/>
        </p:nvSpPr>
        <p:spPr>
          <a:xfrm>
            <a:off x="6731482" y="4395969"/>
            <a:ext cx="4177030"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5B6573"/>
                </a:solidFill>
                <a:latin typeface="Aptos"/>
                <a:ea typeface="Aptos"/>
                <a:cs typeface="Aptos"/>
              </a:defRPr>
            </a:pPr>
            <a:r>
              <a:rPr sz="1215" b="0">
                <a:solidFill>
                  <a:srgbClr val="5B6573"/>
                </a:solidFill>
                <a:latin typeface="Aptos"/>
                <a:ea typeface="Aptos"/>
                <a:cs typeface="Aptos"/>
              </a:rPr>
              <a:t>Same conditions can retry the same node as a new Attempt.</a:t>
            </a:r>
          </a:p>
        </p:txBody>
      </p:sp>
      <p:sp>
        <p:nvSpPr>
          <p:cNvPr id="47" name="正方形/長方形 46">
            <a:extLst>
              <a:ext uri="{FF2B5EF4-FFF2-40B4-BE49-F238E27FC236}">
                <a16:creationId xmlns:a16="http://schemas.microsoft.com/office/drawing/2014/main" id="{16636E13-F2BE-4720-8AB4-A5F99DB8C4AE}"/>
              </a:ext>
            </a:extLst>
          </p:cNvPr>
          <p:cNvSpPr>
            <a:spLocks noGrp="1"/>
          </p:cNvSpPr>
          <p:nvPr/>
        </p:nvSpPr>
        <p:spPr>
          <a:xfrm>
            <a:off x="6586194" y="4859074"/>
            <a:ext cx="63563" cy="63563"/>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48" name="正方形/長方形 47">
            <a:extLst>
              <a:ext uri="{FF2B5EF4-FFF2-40B4-BE49-F238E27FC236}">
                <a16:creationId xmlns:a16="http://schemas.microsoft.com/office/drawing/2014/main" id="{924FA857-3013-4760-AD5D-D56189240F0C}"/>
              </a:ext>
            </a:extLst>
          </p:cNvPr>
          <p:cNvSpPr>
            <a:spLocks noGrp="1"/>
          </p:cNvSpPr>
          <p:nvPr/>
        </p:nvSpPr>
        <p:spPr>
          <a:xfrm>
            <a:off x="6731482" y="4777350"/>
            <a:ext cx="4177030"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5B6573"/>
                </a:solidFill>
                <a:latin typeface="Aptos"/>
                <a:ea typeface="Aptos"/>
                <a:cs typeface="Aptos"/>
              </a:defRPr>
            </a:pPr>
            <a:r>
              <a:rPr sz="1215" b="0">
                <a:solidFill>
                  <a:srgbClr val="5B6573"/>
                </a:solidFill>
                <a:latin typeface="Aptos"/>
                <a:ea typeface="Aptos"/>
                <a:cs typeface="Aptos"/>
              </a:rPr>
              <a:t>Changed conditions require a new node or branch.</a:t>
            </a:r>
          </a:p>
        </p:txBody>
      </p:sp>
      <p:sp>
        <p:nvSpPr>
          <p:cNvPr id="49" name="TextBox 4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06E97C71-44E9-4570-8422-63D336BDE44E}"/>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539216C4-C71E-43A8-8AE9-A4F12F332161}"/>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EDFC4CEC-4F6C-4F8D-9D94-8F4B67229BE0}"/>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91272E5-49F4-49C1-A6E1-EEEF02B1F06F}"/>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DATA MODEL</a:t>
            </a:r>
          </a:p>
        </p:txBody>
      </p:sp>
      <p:sp>
        <p:nvSpPr>
          <p:cNvPr id="6" name="正方形/長方形 5">
            <a:extLst>
              <a:ext uri="{FF2B5EF4-FFF2-40B4-BE49-F238E27FC236}">
                <a16:creationId xmlns:a16="http://schemas.microsoft.com/office/drawing/2014/main" id="{31F20F20-6645-436A-AAC3-5B53FF224104}"/>
              </a:ext>
            </a:extLst>
          </p:cNvPr>
          <p:cNvSpPr>
            <a:spLocks noGrp="1"/>
          </p:cNvSpPr>
          <p:nvPr/>
        </p:nvSpPr>
        <p:spPr>
          <a:xfrm>
            <a:off x="720191" y="799465"/>
            <a:ext cx="889889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sz="2538" b="1">
                <a:solidFill>
                  <a:srgbClr val="172033"/>
                </a:solidFill>
                <a:latin typeface="Aptos Display"/>
                <a:ea typeface="Aptos Display"/>
                <a:cs typeface="Aptos Display"/>
              </a:rPr>
              <a:t>These names keep the scientific question separate from the run details.</a:t>
            </a:r>
          </a:p>
        </p:txBody>
      </p:sp>
      <p:sp>
        <p:nvSpPr>
          <p:cNvPr id="9" name="正方形/長方形 8">
            <a:extLst>
              <a:ext uri="{FF2B5EF4-FFF2-40B4-BE49-F238E27FC236}">
                <a16:creationId xmlns:a16="http://schemas.microsoft.com/office/drawing/2014/main" id="{2698EE90-1C77-4363-8176-59750DC5FBC5}"/>
              </a:ext>
            </a:extLst>
          </p:cNvPr>
          <p:cNvSpPr>
            <a:spLocks noGrp="1"/>
          </p:cNvSpPr>
          <p:nvPr/>
        </p:nvSpPr>
        <p:spPr>
          <a:xfrm>
            <a:off x="974445" y="2015938"/>
            <a:ext cx="2197481" cy="3087370"/>
          </a:xfrm>
          <a:prstGeom prst="rect">
            <a:avLst/>
          </a:prstGeom>
          <a:solidFill>
            <a:srgbClr val="F8F7FC"/>
          </a:solidFill>
          <a:ln w="13335">
            <a:solidFill>
              <a:srgbClr val="D4DAE2"/>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61364717-4B7F-4BBD-9F96-081E03753F3B}"/>
              </a:ext>
            </a:extLst>
          </p:cNvPr>
          <p:cNvSpPr>
            <a:spLocks noGrp="1"/>
          </p:cNvSpPr>
          <p:nvPr/>
        </p:nvSpPr>
        <p:spPr>
          <a:xfrm>
            <a:off x="974445" y="2015938"/>
            <a:ext cx="2197481"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C204AA89-48B7-4F82-A9DD-695A1B5182F0}"/>
              </a:ext>
            </a:extLst>
          </p:cNvPr>
          <p:cNvSpPr>
            <a:spLocks noGrp="1"/>
          </p:cNvSpPr>
          <p:nvPr/>
        </p:nvSpPr>
        <p:spPr>
          <a:xfrm>
            <a:off x="1137894" y="2215709"/>
            <a:ext cx="1870583"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87" b="1">
                <a:solidFill>
                  <a:srgbClr val="4D4B7D"/>
                </a:solidFill>
                <a:latin typeface="Aptos"/>
                <a:ea typeface="Aptos"/>
                <a:cs typeface="Aptos"/>
              </a:defRPr>
            </a:pPr>
            <a:r>
              <a:rPr sz="1787" b="1">
                <a:solidFill>
                  <a:srgbClr val="4D4B7D"/>
                </a:solidFill>
                <a:latin typeface="Aptos"/>
                <a:ea typeface="Aptos"/>
                <a:cs typeface="Aptos"/>
              </a:rPr>
              <a:t>Study</a:t>
            </a:r>
          </a:p>
        </p:txBody>
      </p:sp>
      <p:sp>
        <p:nvSpPr>
          <p:cNvPr id="12" name="正方形/長方形 11">
            <a:extLst>
              <a:ext uri="{FF2B5EF4-FFF2-40B4-BE49-F238E27FC236}">
                <a16:creationId xmlns:a16="http://schemas.microsoft.com/office/drawing/2014/main" id="{A9BA8F1B-D686-4702-A47C-B2F0E0BF5FA6}"/>
              </a:ext>
            </a:extLst>
          </p:cNvPr>
          <p:cNvSpPr>
            <a:spLocks noGrp="1"/>
          </p:cNvSpPr>
          <p:nvPr/>
        </p:nvSpPr>
        <p:spPr>
          <a:xfrm>
            <a:off x="1137894" y="2724217"/>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scientific question</a:t>
            </a:r>
          </a:p>
        </p:txBody>
      </p:sp>
      <p:sp>
        <p:nvSpPr>
          <p:cNvPr id="13" name="正方形/長方形 12">
            <a:extLst>
              <a:ext uri="{FF2B5EF4-FFF2-40B4-BE49-F238E27FC236}">
                <a16:creationId xmlns:a16="http://schemas.microsoft.com/office/drawing/2014/main" id="{95732748-5CA2-47D1-A35D-5644AF95A2F3}"/>
              </a:ext>
            </a:extLst>
          </p:cNvPr>
          <p:cNvSpPr>
            <a:spLocks noGrp="1"/>
          </p:cNvSpPr>
          <p:nvPr/>
        </p:nvSpPr>
        <p:spPr>
          <a:xfrm>
            <a:off x="1137894" y="3160081"/>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MD goal</a:t>
            </a:r>
          </a:p>
        </p:txBody>
      </p:sp>
      <p:sp>
        <p:nvSpPr>
          <p:cNvPr id="14" name="正方形/長方形 13">
            <a:extLst>
              <a:ext uri="{FF2B5EF4-FFF2-40B4-BE49-F238E27FC236}">
                <a16:creationId xmlns:a16="http://schemas.microsoft.com/office/drawing/2014/main" id="{C90D56E5-F14B-483B-8FF6-5B4B01164151}"/>
              </a:ext>
            </a:extLst>
          </p:cNvPr>
          <p:cNvSpPr>
            <a:spLocks noGrp="1"/>
          </p:cNvSpPr>
          <p:nvPr/>
        </p:nvSpPr>
        <p:spPr>
          <a:xfrm>
            <a:off x="1137894" y="3595945"/>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planned jobs</a:t>
            </a:r>
          </a:p>
        </p:txBody>
      </p:sp>
      <p:sp>
        <p:nvSpPr>
          <p:cNvPr id="15" name="正方形/長方形 14">
            <a:extLst>
              <a:ext uri="{FF2B5EF4-FFF2-40B4-BE49-F238E27FC236}">
                <a16:creationId xmlns:a16="http://schemas.microsoft.com/office/drawing/2014/main" id="{694F3A01-0DB7-4BCE-BE7F-13292E3BC83D}"/>
              </a:ext>
            </a:extLst>
          </p:cNvPr>
          <p:cNvSpPr>
            <a:spLocks noGrp="1"/>
          </p:cNvSpPr>
          <p:nvPr/>
        </p:nvSpPr>
        <p:spPr>
          <a:xfrm>
            <a:off x="1137894" y="4031809"/>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analysis intent</a:t>
            </a:r>
          </a:p>
        </p:txBody>
      </p:sp>
      <p:pic>
        <p:nvPicPr>
          <p:cNvPr id="16" name="グラフィックス 15"/>
          <p:cNvPicPr>
            <a:picLocks noChangeAspect="1"/>
          </p:cNvPicPr>
          <p:nvPr/>
        </p:nvPicPr>
        <p:blipFill>
          <a:blip>
            <a:extLst>
              <a:ext uri="{96DAC541-7B7A-43D3-8B79-37D633B846F1}">
                <asvg:svgBlip xmlns:asvg="http://schemas.microsoft.com/office/drawing/2016/SVG/main" r:embed="rId3"/>
              </a:ext>
            </a:extLst>
          </a:blip>
          <a:stretch/>
        </p:blipFill>
        <p:spPr>
          <a:xfrm>
            <a:off x="3262731" y="3441576"/>
            <a:ext cx="308737" cy="308737"/>
          </a:xfrm>
          <a:prstGeom prst="rect">
            <a:avLst/>
          </a:prstGeom>
        </p:spPr>
      </p:pic>
      <p:sp>
        <p:nvSpPr>
          <p:cNvPr id="17" name="正方形/長方形 16">
            <a:extLst>
              <a:ext uri="{FF2B5EF4-FFF2-40B4-BE49-F238E27FC236}">
                <a16:creationId xmlns:a16="http://schemas.microsoft.com/office/drawing/2014/main" id="{61CBCFBC-639D-4157-9271-E8613B780FA5}"/>
              </a:ext>
            </a:extLst>
          </p:cNvPr>
          <p:cNvSpPr>
            <a:spLocks noGrp="1"/>
          </p:cNvSpPr>
          <p:nvPr/>
        </p:nvSpPr>
        <p:spPr>
          <a:xfrm>
            <a:off x="3662273" y="2015938"/>
            <a:ext cx="2197481" cy="3087370"/>
          </a:xfrm>
          <a:prstGeom prst="rect">
            <a:avLst/>
          </a:prstGeom>
          <a:solidFill>
            <a:srgbClr val="F7FAFD"/>
          </a:solidFill>
          <a:ln w="13335">
            <a:solidFill>
              <a:srgbClr val="D4DAE2"/>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0D46E0A9-6119-44F3-8E56-45710179EAEB}"/>
              </a:ext>
            </a:extLst>
          </p:cNvPr>
          <p:cNvSpPr>
            <a:spLocks noGrp="1"/>
          </p:cNvSpPr>
          <p:nvPr/>
        </p:nvSpPr>
        <p:spPr>
          <a:xfrm>
            <a:off x="3662273" y="2015938"/>
            <a:ext cx="2197481"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7DEA0BA9-4948-4EC1-9F14-868B22881C7B}"/>
              </a:ext>
            </a:extLst>
          </p:cNvPr>
          <p:cNvSpPr>
            <a:spLocks noGrp="1"/>
          </p:cNvSpPr>
          <p:nvPr/>
        </p:nvSpPr>
        <p:spPr>
          <a:xfrm>
            <a:off x="3825722" y="2215709"/>
            <a:ext cx="1870583"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87" b="1">
                <a:solidFill>
                  <a:srgbClr val="0E3A75"/>
                </a:solidFill>
                <a:latin typeface="Aptos"/>
                <a:ea typeface="Aptos"/>
                <a:cs typeface="Aptos"/>
              </a:defRPr>
            </a:pPr>
            <a:r>
              <a:rPr sz="1787" b="1">
                <a:solidFill>
                  <a:srgbClr val="0E3A75"/>
                </a:solidFill>
                <a:latin typeface="Aptos"/>
                <a:ea typeface="Aptos"/>
                <a:cs typeface="Aptos"/>
              </a:rPr>
              <a:t>Job</a:t>
            </a:r>
          </a:p>
        </p:txBody>
      </p:sp>
      <p:sp>
        <p:nvSpPr>
          <p:cNvPr id="20" name="正方形/長方形 19">
            <a:extLst>
              <a:ext uri="{FF2B5EF4-FFF2-40B4-BE49-F238E27FC236}">
                <a16:creationId xmlns:a16="http://schemas.microsoft.com/office/drawing/2014/main" id="{9715490A-0918-4227-A277-2A5699326386}"/>
              </a:ext>
            </a:extLst>
          </p:cNvPr>
          <p:cNvSpPr>
            <a:spLocks noGrp="1"/>
          </p:cNvSpPr>
          <p:nvPr/>
        </p:nvSpPr>
        <p:spPr>
          <a:xfrm>
            <a:off x="3825722" y="2724217"/>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one source-rooted</a:t>
            </a:r>
          </a:p>
        </p:txBody>
      </p:sp>
      <p:sp>
        <p:nvSpPr>
          <p:cNvPr id="21" name="正方形/長方形 20">
            <a:extLst>
              <a:ext uri="{FF2B5EF4-FFF2-40B4-BE49-F238E27FC236}">
                <a16:creationId xmlns:a16="http://schemas.microsoft.com/office/drawing/2014/main" id="{37F77A52-F357-480C-9200-E5B2AA7D20CA}"/>
              </a:ext>
            </a:extLst>
          </p:cNvPr>
          <p:cNvSpPr>
            <a:spLocks noGrp="1"/>
          </p:cNvSpPr>
          <p:nvPr/>
        </p:nvSpPr>
        <p:spPr>
          <a:xfrm>
            <a:off x="3825722" y="3160081"/>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workflow DAG</a:t>
            </a:r>
          </a:p>
        </p:txBody>
      </p:sp>
      <p:sp>
        <p:nvSpPr>
          <p:cNvPr id="22" name="正方形/長方形 21">
            <a:extLst>
              <a:ext uri="{FF2B5EF4-FFF2-40B4-BE49-F238E27FC236}">
                <a16:creationId xmlns:a16="http://schemas.microsoft.com/office/drawing/2014/main" id="{EDA7FEF8-2BC8-4EF6-9218-47BBDA410D85}"/>
              </a:ext>
            </a:extLst>
          </p:cNvPr>
          <p:cNvSpPr>
            <a:spLocks noGrp="1"/>
          </p:cNvSpPr>
          <p:nvPr/>
        </p:nvSpPr>
        <p:spPr>
          <a:xfrm>
            <a:off x="3825722" y="3595945"/>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usually jobs/main</a:t>
            </a:r>
          </a:p>
        </p:txBody>
      </p:sp>
      <p:pic>
        <p:nvPicPr>
          <p:cNvPr id="23" name="グラフィックス 22"/>
          <p:cNvPicPr>
            <a:picLocks noChangeAspect="1"/>
          </p:cNvPicPr>
          <p:nvPr/>
        </p:nvPicPr>
        <p:blipFill>
          <a:blip>
            <a:extLst>
              <a:ext uri="{96DAC541-7B7A-43D3-8B79-37D633B846F1}">
                <asvg:svgBlip xmlns:asvg="http://schemas.microsoft.com/office/drawing/2016/SVG/main" r:embed="rId3"/>
              </a:ext>
            </a:extLst>
          </a:blip>
          <a:stretch/>
        </p:blipFill>
        <p:spPr>
          <a:xfrm>
            <a:off x="5950559" y="3441576"/>
            <a:ext cx="308737" cy="308737"/>
          </a:xfrm>
          <a:prstGeom prst="rect">
            <a:avLst/>
          </a:prstGeom>
        </p:spPr>
      </p:pic>
      <p:sp>
        <p:nvSpPr>
          <p:cNvPr id="24" name="正方形/長方形 23">
            <a:extLst>
              <a:ext uri="{FF2B5EF4-FFF2-40B4-BE49-F238E27FC236}">
                <a16:creationId xmlns:a16="http://schemas.microsoft.com/office/drawing/2014/main" id="{6A99AE0B-0B87-44CF-80D5-4A534774A59D}"/>
              </a:ext>
            </a:extLst>
          </p:cNvPr>
          <p:cNvSpPr>
            <a:spLocks noGrp="1"/>
          </p:cNvSpPr>
          <p:nvPr/>
        </p:nvSpPr>
        <p:spPr>
          <a:xfrm>
            <a:off x="6350101" y="2015938"/>
            <a:ext cx="2197481" cy="3087370"/>
          </a:xfrm>
          <a:prstGeom prst="rect">
            <a:avLst/>
          </a:prstGeom>
          <a:solidFill>
            <a:srgbClr val="F7FBF8"/>
          </a:solidFill>
          <a:ln w="13335">
            <a:solidFill>
              <a:srgbClr val="D4DAE2"/>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E0AD1930-68F3-46CA-8DF2-85EC4FA45155}"/>
              </a:ext>
            </a:extLst>
          </p:cNvPr>
          <p:cNvSpPr>
            <a:spLocks noGrp="1"/>
          </p:cNvSpPr>
          <p:nvPr/>
        </p:nvSpPr>
        <p:spPr>
          <a:xfrm>
            <a:off x="6350101" y="2015938"/>
            <a:ext cx="2197481"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EAF8288A-6079-453E-A326-57B2AEFF628E}"/>
              </a:ext>
            </a:extLst>
          </p:cNvPr>
          <p:cNvSpPr>
            <a:spLocks noGrp="1"/>
          </p:cNvSpPr>
          <p:nvPr/>
        </p:nvSpPr>
        <p:spPr>
          <a:xfrm>
            <a:off x="6513550" y="2215709"/>
            <a:ext cx="1870583"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87" b="1">
                <a:solidFill>
                  <a:srgbClr val="2D6D4B"/>
                </a:solidFill>
                <a:latin typeface="Aptos"/>
                <a:ea typeface="Aptos"/>
                <a:cs typeface="Aptos"/>
              </a:defRPr>
            </a:pPr>
            <a:r>
              <a:rPr sz="1787" b="1">
                <a:solidFill>
                  <a:srgbClr val="2D6D4B"/>
                </a:solidFill>
                <a:latin typeface="Aptos"/>
                <a:ea typeface="Aptos"/>
                <a:cs typeface="Aptos"/>
              </a:rPr>
              <a:t>Node</a:t>
            </a:r>
          </a:p>
        </p:txBody>
      </p:sp>
      <p:sp>
        <p:nvSpPr>
          <p:cNvPr id="27" name="正方形/長方形 26">
            <a:extLst>
              <a:ext uri="{FF2B5EF4-FFF2-40B4-BE49-F238E27FC236}">
                <a16:creationId xmlns:a16="http://schemas.microsoft.com/office/drawing/2014/main" id="{28C0554A-C00E-4A35-8ACF-6E7AC748A36A}"/>
              </a:ext>
            </a:extLst>
          </p:cNvPr>
          <p:cNvSpPr>
            <a:spLocks noGrp="1"/>
          </p:cNvSpPr>
          <p:nvPr/>
        </p:nvSpPr>
        <p:spPr>
          <a:xfrm>
            <a:off x="6513550" y="2724217"/>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source prep solv topo</a:t>
            </a:r>
          </a:p>
        </p:txBody>
      </p:sp>
      <p:sp>
        <p:nvSpPr>
          <p:cNvPr id="28" name="正方形/長方形 27">
            <a:extLst>
              <a:ext uri="{FF2B5EF4-FFF2-40B4-BE49-F238E27FC236}">
                <a16:creationId xmlns:a16="http://schemas.microsoft.com/office/drawing/2014/main" id="{A251AE0C-E3AD-41B1-B6CF-7B839FA975C2}"/>
              </a:ext>
            </a:extLst>
          </p:cNvPr>
          <p:cNvSpPr>
            <a:spLocks noGrp="1"/>
          </p:cNvSpPr>
          <p:nvPr/>
        </p:nvSpPr>
        <p:spPr>
          <a:xfrm>
            <a:off x="6513550" y="3160081"/>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eq prod analyze</a:t>
            </a:r>
          </a:p>
        </p:txBody>
      </p:sp>
      <p:sp>
        <p:nvSpPr>
          <p:cNvPr id="29" name="正方形/長方形 28">
            <a:extLst>
              <a:ext uri="{FF2B5EF4-FFF2-40B4-BE49-F238E27FC236}">
                <a16:creationId xmlns:a16="http://schemas.microsoft.com/office/drawing/2014/main" id="{BA1445D2-0ABB-4D79-A728-04A231F3AB27}"/>
              </a:ext>
            </a:extLst>
          </p:cNvPr>
          <p:cNvSpPr>
            <a:spLocks noGrp="1"/>
          </p:cNvSpPr>
          <p:nvPr/>
        </p:nvSpPr>
        <p:spPr>
          <a:xfrm>
            <a:off x="6513550" y="3595945"/>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node.json + output files</a:t>
            </a:r>
          </a:p>
        </p:txBody>
      </p:sp>
      <p:pic>
        <p:nvPicPr>
          <p:cNvPr id="30" name="グラフィックス 29"/>
          <p:cNvPicPr>
            <a:picLocks noChangeAspect="1"/>
          </p:cNvPicPr>
          <p:nvPr/>
        </p:nvPicPr>
        <p:blipFill>
          <a:blip>
            <a:extLst>
              <a:ext uri="{96DAC541-7B7A-43D3-8B79-37D633B846F1}">
                <asvg:svgBlip xmlns:asvg="http://schemas.microsoft.com/office/drawing/2016/SVG/main" r:embed="rId3"/>
              </a:ext>
            </a:extLst>
          </a:blip>
          <a:stretch/>
        </p:blipFill>
        <p:spPr>
          <a:xfrm>
            <a:off x="8638387" y="3441576"/>
            <a:ext cx="308737" cy="308737"/>
          </a:xfrm>
          <a:prstGeom prst="rect">
            <a:avLst/>
          </a:prstGeom>
        </p:spPr>
      </p:pic>
      <p:sp>
        <p:nvSpPr>
          <p:cNvPr id="31" name="正方形/長方形 30">
            <a:extLst>
              <a:ext uri="{FF2B5EF4-FFF2-40B4-BE49-F238E27FC236}">
                <a16:creationId xmlns:a16="http://schemas.microsoft.com/office/drawing/2014/main" id="{D8447334-1677-48BF-A28F-0E9A19BD177B}"/>
              </a:ext>
            </a:extLst>
          </p:cNvPr>
          <p:cNvSpPr>
            <a:spLocks noGrp="1"/>
          </p:cNvSpPr>
          <p:nvPr/>
        </p:nvSpPr>
        <p:spPr>
          <a:xfrm>
            <a:off x="9037929" y="2015938"/>
            <a:ext cx="2197481" cy="3087370"/>
          </a:xfrm>
          <a:prstGeom prst="rect">
            <a:avLst/>
          </a:prstGeom>
          <a:solidFill>
            <a:srgbClr val="FCFAF2"/>
          </a:solidFill>
          <a:ln w="13335">
            <a:solidFill>
              <a:srgbClr val="D4DAE2"/>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93AD7632-1F14-436E-880B-15F3A0B9FBD2}"/>
              </a:ext>
            </a:extLst>
          </p:cNvPr>
          <p:cNvSpPr>
            <a:spLocks noGrp="1"/>
          </p:cNvSpPr>
          <p:nvPr/>
        </p:nvSpPr>
        <p:spPr>
          <a:xfrm>
            <a:off x="9037929" y="2015938"/>
            <a:ext cx="2197481" cy="63563"/>
          </a:xfrm>
          <a:prstGeom prst="rect">
            <a:avLst/>
          </a:prstGeom>
          <a:solidFill>
            <a:srgbClr val="A66A00"/>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D783F9DC-EFFF-4DB2-B442-3193C08ABE9C}"/>
              </a:ext>
            </a:extLst>
          </p:cNvPr>
          <p:cNvSpPr>
            <a:spLocks noGrp="1"/>
          </p:cNvSpPr>
          <p:nvPr/>
        </p:nvSpPr>
        <p:spPr>
          <a:xfrm>
            <a:off x="9201378" y="2215709"/>
            <a:ext cx="1870583"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87" b="1">
                <a:solidFill>
                  <a:srgbClr val="A66A00"/>
                </a:solidFill>
                <a:latin typeface="Aptos"/>
                <a:ea typeface="Aptos"/>
                <a:cs typeface="Aptos"/>
              </a:defRPr>
            </a:pPr>
            <a:r>
              <a:rPr sz="1787" b="1">
                <a:solidFill>
                  <a:srgbClr val="A66A00"/>
                </a:solidFill>
                <a:latin typeface="Aptos"/>
                <a:ea typeface="Aptos"/>
                <a:cs typeface="Aptos"/>
              </a:rPr>
              <a:t>Attempt</a:t>
            </a:r>
          </a:p>
        </p:txBody>
      </p:sp>
      <p:sp>
        <p:nvSpPr>
          <p:cNvPr id="34" name="正方形/長方形 33">
            <a:extLst>
              <a:ext uri="{FF2B5EF4-FFF2-40B4-BE49-F238E27FC236}">
                <a16:creationId xmlns:a16="http://schemas.microsoft.com/office/drawing/2014/main" id="{829BE5D7-F06B-42A3-B38C-CFE37551FB69}"/>
              </a:ext>
            </a:extLst>
          </p:cNvPr>
          <p:cNvSpPr>
            <a:spLocks noGrp="1"/>
          </p:cNvSpPr>
          <p:nvPr/>
        </p:nvSpPr>
        <p:spPr>
          <a:xfrm>
            <a:off x="9201378" y="2724217"/>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one retry of the</a:t>
            </a:r>
          </a:p>
        </p:txBody>
      </p:sp>
      <p:sp>
        <p:nvSpPr>
          <p:cNvPr id="35" name="正方形/長方形 34">
            <a:extLst>
              <a:ext uri="{FF2B5EF4-FFF2-40B4-BE49-F238E27FC236}">
                <a16:creationId xmlns:a16="http://schemas.microsoft.com/office/drawing/2014/main" id="{DF20825A-0422-4B92-90F8-87F2A6236DA3}"/>
              </a:ext>
            </a:extLst>
          </p:cNvPr>
          <p:cNvSpPr>
            <a:spLocks noGrp="1"/>
          </p:cNvSpPr>
          <p:nvPr/>
        </p:nvSpPr>
        <p:spPr>
          <a:xfrm>
            <a:off x="9201378" y="3160081"/>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same node conditions</a:t>
            </a:r>
          </a:p>
        </p:txBody>
      </p:sp>
      <p:sp>
        <p:nvSpPr>
          <p:cNvPr id="36" name="正方形/長方形 35">
            <a:extLst>
              <a:ext uri="{FF2B5EF4-FFF2-40B4-BE49-F238E27FC236}">
                <a16:creationId xmlns:a16="http://schemas.microsoft.com/office/drawing/2014/main" id="{512EC6DA-DEED-449F-9CCC-28F7DEE727AC}"/>
              </a:ext>
            </a:extLst>
          </p:cNvPr>
          <p:cNvSpPr>
            <a:spLocks noGrp="1"/>
          </p:cNvSpPr>
          <p:nvPr/>
        </p:nvSpPr>
        <p:spPr>
          <a:xfrm>
            <a:off x="9201378" y="3595945"/>
            <a:ext cx="1870583"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172033"/>
                </a:solidFill>
                <a:latin typeface="Aptos"/>
                <a:ea typeface="Aptos"/>
                <a:cs typeface="Aptos"/>
              </a:defRPr>
            </a:pPr>
            <a:r>
              <a:rPr sz="1287" b="0">
                <a:solidFill>
                  <a:srgbClr val="172033"/>
                </a:solidFill>
                <a:latin typeface="Aptos"/>
                <a:ea typeface="Aptos"/>
                <a:cs typeface="Aptos"/>
              </a:rPr>
              <a:t>history in events</a:t>
            </a:r>
          </a:p>
        </p:txBody>
      </p:sp>
      <p:sp>
        <p:nvSpPr>
          <p:cNvPr id="37" name="TextBox 36"/>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7CFB327B-40F2-279E-E84D-A03108CE05C8}"/>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C4F2C116-81D2-D2AC-E06C-5AA95BC626E9}"/>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DD911DA7-CA1B-80DB-F159-2A5C5463A402}"/>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A4BF17C-4432-9E28-394F-B1E3F33B6264}"/>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FUTURE PERSPECTIVE 1</a:t>
            </a:r>
          </a:p>
        </p:txBody>
      </p:sp>
      <p:sp>
        <p:nvSpPr>
          <p:cNvPr id="6" name="正方形/長方形 5">
            <a:extLst>
              <a:ext uri="{FF2B5EF4-FFF2-40B4-BE49-F238E27FC236}">
                <a16:creationId xmlns:a16="http://schemas.microsoft.com/office/drawing/2014/main" id="{2CF24863-5D6F-491B-05E8-2298F12BDF76}"/>
              </a:ext>
            </a:extLst>
          </p:cNvPr>
          <p:cNvSpPr>
            <a:spLocks noGrp="1"/>
          </p:cNvSpPr>
          <p:nvPr/>
        </p:nvSpPr>
        <p:spPr>
          <a:xfrm>
            <a:off x="720191" y="799465"/>
            <a:ext cx="926211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sz="2538" b="1">
                <a:solidFill>
                  <a:srgbClr val="172033"/>
                </a:solidFill>
                <a:latin typeface="Aptos Display"/>
                <a:ea typeface="Aptos Display"/>
                <a:cs typeface="Aptos Display"/>
              </a:rPr>
              <a:t>Combine MD workflows with surrogate models to answer faster.</a:t>
            </a:r>
          </a:p>
        </p:txBody>
      </p:sp>
      <p:sp>
        <p:nvSpPr>
          <p:cNvPr id="9" name="正方形/長方形 8">
            <a:extLst>
              <a:ext uri="{FF2B5EF4-FFF2-40B4-BE49-F238E27FC236}">
                <a16:creationId xmlns:a16="http://schemas.microsoft.com/office/drawing/2014/main" id="{2CA20A88-8CA9-1DC2-2C9D-60B340154AB1}"/>
              </a:ext>
            </a:extLst>
          </p:cNvPr>
          <p:cNvSpPr>
            <a:spLocks noGrp="1"/>
          </p:cNvSpPr>
          <p:nvPr/>
        </p:nvSpPr>
        <p:spPr>
          <a:xfrm>
            <a:off x="938123" y="1616710"/>
            <a:ext cx="4013581" cy="1416558"/>
          </a:xfrm>
          <a:prstGeom prst="rect">
            <a:avLst/>
          </a:prstGeom>
          <a:solidFill>
            <a:srgbClr val="F7FAFD"/>
          </a:solidFill>
          <a:ln w="13335">
            <a:solidFill>
              <a:srgbClr val="D4DAE2"/>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7BF592EB-7E99-6723-80D3-CF12010FFE18}"/>
              </a:ext>
            </a:extLst>
          </p:cNvPr>
          <p:cNvSpPr>
            <a:spLocks noGrp="1"/>
          </p:cNvSpPr>
          <p:nvPr/>
        </p:nvSpPr>
        <p:spPr>
          <a:xfrm>
            <a:off x="938123" y="1616710"/>
            <a:ext cx="4013581"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EEDF83E8-653C-30BE-776F-5EEB4154CB2C}"/>
              </a:ext>
            </a:extLst>
          </p:cNvPr>
          <p:cNvSpPr>
            <a:spLocks noGrp="1"/>
          </p:cNvSpPr>
          <p:nvPr/>
        </p:nvSpPr>
        <p:spPr>
          <a:xfrm>
            <a:off x="1101572" y="1816481"/>
            <a:ext cx="3686683"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0E3A75"/>
                </a:solidFill>
                <a:latin typeface="Aptos"/>
                <a:ea typeface="Aptos"/>
                <a:cs typeface="Aptos"/>
              </a:defRPr>
            </a:pPr>
            <a:r>
              <a:rPr sz="1466" b="1">
                <a:solidFill>
                  <a:srgbClr val="0E3A75"/>
                </a:solidFill>
                <a:latin typeface="Aptos"/>
                <a:ea typeface="Aptos"/>
                <a:cs typeface="Aptos"/>
              </a:rPr>
              <a:t>Main idea</a:t>
            </a:r>
          </a:p>
        </p:txBody>
      </p:sp>
      <p:sp>
        <p:nvSpPr>
          <p:cNvPr id="12" name="正方形/長方形 11">
            <a:extLst>
              <a:ext uri="{FF2B5EF4-FFF2-40B4-BE49-F238E27FC236}">
                <a16:creationId xmlns:a16="http://schemas.microsoft.com/office/drawing/2014/main" id="{3523B726-C66A-6327-5234-5AB4E91BB8E5}"/>
              </a:ext>
            </a:extLst>
          </p:cNvPr>
          <p:cNvSpPr>
            <a:spLocks noGrp="1"/>
          </p:cNvSpPr>
          <p:nvPr/>
        </p:nvSpPr>
        <p:spPr>
          <a:xfrm>
            <a:off x="1101572" y="2125218"/>
            <a:ext cx="3686683"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4" b="0">
                <a:solidFill>
                  <a:srgbClr val="5B6573"/>
                </a:solidFill>
                <a:latin typeface="Aptos"/>
                <a:ea typeface="Aptos"/>
                <a:cs typeface="Aptos"/>
              </a:defRPr>
            </a:pPr>
            <a:r>
              <a:rPr sz="1144" b="0">
                <a:solidFill>
                  <a:srgbClr val="5B6573"/>
                </a:solidFill>
                <a:latin typeface="Aptos"/>
                <a:ea typeface="Aptos"/>
                <a:cs typeface="Aptos"/>
              </a:rPr>
              <a:t>Call a surrogate model inside the MDClaw DAG before expensive MD.</a:t>
            </a:r>
          </a:p>
        </p:txBody>
      </p:sp>
      <p:sp>
        <p:nvSpPr>
          <p:cNvPr id="13" name="正方形/長方形 12">
            <a:extLst>
              <a:ext uri="{FF2B5EF4-FFF2-40B4-BE49-F238E27FC236}">
                <a16:creationId xmlns:a16="http://schemas.microsoft.com/office/drawing/2014/main" id="{1A05D60C-32F9-935D-9E0B-D3DA7A463951}"/>
              </a:ext>
            </a:extLst>
          </p:cNvPr>
          <p:cNvSpPr>
            <a:spLocks noGrp="1"/>
          </p:cNvSpPr>
          <p:nvPr/>
        </p:nvSpPr>
        <p:spPr>
          <a:xfrm>
            <a:off x="1101572" y="2597404"/>
            <a:ext cx="3686683"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4" b="0">
                <a:solidFill>
                  <a:srgbClr val="5B6573"/>
                </a:solidFill>
                <a:latin typeface="Aptos"/>
                <a:ea typeface="Aptos"/>
                <a:cs typeface="Aptos"/>
              </a:defRPr>
            </a:pPr>
            <a:r>
              <a:rPr sz="1144" b="0">
                <a:solidFill>
                  <a:srgbClr val="5B6573"/>
                </a:solidFill>
                <a:latin typeface="Aptos"/>
                <a:ea typeface="Aptos"/>
                <a:cs typeface="Aptos"/>
              </a:rPr>
              <a:t>Use the surrogate result to choose candidates, starting structures, or regions that deserve MD.</a:t>
            </a:r>
          </a:p>
        </p:txBody>
      </p:sp>
      <p:sp>
        <p:nvSpPr>
          <p:cNvPr id="14" name="正方形/長方形 13">
            <a:extLst>
              <a:ext uri="{FF2B5EF4-FFF2-40B4-BE49-F238E27FC236}">
                <a16:creationId xmlns:a16="http://schemas.microsoft.com/office/drawing/2014/main" id="{1AC4E2FD-9E47-A2D7-468F-D0611FB81DC1}"/>
              </a:ext>
            </a:extLst>
          </p:cNvPr>
          <p:cNvSpPr>
            <a:spLocks noGrp="1"/>
          </p:cNvSpPr>
          <p:nvPr/>
        </p:nvSpPr>
        <p:spPr>
          <a:xfrm>
            <a:off x="938123" y="3487293"/>
            <a:ext cx="4013581" cy="1416558"/>
          </a:xfrm>
          <a:prstGeom prst="rect">
            <a:avLst/>
          </a:prstGeom>
          <a:solidFill>
            <a:srgbClr val="F7FBF8"/>
          </a:solidFill>
          <a:ln w="13335">
            <a:solidFill>
              <a:srgbClr val="D4DAE2"/>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AB535087-19C6-28AC-B2B2-E69178E758ED}"/>
              </a:ext>
            </a:extLst>
          </p:cNvPr>
          <p:cNvSpPr>
            <a:spLocks noGrp="1"/>
          </p:cNvSpPr>
          <p:nvPr/>
        </p:nvSpPr>
        <p:spPr>
          <a:xfrm>
            <a:off x="938123" y="3487293"/>
            <a:ext cx="4013581"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25D218A0-9FB9-E51D-C414-A102E1B13BB2}"/>
              </a:ext>
            </a:extLst>
          </p:cNvPr>
          <p:cNvSpPr>
            <a:spLocks noGrp="1"/>
          </p:cNvSpPr>
          <p:nvPr/>
        </p:nvSpPr>
        <p:spPr>
          <a:xfrm>
            <a:off x="1101572" y="3687064"/>
            <a:ext cx="3686683"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2D6D4B"/>
                </a:solidFill>
                <a:latin typeface="Aptos"/>
                <a:ea typeface="Aptos"/>
                <a:cs typeface="Aptos"/>
              </a:defRPr>
            </a:pPr>
            <a:r>
              <a:rPr sz="1466" b="1">
                <a:solidFill>
                  <a:srgbClr val="2D6D4B"/>
                </a:solidFill>
                <a:latin typeface="Aptos"/>
                <a:ea typeface="Aptos"/>
                <a:cs typeface="Aptos"/>
              </a:rPr>
              <a:t>Why it matters</a:t>
            </a:r>
          </a:p>
        </p:txBody>
      </p:sp>
      <p:sp>
        <p:nvSpPr>
          <p:cNvPr id="17" name="正方形/長方形 16">
            <a:extLst>
              <a:ext uri="{FF2B5EF4-FFF2-40B4-BE49-F238E27FC236}">
                <a16:creationId xmlns:a16="http://schemas.microsoft.com/office/drawing/2014/main" id="{A74EC827-0CF6-3F09-1E94-7B21999B9D66}"/>
              </a:ext>
            </a:extLst>
          </p:cNvPr>
          <p:cNvSpPr>
            <a:spLocks noGrp="1"/>
          </p:cNvSpPr>
          <p:nvPr/>
        </p:nvSpPr>
        <p:spPr>
          <a:xfrm>
            <a:off x="1101572" y="3995801"/>
            <a:ext cx="3686683"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4" b="0">
                <a:solidFill>
                  <a:srgbClr val="5B6573"/>
                </a:solidFill>
                <a:latin typeface="Aptos"/>
                <a:ea typeface="Aptos"/>
                <a:cs typeface="Aptos"/>
              </a:defRPr>
            </a:pPr>
            <a:r>
              <a:rPr sz="1144" b="0">
                <a:solidFill>
                  <a:srgbClr val="5B6573"/>
                </a:solidFill>
                <a:latin typeface="Aptos"/>
                <a:ea typeface="Aptos"/>
                <a:cs typeface="Aptos"/>
              </a:rPr>
              <a:t>The goal is not to replace MD.</a:t>
            </a:r>
          </a:p>
        </p:txBody>
      </p:sp>
      <p:sp>
        <p:nvSpPr>
          <p:cNvPr id="18" name="正方形/長方形 17">
            <a:extLst>
              <a:ext uri="{FF2B5EF4-FFF2-40B4-BE49-F238E27FC236}">
                <a16:creationId xmlns:a16="http://schemas.microsoft.com/office/drawing/2014/main" id="{2E418CEA-40AA-1EF0-39FA-943928755634}"/>
              </a:ext>
            </a:extLst>
          </p:cNvPr>
          <p:cNvSpPr>
            <a:spLocks noGrp="1"/>
          </p:cNvSpPr>
          <p:nvPr/>
        </p:nvSpPr>
        <p:spPr>
          <a:xfrm>
            <a:off x="1101572" y="4504309"/>
            <a:ext cx="3686683"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44" b="0">
                <a:solidFill>
                  <a:srgbClr val="5B6573"/>
                </a:solidFill>
                <a:latin typeface="Aptos"/>
                <a:ea typeface="Aptos"/>
                <a:cs typeface="Aptos"/>
              </a:defRPr>
            </a:pPr>
            <a:r>
              <a:rPr sz="1144" b="0">
                <a:solidFill>
                  <a:srgbClr val="5B6573"/>
                </a:solidFill>
                <a:latin typeface="Aptos"/>
                <a:ea typeface="Aptos"/>
                <a:cs typeface="Aptos"/>
              </a:rPr>
              <a:t>The goal is to spend MD time on the most informative simulations.</a:t>
            </a:r>
          </a:p>
        </p:txBody>
      </p:sp>
      <p:sp>
        <p:nvSpPr>
          <p:cNvPr id="19" name="正方形/長方形 18">
            <a:extLst>
              <a:ext uri="{FF2B5EF4-FFF2-40B4-BE49-F238E27FC236}">
                <a16:creationId xmlns:a16="http://schemas.microsoft.com/office/drawing/2014/main" id="{9131F179-1B94-C223-4FE7-CE014BA2F216}"/>
              </a:ext>
            </a:extLst>
          </p:cNvPr>
          <p:cNvSpPr>
            <a:spLocks noGrp="1"/>
          </p:cNvSpPr>
          <p:nvPr/>
        </p:nvSpPr>
        <p:spPr>
          <a:xfrm>
            <a:off x="5641822" y="1525905"/>
            <a:ext cx="2397252" cy="926211"/>
          </a:xfrm>
          <a:prstGeom prst="rect">
            <a:avLst/>
          </a:prstGeom>
          <a:solidFill>
            <a:srgbClr val="F8F7FC"/>
          </a:solidFill>
          <a:ln w="14288">
            <a:solidFill>
              <a:srgbClr val="4D4B7D"/>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4E3CED9D-4592-2378-AC9C-3A616DA3EEA3}"/>
              </a:ext>
            </a:extLst>
          </p:cNvPr>
          <p:cNvSpPr>
            <a:spLocks noGrp="1"/>
          </p:cNvSpPr>
          <p:nvPr/>
        </p:nvSpPr>
        <p:spPr>
          <a:xfrm>
            <a:off x="5641822" y="1525905"/>
            <a:ext cx="2397252" cy="54483"/>
          </a:xfrm>
          <a:prstGeom prst="rect">
            <a:avLst/>
          </a:prstGeom>
          <a:solidFill>
            <a:srgbClr val="4D4B7D"/>
          </a:solidFill>
          <a:ln w="0">
            <a:solidFill>
              <a:srgbClr val="000000">
                <a:alpha val="0"/>
              </a:srgbClr>
            </a:solidFill>
            <a:prstDash val="solid"/>
          </a:ln>
        </p:spPr>
        <p:txBody>
          <a:bodyPr/>
          <a:lstStyle/>
          <a:p>
            <a:endParaRPr lang="ja-JP" altLang="en-US"/>
          </a:p>
        </p:txBody>
      </p:sp>
      <p:pic>
        <p:nvPicPr>
          <p:cNvPr id="21" name="グラフィックス 20">
            <a:extLst>
              <a:ext uri="{FF2B5EF4-FFF2-40B4-BE49-F238E27FC236}">
                <a16:creationId xmlns:a16="http://schemas.microsoft.com/office/drawing/2014/main" id="{9243DCBF-8C76-8A03-C3F7-9ED73665638F}"/>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5787110" y="1725676"/>
            <a:ext cx="290576" cy="290576"/>
          </a:xfrm>
          <a:prstGeom prst="rect">
            <a:avLst/>
          </a:prstGeom>
        </p:spPr>
      </p:pic>
      <p:sp>
        <p:nvSpPr>
          <p:cNvPr id="22" name="正方形/長方形 21">
            <a:extLst>
              <a:ext uri="{FF2B5EF4-FFF2-40B4-BE49-F238E27FC236}">
                <a16:creationId xmlns:a16="http://schemas.microsoft.com/office/drawing/2014/main" id="{402D9252-8C15-7115-8E0B-60CB07E39EDC}"/>
              </a:ext>
            </a:extLst>
          </p:cNvPr>
          <p:cNvSpPr>
            <a:spLocks noGrp="1"/>
          </p:cNvSpPr>
          <p:nvPr/>
        </p:nvSpPr>
        <p:spPr>
          <a:xfrm>
            <a:off x="6150330" y="1716595"/>
            <a:ext cx="1761617"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4D4B7D"/>
                </a:solidFill>
                <a:latin typeface="Aptos"/>
                <a:ea typeface="Aptos"/>
                <a:cs typeface="Aptos"/>
              </a:defRPr>
            </a:pPr>
            <a:r>
              <a:rPr sz="1329" b="1">
                <a:solidFill>
                  <a:srgbClr val="4D4B7D"/>
                </a:solidFill>
                <a:latin typeface="Aptos"/>
                <a:ea typeface="Aptos"/>
                <a:cs typeface="Aptos"/>
              </a:rPr>
              <a:t>Question</a:t>
            </a:r>
          </a:p>
        </p:txBody>
      </p:sp>
      <p:sp>
        <p:nvSpPr>
          <p:cNvPr id="23" name="正方形/長方形 22">
            <a:extLst>
              <a:ext uri="{FF2B5EF4-FFF2-40B4-BE49-F238E27FC236}">
                <a16:creationId xmlns:a16="http://schemas.microsoft.com/office/drawing/2014/main" id="{F7D4E00E-ACF0-B50E-4DD8-3A26C579C2C3}"/>
              </a:ext>
            </a:extLst>
          </p:cNvPr>
          <p:cNvSpPr>
            <a:spLocks noGrp="1"/>
          </p:cNvSpPr>
          <p:nvPr/>
        </p:nvSpPr>
        <p:spPr>
          <a:xfrm>
            <a:off x="5805271" y="2052574"/>
            <a:ext cx="2070354"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variant, ligand,</a:t>
            </a:r>
          </a:p>
          <a:p>
            <a:pPr algn="l">
              <a:defRPr sz="972" b="0">
                <a:solidFill>
                  <a:srgbClr val="5B6573"/>
                </a:solidFill>
                <a:latin typeface="Aptos"/>
                <a:ea typeface="Aptos"/>
                <a:cs typeface="Aptos"/>
              </a:defRPr>
            </a:pPr>
            <a:r>
              <a:rPr sz="972" b="0">
                <a:solidFill>
                  <a:srgbClr val="5B6573"/>
                </a:solidFill>
                <a:latin typeface="Aptos"/>
                <a:ea typeface="Aptos"/>
                <a:cs typeface="Aptos"/>
              </a:rPr>
              <a:t>state, sequence</a:t>
            </a:r>
          </a:p>
        </p:txBody>
      </p:sp>
      <p:pic>
        <p:nvPicPr>
          <p:cNvPr id="24" name="グラフィックス 23">
            <a:extLst>
              <a:ext uri="{FF2B5EF4-FFF2-40B4-BE49-F238E27FC236}">
                <a16:creationId xmlns:a16="http://schemas.microsoft.com/office/drawing/2014/main" id="{AAED6D97-B887-E450-1326-08EB4637DC54}"/>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6713321" y="2415794"/>
            <a:ext cx="272415" cy="272415"/>
          </a:xfrm>
          <a:prstGeom prst="rect">
            <a:avLst/>
          </a:prstGeom>
        </p:spPr>
      </p:pic>
      <p:sp>
        <p:nvSpPr>
          <p:cNvPr id="25" name="正方形/長方形 24">
            <a:extLst>
              <a:ext uri="{FF2B5EF4-FFF2-40B4-BE49-F238E27FC236}">
                <a16:creationId xmlns:a16="http://schemas.microsoft.com/office/drawing/2014/main" id="{4458FB58-1B18-97B7-F598-B5EB7EE45118}"/>
              </a:ext>
            </a:extLst>
          </p:cNvPr>
          <p:cNvSpPr>
            <a:spLocks noGrp="1"/>
          </p:cNvSpPr>
          <p:nvPr/>
        </p:nvSpPr>
        <p:spPr>
          <a:xfrm>
            <a:off x="5641822" y="2597404"/>
            <a:ext cx="2397252" cy="926211"/>
          </a:xfrm>
          <a:prstGeom prst="rect">
            <a:avLst/>
          </a:prstGeom>
          <a:solidFill>
            <a:srgbClr val="F7FAFD"/>
          </a:solidFill>
          <a:ln w="14288">
            <a:solidFill>
              <a:srgbClr val="0E3A75"/>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A1F70580-0B18-E880-E40B-3FC6740E091B}"/>
              </a:ext>
            </a:extLst>
          </p:cNvPr>
          <p:cNvSpPr>
            <a:spLocks noGrp="1"/>
          </p:cNvSpPr>
          <p:nvPr/>
        </p:nvSpPr>
        <p:spPr>
          <a:xfrm>
            <a:off x="5641822" y="2597404"/>
            <a:ext cx="2397252" cy="54483"/>
          </a:xfrm>
          <a:prstGeom prst="rect">
            <a:avLst/>
          </a:prstGeom>
          <a:solidFill>
            <a:srgbClr val="0E3A75"/>
          </a:solidFill>
          <a:ln w="0">
            <a:solidFill>
              <a:srgbClr val="000000">
                <a:alpha val="0"/>
              </a:srgbClr>
            </a:solidFill>
            <a:prstDash val="solid"/>
          </a:ln>
        </p:spPr>
        <p:txBody>
          <a:bodyPr/>
          <a:lstStyle/>
          <a:p>
            <a:endParaRPr lang="ja-JP" altLang="en-US"/>
          </a:p>
        </p:txBody>
      </p:sp>
      <p:pic>
        <p:nvPicPr>
          <p:cNvPr id="27" name="グラフィックス 26">
            <a:extLst>
              <a:ext uri="{FF2B5EF4-FFF2-40B4-BE49-F238E27FC236}">
                <a16:creationId xmlns:a16="http://schemas.microsoft.com/office/drawing/2014/main" id="{934831DB-B061-7463-1BE3-C198C0B88516}"/>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5787110" y="2797175"/>
            <a:ext cx="290576" cy="290576"/>
          </a:xfrm>
          <a:prstGeom prst="rect">
            <a:avLst/>
          </a:prstGeom>
        </p:spPr>
      </p:pic>
      <p:sp>
        <p:nvSpPr>
          <p:cNvPr id="28" name="正方形/長方形 27">
            <a:extLst>
              <a:ext uri="{FF2B5EF4-FFF2-40B4-BE49-F238E27FC236}">
                <a16:creationId xmlns:a16="http://schemas.microsoft.com/office/drawing/2014/main" id="{667B3778-6822-23F9-94F4-39E0992124AD}"/>
              </a:ext>
            </a:extLst>
          </p:cNvPr>
          <p:cNvSpPr>
            <a:spLocks noGrp="1"/>
          </p:cNvSpPr>
          <p:nvPr/>
        </p:nvSpPr>
        <p:spPr>
          <a:xfrm>
            <a:off x="6150330" y="2788094"/>
            <a:ext cx="1761617"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0E3A75"/>
                </a:solidFill>
                <a:latin typeface="Aptos"/>
                <a:ea typeface="Aptos"/>
                <a:cs typeface="Aptos"/>
              </a:defRPr>
            </a:pPr>
            <a:r>
              <a:rPr sz="1329" b="1">
                <a:solidFill>
                  <a:srgbClr val="0E3A75"/>
                </a:solidFill>
                <a:latin typeface="Aptos"/>
                <a:ea typeface="Aptos"/>
                <a:cs typeface="Aptos"/>
              </a:rPr>
              <a:t>Surrogate</a:t>
            </a:r>
          </a:p>
        </p:txBody>
      </p:sp>
      <p:sp>
        <p:nvSpPr>
          <p:cNvPr id="29" name="正方形/長方形 28">
            <a:extLst>
              <a:ext uri="{FF2B5EF4-FFF2-40B4-BE49-F238E27FC236}">
                <a16:creationId xmlns:a16="http://schemas.microsoft.com/office/drawing/2014/main" id="{C49EFE89-4734-519E-E10F-4C80DF8439CE}"/>
              </a:ext>
            </a:extLst>
          </p:cNvPr>
          <p:cNvSpPr>
            <a:spLocks noGrp="1"/>
          </p:cNvSpPr>
          <p:nvPr/>
        </p:nvSpPr>
        <p:spPr>
          <a:xfrm>
            <a:off x="5805271" y="3124073"/>
            <a:ext cx="2070354"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screen or sample</a:t>
            </a:r>
          </a:p>
          <a:p>
            <a:pPr algn="l">
              <a:defRPr sz="972" b="0">
                <a:solidFill>
                  <a:srgbClr val="5B6573"/>
                </a:solidFill>
                <a:latin typeface="Aptos"/>
                <a:ea typeface="Aptos"/>
                <a:cs typeface="Aptos"/>
              </a:defRPr>
            </a:pPr>
            <a:r>
              <a:rPr sz="972" b="0">
                <a:solidFill>
                  <a:srgbClr val="5B6573"/>
                </a:solidFill>
                <a:latin typeface="Aptos"/>
                <a:ea typeface="Aptos"/>
                <a:cs typeface="Aptos"/>
              </a:rPr>
              <a:t>many candidates</a:t>
            </a:r>
          </a:p>
        </p:txBody>
      </p:sp>
      <p:pic>
        <p:nvPicPr>
          <p:cNvPr id="30" name="グラフィックス 29">
            <a:extLst>
              <a:ext uri="{FF2B5EF4-FFF2-40B4-BE49-F238E27FC236}">
                <a16:creationId xmlns:a16="http://schemas.microsoft.com/office/drawing/2014/main" id="{F88F8AC4-CCF4-1746-55BB-15FE9F24F9B9}"/>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6713321" y="3487293"/>
            <a:ext cx="272415" cy="272415"/>
          </a:xfrm>
          <a:prstGeom prst="rect">
            <a:avLst/>
          </a:prstGeom>
        </p:spPr>
      </p:pic>
      <p:sp>
        <p:nvSpPr>
          <p:cNvPr id="31" name="正方形/長方形 30">
            <a:extLst>
              <a:ext uri="{FF2B5EF4-FFF2-40B4-BE49-F238E27FC236}">
                <a16:creationId xmlns:a16="http://schemas.microsoft.com/office/drawing/2014/main" id="{9471551F-D27C-297A-1456-0B518269E58B}"/>
              </a:ext>
            </a:extLst>
          </p:cNvPr>
          <p:cNvSpPr>
            <a:spLocks noGrp="1"/>
          </p:cNvSpPr>
          <p:nvPr/>
        </p:nvSpPr>
        <p:spPr>
          <a:xfrm>
            <a:off x="5641822" y="3668903"/>
            <a:ext cx="2397252" cy="926211"/>
          </a:xfrm>
          <a:prstGeom prst="rect">
            <a:avLst/>
          </a:prstGeom>
          <a:solidFill>
            <a:srgbClr val="FCFAF2"/>
          </a:solidFill>
          <a:ln w="14288">
            <a:solidFill>
              <a:srgbClr val="A66A00"/>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EA8E497C-98AB-DEDB-6078-DAD750BC7180}"/>
              </a:ext>
            </a:extLst>
          </p:cNvPr>
          <p:cNvSpPr>
            <a:spLocks noGrp="1"/>
          </p:cNvSpPr>
          <p:nvPr/>
        </p:nvSpPr>
        <p:spPr>
          <a:xfrm>
            <a:off x="5641822" y="3668903"/>
            <a:ext cx="2397252" cy="54483"/>
          </a:xfrm>
          <a:prstGeom prst="rect">
            <a:avLst/>
          </a:prstGeom>
          <a:solidFill>
            <a:srgbClr val="A66A00"/>
          </a:solidFill>
          <a:ln w="0">
            <a:solidFill>
              <a:srgbClr val="000000">
                <a:alpha val="0"/>
              </a:srgbClr>
            </a:solidFill>
            <a:prstDash val="solid"/>
          </a:ln>
        </p:spPr>
        <p:txBody>
          <a:bodyPr/>
          <a:lstStyle/>
          <a:p>
            <a:endParaRPr lang="ja-JP" altLang="en-US"/>
          </a:p>
        </p:txBody>
      </p:sp>
      <p:pic>
        <p:nvPicPr>
          <p:cNvPr id="33" name="グラフィックス 32">
            <a:extLst>
              <a:ext uri="{FF2B5EF4-FFF2-40B4-BE49-F238E27FC236}">
                <a16:creationId xmlns:a16="http://schemas.microsoft.com/office/drawing/2014/main" id="{2BC7A03C-554B-794B-0D31-42D904E12D0B}"/>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5787110" y="3868674"/>
            <a:ext cx="290576" cy="290576"/>
          </a:xfrm>
          <a:prstGeom prst="rect">
            <a:avLst/>
          </a:prstGeom>
        </p:spPr>
      </p:pic>
      <p:sp>
        <p:nvSpPr>
          <p:cNvPr id="34" name="正方形/長方形 33">
            <a:extLst>
              <a:ext uri="{FF2B5EF4-FFF2-40B4-BE49-F238E27FC236}">
                <a16:creationId xmlns:a16="http://schemas.microsoft.com/office/drawing/2014/main" id="{E44268BD-0814-CA33-E5E2-526858D8ABD6}"/>
              </a:ext>
            </a:extLst>
          </p:cNvPr>
          <p:cNvSpPr>
            <a:spLocks noGrp="1"/>
          </p:cNvSpPr>
          <p:nvPr/>
        </p:nvSpPr>
        <p:spPr>
          <a:xfrm>
            <a:off x="6150330" y="3859593"/>
            <a:ext cx="1761617"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A66A00"/>
                </a:solidFill>
                <a:latin typeface="Aptos"/>
                <a:ea typeface="Aptos"/>
                <a:cs typeface="Aptos"/>
              </a:defRPr>
            </a:pPr>
            <a:r>
              <a:rPr sz="1329" b="1">
                <a:solidFill>
                  <a:srgbClr val="A66A00"/>
                </a:solidFill>
                <a:latin typeface="Aptos"/>
                <a:ea typeface="Aptos"/>
                <a:cs typeface="Aptos"/>
              </a:rPr>
              <a:t>MD</a:t>
            </a:r>
          </a:p>
        </p:txBody>
      </p:sp>
      <p:sp>
        <p:nvSpPr>
          <p:cNvPr id="35" name="正方形/長方形 34">
            <a:extLst>
              <a:ext uri="{FF2B5EF4-FFF2-40B4-BE49-F238E27FC236}">
                <a16:creationId xmlns:a16="http://schemas.microsoft.com/office/drawing/2014/main" id="{26A0DAA1-7A71-0867-54C4-818502BEDA5D}"/>
              </a:ext>
            </a:extLst>
          </p:cNvPr>
          <p:cNvSpPr>
            <a:spLocks noGrp="1"/>
          </p:cNvSpPr>
          <p:nvPr/>
        </p:nvSpPr>
        <p:spPr>
          <a:xfrm>
            <a:off x="5805271" y="4195572"/>
            <a:ext cx="2070354"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run selected</a:t>
            </a:r>
          </a:p>
          <a:p>
            <a:pPr algn="l">
              <a:defRPr sz="972" b="0">
                <a:solidFill>
                  <a:srgbClr val="5B6573"/>
                </a:solidFill>
                <a:latin typeface="Aptos"/>
                <a:ea typeface="Aptos"/>
                <a:cs typeface="Aptos"/>
              </a:defRPr>
            </a:pPr>
            <a:r>
              <a:rPr sz="972" b="0">
                <a:solidFill>
                  <a:srgbClr val="5B6573"/>
                </a:solidFill>
                <a:latin typeface="Aptos"/>
                <a:ea typeface="Aptos"/>
                <a:cs typeface="Aptos"/>
              </a:rPr>
              <a:t>physical tests</a:t>
            </a:r>
          </a:p>
        </p:txBody>
      </p:sp>
      <p:pic>
        <p:nvPicPr>
          <p:cNvPr id="36" name="グラフィックス 35">
            <a:extLst>
              <a:ext uri="{FF2B5EF4-FFF2-40B4-BE49-F238E27FC236}">
                <a16:creationId xmlns:a16="http://schemas.microsoft.com/office/drawing/2014/main" id="{F6CFF865-6B50-79FB-D614-E34959299C72}"/>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6713321" y="4558792"/>
            <a:ext cx="272415" cy="272415"/>
          </a:xfrm>
          <a:prstGeom prst="rect">
            <a:avLst/>
          </a:prstGeom>
        </p:spPr>
      </p:pic>
      <p:sp>
        <p:nvSpPr>
          <p:cNvPr id="37" name="正方形/長方形 36">
            <a:extLst>
              <a:ext uri="{FF2B5EF4-FFF2-40B4-BE49-F238E27FC236}">
                <a16:creationId xmlns:a16="http://schemas.microsoft.com/office/drawing/2014/main" id="{8473374A-7C59-4A47-E448-BF4C272BA14D}"/>
              </a:ext>
            </a:extLst>
          </p:cNvPr>
          <p:cNvSpPr>
            <a:spLocks noGrp="1"/>
          </p:cNvSpPr>
          <p:nvPr/>
        </p:nvSpPr>
        <p:spPr>
          <a:xfrm>
            <a:off x="5641822" y="4740402"/>
            <a:ext cx="2397252" cy="926211"/>
          </a:xfrm>
          <a:prstGeom prst="rect">
            <a:avLst/>
          </a:prstGeom>
          <a:solidFill>
            <a:srgbClr val="F7FBF8"/>
          </a:solidFill>
          <a:ln w="14288">
            <a:solidFill>
              <a:srgbClr val="2D6D4B"/>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E2492DEB-1EFA-2924-7987-18A1E5D52AD1}"/>
              </a:ext>
            </a:extLst>
          </p:cNvPr>
          <p:cNvSpPr>
            <a:spLocks noGrp="1"/>
          </p:cNvSpPr>
          <p:nvPr/>
        </p:nvSpPr>
        <p:spPr>
          <a:xfrm>
            <a:off x="5641822" y="4740402"/>
            <a:ext cx="2397252" cy="54483"/>
          </a:xfrm>
          <a:prstGeom prst="rect">
            <a:avLst/>
          </a:prstGeom>
          <a:solidFill>
            <a:srgbClr val="2D6D4B"/>
          </a:solidFill>
          <a:ln w="0">
            <a:solidFill>
              <a:srgbClr val="000000">
                <a:alpha val="0"/>
              </a:srgbClr>
            </a:solidFill>
            <a:prstDash val="solid"/>
          </a:ln>
        </p:spPr>
        <p:txBody>
          <a:bodyPr/>
          <a:lstStyle/>
          <a:p>
            <a:endParaRPr lang="ja-JP" altLang="en-US"/>
          </a:p>
        </p:txBody>
      </p:sp>
      <p:pic>
        <p:nvPicPr>
          <p:cNvPr id="39" name="グラフィックス 38">
            <a:extLst>
              <a:ext uri="{FF2B5EF4-FFF2-40B4-BE49-F238E27FC236}">
                <a16:creationId xmlns:a16="http://schemas.microsoft.com/office/drawing/2014/main" id="{8C97326D-4919-F969-224C-56C9C954E0A3}"/>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5787110" y="4940173"/>
            <a:ext cx="290576" cy="290576"/>
          </a:xfrm>
          <a:prstGeom prst="rect">
            <a:avLst/>
          </a:prstGeom>
        </p:spPr>
      </p:pic>
      <p:sp>
        <p:nvSpPr>
          <p:cNvPr id="40" name="正方形/長方形 39">
            <a:extLst>
              <a:ext uri="{FF2B5EF4-FFF2-40B4-BE49-F238E27FC236}">
                <a16:creationId xmlns:a16="http://schemas.microsoft.com/office/drawing/2014/main" id="{4FEF71FD-F6DC-BDCC-6DF9-F03C3C2644E0}"/>
              </a:ext>
            </a:extLst>
          </p:cNvPr>
          <p:cNvSpPr>
            <a:spLocks noGrp="1"/>
          </p:cNvSpPr>
          <p:nvPr/>
        </p:nvSpPr>
        <p:spPr>
          <a:xfrm>
            <a:off x="6150330" y="4931092"/>
            <a:ext cx="1761617"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2D6D4B"/>
                </a:solidFill>
                <a:latin typeface="Aptos"/>
                <a:ea typeface="Aptos"/>
                <a:cs typeface="Aptos"/>
              </a:defRPr>
            </a:pPr>
            <a:r>
              <a:rPr sz="1329" b="1">
                <a:solidFill>
                  <a:srgbClr val="2D6D4B"/>
                </a:solidFill>
                <a:latin typeface="Aptos"/>
                <a:ea typeface="Aptos"/>
                <a:cs typeface="Aptos"/>
              </a:rPr>
              <a:t>Evidence</a:t>
            </a:r>
          </a:p>
        </p:txBody>
      </p:sp>
      <p:sp>
        <p:nvSpPr>
          <p:cNvPr id="41" name="正方形/長方形 40">
            <a:extLst>
              <a:ext uri="{FF2B5EF4-FFF2-40B4-BE49-F238E27FC236}">
                <a16:creationId xmlns:a16="http://schemas.microsoft.com/office/drawing/2014/main" id="{48E825C2-C70D-F219-817B-5A8F7E8D8F36}"/>
              </a:ext>
            </a:extLst>
          </p:cNvPr>
          <p:cNvSpPr>
            <a:spLocks noGrp="1"/>
          </p:cNvSpPr>
          <p:nvPr/>
        </p:nvSpPr>
        <p:spPr>
          <a:xfrm>
            <a:off x="5805271" y="5267071"/>
            <a:ext cx="2070354"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answer with</a:t>
            </a:r>
          </a:p>
          <a:p>
            <a:pPr algn="l">
              <a:defRPr sz="972" b="0">
                <a:solidFill>
                  <a:srgbClr val="5B6573"/>
                </a:solidFill>
                <a:latin typeface="Aptos"/>
                <a:ea typeface="Aptos"/>
                <a:cs typeface="Aptos"/>
              </a:defRPr>
            </a:pPr>
            <a:r>
              <a:rPr sz="972" b="0">
                <a:solidFill>
                  <a:srgbClr val="5B6573"/>
                </a:solidFill>
                <a:latin typeface="Aptos"/>
                <a:ea typeface="Aptos"/>
                <a:cs typeface="Aptos"/>
              </a:rPr>
              <a:t>uncertainty</a:t>
            </a:r>
          </a:p>
        </p:txBody>
      </p:sp>
      <p:sp>
        <p:nvSpPr>
          <p:cNvPr id="42" name="正方形/長方形 41">
            <a:extLst>
              <a:ext uri="{FF2B5EF4-FFF2-40B4-BE49-F238E27FC236}">
                <a16:creationId xmlns:a16="http://schemas.microsoft.com/office/drawing/2014/main" id="{BA5ED8B1-2215-39EE-D855-0B663DCF29B4}"/>
              </a:ext>
            </a:extLst>
          </p:cNvPr>
          <p:cNvSpPr>
            <a:spLocks noGrp="1"/>
          </p:cNvSpPr>
          <p:nvPr/>
        </p:nvSpPr>
        <p:spPr>
          <a:xfrm>
            <a:off x="8474938" y="1798320"/>
            <a:ext cx="2360930" cy="2887599"/>
          </a:xfrm>
          <a:prstGeom prst="rect">
            <a:avLst/>
          </a:prstGeom>
          <a:solidFill>
            <a:srgbClr val="F8F7FC"/>
          </a:solidFill>
          <a:ln w="13335">
            <a:solidFill>
              <a:srgbClr val="D4DAE2"/>
            </a:solidFill>
            <a:prstDash val="solid"/>
          </a:ln>
        </p:spPr>
        <p:txBody>
          <a:bodyPr/>
          <a:lstStyle/>
          <a:p>
            <a:endParaRPr lang="ja-JP" altLang="en-US"/>
          </a:p>
        </p:txBody>
      </p:sp>
      <p:sp>
        <p:nvSpPr>
          <p:cNvPr id="43" name="正方形/長方形 42">
            <a:extLst>
              <a:ext uri="{FF2B5EF4-FFF2-40B4-BE49-F238E27FC236}">
                <a16:creationId xmlns:a16="http://schemas.microsoft.com/office/drawing/2014/main" id="{F5970131-F7B5-0AF6-1FA6-03F328ACC016}"/>
              </a:ext>
            </a:extLst>
          </p:cNvPr>
          <p:cNvSpPr>
            <a:spLocks noGrp="1"/>
          </p:cNvSpPr>
          <p:nvPr/>
        </p:nvSpPr>
        <p:spPr>
          <a:xfrm>
            <a:off x="8474938" y="1798320"/>
            <a:ext cx="2360930"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44" name="正方形/長方形 43">
            <a:extLst>
              <a:ext uri="{FF2B5EF4-FFF2-40B4-BE49-F238E27FC236}">
                <a16:creationId xmlns:a16="http://schemas.microsoft.com/office/drawing/2014/main" id="{F3D76861-0E3F-22D4-8EAF-13282EE5A4D3}"/>
              </a:ext>
            </a:extLst>
          </p:cNvPr>
          <p:cNvSpPr>
            <a:spLocks noGrp="1"/>
          </p:cNvSpPr>
          <p:nvPr/>
        </p:nvSpPr>
        <p:spPr>
          <a:xfrm>
            <a:off x="8638387" y="1998091"/>
            <a:ext cx="2034032"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4D4B7D"/>
                </a:solidFill>
                <a:latin typeface="Aptos"/>
                <a:ea typeface="Aptos"/>
                <a:cs typeface="Aptos"/>
              </a:defRPr>
            </a:pPr>
            <a:r>
              <a:rPr sz="1466" b="1">
                <a:solidFill>
                  <a:srgbClr val="4D4B7D"/>
                </a:solidFill>
                <a:latin typeface="Aptos"/>
                <a:ea typeface="Aptos"/>
                <a:cs typeface="Aptos"/>
              </a:rPr>
              <a:t>Possible outputs</a:t>
            </a:r>
          </a:p>
        </p:txBody>
      </p:sp>
      <p:sp>
        <p:nvSpPr>
          <p:cNvPr id="45" name="正方形/長方形 44">
            <a:extLst>
              <a:ext uri="{FF2B5EF4-FFF2-40B4-BE49-F238E27FC236}">
                <a16:creationId xmlns:a16="http://schemas.microsoft.com/office/drawing/2014/main" id="{9825DDAF-F234-4F42-6C92-6AEFA1A80151}"/>
              </a:ext>
            </a:extLst>
          </p:cNvPr>
          <p:cNvSpPr>
            <a:spLocks noGrp="1"/>
          </p:cNvSpPr>
          <p:nvPr/>
        </p:nvSpPr>
        <p:spPr>
          <a:xfrm>
            <a:off x="8656548" y="2424874"/>
            <a:ext cx="63563"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46" name="正方形/長方形 45">
            <a:extLst>
              <a:ext uri="{FF2B5EF4-FFF2-40B4-BE49-F238E27FC236}">
                <a16:creationId xmlns:a16="http://schemas.microsoft.com/office/drawing/2014/main" id="{AB4D3722-5096-257F-CF68-DB54592D1C14}"/>
              </a:ext>
            </a:extLst>
          </p:cNvPr>
          <p:cNvSpPr>
            <a:spLocks noGrp="1"/>
          </p:cNvSpPr>
          <p:nvPr/>
        </p:nvSpPr>
        <p:spPr>
          <a:xfrm>
            <a:off x="8801836" y="2343150"/>
            <a:ext cx="1888744"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7" b="0">
                <a:solidFill>
                  <a:srgbClr val="5B6573"/>
                </a:solidFill>
                <a:latin typeface="Aptos"/>
                <a:ea typeface="Aptos"/>
                <a:cs typeface="Aptos"/>
              </a:defRPr>
            </a:pPr>
            <a:r>
              <a:rPr sz="1037" b="0">
                <a:solidFill>
                  <a:srgbClr val="5B6573"/>
                </a:solidFill>
                <a:latin typeface="Aptos"/>
                <a:ea typeface="Aptos"/>
                <a:cs typeface="Aptos"/>
              </a:rPr>
              <a:t>ranked structures</a:t>
            </a:r>
          </a:p>
        </p:txBody>
      </p:sp>
      <p:sp>
        <p:nvSpPr>
          <p:cNvPr id="47" name="正方形/長方形 46">
            <a:extLst>
              <a:ext uri="{FF2B5EF4-FFF2-40B4-BE49-F238E27FC236}">
                <a16:creationId xmlns:a16="http://schemas.microsoft.com/office/drawing/2014/main" id="{C2971A65-27CD-E7C5-0CE3-34E85F1D6160}"/>
              </a:ext>
            </a:extLst>
          </p:cNvPr>
          <p:cNvSpPr>
            <a:spLocks noGrp="1"/>
          </p:cNvSpPr>
          <p:nvPr/>
        </p:nvSpPr>
        <p:spPr>
          <a:xfrm>
            <a:off x="8656548" y="2788094"/>
            <a:ext cx="63563"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48" name="正方形/長方形 47">
            <a:extLst>
              <a:ext uri="{FF2B5EF4-FFF2-40B4-BE49-F238E27FC236}">
                <a16:creationId xmlns:a16="http://schemas.microsoft.com/office/drawing/2014/main" id="{2EE65F16-029C-FB8E-E3CF-ECB5E87516DD}"/>
              </a:ext>
            </a:extLst>
          </p:cNvPr>
          <p:cNvSpPr>
            <a:spLocks noGrp="1"/>
          </p:cNvSpPr>
          <p:nvPr/>
        </p:nvSpPr>
        <p:spPr>
          <a:xfrm>
            <a:off x="8801836" y="2706370"/>
            <a:ext cx="1888744"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7" b="0">
                <a:solidFill>
                  <a:srgbClr val="5B6573"/>
                </a:solidFill>
                <a:latin typeface="Aptos"/>
                <a:ea typeface="Aptos"/>
                <a:cs typeface="Aptos"/>
              </a:defRPr>
            </a:pPr>
            <a:r>
              <a:rPr sz="1037" b="0">
                <a:solidFill>
                  <a:srgbClr val="5B6573"/>
                </a:solidFill>
                <a:latin typeface="Aptos"/>
                <a:ea typeface="Aptos"/>
                <a:cs typeface="Aptos"/>
              </a:rPr>
              <a:t>candidate ensembles</a:t>
            </a:r>
          </a:p>
        </p:txBody>
      </p:sp>
      <p:sp>
        <p:nvSpPr>
          <p:cNvPr id="49" name="正方形/長方形 48">
            <a:extLst>
              <a:ext uri="{FF2B5EF4-FFF2-40B4-BE49-F238E27FC236}">
                <a16:creationId xmlns:a16="http://schemas.microsoft.com/office/drawing/2014/main" id="{B23D4CCF-B001-3539-294D-2D3FBC309168}"/>
              </a:ext>
            </a:extLst>
          </p:cNvPr>
          <p:cNvSpPr>
            <a:spLocks noGrp="1"/>
          </p:cNvSpPr>
          <p:nvPr/>
        </p:nvSpPr>
        <p:spPr>
          <a:xfrm>
            <a:off x="8656548" y="3151314"/>
            <a:ext cx="63563"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50" name="正方形/長方形 49">
            <a:extLst>
              <a:ext uri="{FF2B5EF4-FFF2-40B4-BE49-F238E27FC236}">
                <a16:creationId xmlns:a16="http://schemas.microsoft.com/office/drawing/2014/main" id="{1D95B6F9-7826-1E4D-0A6F-CD5ED6F64C8D}"/>
              </a:ext>
            </a:extLst>
          </p:cNvPr>
          <p:cNvSpPr>
            <a:spLocks noGrp="1"/>
          </p:cNvSpPr>
          <p:nvPr/>
        </p:nvSpPr>
        <p:spPr>
          <a:xfrm>
            <a:off x="8801836" y="3069590"/>
            <a:ext cx="1888744"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7" b="0">
                <a:solidFill>
                  <a:srgbClr val="5B6573"/>
                </a:solidFill>
                <a:latin typeface="Aptos"/>
                <a:ea typeface="Aptos"/>
                <a:cs typeface="Aptos"/>
              </a:defRPr>
            </a:pPr>
            <a:r>
              <a:rPr sz="1037" b="0">
                <a:solidFill>
                  <a:srgbClr val="5B6573"/>
                </a:solidFill>
                <a:latin typeface="Aptos"/>
                <a:ea typeface="Aptos"/>
                <a:cs typeface="Aptos"/>
              </a:rPr>
              <a:t>states for MD restart</a:t>
            </a:r>
          </a:p>
        </p:txBody>
      </p:sp>
      <p:sp>
        <p:nvSpPr>
          <p:cNvPr id="51" name="正方形/長方形 50">
            <a:extLst>
              <a:ext uri="{FF2B5EF4-FFF2-40B4-BE49-F238E27FC236}">
                <a16:creationId xmlns:a16="http://schemas.microsoft.com/office/drawing/2014/main" id="{BB7E25ED-9357-417B-C720-1371BC4D773E}"/>
              </a:ext>
            </a:extLst>
          </p:cNvPr>
          <p:cNvSpPr>
            <a:spLocks noGrp="1"/>
          </p:cNvSpPr>
          <p:nvPr/>
        </p:nvSpPr>
        <p:spPr>
          <a:xfrm>
            <a:off x="8656548" y="3514534"/>
            <a:ext cx="63563"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52" name="正方形/長方形 51">
            <a:extLst>
              <a:ext uri="{FF2B5EF4-FFF2-40B4-BE49-F238E27FC236}">
                <a16:creationId xmlns:a16="http://schemas.microsoft.com/office/drawing/2014/main" id="{11C3550C-67CC-5E3C-FAC3-975E8BA53637}"/>
              </a:ext>
            </a:extLst>
          </p:cNvPr>
          <p:cNvSpPr>
            <a:spLocks noGrp="1"/>
          </p:cNvSpPr>
          <p:nvPr/>
        </p:nvSpPr>
        <p:spPr>
          <a:xfrm>
            <a:off x="8801836" y="3432810"/>
            <a:ext cx="1888744"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7" b="0">
                <a:solidFill>
                  <a:srgbClr val="5B6573"/>
                </a:solidFill>
                <a:latin typeface="Aptos"/>
                <a:ea typeface="Aptos"/>
                <a:cs typeface="Aptos"/>
              </a:defRPr>
            </a:pPr>
            <a:r>
              <a:rPr sz="1037" b="0">
                <a:solidFill>
                  <a:srgbClr val="5B6573"/>
                </a:solidFill>
                <a:latin typeface="Aptos"/>
                <a:ea typeface="Aptos"/>
                <a:cs typeface="Aptos"/>
              </a:rPr>
              <a:t>regions that need sampling</a:t>
            </a:r>
          </a:p>
        </p:txBody>
      </p:sp>
      <p:sp>
        <p:nvSpPr>
          <p:cNvPr id="53" name="正方形/長方形 52">
            <a:extLst>
              <a:ext uri="{FF2B5EF4-FFF2-40B4-BE49-F238E27FC236}">
                <a16:creationId xmlns:a16="http://schemas.microsoft.com/office/drawing/2014/main" id="{B1C9B495-0314-6F3A-FF41-E24549401905}"/>
              </a:ext>
            </a:extLst>
          </p:cNvPr>
          <p:cNvSpPr>
            <a:spLocks noGrp="1"/>
          </p:cNvSpPr>
          <p:nvPr/>
        </p:nvSpPr>
        <p:spPr>
          <a:xfrm>
            <a:off x="8656548" y="3877754"/>
            <a:ext cx="63563" cy="63563"/>
          </a:xfrm>
          <a:prstGeom prst="rect">
            <a:avLst/>
          </a:prstGeom>
          <a:solidFill>
            <a:srgbClr val="4D4B7D"/>
          </a:solidFill>
          <a:ln w="0">
            <a:solidFill>
              <a:srgbClr val="000000">
                <a:alpha val="0"/>
              </a:srgbClr>
            </a:solidFill>
            <a:prstDash val="solid"/>
          </a:ln>
        </p:spPr>
        <p:txBody>
          <a:bodyPr/>
          <a:lstStyle/>
          <a:p>
            <a:endParaRPr lang="ja-JP" altLang="en-US"/>
          </a:p>
        </p:txBody>
      </p:sp>
      <p:sp>
        <p:nvSpPr>
          <p:cNvPr id="54" name="正方形/長方形 53">
            <a:extLst>
              <a:ext uri="{FF2B5EF4-FFF2-40B4-BE49-F238E27FC236}">
                <a16:creationId xmlns:a16="http://schemas.microsoft.com/office/drawing/2014/main" id="{A9910EE8-0DBC-F964-BDC5-EEC694310BFA}"/>
              </a:ext>
            </a:extLst>
          </p:cNvPr>
          <p:cNvSpPr>
            <a:spLocks noGrp="1"/>
          </p:cNvSpPr>
          <p:nvPr/>
        </p:nvSpPr>
        <p:spPr>
          <a:xfrm>
            <a:off x="8801836" y="3796030"/>
            <a:ext cx="1888744"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7" b="0">
                <a:solidFill>
                  <a:srgbClr val="5B6573"/>
                </a:solidFill>
                <a:latin typeface="Aptos"/>
                <a:ea typeface="Aptos"/>
                <a:cs typeface="Aptos"/>
              </a:defRPr>
            </a:pPr>
            <a:r>
              <a:rPr sz="1037" b="0">
                <a:solidFill>
                  <a:srgbClr val="5B6573"/>
                </a:solidFill>
                <a:latin typeface="Aptos"/>
                <a:ea typeface="Aptos"/>
                <a:cs typeface="Aptos"/>
              </a:rPr>
              <a:t>early uncertainty estimate</a:t>
            </a:r>
          </a:p>
        </p:txBody>
      </p:sp>
      <p:sp>
        <p:nvSpPr>
          <p:cNvPr id="55" name="正方形/長方形 54">
            <a:extLst>
              <a:ext uri="{FF2B5EF4-FFF2-40B4-BE49-F238E27FC236}">
                <a16:creationId xmlns:a16="http://schemas.microsoft.com/office/drawing/2014/main" id="{F371974B-4980-E6EB-4FBE-9A90A0D3225D}"/>
              </a:ext>
            </a:extLst>
          </p:cNvPr>
          <p:cNvSpPr>
            <a:spLocks noGrp="1"/>
          </p:cNvSpPr>
          <p:nvPr/>
        </p:nvSpPr>
        <p:spPr>
          <a:xfrm>
            <a:off x="1519275" y="5593969"/>
            <a:ext cx="9153144" cy="454025"/>
          </a:xfrm>
          <a:prstGeom prst="rect">
            <a:avLst/>
          </a:prstGeom>
          <a:solidFill>
            <a:srgbClr val="FCFAF2"/>
          </a:solidFill>
          <a:ln w="9525">
            <a:solidFill>
              <a:srgbClr val="A66A00"/>
            </a:solidFill>
            <a:prstDash val="solid"/>
          </a:ln>
        </p:spPr>
        <p:txBody>
          <a:bodyPr/>
          <a:lstStyle/>
          <a:p>
            <a:endParaRPr lang="ja-JP" altLang="en-US"/>
          </a:p>
        </p:txBody>
      </p:sp>
      <p:sp>
        <p:nvSpPr>
          <p:cNvPr id="56" name="正方形/長方形 55">
            <a:extLst>
              <a:ext uri="{FF2B5EF4-FFF2-40B4-BE49-F238E27FC236}">
                <a16:creationId xmlns:a16="http://schemas.microsoft.com/office/drawing/2014/main" id="{D98654C8-0842-4743-33CA-5AD4680E6E6C}"/>
              </a:ext>
            </a:extLst>
          </p:cNvPr>
          <p:cNvSpPr>
            <a:spLocks noGrp="1"/>
          </p:cNvSpPr>
          <p:nvPr/>
        </p:nvSpPr>
        <p:spPr>
          <a:xfrm>
            <a:off x="1755368" y="5739257"/>
            <a:ext cx="8680958" cy="145288"/>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9" b="1">
                <a:solidFill>
                  <a:srgbClr val="172033"/>
                </a:solidFill>
                <a:latin typeface="Aptos"/>
                <a:ea typeface="Aptos"/>
                <a:cs typeface="Aptos"/>
              </a:defRPr>
            </a:pPr>
            <a:r>
              <a:rPr sz="1129" b="1">
                <a:solidFill>
                  <a:srgbClr val="172033"/>
                </a:solidFill>
                <a:latin typeface="Aptos"/>
                <a:ea typeface="Aptos"/>
                <a:cs typeface="Aptos"/>
              </a:rPr>
              <a:t>Future target: use surrogate models for fast exploration, then use MD for physics-based checking of the selected cases.</a:t>
            </a:r>
          </a:p>
        </p:txBody>
      </p:sp>
      <p:sp>
        <p:nvSpPr>
          <p:cNvPr id="57" name="TextBox 56"/>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16942D1A-C702-4D1B-5A49-748769DF7E58}"/>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82A9E38-7CEE-AFCF-7EA7-8707B3D795E3}"/>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34BED32C-4213-C4DE-5F3B-8559F49CD4F5}"/>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42A3921-20C9-E520-F7D1-0ABF0724193A}"/>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FUTURE PERSPECTIVE 2</a:t>
            </a:r>
          </a:p>
        </p:txBody>
      </p:sp>
      <p:sp>
        <p:nvSpPr>
          <p:cNvPr id="6" name="正方形/長方形 5">
            <a:extLst>
              <a:ext uri="{FF2B5EF4-FFF2-40B4-BE49-F238E27FC236}">
                <a16:creationId xmlns:a16="http://schemas.microsoft.com/office/drawing/2014/main" id="{043E0D17-D908-E617-A10C-9BCDED8EA827}"/>
              </a:ext>
            </a:extLst>
          </p:cNvPr>
          <p:cNvSpPr>
            <a:spLocks noGrp="1"/>
          </p:cNvSpPr>
          <p:nvPr/>
        </p:nvSpPr>
        <p:spPr>
          <a:xfrm>
            <a:off x="720191" y="799465"/>
            <a:ext cx="944372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sz="2538" b="1">
                <a:solidFill>
                  <a:srgbClr val="172033"/>
                </a:solidFill>
                <a:latin typeface="Aptos Display"/>
                <a:ea typeface="Aptos Display"/>
                <a:cs typeface="Aptos Display"/>
              </a:rPr>
              <a:t>Use the DAG to search better sampling strategies and force-field choices.</a:t>
            </a:r>
          </a:p>
        </p:txBody>
      </p:sp>
      <p:sp>
        <p:nvSpPr>
          <p:cNvPr id="9" name="正方形/長方形 8">
            <a:extLst>
              <a:ext uri="{FF2B5EF4-FFF2-40B4-BE49-F238E27FC236}">
                <a16:creationId xmlns:a16="http://schemas.microsoft.com/office/drawing/2014/main" id="{403CABC6-B5CE-B0A3-539C-56B3F34D9E15}"/>
              </a:ext>
            </a:extLst>
          </p:cNvPr>
          <p:cNvSpPr>
            <a:spLocks noGrp="1"/>
          </p:cNvSpPr>
          <p:nvPr/>
        </p:nvSpPr>
        <p:spPr>
          <a:xfrm>
            <a:off x="956284" y="1689354"/>
            <a:ext cx="4776343" cy="2923921"/>
          </a:xfrm>
          <a:prstGeom prst="rect">
            <a:avLst/>
          </a:prstGeom>
          <a:solidFill>
            <a:srgbClr val="F7FAFD"/>
          </a:solidFill>
          <a:ln w="13335">
            <a:solidFill>
              <a:srgbClr val="D4DAE2"/>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C1BD69F0-F871-7F2B-75E2-DC788C006662}"/>
              </a:ext>
            </a:extLst>
          </p:cNvPr>
          <p:cNvSpPr>
            <a:spLocks noGrp="1"/>
          </p:cNvSpPr>
          <p:nvPr/>
        </p:nvSpPr>
        <p:spPr>
          <a:xfrm>
            <a:off x="956284" y="1689354"/>
            <a:ext cx="4776343"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3FD3378C-43B2-E12A-294F-FE9195142ACB}"/>
              </a:ext>
            </a:extLst>
          </p:cNvPr>
          <p:cNvSpPr>
            <a:spLocks noGrp="1"/>
          </p:cNvSpPr>
          <p:nvPr/>
        </p:nvSpPr>
        <p:spPr>
          <a:xfrm>
            <a:off x="1119733" y="1889125"/>
            <a:ext cx="4449445"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0E3A75"/>
                </a:solidFill>
                <a:latin typeface="Aptos"/>
                <a:ea typeface="Aptos"/>
                <a:cs typeface="Aptos"/>
              </a:defRPr>
            </a:pPr>
            <a:r>
              <a:rPr sz="1466" b="1">
                <a:solidFill>
                  <a:srgbClr val="0E3A75"/>
                </a:solidFill>
                <a:latin typeface="Aptos"/>
                <a:ea typeface="Aptos"/>
                <a:cs typeface="Aptos"/>
              </a:rPr>
              <a:t>Adaptive restraints with OpenMM TorchForce</a:t>
            </a:r>
          </a:p>
        </p:txBody>
      </p:sp>
      <p:sp>
        <p:nvSpPr>
          <p:cNvPr id="12" name="正方形/長方形 11">
            <a:extLst>
              <a:ext uri="{FF2B5EF4-FFF2-40B4-BE49-F238E27FC236}">
                <a16:creationId xmlns:a16="http://schemas.microsoft.com/office/drawing/2014/main" id="{52AAD88B-C412-6B54-A938-FD3DC77B682E}"/>
              </a:ext>
            </a:extLst>
          </p:cNvPr>
          <p:cNvSpPr>
            <a:spLocks noGrp="1"/>
          </p:cNvSpPr>
          <p:nvPr/>
        </p:nvSpPr>
        <p:spPr>
          <a:xfrm>
            <a:off x="1119733" y="2216023"/>
            <a:ext cx="4449445"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8" b="0">
                <a:solidFill>
                  <a:srgbClr val="5B6573"/>
                </a:solidFill>
                <a:latin typeface="Aptos"/>
                <a:ea typeface="Aptos"/>
                <a:cs typeface="Aptos"/>
              </a:defRPr>
            </a:pPr>
            <a:r>
              <a:rPr sz="1108" b="0">
                <a:solidFill>
                  <a:srgbClr val="5B6573"/>
                </a:solidFill>
                <a:latin typeface="Aptos"/>
                <a:ea typeface="Aptos"/>
                <a:cs typeface="Aptos"/>
              </a:rPr>
              <a:t>Use flexible PyTorch-based coordinate restraints inside OpenMM.</a:t>
            </a:r>
          </a:p>
        </p:txBody>
      </p:sp>
      <p:sp>
        <p:nvSpPr>
          <p:cNvPr id="13" name="正方形/長方形 12">
            <a:extLst>
              <a:ext uri="{FF2B5EF4-FFF2-40B4-BE49-F238E27FC236}">
                <a16:creationId xmlns:a16="http://schemas.microsoft.com/office/drawing/2014/main" id="{4FDA3D3E-C243-3955-DB25-E54D12554D02}"/>
              </a:ext>
            </a:extLst>
          </p:cNvPr>
          <p:cNvSpPr>
            <a:spLocks noGrp="1"/>
          </p:cNvSpPr>
          <p:nvPr/>
        </p:nvSpPr>
        <p:spPr>
          <a:xfrm>
            <a:off x="1119733" y="2779014"/>
            <a:ext cx="4449445"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8" b="0">
                <a:solidFill>
                  <a:srgbClr val="5B6573"/>
                </a:solidFill>
                <a:latin typeface="Aptos"/>
                <a:ea typeface="Aptos"/>
                <a:cs typeface="Aptos"/>
              </a:defRPr>
            </a:pPr>
            <a:r>
              <a:rPr sz="1108" b="0">
                <a:solidFill>
                  <a:srgbClr val="5B6573"/>
                </a:solidFill>
                <a:latin typeface="Aptos"/>
                <a:ea typeface="Aptos"/>
                <a:cs typeface="Aptos"/>
              </a:rPr>
              <a:t>Let the agentic loop test where restraints help sampling.</a:t>
            </a:r>
          </a:p>
        </p:txBody>
      </p:sp>
      <p:sp>
        <p:nvSpPr>
          <p:cNvPr id="14" name="正方形/長方形 13">
            <a:extLst>
              <a:ext uri="{FF2B5EF4-FFF2-40B4-BE49-F238E27FC236}">
                <a16:creationId xmlns:a16="http://schemas.microsoft.com/office/drawing/2014/main" id="{E3A3CCE3-1371-EB94-6A01-0DF37D2A008A}"/>
              </a:ext>
            </a:extLst>
          </p:cNvPr>
          <p:cNvSpPr>
            <a:spLocks noGrp="1"/>
          </p:cNvSpPr>
          <p:nvPr/>
        </p:nvSpPr>
        <p:spPr>
          <a:xfrm>
            <a:off x="1119733" y="3342005"/>
            <a:ext cx="4449445"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8" b="0">
                <a:solidFill>
                  <a:srgbClr val="5B6573"/>
                </a:solidFill>
                <a:latin typeface="Aptos"/>
                <a:ea typeface="Aptos"/>
                <a:cs typeface="Aptos"/>
              </a:defRPr>
            </a:pPr>
            <a:r>
              <a:rPr sz="1108" b="0">
                <a:solidFill>
                  <a:srgbClr val="5B6573"/>
                </a:solidFill>
                <a:latin typeface="Aptos"/>
                <a:ea typeface="Aptos"/>
                <a:cs typeface="Aptos"/>
              </a:rPr>
              <a:t>Record restraint definitions, parameters, outputs, and decisions as DAG branches.</a:t>
            </a:r>
          </a:p>
        </p:txBody>
      </p:sp>
      <p:sp>
        <p:nvSpPr>
          <p:cNvPr id="15" name="正方形/長方形 14">
            <a:extLst>
              <a:ext uri="{FF2B5EF4-FFF2-40B4-BE49-F238E27FC236}">
                <a16:creationId xmlns:a16="http://schemas.microsoft.com/office/drawing/2014/main" id="{7445DC33-921C-DFF5-2E7A-CB534023F98F}"/>
              </a:ext>
            </a:extLst>
          </p:cNvPr>
          <p:cNvSpPr>
            <a:spLocks noGrp="1"/>
          </p:cNvSpPr>
          <p:nvPr/>
        </p:nvSpPr>
        <p:spPr>
          <a:xfrm>
            <a:off x="6440906" y="1689354"/>
            <a:ext cx="4776343" cy="2923921"/>
          </a:xfrm>
          <a:prstGeom prst="rect">
            <a:avLst/>
          </a:prstGeom>
          <a:solidFill>
            <a:srgbClr val="F7FBF8"/>
          </a:solidFill>
          <a:ln w="13335">
            <a:solidFill>
              <a:srgbClr val="D4DAE2"/>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8DE262CE-5016-0439-EC6C-48E62F0ECDDF}"/>
              </a:ext>
            </a:extLst>
          </p:cNvPr>
          <p:cNvSpPr>
            <a:spLocks noGrp="1"/>
          </p:cNvSpPr>
          <p:nvPr/>
        </p:nvSpPr>
        <p:spPr>
          <a:xfrm>
            <a:off x="6440906" y="1689354"/>
            <a:ext cx="4776343"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08F49EAD-8854-3272-8ADA-696EC2C64511}"/>
              </a:ext>
            </a:extLst>
          </p:cNvPr>
          <p:cNvSpPr>
            <a:spLocks noGrp="1"/>
          </p:cNvSpPr>
          <p:nvPr/>
        </p:nvSpPr>
        <p:spPr>
          <a:xfrm>
            <a:off x="6604355" y="1889125"/>
            <a:ext cx="4449445"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2D6D4B"/>
                </a:solidFill>
                <a:latin typeface="Aptos"/>
                <a:ea typeface="Aptos"/>
                <a:cs typeface="Aptos"/>
              </a:defRPr>
            </a:pPr>
            <a:r>
              <a:rPr sz="1466" b="1">
                <a:solidFill>
                  <a:srgbClr val="2D6D4B"/>
                </a:solidFill>
                <a:latin typeface="Aptos"/>
                <a:ea typeface="Aptos"/>
                <a:cs typeface="Aptos"/>
              </a:rPr>
              <a:t>Force-field comparison and optimization</a:t>
            </a:r>
          </a:p>
        </p:txBody>
      </p:sp>
      <p:sp>
        <p:nvSpPr>
          <p:cNvPr id="18" name="正方形/長方形 17">
            <a:extLst>
              <a:ext uri="{FF2B5EF4-FFF2-40B4-BE49-F238E27FC236}">
                <a16:creationId xmlns:a16="http://schemas.microsoft.com/office/drawing/2014/main" id="{5B7EC6DC-8F82-E792-9D84-DD15AA13AA78}"/>
              </a:ext>
            </a:extLst>
          </p:cNvPr>
          <p:cNvSpPr>
            <a:spLocks noGrp="1"/>
          </p:cNvSpPr>
          <p:nvPr/>
        </p:nvSpPr>
        <p:spPr>
          <a:xfrm>
            <a:off x="6604355" y="2216023"/>
            <a:ext cx="4449445"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8" b="0">
                <a:solidFill>
                  <a:srgbClr val="5B6573"/>
                </a:solidFill>
                <a:latin typeface="Aptos"/>
                <a:ea typeface="Aptos"/>
                <a:cs typeface="Aptos"/>
              </a:defRPr>
            </a:pPr>
            <a:r>
              <a:rPr sz="1108" b="0">
                <a:solidFill>
                  <a:srgbClr val="5B6573"/>
                </a:solidFill>
                <a:latin typeface="Aptos"/>
                <a:ea typeface="Aptos"/>
                <a:cs typeface="Aptos"/>
              </a:rPr>
              <a:t>Branch the same system across force fields, water models, ion models, or parameter sets.</a:t>
            </a:r>
          </a:p>
        </p:txBody>
      </p:sp>
      <p:sp>
        <p:nvSpPr>
          <p:cNvPr id="19" name="正方形/長方形 18">
            <a:extLst>
              <a:ext uri="{FF2B5EF4-FFF2-40B4-BE49-F238E27FC236}">
                <a16:creationId xmlns:a16="http://schemas.microsoft.com/office/drawing/2014/main" id="{097D9CC8-EAC1-0DE5-9FC7-CDD71A4B06A4}"/>
              </a:ext>
            </a:extLst>
          </p:cNvPr>
          <p:cNvSpPr>
            <a:spLocks noGrp="1"/>
          </p:cNvSpPr>
          <p:nvPr/>
        </p:nvSpPr>
        <p:spPr>
          <a:xfrm>
            <a:off x="6604355" y="2779014"/>
            <a:ext cx="4449445"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8" b="0">
                <a:solidFill>
                  <a:srgbClr val="5B6573"/>
                </a:solidFill>
                <a:latin typeface="Aptos"/>
                <a:ea typeface="Aptos"/>
                <a:cs typeface="Aptos"/>
              </a:defRPr>
            </a:pPr>
            <a:r>
              <a:rPr sz="1108" b="0">
                <a:solidFill>
                  <a:srgbClr val="5B6573"/>
                </a:solidFill>
                <a:latin typeface="Aptos"/>
                <a:ea typeface="Aptos"/>
                <a:cs typeface="Aptos"/>
              </a:rPr>
              <a:t>Compare outputs under the same analysis plan.</a:t>
            </a:r>
          </a:p>
        </p:txBody>
      </p:sp>
      <p:sp>
        <p:nvSpPr>
          <p:cNvPr id="20" name="正方形/長方形 19">
            <a:extLst>
              <a:ext uri="{FF2B5EF4-FFF2-40B4-BE49-F238E27FC236}">
                <a16:creationId xmlns:a16="http://schemas.microsoft.com/office/drawing/2014/main" id="{4B0D01FB-0145-6DD5-AC5D-0A30FB2B52A9}"/>
              </a:ext>
            </a:extLst>
          </p:cNvPr>
          <p:cNvSpPr>
            <a:spLocks noGrp="1"/>
          </p:cNvSpPr>
          <p:nvPr/>
        </p:nvSpPr>
        <p:spPr>
          <a:xfrm>
            <a:off x="6604355" y="3342005"/>
            <a:ext cx="4449445" cy="32689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08" b="0">
                <a:solidFill>
                  <a:srgbClr val="5B6573"/>
                </a:solidFill>
                <a:latin typeface="Aptos"/>
                <a:ea typeface="Aptos"/>
                <a:cs typeface="Aptos"/>
              </a:defRPr>
            </a:pPr>
            <a:r>
              <a:rPr sz="1108" b="0">
                <a:solidFill>
                  <a:srgbClr val="5B6573"/>
                </a:solidFill>
                <a:latin typeface="Aptos"/>
                <a:ea typeface="Aptos"/>
                <a:cs typeface="Aptos"/>
              </a:rPr>
              <a:t>Use the result to guide force-field selection or parameter optimization.</a:t>
            </a:r>
          </a:p>
        </p:txBody>
      </p:sp>
      <p:sp>
        <p:nvSpPr>
          <p:cNvPr id="21" name="正方形/長方形 20">
            <a:extLst>
              <a:ext uri="{FF2B5EF4-FFF2-40B4-BE49-F238E27FC236}">
                <a16:creationId xmlns:a16="http://schemas.microsoft.com/office/drawing/2014/main" id="{0725B227-DAFC-CB34-DE21-9C98BB5F0C24}"/>
              </a:ext>
            </a:extLst>
          </p:cNvPr>
          <p:cNvSpPr>
            <a:spLocks noGrp="1"/>
          </p:cNvSpPr>
          <p:nvPr/>
        </p:nvSpPr>
        <p:spPr>
          <a:xfrm>
            <a:off x="1446631" y="4831207"/>
            <a:ext cx="2379091" cy="926211"/>
          </a:xfrm>
          <a:prstGeom prst="rect">
            <a:avLst/>
          </a:prstGeom>
          <a:solidFill>
            <a:srgbClr val="F8F7FC"/>
          </a:solidFill>
          <a:ln w="14288">
            <a:solidFill>
              <a:srgbClr val="4D4B7D"/>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4AFDFDD6-BB21-036A-E71F-50141F0EA384}"/>
              </a:ext>
            </a:extLst>
          </p:cNvPr>
          <p:cNvSpPr>
            <a:spLocks noGrp="1"/>
          </p:cNvSpPr>
          <p:nvPr/>
        </p:nvSpPr>
        <p:spPr>
          <a:xfrm>
            <a:off x="1446631" y="4831207"/>
            <a:ext cx="2379091" cy="54483"/>
          </a:xfrm>
          <a:prstGeom prst="rect">
            <a:avLst/>
          </a:prstGeom>
          <a:solidFill>
            <a:srgbClr val="4D4B7D"/>
          </a:solidFill>
          <a:ln w="0">
            <a:solidFill>
              <a:srgbClr val="000000">
                <a:alpha val="0"/>
              </a:srgbClr>
            </a:solidFill>
            <a:prstDash val="solid"/>
          </a:ln>
        </p:spPr>
        <p:txBody>
          <a:bodyPr/>
          <a:lstStyle/>
          <a:p>
            <a:endParaRPr lang="ja-JP" altLang="en-US"/>
          </a:p>
        </p:txBody>
      </p:sp>
      <p:pic>
        <p:nvPicPr>
          <p:cNvPr id="23" name="グラフィックス 22">
            <a:extLst>
              <a:ext uri="{FF2B5EF4-FFF2-40B4-BE49-F238E27FC236}">
                <a16:creationId xmlns:a16="http://schemas.microsoft.com/office/drawing/2014/main" id="{C578013E-1322-05A6-50CB-33B67A50F46C}"/>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591919" y="5030978"/>
            <a:ext cx="290576" cy="290576"/>
          </a:xfrm>
          <a:prstGeom prst="rect">
            <a:avLst/>
          </a:prstGeom>
        </p:spPr>
      </p:pic>
      <p:sp>
        <p:nvSpPr>
          <p:cNvPr id="24" name="正方形/長方形 23">
            <a:extLst>
              <a:ext uri="{FF2B5EF4-FFF2-40B4-BE49-F238E27FC236}">
                <a16:creationId xmlns:a16="http://schemas.microsoft.com/office/drawing/2014/main" id="{277D7091-D012-6415-B75F-FDB35265D2C2}"/>
              </a:ext>
            </a:extLst>
          </p:cNvPr>
          <p:cNvSpPr>
            <a:spLocks noGrp="1"/>
          </p:cNvSpPr>
          <p:nvPr/>
        </p:nvSpPr>
        <p:spPr>
          <a:xfrm>
            <a:off x="1955139" y="5021897"/>
            <a:ext cx="1743456"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4D4B7D"/>
                </a:solidFill>
                <a:latin typeface="Aptos"/>
                <a:ea typeface="Aptos"/>
                <a:cs typeface="Aptos"/>
              </a:defRPr>
            </a:pPr>
            <a:r>
              <a:rPr sz="1329" b="1">
                <a:solidFill>
                  <a:srgbClr val="4D4B7D"/>
                </a:solidFill>
                <a:latin typeface="Aptos"/>
                <a:ea typeface="Aptos"/>
                <a:cs typeface="Aptos"/>
              </a:rPr>
              <a:t>DAG branch A</a:t>
            </a:r>
          </a:p>
        </p:txBody>
      </p:sp>
      <p:sp>
        <p:nvSpPr>
          <p:cNvPr id="25" name="正方形/長方形 24">
            <a:extLst>
              <a:ext uri="{FF2B5EF4-FFF2-40B4-BE49-F238E27FC236}">
                <a16:creationId xmlns:a16="http://schemas.microsoft.com/office/drawing/2014/main" id="{4C469D5F-1F5C-752A-2007-F7EE83282119}"/>
              </a:ext>
            </a:extLst>
          </p:cNvPr>
          <p:cNvSpPr>
            <a:spLocks noGrp="1"/>
          </p:cNvSpPr>
          <p:nvPr/>
        </p:nvSpPr>
        <p:spPr>
          <a:xfrm>
            <a:off x="1610080" y="5357876"/>
            <a:ext cx="2052193"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baseline MD</a:t>
            </a:r>
          </a:p>
        </p:txBody>
      </p:sp>
      <p:sp>
        <p:nvSpPr>
          <p:cNvPr id="26" name="正方形/長方形 25">
            <a:extLst>
              <a:ext uri="{FF2B5EF4-FFF2-40B4-BE49-F238E27FC236}">
                <a16:creationId xmlns:a16="http://schemas.microsoft.com/office/drawing/2014/main" id="{4E6AE7BE-80A2-EC29-0567-BDD1F1537B26}"/>
              </a:ext>
            </a:extLst>
          </p:cNvPr>
          <p:cNvSpPr>
            <a:spLocks noGrp="1"/>
          </p:cNvSpPr>
          <p:nvPr/>
        </p:nvSpPr>
        <p:spPr>
          <a:xfrm>
            <a:off x="3825722" y="5244370"/>
            <a:ext cx="799084" cy="27241"/>
          </a:xfrm>
          <a:prstGeom prst="rect">
            <a:avLst/>
          </a:prstGeom>
          <a:solidFill>
            <a:srgbClr val="D4DAE2"/>
          </a:solidFill>
          <a:ln w="0">
            <a:solidFill>
              <a:srgbClr val="000000">
                <a:alpha val="0"/>
              </a:srgbClr>
            </a:solidFill>
            <a:prstDash val="solid"/>
          </a:ln>
        </p:spPr>
        <p:txBody>
          <a:bodyPr/>
          <a:lstStyle/>
          <a:p>
            <a:endParaRPr lang="ja-JP" altLang="en-US"/>
          </a:p>
        </p:txBody>
      </p:sp>
      <p:pic>
        <p:nvPicPr>
          <p:cNvPr id="27" name="グラフィックス 26">
            <a:extLst>
              <a:ext uri="{FF2B5EF4-FFF2-40B4-BE49-F238E27FC236}">
                <a16:creationId xmlns:a16="http://schemas.microsoft.com/office/drawing/2014/main" id="{6B94FED8-5975-BAB3-2D82-7D20922CD3EE}"/>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4043654" y="5121783"/>
            <a:ext cx="254254" cy="254254"/>
          </a:xfrm>
          <a:prstGeom prst="rect">
            <a:avLst/>
          </a:prstGeom>
        </p:spPr>
      </p:pic>
      <p:sp>
        <p:nvSpPr>
          <p:cNvPr id="28" name="正方形/長方形 27">
            <a:extLst>
              <a:ext uri="{FF2B5EF4-FFF2-40B4-BE49-F238E27FC236}">
                <a16:creationId xmlns:a16="http://schemas.microsoft.com/office/drawing/2014/main" id="{F1DEC1B2-CD19-BE92-FC4C-96E4A8FA79C4}"/>
              </a:ext>
            </a:extLst>
          </p:cNvPr>
          <p:cNvSpPr>
            <a:spLocks noGrp="1"/>
          </p:cNvSpPr>
          <p:nvPr/>
        </p:nvSpPr>
        <p:spPr>
          <a:xfrm>
            <a:off x="4624806" y="4831207"/>
            <a:ext cx="2379091" cy="926211"/>
          </a:xfrm>
          <a:prstGeom prst="rect">
            <a:avLst/>
          </a:prstGeom>
          <a:solidFill>
            <a:srgbClr val="F7FAFD"/>
          </a:solidFill>
          <a:ln w="14288">
            <a:solidFill>
              <a:srgbClr val="0E3A75"/>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70A939F4-A733-4E2A-03BD-E1D4CE784714}"/>
              </a:ext>
            </a:extLst>
          </p:cNvPr>
          <p:cNvSpPr>
            <a:spLocks noGrp="1"/>
          </p:cNvSpPr>
          <p:nvPr/>
        </p:nvSpPr>
        <p:spPr>
          <a:xfrm>
            <a:off x="4624806" y="4831207"/>
            <a:ext cx="2379091" cy="54483"/>
          </a:xfrm>
          <a:prstGeom prst="rect">
            <a:avLst/>
          </a:prstGeom>
          <a:solidFill>
            <a:srgbClr val="0E3A75"/>
          </a:solidFill>
          <a:ln w="0">
            <a:solidFill>
              <a:srgbClr val="000000">
                <a:alpha val="0"/>
              </a:srgbClr>
            </a:solidFill>
            <a:prstDash val="solid"/>
          </a:ln>
        </p:spPr>
        <p:txBody>
          <a:bodyPr/>
          <a:lstStyle/>
          <a:p>
            <a:endParaRPr lang="ja-JP" altLang="en-US"/>
          </a:p>
        </p:txBody>
      </p:sp>
      <p:pic>
        <p:nvPicPr>
          <p:cNvPr id="30" name="グラフィックス 29">
            <a:extLst>
              <a:ext uri="{FF2B5EF4-FFF2-40B4-BE49-F238E27FC236}">
                <a16:creationId xmlns:a16="http://schemas.microsoft.com/office/drawing/2014/main" id="{24F758E5-BFF1-67C0-EDEF-0AE39AD15CD6}"/>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4770094" y="5030978"/>
            <a:ext cx="290576" cy="290576"/>
          </a:xfrm>
          <a:prstGeom prst="rect">
            <a:avLst/>
          </a:prstGeom>
        </p:spPr>
      </p:pic>
      <p:sp>
        <p:nvSpPr>
          <p:cNvPr id="31" name="正方形/長方形 30">
            <a:extLst>
              <a:ext uri="{FF2B5EF4-FFF2-40B4-BE49-F238E27FC236}">
                <a16:creationId xmlns:a16="http://schemas.microsoft.com/office/drawing/2014/main" id="{A7F13D94-1B98-63B3-BAB4-76D59B5C6874}"/>
              </a:ext>
            </a:extLst>
          </p:cNvPr>
          <p:cNvSpPr>
            <a:spLocks noGrp="1"/>
          </p:cNvSpPr>
          <p:nvPr/>
        </p:nvSpPr>
        <p:spPr>
          <a:xfrm>
            <a:off x="5133314" y="5021897"/>
            <a:ext cx="1743456"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0E3A75"/>
                </a:solidFill>
                <a:latin typeface="Aptos"/>
                <a:ea typeface="Aptos"/>
                <a:cs typeface="Aptos"/>
              </a:defRPr>
            </a:pPr>
            <a:r>
              <a:rPr sz="1329" b="1">
                <a:solidFill>
                  <a:srgbClr val="0E3A75"/>
                </a:solidFill>
                <a:latin typeface="Aptos"/>
                <a:ea typeface="Aptos"/>
                <a:cs typeface="Aptos"/>
              </a:rPr>
              <a:t>DAG branch B</a:t>
            </a:r>
          </a:p>
        </p:txBody>
      </p:sp>
      <p:sp>
        <p:nvSpPr>
          <p:cNvPr id="32" name="正方形/長方形 31">
            <a:extLst>
              <a:ext uri="{FF2B5EF4-FFF2-40B4-BE49-F238E27FC236}">
                <a16:creationId xmlns:a16="http://schemas.microsoft.com/office/drawing/2014/main" id="{D4F58961-D600-46F4-9C82-4863A49CF92F}"/>
              </a:ext>
            </a:extLst>
          </p:cNvPr>
          <p:cNvSpPr>
            <a:spLocks noGrp="1"/>
          </p:cNvSpPr>
          <p:nvPr/>
        </p:nvSpPr>
        <p:spPr>
          <a:xfrm>
            <a:off x="4788255" y="5357876"/>
            <a:ext cx="2052193"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restraint strategy</a:t>
            </a:r>
          </a:p>
        </p:txBody>
      </p:sp>
      <p:sp>
        <p:nvSpPr>
          <p:cNvPr id="33" name="正方形/長方形 32">
            <a:extLst>
              <a:ext uri="{FF2B5EF4-FFF2-40B4-BE49-F238E27FC236}">
                <a16:creationId xmlns:a16="http://schemas.microsoft.com/office/drawing/2014/main" id="{42DA5AF2-34CD-6755-B7DD-17CB2BD686C5}"/>
              </a:ext>
            </a:extLst>
          </p:cNvPr>
          <p:cNvSpPr>
            <a:spLocks noGrp="1"/>
          </p:cNvSpPr>
          <p:nvPr/>
        </p:nvSpPr>
        <p:spPr>
          <a:xfrm>
            <a:off x="7003897" y="5244370"/>
            <a:ext cx="799084" cy="27241"/>
          </a:xfrm>
          <a:prstGeom prst="rect">
            <a:avLst/>
          </a:prstGeom>
          <a:solidFill>
            <a:srgbClr val="D4DAE2"/>
          </a:solidFill>
          <a:ln w="0">
            <a:solidFill>
              <a:srgbClr val="000000">
                <a:alpha val="0"/>
              </a:srgbClr>
            </a:solidFill>
            <a:prstDash val="solid"/>
          </a:ln>
        </p:spPr>
        <p:txBody>
          <a:bodyPr/>
          <a:lstStyle/>
          <a:p>
            <a:endParaRPr lang="ja-JP" altLang="en-US"/>
          </a:p>
        </p:txBody>
      </p:sp>
      <p:pic>
        <p:nvPicPr>
          <p:cNvPr id="34" name="グラフィックス 33">
            <a:extLst>
              <a:ext uri="{FF2B5EF4-FFF2-40B4-BE49-F238E27FC236}">
                <a16:creationId xmlns:a16="http://schemas.microsoft.com/office/drawing/2014/main" id="{6ADE79A3-4BAA-3575-7250-3C1E94275359}"/>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7221829" y="5121783"/>
            <a:ext cx="254254" cy="254254"/>
          </a:xfrm>
          <a:prstGeom prst="rect">
            <a:avLst/>
          </a:prstGeom>
        </p:spPr>
      </p:pic>
      <p:sp>
        <p:nvSpPr>
          <p:cNvPr id="35" name="正方形/長方形 34">
            <a:extLst>
              <a:ext uri="{FF2B5EF4-FFF2-40B4-BE49-F238E27FC236}">
                <a16:creationId xmlns:a16="http://schemas.microsoft.com/office/drawing/2014/main" id="{6E494808-5A76-6A98-5C96-2256FA202382}"/>
              </a:ext>
            </a:extLst>
          </p:cNvPr>
          <p:cNvSpPr>
            <a:spLocks noGrp="1"/>
          </p:cNvSpPr>
          <p:nvPr/>
        </p:nvSpPr>
        <p:spPr>
          <a:xfrm>
            <a:off x="7802981" y="4831207"/>
            <a:ext cx="2379091" cy="926211"/>
          </a:xfrm>
          <a:prstGeom prst="rect">
            <a:avLst/>
          </a:prstGeom>
          <a:solidFill>
            <a:srgbClr val="F7FBF8"/>
          </a:solidFill>
          <a:ln w="14288">
            <a:solidFill>
              <a:srgbClr val="2D6D4B"/>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55E8DBF6-3B50-3790-0187-644D03AE178B}"/>
              </a:ext>
            </a:extLst>
          </p:cNvPr>
          <p:cNvSpPr>
            <a:spLocks noGrp="1"/>
          </p:cNvSpPr>
          <p:nvPr/>
        </p:nvSpPr>
        <p:spPr>
          <a:xfrm>
            <a:off x="7802981" y="4831207"/>
            <a:ext cx="2379091" cy="54483"/>
          </a:xfrm>
          <a:prstGeom prst="rect">
            <a:avLst/>
          </a:prstGeom>
          <a:solidFill>
            <a:srgbClr val="2D6D4B"/>
          </a:solidFill>
          <a:ln w="0">
            <a:solidFill>
              <a:srgbClr val="000000">
                <a:alpha val="0"/>
              </a:srgbClr>
            </a:solidFill>
            <a:prstDash val="solid"/>
          </a:ln>
        </p:spPr>
        <p:txBody>
          <a:bodyPr/>
          <a:lstStyle/>
          <a:p>
            <a:endParaRPr lang="ja-JP" altLang="en-US"/>
          </a:p>
        </p:txBody>
      </p:sp>
      <p:pic>
        <p:nvPicPr>
          <p:cNvPr id="37" name="グラフィックス 36">
            <a:extLst>
              <a:ext uri="{FF2B5EF4-FFF2-40B4-BE49-F238E27FC236}">
                <a16:creationId xmlns:a16="http://schemas.microsoft.com/office/drawing/2014/main" id="{7315F6E9-DFA4-AB03-D765-754FAB799EBA}"/>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7948269" y="5030978"/>
            <a:ext cx="290576" cy="290576"/>
          </a:xfrm>
          <a:prstGeom prst="rect">
            <a:avLst/>
          </a:prstGeom>
        </p:spPr>
      </p:pic>
      <p:sp>
        <p:nvSpPr>
          <p:cNvPr id="38" name="正方形/長方形 37">
            <a:extLst>
              <a:ext uri="{FF2B5EF4-FFF2-40B4-BE49-F238E27FC236}">
                <a16:creationId xmlns:a16="http://schemas.microsoft.com/office/drawing/2014/main" id="{063D286C-7EAE-D768-881F-4B84E38C0255}"/>
              </a:ext>
            </a:extLst>
          </p:cNvPr>
          <p:cNvSpPr>
            <a:spLocks noGrp="1"/>
          </p:cNvSpPr>
          <p:nvPr/>
        </p:nvSpPr>
        <p:spPr>
          <a:xfrm>
            <a:off x="8311489" y="5021897"/>
            <a:ext cx="1743456"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29" b="1">
                <a:solidFill>
                  <a:srgbClr val="2D6D4B"/>
                </a:solidFill>
                <a:latin typeface="Aptos"/>
                <a:ea typeface="Aptos"/>
                <a:cs typeface="Aptos"/>
              </a:defRPr>
            </a:pPr>
            <a:r>
              <a:rPr sz="1329" b="1">
                <a:solidFill>
                  <a:srgbClr val="2D6D4B"/>
                </a:solidFill>
                <a:latin typeface="Aptos"/>
                <a:ea typeface="Aptos"/>
                <a:cs typeface="Aptos"/>
              </a:rPr>
              <a:t>DAG branch C</a:t>
            </a:r>
          </a:p>
        </p:txBody>
      </p:sp>
      <p:sp>
        <p:nvSpPr>
          <p:cNvPr id="39" name="正方形/長方形 38">
            <a:extLst>
              <a:ext uri="{FF2B5EF4-FFF2-40B4-BE49-F238E27FC236}">
                <a16:creationId xmlns:a16="http://schemas.microsoft.com/office/drawing/2014/main" id="{B9B2D881-2C7E-71EF-1206-1375F1B79C28}"/>
              </a:ext>
            </a:extLst>
          </p:cNvPr>
          <p:cNvSpPr>
            <a:spLocks noGrp="1"/>
          </p:cNvSpPr>
          <p:nvPr/>
        </p:nvSpPr>
        <p:spPr>
          <a:xfrm>
            <a:off x="7966430" y="5357876"/>
            <a:ext cx="2052193" cy="30873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2" b="0">
                <a:solidFill>
                  <a:srgbClr val="5B6573"/>
                </a:solidFill>
                <a:latin typeface="Aptos"/>
                <a:ea typeface="Aptos"/>
                <a:cs typeface="Aptos"/>
              </a:defRPr>
            </a:pPr>
            <a:r>
              <a:rPr sz="972" b="0">
                <a:solidFill>
                  <a:srgbClr val="5B6573"/>
                </a:solidFill>
                <a:latin typeface="Aptos"/>
                <a:ea typeface="Aptos"/>
                <a:cs typeface="Aptos"/>
              </a:rPr>
              <a:t>force-field choice</a:t>
            </a:r>
          </a:p>
        </p:txBody>
      </p:sp>
      <p:sp>
        <p:nvSpPr>
          <p:cNvPr id="40" name="正方形/長方形 39">
            <a:extLst>
              <a:ext uri="{FF2B5EF4-FFF2-40B4-BE49-F238E27FC236}">
                <a16:creationId xmlns:a16="http://schemas.microsoft.com/office/drawing/2014/main" id="{FBDBA446-65A7-F394-5410-D86EF3D8FF03}"/>
              </a:ext>
            </a:extLst>
          </p:cNvPr>
          <p:cNvSpPr>
            <a:spLocks noGrp="1"/>
          </p:cNvSpPr>
          <p:nvPr/>
        </p:nvSpPr>
        <p:spPr>
          <a:xfrm>
            <a:off x="1555597" y="5957189"/>
            <a:ext cx="9080500" cy="199771"/>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9" b="1">
                <a:solidFill>
                  <a:srgbClr val="172033"/>
                </a:solidFill>
                <a:latin typeface="Aptos"/>
                <a:ea typeface="Aptos"/>
                <a:cs typeface="Aptos"/>
              </a:defRPr>
            </a:pPr>
            <a:r>
              <a:rPr sz="1129" b="1">
                <a:solidFill>
                  <a:srgbClr val="172033"/>
                </a:solidFill>
                <a:latin typeface="Aptos"/>
                <a:ea typeface="Aptos"/>
                <a:cs typeface="Aptos"/>
              </a:rPr>
              <a:t>The same DAG design can support systematic sampling tests, force-field comparison, and parameter optimization.</a:t>
            </a:r>
          </a:p>
        </p:txBody>
      </p:sp>
      <p:sp>
        <p:nvSpPr>
          <p:cNvPr id="41" name="TextBox 40"/>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85BB3EBB-8290-4B8D-BDF9-37ADBB0C89A9}"/>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A16B4D0C-589E-4EB3-BD57-50C675851380}"/>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083BB706-6139-47D3-8F3F-55980FB2E1BD}"/>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4759837-D5CB-4D4B-A4BC-3D5C63C54606}"/>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SOFTWARE USED UNDERNEATH</a:t>
            </a:r>
          </a:p>
        </p:txBody>
      </p:sp>
      <p:sp>
        <p:nvSpPr>
          <p:cNvPr id="6" name="正方形/長方形 5">
            <a:extLst>
              <a:ext uri="{FF2B5EF4-FFF2-40B4-BE49-F238E27FC236}">
                <a16:creationId xmlns:a16="http://schemas.microsoft.com/office/drawing/2014/main" id="{4F9E31FD-DB76-4BE1-A3A6-0B9E44AB51D2}"/>
              </a:ext>
            </a:extLst>
          </p:cNvPr>
          <p:cNvSpPr>
            <a:spLocks noGrp="1"/>
          </p:cNvSpPr>
          <p:nvPr/>
        </p:nvSpPr>
        <p:spPr>
          <a:xfrm>
            <a:off x="720191" y="799465"/>
            <a:ext cx="10766342"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lang="en-US" sz="2538" b="1" dirty="0">
                <a:solidFill>
                  <a:srgbClr val="172033"/>
                </a:solidFill>
                <a:latin typeface="Aptos Display"/>
                <a:ea typeface="Aptos Display"/>
                <a:cs typeface="Aptos Display"/>
              </a:rPr>
              <a:t>CLIs and MCP servers are composed of open-source HPC ecosystem</a:t>
            </a:r>
            <a:endParaRPr sz="2538" b="1" dirty="0">
              <a:solidFill>
                <a:srgbClr val="172033"/>
              </a:solidFill>
              <a:latin typeface="Aptos Display"/>
              <a:ea typeface="Aptos Display"/>
              <a:cs typeface="Aptos Display"/>
            </a:endParaRPr>
          </a:p>
        </p:txBody>
      </p:sp>
      <p:sp>
        <p:nvSpPr>
          <p:cNvPr id="9" name="正方形/長方形 8">
            <a:extLst>
              <a:ext uri="{FF2B5EF4-FFF2-40B4-BE49-F238E27FC236}">
                <a16:creationId xmlns:a16="http://schemas.microsoft.com/office/drawing/2014/main" id="{32B7CEEB-21C3-426B-9A98-81D706C77320}"/>
              </a:ext>
            </a:extLst>
          </p:cNvPr>
          <p:cNvSpPr>
            <a:spLocks noGrp="1"/>
          </p:cNvSpPr>
          <p:nvPr/>
        </p:nvSpPr>
        <p:spPr>
          <a:xfrm>
            <a:off x="938123" y="1616710"/>
            <a:ext cx="4540250" cy="1071499"/>
          </a:xfrm>
          <a:prstGeom prst="rect">
            <a:avLst/>
          </a:prstGeom>
          <a:solidFill>
            <a:srgbClr val="F7FAFD"/>
          </a:solidFill>
          <a:ln w="13335">
            <a:solidFill>
              <a:srgbClr val="D4DAE2"/>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8D60D13A-2856-40E4-9E9E-22C90B4D910B}"/>
              </a:ext>
            </a:extLst>
          </p:cNvPr>
          <p:cNvSpPr>
            <a:spLocks noGrp="1"/>
          </p:cNvSpPr>
          <p:nvPr/>
        </p:nvSpPr>
        <p:spPr>
          <a:xfrm>
            <a:off x="938123" y="1616710"/>
            <a:ext cx="4540250"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E64DE289-59FC-4970-ABEA-3383922158B0}"/>
              </a:ext>
            </a:extLst>
          </p:cNvPr>
          <p:cNvSpPr>
            <a:spLocks noGrp="1"/>
          </p:cNvSpPr>
          <p:nvPr/>
        </p:nvSpPr>
        <p:spPr>
          <a:xfrm>
            <a:off x="1101572" y="1816481"/>
            <a:ext cx="4213352"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0E3A75"/>
                </a:solidFill>
                <a:latin typeface="Aptos"/>
                <a:ea typeface="Aptos"/>
                <a:cs typeface="Aptos"/>
              </a:defRPr>
            </a:pPr>
            <a:r>
              <a:rPr sz="1466" b="1">
                <a:solidFill>
                  <a:srgbClr val="0E3A75"/>
                </a:solidFill>
                <a:latin typeface="Aptos"/>
                <a:ea typeface="Aptos"/>
                <a:cs typeface="Aptos"/>
              </a:rPr>
              <a:t>Main point</a:t>
            </a:r>
          </a:p>
        </p:txBody>
      </p:sp>
      <p:sp>
        <p:nvSpPr>
          <p:cNvPr id="12" name="正方形/長方形 11">
            <a:extLst>
              <a:ext uri="{FF2B5EF4-FFF2-40B4-BE49-F238E27FC236}">
                <a16:creationId xmlns:a16="http://schemas.microsoft.com/office/drawing/2014/main" id="{951A05FC-55A1-4248-A1E1-84E90CAA18DA}"/>
              </a:ext>
            </a:extLst>
          </p:cNvPr>
          <p:cNvSpPr>
            <a:spLocks noGrp="1"/>
          </p:cNvSpPr>
          <p:nvPr/>
        </p:nvSpPr>
        <p:spPr>
          <a:xfrm>
            <a:off x="1101572" y="2125218"/>
            <a:ext cx="4213352" cy="36322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6" b="0">
                <a:solidFill>
                  <a:srgbClr val="172033"/>
                </a:solidFill>
                <a:latin typeface="Aptos"/>
                <a:ea typeface="Aptos"/>
                <a:cs typeface="Aptos"/>
              </a:defRPr>
            </a:pPr>
            <a:r>
              <a:rPr sz="1086" b="0">
                <a:solidFill>
                  <a:srgbClr val="172033"/>
                </a:solidFill>
                <a:latin typeface="Aptos"/>
                <a:ea typeface="Aptos"/>
                <a:cs typeface="Aptos"/>
              </a:rPr>
              <a:t>The agent does not directly manage all low-level MD details. It calls MDClaw tools, and those tools call established scientific software.</a:t>
            </a:r>
          </a:p>
        </p:txBody>
      </p:sp>
      <p:sp>
        <p:nvSpPr>
          <p:cNvPr id="13" name="正方形/長方形 12">
            <a:extLst>
              <a:ext uri="{FF2B5EF4-FFF2-40B4-BE49-F238E27FC236}">
                <a16:creationId xmlns:a16="http://schemas.microsoft.com/office/drawing/2014/main" id="{D9B22ACF-BDE0-42C7-944D-7F1A575D87DF}"/>
              </a:ext>
            </a:extLst>
          </p:cNvPr>
          <p:cNvSpPr>
            <a:spLocks noGrp="1"/>
          </p:cNvSpPr>
          <p:nvPr/>
        </p:nvSpPr>
        <p:spPr>
          <a:xfrm>
            <a:off x="6186652" y="1616710"/>
            <a:ext cx="4540250" cy="1071499"/>
          </a:xfrm>
          <a:prstGeom prst="rect">
            <a:avLst/>
          </a:prstGeom>
          <a:solidFill>
            <a:srgbClr val="F7FBF8"/>
          </a:solidFill>
          <a:ln w="13335">
            <a:solidFill>
              <a:srgbClr val="D4DAE2"/>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22BC6E3E-7525-4CD6-AFFB-7F4DA2D86BE4}"/>
              </a:ext>
            </a:extLst>
          </p:cNvPr>
          <p:cNvSpPr>
            <a:spLocks noGrp="1"/>
          </p:cNvSpPr>
          <p:nvPr/>
        </p:nvSpPr>
        <p:spPr>
          <a:xfrm>
            <a:off x="6186652" y="1616710"/>
            <a:ext cx="4540250" cy="63563"/>
          </a:xfrm>
          <a:prstGeom prst="rect">
            <a:avLst/>
          </a:prstGeom>
          <a:solidFill>
            <a:srgbClr val="2D6D4B"/>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AB31E2B5-D99D-4F13-8094-A94785168ECD}"/>
              </a:ext>
            </a:extLst>
          </p:cNvPr>
          <p:cNvSpPr>
            <a:spLocks noGrp="1"/>
          </p:cNvSpPr>
          <p:nvPr/>
        </p:nvSpPr>
        <p:spPr>
          <a:xfrm>
            <a:off x="6350101" y="1816481"/>
            <a:ext cx="4213352"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2D6D4B"/>
                </a:solidFill>
                <a:latin typeface="Aptos"/>
                <a:ea typeface="Aptos"/>
                <a:cs typeface="Aptos"/>
              </a:defRPr>
            </a:pPr>
            <a:r>
              <a:rPr sz="1466" b="1">
                <a:solidFill>
                  <a:srgbClr val="2D6D4B"/>
                </a:solidFill>
                <a:latin typeface="Aptos"/>
                <a:ea typeface="Aptos"/>
                <a:cs typeface="Aptos"/>
              </a:rPr>
              <a:t>Why this helps</a:t>
            </a:r>
          </a:p>
        </p:txBody>
      </p:sp>
      <p:sp>
        <p:nvSpPr>
          <p:cNvPr id="16" name="正方形/長方形 15">
            <a:extLst>
              <a:ext uri="{FF2B5EF4-FFF2-40B4-BE49-F238E27FC236}">
                <a16:creationId xmlns:a16="http://schemas.microsoft.com/office/drawing/2014/main" id="{35B2175E-E0FC-4915-8210-BD58F26A8648}"/>
              </a:ext>
            </a:extLst>
          </p:cNvPr>
          <p:cNvSpPr>
            <a:spLocks noGrp="1"/>
          </p:cNvSpPr>
          <p:nvPr/>
        </p:nvSpPr>
        <p:spPr>
          <a:xfrm>
            <a:off x="6350101" y="2125218"/>
            <a:ext cx="4213352" cy="36322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6" b="0">
                <a:solidFill>
                  <a:srgbClr val="172033"/>
                </a:solidFill>
                <a:latin typeface="Aptos"/>
                <a:ea typeface="Aptos"/>
                <a:cs typeface="Aptos"/>
              </a:defRPr>
            </a:pPr>
            <a:r>
              <a:rPr sz="1086" b="0">
                <a:solidFill>
                  <a:srgbClr val="172033"/>
                </a:solidFill>
                <a:latin typeface="Aptos"/>
                <a:ea typeface="Aptos"/>
                <a:cs typeface="Aptos"/>
              </a:rPr>
              <a:t>We can keep using trusted MD engines, while adding workflow records, checks, branching, and reports around them.</a:t>
            </a:r>
          </a:p>
        </p:txBody>
      </p:sp>
      <p:sp>
        <p:nvSpPr>
          <p:cNvPr id="17" name="正方形/長方形 16">
            <a:extLst>
              <a:ext uri="{FF2B5EF4-FFF2-40B4-BE49-F238E27FC236}">
                <a16:creationId xmlns:a16="http://schemas.microsoft.com/office/drawing/2014/main" id="{B5E1237E-9838-4527-9292-33AD78EF37C1}"/>
              </a:ext>
            </a:extLst>
          </p:cNvPr>
          <p:cNvSpPr>
            <a:spLocks noGrp="1"/>
          </p:cNvSpPr>
          <p:nvPr/>
        </p:nvSpPr>
        <p:spPr>
          <a:xfrm>
            <a:off x="956284" y="3178556"/>
            <a:ext cx="5902325"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8" b="1">
                <a:solidFill>
                  <a:srgbClr val="0E3A75"/>
                </a:solidFill>
                <a:latin typeface="Aptos"/>
                <a:ea typeface="Aptos"/>
                <a:cs typeface="Aptos"/>
              </a:defRPr>
            </a:pPr>
            <a:r>
              <a:rPr b="1">
                <a:solidFill>
                  <a:srgbClr val="0E3A75"/>
                </a:solidFill>
                <a:latin typeface="Aptos"/>
                <a:ea typeface="Aptos"/>
                <a:cs typeface="Aptos"/>
              </a:rPr>
              <a:t>Scientific software stack</a:t>
            </a:r>
          </a:p>
        </p:txBody>
      </p:sp>
      <p:sp>
        <p:nvSpPr>
          <p:cNvPr id="18" name="正方形/長方形 17">
            <a:extLst>
              <a:ext uri="{FF2B5EF4-FFF2-40B4-BE49-F238E27FC236}">
                <a16:creationId xmlns:a16="http://schemas.microsoft.com/office/drawing/2014/main" id="{2C2BF8AD-3F0F-4E3A-BD1F-914BF025B5E4}"/>
              </a:ext>
            </a:extLst>
          </p:cNvPr>
          <p:cNvSpPr>
            <a:spLocks noGrp="1"/>
          </p:cNvSpPr>
          <p:nvPr/>
        </p:nvSpPr>
        <p:spPr>
          <a:xfrm>
            <a:off x="956284" y="3523615"/>
            <a:ext cx="1543685" cy="236093"/>
          </a:xfrm>
          <a:prstGeom prst="rect">
            <a:avLst/>
          </a:prstGeom>
          <a:solidFill>
            <a:srgbClr val="F7FAFD"/>
          </a:solidFill>
          <a:ln w="6668">
            <a:solidFill>
              <a:srgbClr val="EEF1F5"/>
            </a:solidFill>
            <a:prstDash val="solid"/>
          </a:ln>
        </p:spPr>
        <p:txBody>
          <a:bodyPr/>
          <a:lstStyle/>
          <a:p>
            <a:endParaRPr lang="ja-JP" altLang="en-US" sz="2288"/>
          </a:p>
        </p:txBody>
      </p:sp>
      <p:sp>
        <p:nvSpPr>
          <p:cNvPr id="19" name="正方形/長方形 18">
            <a:extLst>
              <a:ext uri="{FF2B5EF4-FFF2-40B4-BE49-F238E27FC236}">
                <a16:creationId xmlns:a16="http://schemas.microsoft.com/office/drawing/2014/main" id="{E3091164-B3C3-4F53-B128-F40B7991C7D2}"/>
              </a:ext>
            </a:extLst>
          </p:cNvPr>
          <p:cNvSpPr>
            <a:spLocks noGrp="1"/>
          </p:cNvSpPr>
          <p:nvPr/>
        </p:nvSpPr>
        <p:spPr>
          <a:xfrm>
            <a:off x="2499969" y="3523615"/>
            <a:ext cx="4340479" cy="236093"/>
          </a:xfrm>
          <a:prstGeom prst="rect">
            <a:avLst/>
          </a:prstGeom>
          <a:solidFill>
            <a:srgbClr val="FFFFFF"/>
          </a:solidFill>
          <a:ln w="6668">
            <a:solidFill>
              <a:srgbClr val="EEF1F5"/>
            </a:solidFill>
            <a:prstDash val="solid"/>
          </a:ln>
        </p:spPr>
        <p:txBody>
          <a:bodyPr/>
          <a:lstStyle/>
          <a:p>
            <a:endParaRPr lang="ja-JP" altLang="en-US" sz="2288"/>
          </a:p>
        </p:txBody>
      </p:sp>
      <p:sp>
        <p:nvSpPr>
          <p:cNvPr id="20" name="正方形/長方形 19">
            <a:extLst>
              <a:ext uri="{FF2B5EF4-FFF2-40B4-BE49-F238E27FC236}">
                <a16:creationId xmlns:a16="http://schemas.microsoft.com/office/drawing/2014/main" id="{DA468822-5B23-446A-BBA5-4943650A7F65}"/>
              </a:ext>
            </a:extLst>
          </p:cNvPr>
          <p:cNvSpPr>
            <a:spLocks noGrp="1"/>
          </p:cNvSpPr>
          <p:nvPr/>
        </p:nvSpPr>
        <p:spPr>
          <a:xfrm>
            <a:off x="1065250" y="3587178"/>
            <a:ext cx="1325753"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9" b="1">
                <a:solidFill>
                  <a:srgbClr val="0E3A75"/>
                </a:solidFill>
                <a:latin typeface="Aptos"/>
                <a:ea typeface="Aptos"/>
                <a:cs typeface="Aptos"/>
              </a:defRPr>
            </a:pPr>
            <a:r>
              <a:rPr sz="858" b="1">
                <a:solidFill>
                  <a:srgbClr val="0E3A75"/>
                </a:solidFill>
                <a:latin typeface="Aptos"/>
                <a:ea typeface="Aptos"/>
                <a:cs typeface="Aptos"/>
              </a:rPr>
              <a:t>Input / knowledge</a:t>
            </a:r>
          </a:p>
        </p:txBody>
      </p:sp>
      <p:sp>
        <p:nvSpPr>
          <p:cNvPr id="21" name="正方形/長方形 20">
            <a:extLst>
              <a:ext uri="{FF2B5EF4-FFF2-40B4-BE49-F238E27FC236}">
                <a16:creationId xmlns:a16="http://schemas.microsoft.com/office/drawing/2014/main" id="{1975610F-8165-4C4D-BE44-A6B755842B74}"/>
              </a:ext>
            </a:extLst>
          </p:cNvPr>
          <p:cNvSpPr>
            <a:spLocks noGrp="1"/>
          </p:cNvSpPr>
          <p:nvPr/>
        </p:nvSpPr>
        <p:spPr>
          <a:xfrm>
            <a:off x="2645257" y="3587178"/>
            <a:ext cx="4031742"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94" b="0">
                <a:solidFill>
                  <a:srgbClr val="172033"/>
                </a:solidFill>
                <a:latin typeface="Aptos"/>
                <a:ea typeface="Aptos"/>
                <a:cs typeface="Aptos"/>
              </a:defRPr>
            </a:pPr>
            <a:r>
              <a:rPr sz="858" b="0">
                <a:solidFill>
                  <a:srgbClr val="172033"/>
                </a:solidFill>
                <a:latin typeface="Aptos"/>
                <a:ea typeface="Aptos"/>
                <a:cs typeface="Aptos"/>
              </a:rPr>
              <a:t>RCSB PDB, AlphaFold, UniProt, PubChem, PubMed</a:t>
            </a:r>
          </a:p>
        </p:txBody>
      </p:sp>
      <p:sp>
        <p:nvSpPr>
          <p:cNvPr id="22" name="正方形/長方形 21">
            <a:extLst>
              <a:ext uri="{FF2B5EF4-FFF2-40B4-BE49-F238E27FC236}">
                <a16:creationId xmlns:a16="http://schemas.microsoft.com/office/drawing/2014/main" id="{046A6AF6-CE60-4663-A577-1A40DDB10FC2}"/>
              </a:ext>
            </a:extLst>
          </p:cNvPr>
          <p:cNvSpPr>
            <a:spLocks noGrp="1"/>
          </p:cNvSpPr>
          <p:nvPr/>
        </p:nvSpPr>
        <p:spPr>
          <a:xfrm>
            <a:off x="956284" y="3868674"/>
            <a:ext cx="1543685" cy="236093"/>
          </a:xfrm>
          <a:prstGeom prst="rect">
            <a:avLst/>
          </a:prstGeom>
          <a:solidFill>
            <a:srgbClr val="FFFFFF"/>
          </a:solidFill>
          <a:ln w="6668">
            <a:solidFill>
              <a:srgbClr val="EEF1F5"/>
            </a:solidFill>
            <a:prstDash val="solid"/>
          </a:ln>
        </p:spPr>
        <p:txBody>
          <a:bodyPr/>
          <a:lstStyle/>
          <a:p>
            <a:endParaRPr lang="ja-JP" altLang="en-US" sz="2288"/>
          </a:p>
        </p:txBody>
      </p:sp>
      <p:sp>
        <p:nvSpPr>
          <p:cNvPr id="23" name="正方形/長方形 22">
            <a:extLst>
              <a:ext uri="{FF2B5EF4-FFF2-40B4-BE49-F238E27FC236}">
                <a16:creationId xmlns:a16="http://schemas.microsoft.com/office/drawing/2014/main" id="{83B1C678-4E50-4B7D-AB4E-62C88BB11C6D}"/>
              </a:ext>
            </a:extLst>
          </p:cNvPr>
          <p:cNvSpPr>
            <a:spLocks noGrp="1"/>
          </p:cNvSpPr>
          <p:nvPr/>
        </p:nvSpPr>
        <p:spPr>
          <a:xfrm>
            <a:off x="2499969" y="3868674"/>
            <a:ext cx="4340479" cy="236093"/>
          </a:xfrm>
          <a:prstGeom prst="rect">
            <a:avLst/>
          </a:prstGeom>
          <a:solidFill>
            <a:srgbClr val="FFFFFF"/>
          </a:solidFill>
          <a:ln w="6668">
            <a:solidFill>
              <a:srgbClr val="EEF1F5"/>
            </a:solidFill>
            <a:prstDash val="solid"/>
          </a:ln>
        </p:spPr>
        <p:txBody>
          <a:bodyPr/>
          <a:lstStyle/>
          <a:p>
            <a:endParaRPr lang="ja-JP" altLang="en-US" sz="2288"/>
          </a:p>
        </p:txBody>
      </p:sp>
      <p:sp>
        <p:nvSpPr>
          <p:cNvPr id="24" name="正方形/長方形 23">
            <a:extLst>
              <a:ext uri="{FF2B5EF4-FFF2-40B4-BE49-F238E27FC236}">
                <a16:creationId xmlns:a16="http://schemas.microsoft.com/office/drawing/2014/main" id="{63BCABA2-070E-48D8-8915-41DBD146F650}"/>
              </a:ext>
            </a:extLst>
          </p:cNvPr>
          <p:cNvSpPr>
            <a:spLocks noGrp="1"/>
          </p:cNvSpPr>
          <p:nvPr/>
        </p:nvSpPr>
        <p:spPr>
          <a:xfrm>
            <a:off x="1065250" y="3932237"/>
            <a:ext cx="1325753"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9" b="1">
                <a:solidFill>
                  <a:srgbClr val="0E3A75"/>
                </a:solidFill>
                <a:latin typeface="Aptos"/>
                <a:ea typeface="Aptos"/>
                <a:cs typeface="Aptos"/>
              </a:defRPr>
            </a:pPr>
            <a:r>
              <a:rPr sz="858" b="1">
                <a:solidFill>
                  <a:srgbClr val="0E3A75"/>
                </a:solidFill>
                <a:latin typeface="Aptos"/>
                <a:ea typeface="Aptos"/>
                <a:cs typeface="Aptos"/>
              </a:rPr>
              <a:t>Structure preparation</a:t>
            </a:r>
          </a:p>
        </p:txBody>
      </p:sp>
      <p:sp>
        <p:nvSpPr>
          <p:cNvPr id="25" name="正方形/長方形 24">
            <a:extLst>
              <a:ext uri="{FF2B5EF4-FFF2-40B4-BE49-F238E27FC236}">
                <a16:creationId xmlns:a16="http://schemas.microsoft.com/office/drawing/2014/main" id="{8F79A885-F273-4DE2-A418-B857853CFA5E}"/>
              </a:ext>
            </a:extLst>
          </p:cNvPr>
          <p:cNvSpPr>
            <a:spLocks noGrp="1"/>
          </p:cNvSpPr>
          <p:nvPr/>
        </p:nvSpPr>
        <p:spPr>
          <a:xfrm>
            <a:off x="2645257" y="3932237"/>
            <a:ext cx="4031742"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94" b="0">
                <a:solidFill>
                  <a:srgbClr val="172033"/>
                </a:solidFill>
                <a:latin typeface="Aptos"/>
                <a:ea typeface="Aptos"/>
                <a:cs typeface="Aptos"/>
              </a:defRPr>
            </a:pPr>
            <a:r>
              <a:rPr sz="858" b="0">
                <a:solidFill>
                  <a:srgbClr val="172033"/>
                </a:solidFill>
                <a:latin typeface="Aptos"/>
                <a:ea typeface="Aptos"/>
                <a:cs typeface="Aptos"/>
              </a:rPr>
              <a:t>PDBFixer, pdb2pqr, PROPKA, RDKit, HPacker, MODELLER / Boltz-2 / BioEmu</a:t>
            </a:r>
          </a:p>
        </p:txBody>
      </p:sp>
      <p:sp>
        <p:nvSpPr>
          <p:cNvPr id="26" name="正方形/長方形 25">
            <a:extLst>
              <a:ext uri="{FF2B5EF4-FFF2-40B4-BE49-F238E27FC236}">
                <a16:creationId xmlns:a16="http://schemas.microsoft.com/office/drawing/2014/main" id="{06B717C6-0956-4D2D-9A1D-995866BBFF57}"/>
              </a:ext>
            </a:extLst>
          </p:cNvPr>
          <p:cNvSpPr>
            <a:spLocks noGrp="1"/>
          </p:cNvSpPr>
          <p:nvPr/>
        </p:nvSpPr>
        <p:spPr>
          <a:xfrm>
            <a:off x="956284" y="4213733"/>
            <a:ext cx="1543685" cy="236093"/>
          </a:xfrm>
          <a:prstGeom prst="rect">
            <a:avLst/>
          </a:prstGeom>
          <a:solidFill>
            <a:srgbClr val="F7FAFD"/>
          </a:solidFill>
          <a:ln w="6668">
            <a:solidFill>
              <a:srgbClr val="EEF1F5"/>
            </a:solidFill>
            <a:prstDash val="solid"/>
          </a:ln>
        </p:spPr>
        <p:txBody>
          <a:bodyPr/>
          <a:lstStyle/>
          <a:p>
            <a:endParaRPr lang="ja-JP" altLang="en-US" sz="2288"/>
          </a:p>
        </p:txBody>
      </p:sp>
      <p:sp>
        <p:nvSpPr>
          <p:cNvPr id="27" name="正方形/長方形 26">
            <a:extLst>
              <a:ext uri="{FF2B5EF4-FFF2-40B4-BE49-F238E27FC236}">
                <a16:creationId xmlns:a16="http://schemas.microsoft.com/office/drawing/2014/main" id="{6DA74018-BED3-4782-8C62-0E74AEB73CA8}"/>
              </a:ext>
            </a:extLst>
          </p:cNvPr>
          <p:cNvSpPr>
            <a:spLocks noGrp="1"/>
          </p:cNvSpPr>
          <p:nvPr/>
        </p:nvSpPr>
        <p:spPr>
          <a:xfrm>
            <a:off x="2499969" y="4213733"/>
            <a:ext cx="4340479" cy="236093"/>
          </a:xfrm>
          <a:prstGeom prst="rect">
            <a:avLst/>
          </a:prstGeom>
          <a:solidFill>
            <a:srgbClr val="FFFFFF"/>
          </a:solidFill>
          <a:ln w="6668">
            <a:solidFill>
              <a:srgbClr val="EEF1F5"/>
            </a:solidFill>
            <a:prstDash val="solid"/>
          </a:ln>
        </p:spPr>
        <p:txBody>
          <a:bodyPr/>
          <a:lstStyle/>
          <a:p>
            <a:endParaRPr lang="ja-JP" altLang="en-US" sz="2288"/>
          </a:p>
        </p:txBody>
      </p:sp>
      <p:sp>
        <p:nvSpPr>
          <p:cNvPr id="28" name="正方形/長方形 27">
            <a:extLst>
              <a:ext uri="{FF2B5EF4-FFF2-40B4-BE49-F238E27FC236}">
                <a16:creationId xmlns:a16="http://schemas.microsoft.com/office/drawing/2014/main" id="{337A886C-C56E-4602-91E5-259C713135D5}"/>
              </a:ext>
            </a:extLst>
          </p:cNvPr>
          <p:cNvSpPr>
            <a:spLocks noGrp="1"/>
          </p:cNvSpPr>
          <p:nvPr/>
        </p:nvSpPr>
        <p:spPr>
          <a:xfrm>
            <a:off x="1065250" y="4277296"/>
            <a:ext cx="1325753"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9" b="1">
                <a:solidFill>
                  <a:srgbClr val="0E3A75"/>
                </a:solidFill>
                <a:latin typeface="Aptos"/>
                <a:ea typeface="Aptos"/>
                <a:cs typeface="Aptos"/>
              </a:defRPr>
            </a:pPr>
            <a:r>
              <a:rPr sz="858" b="1">
                <a:solidFill>
                  <a:srgbClr val="0E3A75"/>
                </a:solidFill>
                <a:latin typeface="Aptos"/>
                <a:ea typeface="Aptos"/>
                <a:cs typeface="Aptos"/>
              </a:rPr>
              <a:t>Solvation / membranes</a:t>
            </a:r>
          </a:p>
        </p:txBody>
      </p:sp>
      <p:sp>
        <p:nvSpPr>
          <p:cNvPr id="29" name="正方形/長方形 28">
            <a:extLst>
              <a:ext uri="{FF2B5EF4-FFF2-40B4-BE49-F238E27FC236}">
                <a16:creationId xmlns:a16="http://schemas.microsoft.com/office/drawing/2014/main" id="{25D827AD-2092-474E-8C2A-D33C34075CBD}"/>
              </a:ext>
            </a:extLst>
          </p:cNvPr>
          <p:cNvSpPr>
            <a:spLocks noGrp="1"/>
          </p:cNvSpPr>
          <p:nvPr/>
        </p:nvSpPr>
        <p:spPr>
          <a:xfrm>
            <a:off x="2645257" y="4277296"/>
            <a:ext cx="4031742"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94" b="0">
                <a:solidFill>
                  <a:srgbClr val="172033"/>
                </a:solidFill>
                <a:latin typeface="Aptos"/>
                <a:ea typeface="Aptos"/>
                <a:cs typeface="Aptos"/>
              </a:defRPr>
            </a:pPr>
            <a:r>
              <a:rPr sz="858" b="0">
                <a:solidFill>
                  <a:srgbClr val="172033"/>
                </a:solidFill>
                <a:latin typeface="Aptos"/>
                <a:ea typeface="Aptos"/>
                <a:cs typeface="Aptos"/>
              </a:rPr>
              <a:t>Packmol, packmol-memgen, explicit water, ions, lipid composition</a:t>
            </a:r>
          </a:p>
        </p:txBody>
      </p:sp>
      <p:sp>
        <p:nvSpPr>
          <p:cNvPr id="30" name="正方形/長方形 29">
            <a:extLst>
              <a:ext uri="{FF2B5EF4-FFF2-40B4-BE49-F238E27FC236}">
                <a16:creationId xmlns:a16="http://schemas.microsoft.com/office/drawing/2014/main" id="{EEAF1DEF-92C1-4A1B-9E48-8168F287DA27}"/>
              </a:ext>
            </a:extLst>
          </p:cNvPr>
          <p:cNvSpPr>
            <a:spLocks noGrp="1"/>
          </p:cNvSpPr>
          <p:nvPr/>
        </p:nvSpPr>
        <p:spPr>
          <a:xfrm>
            <a:off x="956284" y="4558792"/>
            <a:ext cx="1543685" cy="236093"/>
          </a:xfrm>
          <a:prstGeom prst="rect">
            <a:avLst/>
          </a:prstGeom>
          <a:solidFill>
            <a:srgbClr val="FFFFFF"/>
          </a:solidFill>
          <a:ln w="6668">
            <a:solidFill>
              <a:srgbClr val="EEF1F5"/>
            </a:solidFill>
            <a:prstDash val="solid"/>
          </a:ln>
        </p:spPr>
        <p:txBody>
          <a:bodyPr/>
          <a:lstStyle/>
          <a:p>
            <a:endParaRPr lang="ja-JP" altLang="en-US" sz="2288"/>
          </a:p>
        </p:txBody>
      </p:sp>
      <p:sp>
        <p:nvSpPr>
          <p:cNvPr id="31" name="正方形/長方形 30">
            <a:extLst>
              <a:ext uri="{FF2B5EF4-FFF2-40B4-BE49-F238E27FC236}">
                <a16:creationId xmlns:a16="http://schemas.microsoft.com/office/drawing/2014/main" id="{BABECB4F-0553-41A3-B03F-E0F4C170025D}"/>
              </a:ext>
            </a:extLst>
          </p:cNvPr>
          <p:cNvSpPr>
            <a:spLocks noGrp="1"/>
          </p:cNvSpPr>
          <p:nvPr/>
        </p:nvSpPr>
        <p:spPr>
          <a:xfrm>
            <a:off x="2499969" y="4558792"/>
            <a:ext cx="4340479" cy="236093"/>
          </a:xfrm>
          <a:prstGeom prst="rect">
            <a:avLst/>
          </a:prstGeom>
          <a:solidFill>
            <a:srgbClr val="FFFFFF"/>
          </a:solidFill>
          <a:ln w="6668">
            <a:solidFill>
              <a:srgbClr val="EEF1F5"/>
            </a:solidFill>
            <a:prstDash val="solid"/>
          </a:ln>
        </p:spPr>
        <p:txBody>
          <a:bodyPr/>
          <a:lstStyle/>
          <a:p>
            <a:endParaRPr lang="ja-JP" altLang="en-US" sz="2288"/>
          </a:p>
        </p:txBody>
      </p:sp>
      <p:sp>
        <p:nvSpPr>
          <p:cNvPr id="32" name="正方形/長方形 31">
            <a:extLst>
              <a:ext uri="{FF2B5EF4-FFF2-40B4-BE49-F238E27FC236}">
                <a16:creationId xmlns:a16="http://schemas.microsoft.com/office/drawing/2014/main" id="{78E66566-079C-42F8-BD7F-B00248811003}"/>
              </a:ext>
            </a:extLst>
          </p:cNvPr>
          <p:cNvSpPr>
            <a:spLocks noGrp="1"/>
          </p:cNvSpPr>
          <p:nvPr/>
        </p:nvSpPr>
        <p:spPr>
          <a:xfrm>
            <a:off x="1065250" y="4622355"/>
            <a:ext cx="1325753"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9" b="1">
                <a:solidFill>
                  <a:srgbClr val="0E3A75"/>
                </a:solidFill>
                <a:latin typeface="Aptos"/>
                <a:ea typeface="Aptos"/>
                <a:cs typeface="Aptos"/>
              </a:defRPr>
            </a:pPr>
            <a:r>
              <a:rPr sz="858" b="1">
                <a:solidFill>
                  <a:srgbClr val="0E3A75"/>
                </a:solidFill>
                <a:latin typeface="Aptos"/>
                <a:ea typeface="Aptos"/>
                <a:cs typeface="Aptos"/>
              </a:rPr>
              <a:t>Force fields / topology</a:t>
            </a:r>
          </a:p>
        </p:txBody>
      </p:sp>
      <p:sp>
        <p:nvSpPr>
          <p:cNvPr id="33" name="正方形/長方形 32">
            <a:extLst>
              <a:ext uri="{FF2B5EF4-FFF2-40B4-BE49-F238E27FC236}">
                <a16:creationId xmlns:a16="http://schemas.microsoft.com/office/drawing/2014/main" id="{6AFEBE07-65EA-4100-B7B1-4ED298848357}"/>
              </a:ext>
            </a:extLst>
          </p:cNvPr>
          <p:cNvSpPr>
            <a:spLocks noGrp="1"/>
          </p:cNvSpPr>
          <p:nvPr/>
        </p:nvSpPr>
        <p:spPr>
          <a:xfrm>
            <a:off x="2645257" y="4622355"/>
            <a:ext cx="4031742"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94" b="0">
                <a:solidFill>
                  <a:srgbClr val="172033"/>
                </a:solidFill>
                <a:latin typeface="Aptos"/>
                <a:ea typeface="Aptos"/>
                <a:cs typeface="Aptos"/>
              </a:defRPr>
            </a:pPr>
            <a:r>
              <a:rPr sz="858" b="0">
                <a:solidFill>
                  <a:srgbClr val="172033"/>
                </a:solidFill>
                <a:latin typeface="Aptos"/>
                <a:ea typeface="Aptos"/>
                <a:cs typeface="Aptos"/>
              </a:rPr>
              <a:t>AmberTools, OpenFF Pablo, OpenMM XML, ff19SB, GAFF, lipid21</a:t>
            </a:r>
          </a:p>
        </p:txBody>
      </p:sp>
      <p:sp>
        <p:nvSpPr>
          <p:cNvPr id="34" name="正方形/長方形 33">
            <a:extLst>
              <a:ext uri="{FF2B5EF4-FFF2-40B4-BE49-F238E27FC236}">
                <a16:creationId xmlns:a16="http://schemas.microsoft.com/office/drawing/2014/main" id="{F37640CF-C7E3-4E51-A964-0D0A65C52DE5}"/>
              </a:ext>
            </a:extLst>
          </p:cNvPr>
          <p:cNvSpPr>
            <a:spLocks noGrp="1"/>
          </p:cNvSpPr>
          <p:nvPr/>
        </p:nvSpPr>
        <p:spPr>
          <a:xfrm>
            <a:off x="956284" y="4903851"/>
            <a:ext cx="1543685" cy="236093"/>
          </a:xfrm>
          <a:prstGeom prst="rect">
            <a:avLst/>
          </a:prstGeom>
          <a:solidFill>
            <a:srgbClr val="F7FAFD"/>
          </a:solidFill>
          <a:ln w="6668">
            <a:solidFill>
              <a:srgbClr val="EEF1F5"/>
            </a:solidFill>
            <a:prstDash val="solid"/>
          </a:ln>
        </p:spPr>
        <p:txBody>
          <a:bodyPr/>
          <a:lstStyle/>
          <a:p>
            <a:endParaRPr lang="ja-JP" altLang="en-US" sz="2288"/>
          </a:p>
        </p:txBody>
      </p:sp>
      <p:sp>
        <p:nvSpPr>
          <p:cNvPr id="35" name="正方形/長方形 34">
            <a:extLst>
              <a:ext uri="{FF2B5EF4-FFF2-40B4-BE49-F238E27FC236}">
                <a16:creationId xmlns:a16="http://schemas.microsoft.com/office/drawing/2014/main" id="{A22D8941-119D-4A61-8D53-6BF849C72102}"/>
              </a:ext>
            </a:extLst>
          </p:cNvPr>
          <p:cNvSpPr>
            <a:spLocks noGrp="1"/>
          </p:cNvSpPr>
          <p:nvPr/>
        </p:nvSpPr>
        <p:spPr>
          <a:xfrm>
            <a:off x="2499969" y="4903851"/>
            <a:ext cx="4340479" cy="236093"/>
          </a:xfrm>
          <a:prstGeom prst="rect">
            <a:avLst/>
          </a:prstGeom>
          <a:solidFill>
            <a:srgbClr val="FFFFFF"/>
          </a:solidFill>
          <a:ln w="6668">
            <a:solidFill>
              <a:srgbClr val="EEF1F5"/>
            </a:solidFill>
            <a:prstDash val="solid"/>
          </a:ln>
        </p:spPr>
        <p:txBody>
          <a:bodyPr/>
          <a:lstStyle/>
          <a:p>
            <a:endParaRPr lang="ja-JP" altLang="en-US" sz="2288"/>
          </a:p>
        </p:txBody>
      </p:sp>
      <p:sp>
        <p:nvSpPr>
          <p:cNvPr id="36" name="正方形/長方形 35">
            <a:extLst>
              <a:ext uri="{FF2B5EF4-FFF2-40B4-BE49-F238E27FC236}">
                <a16:creationId xmlns:a16="http://schemas.microsoft.com/office/drawing/2014/main" id="{C930334A-6E30-444A-9E9F-C20339894921}"/>
              </a:ext>
            </a:extLst>
          </p:cNvPr>
          <p:cNvSpPr>
            <a:spLocks noGrp="1"/>
          </p:cNvSpPr>
          <p:nvPr/>
        </p:nvSpPr>
        <p:spPr>
          <a:xfrm>
            <a:off x="1065250" y="4967414"/>
            <a:ext cx="1325753"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9" b="1">
                <a:solidFill>
                  <a:srgbClr val="0E3A75"/>
                </a:solidFill>
                <a:latin typeface="Aptos"/>
                <a:ea typeface="Aptos"/>
                <a:cs typeface="Aptos"/>
              </a:defRPr>
            </a:pPr>
            <a:r>
              <a:rPr sz="858" b="1">
                <a:solidFill>
                  <a:srgbClr val="0E3A75"/>
                </a:solidFill>
                <a:latin typeface="Aptos"/>
                <a:ea typeface="Aptos"/>
                <a:cs typeface="Aptos"/>
              </a:rPr>
              <a:t>Simulation / analysis</a:t>
            </a:r>
          </a:p>
        </p:txBody>
      </p:sp>
      <p:sp>
        <p:nvSpPr>
          <p:cNvPr id="37" name="正方形/長方形 36">
            <a:extLst>
              <a:ext uri="{FF2B5EF4-FFF2-40B4-BE49-F238E27FC236}">
                <a16:creationId xmlns:a16="http://schemas.microsoft.com/office/drawing/2014/main" id="{28FE0A50-0028-43CD-89F8-735CA9F3EEC5}"/>
              </a:ext>
            </a:extLst>
          </p:cNvPr>
          <p:cNvSpPr>
            <a:spLocks noGrp="1"/>
          </p:cNvSpPr>
          <p:nvPr/>
        </p:nvSpPr>
        <p:spPr>
          <a:xfrm>
            <a:off x="2645257" y="4967414"/>
            <a:ext cx="4031742"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94" b="0">
                <a:solidFill>
                  <a:srgbClr val="172033"/>
                </a:solidFill>
                <a:latin typeface="Aptos"/>
                <a:ea typeface="Aptos"/>
                <a:cs typeface="Aptos"/>
              </a:defRPr>
            </a:pPr>
            <a:r>
              <a:rPr sz="858" b="0">
                <a:solidFill>
                  <a:srgbClr val="172033"/>
                </a:solidFill>
                <a:latin typeface="Aptos"/>
                <a:ea typeface="Aptos"/>
                <a:cs typeface="Aptos"/>
              </a:rPr>
              <a:t>OpenMM, MDTraj, PyMOL, equilibration, production, evidence reports</a:t>
            </a:r>
          </a:p>
        </p:txBody>
      </p:sp>
      <p:sp>
        <p:nvSpPr>
          <p:cNvPr id="38" name="正方形/長方形 37">
            <a:extLst>
              <a:ext uri="{FF2B5EF4-FFF2-40B4-BE49-F238E27FC236}">
                <a16:creationId xmlns:a16="http://schemas.microsoft.com/office/drawing/2014/main" id="{FD19F512-966C-43FD-9F5D-70E86B85E074}"/>
              </a:ext>
            </a:extLst>
          </p:cNvPr>
          <p:cNvSpPr>
            <a:spLocks noGrp="1"/>
          </p:cNvSpPr>
          <p:nvPr/>
        </p:nvSpPr>
        <p:spPr>
          <a:xfrm>
            <a:off x="956284" y="5248910"/>
            <a:ext cx="1543685" cy="236093"/>
          </a:xfrm>
          <a:prstGeom prst="rect">
            <a:avLst/>
          </a:prstGeom>
          <a:solidFill>
            <a:srgbClr val="FFFFFF"/>
          </a:solidFill>
          <a:ln w="6668">
            <a:solidFill>
              <a:srgbClr val="EEF1F5"/>
            </a:solidFill>
            <a:prstDash val="solid"/>
          </a:ln>
        </p:spPr>
        <p:txBody>
          <a:bodyPr/>
          <a:lstStyle/>
          <a:p>
            <a:endParaRPr lang="ja-JP" altLang="en-US" sz="2288"/>
          </a:p>
        </p:txBody>
      </p:sp>
      <p:sp>
        <p:nvSpPr>
          <p:cNvPr id="39" name="正方形/長方形 38">
            <a:extLst>
              <a:ext uri="{FF2B5EF4-FFF2-40B4-BE49-F238E27FC236}">
                <a16:creationId xmlns:a16="http://schemas.microsoft.com/office/drawing/2014/main" id="{D0391FFF-98DE-4C7A-B367-F222DD5AD55A}"/>
              </a:ext>
            </a:extLst>
          </p:cNvPr>
          <p:cNvSpPr>
            <a:spLocks noGrp="1"/>
          </p:cNvSpPr>
          <p:nvPr/>
        </p:nvSpPr>
        <p:spPr>
          <a:xfrm>
            <a:off x="2499969" y="5248910"/>
            <a:ext cx="4340479" cy="236093"/>
          </a:xfrm>
          <a:prstGeom prst="rect">
            <a:avLst/>
          </a:prstGeom>
          <a:solidFill>
            <a:srgbClr val="FFFFFF"/>
          </a:solidFill>
          <a:ln w="6668">
            <a:solidFill>
              <a:srgbClr val="EEF1F5"/>
            </a:solidFill>
            <a:prstDash val="solid"/>
          </a:ln>
        </p:spPr>
        <p:txBody>
          <a:bodyPr/>
          <a:lstStyle/>
          <a:p>
            <a:endParaRPr lang="ja-JP" altLang="en-US" sz="2288"/>
          </a:p>
        </p:txBody>
      </p:sp>
      <p:sp>
        <p:nvSpPr>
          <p:cNvPr id="40" name="正方形/長方形 39">
            <a:extLst>
              <a:ext uri="{FF2B5EF4-FFF2-40B4-BE49-F238E27FC236}">
                <a16:creationId xmlns:a16="http://schemas.microsoft.com/office/drawing/2014/main" id="{FE543B09-3D11-49D9-9728-854215BF28B9}"/>
              </a:ext>
            </a:extLst>
          </p:cNvPr>
          <p:cNvSpPr>
            <a:spLocks noGrp="1"/>
          </p:cNvSpPr>
          <p:nvPr/>
        </p:nvSpPr>
        <p:spPr>
          <a:xfrm>
            <a:off x="1065250" y="5312473"/>
            <a:ext cx="1325753"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29" b="1">
                <a:solidFill>
                  <a:srgbClr val="0E3A75"/>
                </a:solidFill>
                <a:latin typeface="Aptos"/>
                <a:ea typeface="Aptos"/>
                <a:cs typeface="Aptos"/>
              </a:defRPr>
            </a:pPr>
            <a:r>
              <a:rPr sz="858" b="1">
                <a:solidFill>
                  <a:srgbClr val="0E3A75"/>
                </a:solidFill>
                <a:latin typeface="Aptos"/>
                <a:ea typeface="Aptos"/>
                <a:cs typeface="Aptos"/>
              </a:rPr>
              <a:t>Execution</a:t>
            </a:r>
          </a:p>
        </p:txBody>
      </p:sp>
      <p:sp>
        <p:nvSpPr>
          <p:cNvPr id="41" name="正方形/長方形 40">
            <a:extLst>
              <a:ext uri="{FF2B5EF4-FFF2-40B4-BE49-F238E27FC236}">
                <a16:creationId xmlns:a16="http://schemas.microsoft.com/office/drawing/2014/main" id="{7FF24721-DFAB-4E57-962F-D4F06D7063D3}"/>
              </a:ext>
            </a:extLst>
          </p:cNvPr>
          <p:cNvSpPr>
            <a:spLocks noGrp="1"/>
          </p:cNvSpPr>
          <p:nvPr/>
        </p:nvSpPr>
        <p:spPr>
          <a:xfrm>
            <a:off x="2645257" y="5312473"/>
            <a:ext cx="4031742" cy="10896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94" b="0">
                <a:solidFill>
                  <a:srgbClr val="172033"/>
                </a:solidFill>
                <a:latin typeface="Aptos"/>
                <a:ea typeface="Aptos"/>
                <a:cs typeface="Aptos"/>
              </a:defRPr>
            </a:pPr>
            <a:r>
              <a:rPr sz="858" b="0">
                <a:solidFill>
                  <a:srgbClr val="172033"/>
                </a:solidFill>
                <a:latin typeface="Aptos"/>
                <a:ea typeface="Aptos"/>
                <a:cs typeface="Aptos"/>
              </a:rPr>
              <a:t>conda, Docker, Apptainer / Singularity, SLURM jobs and arrays</a:t>
            </a:r>
          </a:p>
        </p:txBody>
      </p:sp>
      <p:pic>
        <p:nvPicPr>
          <p:cNvPr id="42" name="図 41"/>
          <p:cNvPicPr>
            <a:picLocks noChangeAspect="1"/>
          </p:cNvPicPr>
          <p:nvPr/>
        </p:nvPicPr>
        <p:blipFill>
          <a:blip r:embed="rId3"/>
          <a:stretch/>
        </p:blipFill>
        <p:spPr>
          <a:xfrm>
            <a:off x="6986744" y="2924302"/>
            <a:ext cx="3884435" cy="2796794"/>
          </a:xfrm>
          <a:prstGeom prst="rect">
            <a:avLst/>
          </a:prstGeom>
        </p:spPr>
      </p:pic>
      <p:sp>
        <p:nvSpPr>
          <p:cNvPr id="43" name="TextBox 42"/>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4DD1ED44-AFC8-4819-AD15-2576724AB86B}"/>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2637928F-9B4E-4C21-BEE2-9DB95D64F8F0}"/>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CB3AA937-F196-46BB-A87A-0A9F8A92D338}"/>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18A113B-1119-474C-9543-E5DD4D632664}"/>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CHECKS BEFORE RUNNING MD</a:t>
            </a:r>
          </a:p>
        </p:txBody>
      </p:sp>
      <p:sp>
        <p:nvSpPr>
          <p:cNvPr id="6" name="正方形/長方形 5">
            <a:extLst>
              <a:ext uri="{FF2B5EF4-FFF2-40B4-BE49-F238E27FC236}">
                <a16:creationId xmlns:a16="http://schemas.microsoft.com/office/drawing/2014/main" id="{F5A753B3-E282-4DDC-8B72-36C5A3C01C9D}"/>
              </a:ext>
            </a:extLst>
          </p:cNvPr>
          <p:cNvSpPr>
            <a:spLocks noGrp="1"/>
          </p:cNvSpPr>
          <p:nvPr/>
        </p:nvSpPr>
        <p:spPr>
          <a:xfrm>
            <a:off x="720191" y="872109"/>
            <a:ext cx="10478897" cy="59931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lang="en-US" sz="2538" b="1" dirty="0">
                <a:solidFill>
                  <a:srgbClr val="172033"/>
                </a:solidFill>
                <a:latin typeface="Aptos Display"/>
                <a:ea typeface="Aptos Display"/>
                <a:cs typeface="Aptos Display"/>
              </a:rPr>
              <a:t>Guardrails: CLI</a:t>
            </a:r>
            <a:r>
              <a:rPr sz="2538" b="1" dirty="0">
                <a:solidFill>
                  <a:srgbClr val="172033"/>
                </a:solidFill>
                <a:latin typeface="Aptos Display"/>
                <a:ea typeface="Aptos Display"/>
                <a:cs typeface="Aptos Display"/>
              </a:rPr>
              <a:t> </a:t>
            </a:r>
            <a:r>
              <a:rPr lang="en-US" sz="2538" b="1" dirty="0">
                <a:solidFill>
                  <a:srgbClr val="172033"/>
                </a:solidFill>
                <a:latin typeface="Aptos Display"/>
                <a:ea typeface="Aptos Display"/>
                <a:cs typeface="Aptos Display"/>
              </a:rPr>
              <a:t>stops</a:t>
            </a:r>
            <a:r>
              <a:rPr sz="2538" b="1" dirty="0">
                <a:solidFill>
                  <a:srgbClr val="172033"/>
                </a:solidFill>
                <a:latin typeface="Aptos Display"/>
                <a:ea typeface="Aptos Display"/>
                <a:cs typeface="Aptos Display"/>
              </a:rPr>
              <a:t> risky chemistry choices instead of quietly continuing.</a:t>
            </a:r>
          </a:p>
        </p:txBody>
      </p:sp>
      <p:sp>
        <p:nvSpPr>
          <p:cNvPr id="9" name="正方形/長方形 8">
            <a:extLst>
              <a:ext uri="{FF2B5EF4-FFF2-40B4-BE49-F238E27FC236}">
                <a16:creationId xmlns:a16="http://schemas.microsoft.com/office/drawing/2014/main" id="{91567085-303E-4DF6-810B-8A9B64E05E3B}"/>
              </a:ext>
            </a:extLst>
          </p:cNvPr>
          <p:cNvSpPr>
            <a:spLocks noGrp="1"/>
          </p:cNvSpPr>
          <p:nvPr/>
        </p:nvSpPr>
        <p:spPr>
          <a:xfrm>
            <a:off x="938123" y="1780159"/>
            <a:ext cx="4585652" cy="2869438"/>
          </a:xfrm>
          <a:prstGeom prst="rect">
            <a:avLst/>
          </a:prstGeom>
          <a:solidFill>
            <a:srgbClr val="FCF7F6"/>
          </a:solidFill>
          <a:ln w="13335">
            <a:solidFill>
              <a:srgbClr val="D4DAE2"/>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FDCEAD6B-6ABB-4437-8B15-3533F4E1FC00}"/>
              </a:ext>
            </a:extLst>
          </p:cNvPr>
          <p:cNvSpPr>
            <a:spLocks noGrp="1"/>
          </p:cNvSpPr>
          <p:nvPr/>
        </p:nvSpPr>
        <p:spPr>
          <a:xfrm>
            <a:off x="938123" y="1780159"/>
            <a:ext cx="4585652" cy="63563"/>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2EAE0859-1C85-4451-B073-10E3EFA2E5C4}"/>
              </a:ext>
            </a:extLst>
          </p:cNvPr>
          <p:cNvSpPr>
            <a:spLocks noGrp="1"/>
          </p:cNvSpPr>
          <p:nvPr/>
        </p:nvSpPr>
        <p:spPr>
          <a:xfrm>
            <a:off x="1101572" y="1979930"/>
            <a:ext cx="4258754"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9F423A"/>
                </a:solidFill>
                <a:latin typeface="Aptos"/>
                <a:ea typeface="Aptos"/>
                <a:cs typeface="Aptos"/>
              </a:defRPr>
            </a:pPr>
            <a:r>
              <a:rPr sz="1466" b="1" dirty="0">
                <a:solidFill>
                  <a:srgbClr val="9F423A"/>
                </a:solidFill>
                <a:latin typeface="Aptos"/>
                <a:ea typeface="Aptos"/>
                <a:cs typeface="Aptos"/>
              </a:rPr>
              <a:t>Structured guardrail result</a:t>
            </a:r>
          </a:p>
        </p:txBody>
      </p:sp>
      <p:sp>
        <p:nvSpPr>
          <p:cNvPr id="12" name="正方形/長方形 11">
            <a:extLst>
              <a:ext uri="{FF2B5EF4-FFF2-40B4-BE49-F238E27FC236}">
                <a16:creationId xmlns:a16="http://schemas.microsoft.com/office/drawing/2014/main" id="{F5FD942B-23F1-4BA3-BA95-801815216CF2}"/>
              </a:ext>
            </a:extLst>
          </p:cNvPr>
          <p:cNvSpPr>
            <a:spLocks noGrp="1"/>
          </p:cNvSpPr>
          <p:nvPr/>
        </p:nvSpPr>
        <p:spPr>
          <a:xfrm>
            <a:off x="1119733" y="2443035"/>
            <a:ext cx="63563" cy="63563"/>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E4870F0F-DCE0-4C8B-A0FE-CAAFB8FA583E}"/>
              </a:ext>
            </a:extLst>
          </p:cNvPr>
          <p:cNvSpPr>
            <a:spLocks noGrp="1"/>
          </p:cNvSpPr>
          <p:nvPr/>
        </p:nvSpPr>
        <p:spPr>
          <a:xfrm>
            <a:off x="1265021" y="2361311"/>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5B6573"/>
                </a:solidFill>
                <a:latin typeface="Aptos"/>
                <a:ea typeface="Aptos"/>
                <a:cs typeface="Aptos"/>
              </a:defRPr>
            </a:pPr>
            <a:r>
              <a:rPr sz="1287" b="0">
                <a:solidFill>
                  <a:srgbClr val="5B6573"/>
                </a:solidFill>
                <a:latin typeface="Aptos"/>
                <a:ea typeface="Aptos"/>
                <a:cs typeface="Aptos"/>
              </a:rPr>
              <a:t>field</a:t>
            </a:r>
          </a:p>
        </p:txBody>
      </p:sp>
      <p:sp>
        <p:nvSpPr>
          <p:cNvPr id="14" name="正方形/長方形 13">
            <a:extLst>
              <a:ext uri="{FF2B5EF4-FFF2-40B4-BE49-F238E27FC236}">
                <a16:creationId xmlns:a16="http://schemas.microsoft.com/office/drawing/2014/main" id="{021F6A90-285C-4C5A-A6FE-730D9089DBBD}"/>
              </a:ext>
            </a:extLst>
          </p:cNvPr>
          <p:cNvSpPr>
            <a:spLocks noGrp="1"/>
          </p:cNvSpPr>
          <p:nvPr/>
        </p:nvSpPr>
        <p:spPr>
          <a:xfrm>
            <a:off x="1119733" y="2769933"/>
            <a:ext cx="63563" cy="63563"/>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EEC00260-D9CD-4A71-AD1F-989EA89C2372}"/>
              </a:ext>
            </a:extLst>
          </p:cNvPr>
          <p:cNvSpPr>
            <a:spLocks noGrp="1"/>
          </p:cNvSpPr>
          <p:nvPr/>
        </p:nvSpPr>
        <p:spPr>
          <a:xfrm>
            <a:off x="1265021" y="2688209"/>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5B6573"/>
                </a:solidFill>
                <a:latin typeface="Aptos"/>
                <a:ea typeface="Aptos"/>
                <a:cs typeface="Aptos"/>
              </a:defRPr>
            </a:pPr>
            <a:r>
              <a:rPr sz="1287" b="0">
                <a:solidFill>
                  <a:srgbClr val="5B6573"/>
                </a:solidFill>
                <a:latin typeface="Aptos"/>
                <a:ea typeface="Aptos"/>
                <a:cs typeface="Aptos"/>
              </a:rPr>
              <a:t>message</a:t>
            </a:r>
          </a:p>
        </p:txBody>
      </p:sp>
      <p:sp>
        <p:nvSpPr>
          <p:cNvPr id="16" name="正方形/長方形 15">
            <a:extLst>
              <a:ext uri="{FF2B5EF4-FFF2-40B4-BE49-F238E27FC236}">
                <a16:creationId xmlns:a16="http://schemas.microsoft.com/office/drawing/2014/main" id="{A763EC78-40DC-40EE-B806-9E04FFCED22C}"/>
              </a:ext>
            </a:extLst>
          </p:cNvPr>
          <p:cNvSpPr>
            <a:spLocks noGrp="1"/>
          </p:cNvSpPr>
          <p:nvPr/>
        </p:nvSpPr>
        <p:spPr>
          <a:xfrm>
            <a:off x="1119733" y="3096831"/>
            <a:ext cx="63563" cy="63563"/>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358A48B3-AA0B-45D5-8736-CD57A8D4FC3B}"/>
              </a:ext>
            </a:extLst>
          </p:cNvPr>
          <p:cNvSpPr>
            <a:spLocks noGrp="1"/>
          </p:cNvSpPr>
          <p:nvPr/>
        </p:nvSpPr>
        <p:spPr>
          <a:xfrm>
            <a:off x="1265021" y="3015107"/>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5B6573"/>
                </a:solidFill>
                <a:latin typeface="Aptos"/>
                <a:ea typeface="Aptos"/>
                <a:cs typeface="Aptos"/>
              </a:defRPr>
            </a:pPr>
            <a:r>
              <a:rPr sz="1287" b="0">
                <a:solidFill>
                  <a:srgbClr val="5B6573"/>
                </a:solidFill>
                <a:latin typeface="Aptos"/>
                <a:ea typeface="Aptos"/>
                <a:cs typeface="Aptos"/>
              </a:rPr>
              <a:t>severity</a:t>
            </a:r>
          </a:p>
        </p:txBody>
      </p:sp>
      <p:sp>
        <p:nvSpPr>
          <p:cNvPr id="18" name="正方形/長方形 17">
            <a:extLst>
              <a:ext uri="{FF2B5EF4-FFF2-40B4-BE49-F238E27FC236}">
                <a16:creationId xmlns:a16="http://schemas.microsoft.com/office/drawing/2014/main" id="{85C7C284-591B-41E2-90ED-DEC2C5066AA9}"/>
              </a:ext>
            </a:extLst>
          </p:cNvPr>
          <p:cNvSpPr>
            <a:spLocks noGrp="1"/>
          </p:cNvSpPr>
          <p:nvPr/>
        </p:nvSpPr>
        <p:spPr>
          <a:xfrm>
            <a:off x="1119733" y="3423729"/>
            <a:ext cx="63563" cy="63563"/>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93C85E0F-3AE1-4A6C-8003-EB97B3BAEBA6}"/>
              </a:ext>
            </a:extLst>
          </p:cNvPr>
          <p:cNvSpPr>
            <a:spLocks noGrp="1"/>
          </p:cNvSpPr>
          <p:nvPr/>
        </p:nvSpPr>
        <p:spPr>
          <a:xfrm>
            <a:off x="1265021" y="3342005"/>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5B6573"/>
                </a:solidFill>
                <a:latin typeface="Aptos"/>
                <a:ea typeface="Aptos"/>
                <a:cs typeface="Aptos"/>
              </a:defRPr>
            </a:pPr>
            <a:r>
              <a:rPr sz="1287" b="0">
                <a:solidFill>
                  <a:srgbClr val="5B6573"/>
                </a:solidFill>
                <a:latin typeface="Aptos"/>
                <a:ea typeface="Aptos"/>
                <a:cs typeface="Aptos"/>
              </a:rPr>
              <a:t>actual / expected</a:t>
            </a:r>
          </a:p>
        </p:txBody>
      </p:sp>
      <p:sp>
        <p:nvSpPr>
          <p:cNvPr id="20" name="正方形/長方形 19">
            <a:extLst>
              <a:ext uri="{FF2B5EF4-FFF2-40B4-BE49-F238E27FC236}">
                <a16:creationId xmlns:a16="http://schemas.microsoft.com/office/drawing/2014/main" id="{ED16D180-0695-4EB1-A44B-6CC56CD7E31E}"/>
              </a:ext>
            </a:extLst>
          </p:cNvPr>
          <p:cNvSpPr>
            <a:spLocks noGrp="1"/>
          </p:cNvSpPr>
          <p:nvPr/>
        </p:nvSpPr>
        <p:spPr>
          <a:xfrm>
            <a:off x="1119733" y="3750627"/>
            <a:ext cx="63563" cy="63563"/>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B5975E1B-0BFD-4891-A1A0-DF178AA04B19}"/>
              </a:ext>
            </a:extLst>
          </p:cNvPr>
          <p:cNvSpPr>
            <a:spLocks noGrp="1"/>
          </p:cNvSpPr>
          <p:nvPr/>
        </p:nvSpPr>
        <p:spPr>
          <a:xfrm>
            <a:off x="1265021" y="3668903"/>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5B6573"/>
                </a:solidFill>
                <a:latin typeface="Aptos"/>
                <a:ea typeface="Aptos"/>
                <a:cs typeface="Aptos"/>
              </a:defRPr>
            </a:pPr>
            <a:r>
              <a:rPr sz="1287" b="0" dirty="0" err="1">
                <a:solidFill>
                  <a:srgbClr val="5B6573"/>
                </a:solidFill>
                <a:latin typeface="Aptos"/>
                <a:ea typeface="Aptos"/>
                <a:cs typeface="Aptos"/>
              </a:rPr>
              <a:t>suggested_fix</a:t>
            </a:r>
            <a:endParaRPr sz="1287" b="0" dirty="0">
              <a:solidFill>
                <a:srgbClr val="5B6573"/>
              </a:solidFill>
              <a:latin typeface="Aptos"/>
              <a:ea typeface="Aptos"/>
              <a:cs typeface="Aptos"/>
            </a:endParaRPr>
          </a:p>
        </p:txBody>
      </p:sp>
      <p:sp>
        <p:nvSpPr>
          <p:cNvPr id="22" name="正方形/長方形 21">
            <a:extLst>
              <a:ext uri="{FF2B5EF4-FFF2-40B4-BE49-F238E27FC236}">
                <a16:creationId xmlns:a16="http://schemas.microsoft.com/office/drawing/2014/main" id="{586F8643-2915-480F-B43E-A704AACA87ED}"/>
              </a:ext>
            </a:extLst>
          </p:cNvPr>
          <p:cNvSpPr>
            <a:spLocks noGrp="1"/>
          </p:cNvSpPr>
          <p:nvPr/>
        </p:nvSpPr>
        <p:spPr>
          <a:xfrm>
            <a:off x="1119733" y="4077525"/>
            <a:ext cx="63563" cy="63563"/>
          </a:xfrm>
          <a:prstGeom prst="rect">
            <a:avLst/>
          </a:prstGeom>
          <a:solidFill>
            <a:srgbClr val="9F423A"/>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F54EA559-1997-441F-9BE8-F8F7A38458AB}"/>
              </a:ext>
            </a:extLst>
          </p:cNvPr>
          <p:cNvSpPr>
            <a:spLocks noGrp="1"/>
          </p:cNvSpPr>
          <p:nvPr/>
        </p:nvSpPr>
        <p:spPr>
          <a:xfrm>
            <a:off x="1265021" y="3995801"/>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87" b="0">
                <a:solidFill>
                  <a:srgbClr val="5B6573"/>
                </a:solidFill>
                <a:latin typeface="Aptos"/>
                <a:ea typeface="Aptos"/>
                <a:cs typeface="Aptos"/>
              </a:defRPr>
            </a:pPr>
            <a:r>
              <a:rPr sz="1287" b="0">
                <a:solidFill>
                  <a:srgbClr val="5B6573"/>
                </a:solidFill>
                <a:latin typeface="Aptos"/>
                <a:ea typeface="Aptos"/>
                <a:cs typeface="Aptos"/>
              </a:rPr>
              <a:t>stable code</a:t>
            </a:r>
          </a:p>
        </p:txBody>
      </p:sp>
      <p:sp>
        <p:nvSpPr>
          <p:cNvPr id="24" name="正方形/長方形 23">
            <a:extLst>
              <a:ext uri="{FF2B5EF4-FFF2-40B4-BE49-F238E27FC236}">
                <a16:creationId xmlns:a16="http://schemas.microsoft.com/office/drawing/2014/main" id="{7470323F-B0B3-432D-927A-D44C5C709ADC}"/>
              </a:ext>
            </a:extLst>
          </p:cNvPr>
          <p:cNvSpPr>
            <a:spLocks noGrp="1"/>
          </p:cNvSpPr>
          <p:nvPr/>
        </p:nvSpPr>
        <p:spPr>
          <a:xfrm>
            <a:off x="1283182" y="4740402"/>
            <a:ext cx="3723005" cy="79908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2A3DB467-EDFC-4AED-835F-1E114A38455E}"/>
              </a:ext>
            </a:extLst>
          </p:cNvPr>
          <p:cNvSpPr>
            <a:spLocks noGrp="1"/>
          </p:cNvSpPr>
          <p:nvPr/>
        </p:nvSpPr>
        <p:spPr>
          <a:xfrm>
            <a:off x="1428470" y="4867529"/>
            <a:ext cx="3432429" cy="1816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5" b="0">
                <a:solidFill>
                  <a:srgbClr val="E8EEF8"/>
                </a:solidFill>
                <a:latin typeface="Aptos Mono"/>
                <a:ea typeface="Aptos Mono"/>
                <a:cs typeface="Aptos Mono"/>
              </a:defRPr>
            </a:pPr>
            <a:r>
              <a:rPr sz="965" b="0">
                <a:solidFill>
                  <a:srgbClr val="E8EEF8"/>
                </a:solidFill>
                <a:latin typeface="Aptos Mono"/>
                <a:ea typeface="Aptos Mono"/>
                <a:cs typeface="Aptos Mono"/>
              </a:rPr>
              <a:t>code: forcefield_water_blocked</a:t>
            </a:r>
          </a:p>
        </p:txBody>
      </p:sp>
      <p:sp>
        <p:nvSpPr>
          <p:cNvPr id="26" name="正方形/長方形 25">
            <a:extLst>
              <a:ext uri="{FF2B5EF4-FFF2-40B4-BE49-F238E27FC236}">
                <a16:creationId xmlns:a16="http://schemas.microsoft.com/office/drawing/2014/main" id="{2C462F96-58C6-4BA9-9974-D76914A3F26E}"/>
              </a:ext>
            </a:extLst>
          </p:cNvPr>
          <p:cNvSpPr>
            <a:spLocks noGrp="1"/>
          </p:cNvSpPr>
          <p:nvPr/>
        </p:nvSpPr>
        <p:spPr>
          <a:xfrm>
            <a:off x="1428470" y="5067300"/>
            <a:ext cx="3432429" cy="1816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5" b="0">
                <a:solidFill>
                  <a:srgbClr val="E8EEF8"/>
                </a:solidFill>
                <a:latin typeface="Aptos Mono"/>
                <a:ea typeface="Aptos Mono"/>
                <a:cs typeface="Aptos Mono"/>
              </a:defRPr>
            </a:pPr>
            <a:r>
              <a:rPr sz="965" b="0">
                <a:solidFill>
                  <a:srgbClr val="E8EEF8"/>
                </a:solidFill>
                <a:latin typeface="Aptos Mono"/>
                <a:ea typeface="Aptos Mono"/>
                <a:cs typeface="Aptos Mono"/>
              </a:rPr>
              <a:t>actual: ff19SB + tip3p</a:t>
            </a:r>
          </a:p>
        </p:txBody>
      </p:sp>
      <p:sp>
        <p:nvSpPr>
          <p:cNvPr id="27" name="正方形/長方形 26">
            <a:extLst>
              <a:ext uri="{FF2B5EF4-FFF2-40B4-BE49-F238E27FC236}">
                <a16:creationId xmlns:a16="http://schemas.microsoft.com/office/drawing/2014/main" id="{E07BCE53-222F-4065-A00F-5EA331809B3F}"/>
              </a:ext>
            </a:extLst>
          </p:cNvPr>
          <p:cNvSpPr>
            <a:spLocks noGrp="1"/>
          </p:cNvSpPr>
          <p:nvPr/>
        </p:nvSpPr>
        <p:spPr>
          <a:xfrm>
            <a:off x="1428470" y="5267071"/>
            <a:ext cx="3432429" cy="1816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5" b="0">
                <a:solidFill>
                  <a:srgbClr val="E8EEF8"/>
                </a:solidFill>
                <a:latin typeface="Aptos Mono"/>
                <a:ea typeface="Aptos Mono"/>
                <a:cs typeface="Aptos Mono"/>
              </a:defRPr>
            </a:pPr>
            <a:r>
              <a:rPr sz="965" b="0">
                <a:solidFill>
                  <a:srgbClr val="E8EEF8"/>
                </a:solidFill>
                <a:latin typeface="Aptos Mono"/>
                <a:ea typeface="Aptos Mono"/>
                <a:cs typeface="Aptos Mono"/>
              </a:rPr>
              <a:t>expected: ff19SB + OPC</a:t>
            </a:r>
          </a:p>
        </p:txBody>
      </p:sp>
      <p:sp>
        <p:nvSpPr>
          <p:cNvPr id="28" name="正方形/長方形 27">
            <a:extLst>
              <a:ext uri="{FF2B5EF4-FFF2-40B4-BE49-F238E27FC236}">
                <a16:creationId xmlns:a16="http://schemas.microsoft.com/office/drawing/2014/main" id="{1F871A56-684A-4F78-8198-D03F2EFFDAA1}"/>
              </a:ext>
            </a:extLst>
          </p:cNvPr>
          <p:cNvSpPr>
            <a:spLocks noGrp="1"/>
          </p:cNvSpPr>
          <p:nvPr/>
        </p:nvSpPr>
        <p:spPr>
          <a:xfrm>
            <a:off x="6295618" y="1780159"/>
            <a:ext cx="4585652" cy="2869438"/>
          </a:xfrm>
          <a:prstGeom prst="rect">
            <a:avLst/>
          </a:prstGeom>
          <a:solidFill>
            <a:srgbClr val="F7FAFD"/>
          </a:solidFill>
          <a:ln w="13335">
            <a:solidFill>
              <a:srgbClr val="D4DAE2"/>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B6FDE321-B757-485E-ADF4-32D477A81E22}"/>
              </a:ext>
            </a:extLst>
          </p:cNvPr>
          <p:cNvSpPr>
            <a:spLocks noGrp="1"/>
          </p:cNvSpPr>
          <p:nvPr/>
        </p:nvSpPr>
        <p:spPr>
          <a:xfrm>
            <a:off x="6295618" y="1780159"/>
            <a:ext cx="4585652"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15998796-A069-4E31-819D-25599120ED1D}"/>
              </a:ext>
            </a:extLst>
          </p:cNvPr>
          <p:cNvSpPr>
            <a:spLocks noGrp="1"/>
          </p:cNvSpPr>
          <p:nvPr/>
        </p:nvSpPr>
        <p:spPr>
          <a:xfrm>
            <a:off x="6459067" y="1979930"/>
            <a:ext cx="4258754" cy="29057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66" b="1">
                <a:solidFill>
                  <a:srgbClr val="0E3A75"/>
                </a:solidFill>
                <a:latin typeface="Aptos"/>
                <a:ea typeface="Aptos"/>
                <a:cs typeface="Aptos"/>
              </a:defRPr>
            </a:pPr>
            <a:r>
              <a:rPr sz="1466" b="1">
                <a:solidFill>
                  <a:srgbClr val="0E3A75"/>
                </a:solidFill>
                <a:latin typeface="Aptos"/>
                <a:ea typeface="Aptos"/>
                <a:cs typeface="Aptos"/>
              </a:rPr>
              <a:t>Topology contract</a:t>
            </a:r>
          </a:p>
        </p:txBody>
      </p:sp>
      <p:sp>
        <p:nvSpPr>
          <p:cNvPr id="31" name="正方形/長方形 30">
            <a:extLst>
              <a:ext uri="{FF2B5EF4-FFF2-40B4-BE49-F238E27FC236}">
                <a16:creationId xmlns:a16="http://schemas.microsoft.com/office/drawing/2014/main" id="{2DA8E7B9-D1B3-474E-B4CA-DAEF5DA0C1BD}"/>
              </a:ext>
            </a:extLst>
          </p:cNvPr>
          <p:cNvSpPr>
            <a:spLocks noGrp="1"/>
          </p:cNvSpPr>
          <p:nvPr/>
        </p:nvSpPr>
        <p:spPr>
          <a:xfrm>
            <a:off x="6477228" y="2443035"/>
            <a:ext cx="63563"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653C45DE-86A4-4E20-9985-35166FF03A84}"/>
              </a:ext>
            </a:extLst>
          </p:cNvPr>
          <p:cNvSpPr>
            <a:spLocks noGrp="1"/>
          </p:cNvSpPr>
          <p:nvPr/>
        </p:nvSpPr>
        <p:spPr>
          <a:xfrm>
            <a:off x="6622516" y="2361311"/>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5B6573"/>
                </a:solidFill>
                <a:latin typeface="Aptos"/>
                <a:ea typeface="Aptos"/>
                <a:cs typeface="Aptos"/>
              </a:defRPr>
            </a:pPr>
            <a:r>
              <a:rPr sz="1215" b="0">
                <a:solidFill>
                  <a:srgbClr val="5B6573"/>
                </a:solidFill>
                <a:latin typeface="Aptos"/>
                <a:ea typeface="Aptos"/>
                <a:cs typeface="Aptos"/>
              </a:rPr>
              <a:t>prep supplies chemistry and records</a:t>
            </a:r>
          </a:p>
        </p:txBody>
      </p:sp>
      <p:sp>
        <p:nvSpPr>
          <p:cNvPr id="33" name="正方形/長方形 32">
            <a:extLst>
              <a:ext uri="{FF2B5EF4-FFF2-40B4-BE49-F238E27FC236}">
                <a16:creationId xmlns:a16="http://schemas.microsoft.com/office/drawing/2014/main" id="{73E4156E-60ED-4C29-A081-50E24FF61E96}"/>
              </a:ext>
            </a:extLst>
          </p:cNvPr>
          <p:cNvSpPr>
            <a:spLocks noGrp="1"/>
          </p:cNvSpPr>
          <p:nvPr/>
        </p:nvSpPr>
        <p:spPr>
          <a:xfrm>
            <a:off x="6477228" y="2860738"/>
            <a:ext cx="63563"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CEF9246C-D6DD-4F75-B2B9-DCF68531AFBD}"/>
              </a:ext>
            </a:extLst>
          </p:cNvPr>
          <p:cNvSpPr>
            <a:spLocks noGrp="1"/>
          </p:cNvSpPr>
          <p:nvPr/>
        </p:nvSpPr>
        <p:spPr>
          <a:xfrm>
            <a:off x="6622516" y="2779014"/>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5B6573"/>
                </a:solidFill>
                <a:latin typeface="Aptos"/>
                <a:ea typeface="Aptos"/>
                <a:cs typeface="Aptos"/>
              </a:defRPr>
            </a:pPr>
            <a:r>
              <a:rPr sz="1215" b="0">
                <a:solidFill>
                  <a:srgbClr val="5B6573"/>
                </a:solidFill>
                <a:latin typeface="Aptos"/>
                <a:ea typeface="Aptos"/>
                <a:cs typeface="Aptos"/>
              </a:rPr>
              <a:t>topo resolves force fields and parameters</a:t>
            </a:r>
          </a:p>
        </p:txBody>
      </p:sp>
      <p:sp>
        <p:nvSpPr>
          <p:cNvPr id="35" name="正方形/長方形 34">
            <a:extLst>
              <a:ext uri="{FF2B5EF4-FFF2-40B4-BE49-F238E27FC236}">
                <a16:creationId xmlns:a16="http://schemas.microsoft.com/office/drawing/2014/main" id="{ABD742E2-EB86-4A86-9ADF-1157A540350D}"/>
              </a:ext>
            </a:extLst>
          </p:cNvPr>
          <p:cNvSpPr>
            <a:spLocks noGrp="1"/>
          </p:cNvSpPr>
          <p:nvPr/>
        </p:nvSpPr>
        <p:spPr>
          <a:xfrm>
            <a:off x="6477228" y="3278441"/>
            <a:ext cx="63563"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CD1EE98C-8310-4FF4-92B3-EB69C0129E2B}"/>
              </a:ext>
            </a:extLst>
          </p:cNvPr>
          <p:cNvSpPr>
            <a:spLocks noGrp="1"/>
          </p:cNvSpPr>
          <p:nvPr/>
        </p:nvSpPr>
        <p:spPr>
          <a:xfrm>
            <a:off x="6622516" y="3196717"/>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5B6573"/>
                </a:solidFill>
                <a:latin typeface="Aptos"/>
                <a:ea typeface="Aptos"/>
                <a:cs typeface="Aptos"/>
              </a:defRPr>
            </a:pPr>
            <a:r>
              <a:rPr sz="1215" b="0">
                <a:solidFill>
                  <a:srgbClr val="5B6573"/>
                </a:solidFill>
                <a:latin typeface="Aptos"/>
                <a:ea typeface="Aptos"/>
                <a:cs typeface="Aptos"/>
              </a:rPr>
              <a:t>topo emits an OpenMM XML triple</a:t>
            </a:r>
          </a:p>
        </p:txBody>
      </p:sp>
      <p:sp>
        <p:nvSpPr>
          <p:cNvPr id="37" name="正方形/長方形 36">
            <a:extLst>
              <a:ext uri="{FF2B5EF4-FFF2-40B4-BE49-F238E27FC236}">
                <a16:creationId xmlns:a16="http://schemas.microsoft.com/office/drawing/2014/main" id="{42E82A1A-18A1-4AD4-A6D4-D7A8DF1E1BE4}"/>
              </a:ext>
            </a:extLst>
          </p:cNvPr>
          <p:cNvSpPr>
            <a:spLocks noGrp="1"/>
          </p:cNvSpPr>
          <p:nvPr/>
        </p:nvSpPr>
        <p:spPr>
          <a:xfrm>
            <a:off x="6477228" y="3696144"/>
            <a:ext cx="63563" cy="63563"/>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3AEDDF14-F44E-4C8A-A16B-2E966034851D}"/>
              </a:ext>
            </a:extLst>
          </p:cNvPr>
          <p:cNvSpPr>
            <a:spLocks noGrp="1"/>
          </p:cNvSpPr>
          <p:nvPr/>
        </p:nvSpPr>
        <p:spPr>
          <a:xfrm>
            <a:off x="6622516" y="3614420"/>
            <a:ext cx="4113466" cy="21793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5B6573"/>
                </a:solidFill>
                <a:latin typeface="Aptos"/>
                <a:ea typeface="Aptos"/>
                <a:cs typeface="Aptos"/>
              </a:defRPr>
            </a:pPr>
            <a:r>
              <a:rPr sz="1215" b="0">
                <a:solidFill>
                  <a:srgbClr val="5B6573"/>
                </a:solidFill>
                <a:latin typeface="Aptos"/>
                <a:ea typeface="Aptos"/>
                <a:cs typeface="Aptos"/>
              </a:rPr>
              <a:t>eq/prod/analyze consume DAG output files</a:t>
            </a:r>
          </a:p>
        </p:txBody>
      </p:sp>
      <p:sp>
        <p:nvSpPr>
          <p:cNvPr id="39" name="正方形/長方形 38">
            <a:extLst>
              <a:ext uri="{FF2B5EF4-FFF2-40B4-BE49-F238E27FC236}">
                <a16:creationId xmlns:a16="http://schemas.microsoft.com/office/drawing/2014/main" id="{4539BEF2-C886-461D-96BD-530CC9510E3E}"/>
              </a:ext>
            </a:extLst>
          </p:cNvPr>
          <p:cNvSpPr>
            <a:spLocks noGrp="1"/>
          </p:cNvSpPr>
          <p:nvPr/>
        </p:nvSpPr>
        <p:spPr>
          <a:xfrm>
            <a:off x="6676999" y="4740402"/>
            <a:ext cx="3377946" cy="79908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52443F7F-31AF-4984-8BC2-499A5CC21D8D}"/>
              </a:ext>
            </a:extLst>
          </p:cNvPr>
          <p:cNvSpPr>
            <a:spLocks noGrp="1"/>
          </p:cNvSpPr>
          <p:nvPr/>
        </p:nvSpPr>
        <p:spPr>
          <a:xfrm>
            <a:off x="6822287" y="4867529"/>
            <a:ext cx="3087370" cy="1816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01" b="0">
                <a:solidFill>
                  <a:srgbClr val="E8EEF8"/>
                </a:solidFill>
                <a:latin typeface="Aptos Mono"/>
                <a:ea typeface="Aptos Mono"/>
                <a:cs typeface="Aptos Mono"/>
              </a:defRPr>
            </a:pPr>
            <a:r>
              <a:rPr sz="1001" b="0">
                <a:solidFill>
                  <a:srgbClr val="E8EEF8"/>
                </a:solidFill>
                <a:latin typeface="Aptos Mono"/>
                <a:ea typeface="Aptos Mono"/>
                <a:cs typeface="Aptos Mono"/>
              </a:rPr>
              <a:t>system.system.xml</a:t>
            </a:r>
          </a:p>
        </p:txBody>
      </p:sp>
      <p:sp>
        <p:nvSpPr>
          <p:cNvPr id="41" name="正方形/長方形 40">
            <a:extLst>
              <a:ext uri="{FF2B5EF4-FFF2-40B4-BE49-F238E27FC236}">
                <a16:creationId xmlns:a16="http://schemas.microsoft.com/office/drawing/2014/main" id="{8FFF961C-9066-409F-AF60-1E51797ABEFC}"/>
              </a:ext>
            </a:extLst>
          </p:cNvPr>
          <p:cNvSpPr>
            <a:spLocks noGrp="1"/>
          </p:cNvSpPr>
          <p:nvPr/>
        </p:nvSpPr>
        <p:spPr>
          <a:xfrm>
            <a:off x="6822287" y="5067300"/>
            <a:ext cx="3087370" cy="1816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01" b="0">
                <a:solidFill>
                  <a:srgbClr val="E8EEF8"/>
                </a:solidFill>
                <a:latin typeface="Aptos Mono"/>
                <a:ea typeface="Aptos Mono"/>
                <a:cs typeface="Aptos Mono"/>
              </a:defRPr>
            </a:pPr>
            <a:r>
              <a:rPr sz="1001" b="0">
                <a:solidFill>
                  <a:srgbClr val="E8EEF8"/>
                </a:solidFill>
                <a:latin typeface="Aptos Mono"/>
                <a:ea typeface="Aptos Mono"/>
                <a:cs typeface="Aptos Mono"/>
              </a:rPr>
              <a:t>system.topology.pdb</a:t>
            </a:r>
          </a:p>
        </p:txBody>
      </p:sp>
      <p:sp>
        <p:nvSpPr>
          <p:cNvPr id="42" name="正方形/長方形 41">
            <a:extLst>
              <a:ext uri="{FF2B5EF4-FFF2-40B4-BE49-F238E27FC236}">
                <a16:creationId xmlns:a16="http://schemas.microsoft.com/office/drawing/2014/main" id="{2A4424EA-E30C-46A9-A8C1-6F0C42B441F7}"/>
              </a:ext>
            </a:extLst>
          </p:cNvPr>
          <p:cNvSpPr>
            <a:spLocks noGrp="1"/>
          </p:cNvSpPr>
          <p:nvPr/>
        </p:nvSpPr>
        <p:spPr>
          <a:xfrm>
            <a:off x="6822287" y="5267071"/>
            <a:ext cx="3087370" cy="18161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01" b="0">
                <a:solidFill>
                  <a:srgbClr val="E8EEF8"/>
                </a:solidFill>
                <a:latin typeface="Aptos Mono"/>
                <a:ea typeface="Aptos Mono"/>
                <a:cs typeface="Aptos Mono"/>
              </a:defRPr>
            </a:pPr>
            <a:r>
              <a:rPr sz="1001" b="0">
                <a:solidFill>
                  <a:srgbClr val="E8EEF8"/>
                </a:solidFill>
                <a:latin typeface="Aptos Mono"/>
                <a:ea typeface="Aptos Mono"/>
                <a:cs typeface="Aptos Mono"/>
              </a:rPr>
              <a:t>system.state.xml</a:t>
            </a:r>
          </a:p>
        </p:txBody>
      </p:sp>
      <p:sp>
        <p:nvSpPr>
          <p:cNvPr id="43" name="TextBox 42"/>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53E5F06A-8BE3-40BA-A949-C7641189A9AA}"/>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CEB96075-C506-4037-A5DF-E51A0922DE0F}"/>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37BA6957-40E6-4B47-8DD8-C52D1103FAE5}"/>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EAE34B5-61B3-410F-9AA4-35614A512B89}"/>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DAG-MANAGED WORKFLOW</a:t>
            </a:r>
          </a:p>
        </p:txBody>
      </p:sp>
      <p:sp>
        <p:nvSpPr>
          <p:cNvPr id="6" name="正方形/長方形 5">
            <a:extLst>
              <a:ext uri="{FF2B5EF4-FFF2-40B4-BE49-F238E27FC236}">
                <a16:creationId xmlns:a16="http://schemas.microsoft.com/office/drawing/2014/main" id="{5622B754-64E1-4BB9-A5FD-A4BE015CA182}"/>
              </a:ext>
            </a:extLst>
          </p:cNvPr>
          <p:cNvSpPr>
            <a:spLocks noGrp="1"/>
          </p:cNvSpPr>
          <p:nvPr/>
        </p:nvSpPr>
        <p:spPr>
          <a:xfrm>
            <a:off x="720191" y="799465"/>
            <a:ext cx="980694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lang="en-US" sz="3050" b="1" dirty="0">
                <a:solidFill>
                  <a:srgbClr val="172033"/>
                </a:solidFill>
                <a:latin typeface="Aptos Display"/>
                <a:ea typeface="Aptos Display"/>
                <a:cs typeface="Aptos Display"/>
              </a:rPr>
              <a:t>Directed Acyclic Graph (DAG)-based MD workflow</a:t>
            </a:r>
          </a:p>
          <a:p>
            <a:pPr algn="l">
              <a:defRPr sz="2538" b="1">
                <a:solidFill>
                  <a:srgbClr val="172033"/>
                </a:solidFill>
                <a:latin typeface="Aptos Display"/>
                <a:ea typeface="Aptos Display"/>
                <a:cs typeface="Aptos Display"/>
              </a:defRPr>
            </a:pPr>
            <a:endParaRPr sz="3050" b="1" dirty="0">
              <a:solidFill>
                <a:srgbClr val="172033"/>
              </a:solidFill>
              <a:latin typeface="Aptos Display"/>
              <a:ea typeface="Aptos Display"/>
              <a:cs typeface="Aptos Display"/>
            </a:endParaRPr>
          </a:p>
        </p:txBody>
      </p:sp>
      <p:sp>
        <p:nvSpPr>
          <p:cNvPr id="7" name="正方形/長方形 6">
            <a:extLst>
              <a:ext uri="{FF2B5EF4-FFF2-40B4-BE49-F238E27FC236}">
                <a16:creationId xmlns:a16="http://schemas.microsoft.com/office/drawing/2014/main" id="{F567325C-ABEE-42F2-AEAD-C9B6BF764AEF}"/>
              </a:ext>
            </a:extLst>
          </p:cNvPr>
          <p:cNvSpPr>
            <a:spLocks noGrp="1"/>
          </p:cNvSpPr>
          <p:nvPr/>
        </p:nvSpPr>
        <p:spPr>
          <a:xfrm>
            <a:off x="720191" y="6320409"/>
            <a:ext cx="8898890" cy="15436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9" b="0">
                <a:solidFill>
                  <a:srgbClr val="5B6573"/>
                </a:solidFill>
                <a:latin typeface="Aptos"/>
                <a:ea typeface="Aptos"/>
                <a:cs typeface="Aptos"/>
              </a:defRPr>
            </a:pPr>
            <a:r>
              <a:rPr sz="679" b="0">
                <a:solidFill>
                  <a:srgbClr val="5B6573"/>
                </a:solidFill>
                <a:latin typeface="Aptos"/>
                <a:ea typeface="Aptos"/>
                <a:cs typeface="Aptos"/>
              </a:rPr>
              <a:t>Sources: user-provided DAG.png; mdclaw/docs/developer/architecture.md; mdclaw/_node.py</a:t>
            </a:r>
          </a:p>
        </p:txBody>
      </p:sp>
      <p:pic>
        <p:nvPicPr>
          <p:cNvPr id="9" name="図 8"/>
          <p:cNvPicPr>
            <a:picLocks noChangeAspect="1"/>
          </p:cNvPicPr>
          <p:nvPr/>
        </p:nvPicPr>
        <p:blipFill>
          <a:blip r:embed="rId3"/>
          <a:stretch/>
        </p:blipFill>
        <p:spPr>
          <a:xfrm>
            <a:off x="692949" y="1761996"/>
            <a:ext cx="10663819" cy="4086225"/>
          </a:xfrm>
          <a:prstGeom prst="rect">
            <a:avLst/>
          </a:prstGeom>
        </p:spPr>
      </p:pic>
      <p:sp>
        <p:nvSpPr>
          <p:cNvPr id="10" name="TextBox 9"/>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D8175D1E-9B78-93EB-454F-3F09532E1F70}"/>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9579A9B4-0944-26BA-D251-33C2DA3FE803}"/>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288CA09E-8C25-6C2A-2F1E-866D6DC628E1}"/>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7BBD530-2286-A4BC-D0D5-97B4B0117D5C}"/>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DAG-MANAGED WORKFLOW</a:t>
            </a:r>
          </a:p>
        </p:txBody>
      </p:sp>
      <p:sp>
        <p:nvSpPr>
          <p:cNvPr id="6" name="正方形/長方形 5">
            <a:extLst>
              <a:ext uri="{FF2B5EF4-FFF2-40B4-BE49-F238E27FC236}">
                <a16:creationId xmlns:a16="http://schemas.microsoft.com/office/drawing/2014/main" id="{95FC7EB7-040D-C5FC-EAB5-707AFBC2EBDC}"/>
              </a:ext>
            </a:extLst>
          </p:cNvPr>
          <p:cNvSpPr>
            <a:spLocks noGrp="1"/>
          </p:cNvSpPr>
          <p:nvPr/>
        </p:nvSpPr>
        <p:spPr>
          <a:xfrm>
            <a:off x="886233" y="901166"/>
            <a:ext cx="980694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lang="en-US" sz="2538" b="1" dirty="0">
                <a:solidFill>
                  <a:srgbClr val="172033"/>
                </a:solidFill>
                <a:latin typeface="Aptos Display"/>
                <a:ea typeface="Aptos Display"/>
                <a:cs typeface="Aptos Display"/>
              </a:rPr>
              <a:t>DAG-based MD workflow is auditable, durable, and flexible</a:t>
            </a:r>
            <a:endParaRPr sz="2538" b="1" dirty="0">
              <a:solidFill>
                <a:srgbClr val="172033"/>
              </a:solidFill>
              <a:latin typeface="Aptos Display"/>
              <a:ea typeface="Aptos Display"/>
              <a:cs typeface="Aptos Display"/>
            </a:endParaRPr>
          </a:p>
        </p:txBody>
      </p:sp>
      <p:sp>
        <p:nvSpPr>
          <p:cNvPr id="10" name="Rounded Rectangle 2">
            <a:extLst>
              <a:ext uri="{FF2B5EF4-FFF2-40B4-BE49-F238E27FC236}">
                <a16:creationId xmlns:a16="http://schemas.microsoft.com/office/drawing/2014/main" id="{B5651AA0-C7E7-1586-D9AA-7CBB8B3A37F4}"/>
              </a:ext>
            </a:extLst>
          </p:cNvPr>
          <p:cNvSpPr/>
          <p:nvPr/>
        </p:nvSpPr>
        <p:spPr>
          <a:xfrm>
            <a:off x="2193826" y="3516393"/>
            <a:ext cx="915314" cy="479450"/>
          </a:xfrm>
          <a:prstGeom prst="round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1048" b="1">
                <a:solidFill>
                  <a:srgbClr val="FFFFFF"/>
                </a:solidFill>
                <a:latin typeface="Helvetica Neue"/>
              </a:rPr>
              <a:t>fetch</a:t>
            </a:r>
          </a:p>
        </p:txBody>
      </p:sp>
      <p:sp>
        <p:nvSpPr>
          <p:cNvPr id="11" name="Rounded Rectangle 3">
            <a:extLst>
              <a:ext uri="{FF2B5EF4-FFF2-40B4-BE49-F238E27FC236}">
                <a16:creationId xmlns:a16="http://schemas.microsoft.com/office/drawing/2014/main" id="{980212CD-9F8F-633E-9142-BA4A155A9454}"/>
              </a:ext>
            </a:extLst>
          </p:cNvPr>
          <p:cNvSpPr/>
          <p:nvPr/>
        </p:nvSpPr>
        <p:spPr>
          <a:xfrm>
            <a:off x="3239899" y="3516393"/>
            <a:ext cx="915314" cy="479450"/>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1048" b="1">
                <a:solidFill>
                  <a:srgbClr val="FFFFFF"/>
                </a:solidFill>
                <a:latin typeface="Helvetica Neue"/>
              </a:rPr>
              <a:t>prep</a:t>
            </a:r>
          </a:p>
        </p:txBody>
      </p:sp>
      <p:sp>
        <p:nvSpPr>
          <p:cNvPr id="12" name="Rounded Rectangle 4">
            <a:extLst>
              <a:ext uri="{FF2B5EF4-FFF2-40B4-BE49-F238E27FC236}">
                <a16:creationId xmlns:a16="http://schemas.microsoft.com/office/drawing/2014/main" id="{F51505C3-FE85-6F59-89FC-8B7E75FA6935}"/>
              </a:ext>
            </a:extLst>
          </p:cNvPr>
          <p:cNvSpPr/>
          <p:nvPr/>
        </p:nvSpPr>
        <p:spPr>
          <a:xfrm>
            <a:off x="4285973" y="3516393"/>
            <a:ext cx="915314" cy="479450"/>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1048" b="1">
                <a:solidFill>
                  <a:srgbClr val="FFFFFF"/>
                </a:solidFill>
                <a:latin typeface="Helvetica Neue"/>
              </a:rPr>
              <a:t>solv</a:t>
            </a:r>
          </a:p>
        </p:txBody>
      </p:sp>
      <p:sp>
        <p:nvSpPr>
          <p:cNvPr id="13" name="Rounded Rectangle 5">
            <a:extLst>
              <a:ext uri="{FF2B5EF4-FFF2-40B4-BE49-F238E27FC236}">
                <a16:creationId xmlns:a16="http://schemas.microsoft.com/office/drawing/2014/main" id="{9FA08DB3-6B65-17A0-6557-856C1EA2A4FD}"/>
              </a:ext>
            </a:extLst>
          </p:cNvPr>
          <p:cNvSpPr/>
          <p:nvPr/>
        </p:nvSpPr>
        <p:spPr>
          <a:xfrm>
            <a:off x="5332045" y="3516393"/>
            <a:ext cx="915314" cy="479450"/>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1048" b="1">
                <a:solidFill>
                  <a:srgbClr val="FFFFFF"/>
                </a:solidFill>
                <a:latin typeface="Helvetica Neue"/>
              </a:rPr>
              <a:t>topo</a:t>
            </a:r>
          </a:p>
        </p:txBody>
      </p:sp>
      <p:sp>
        <p:nvSpPr>
          <p:cNvPr id="14" name="Rounded Rectangle 6">
            <a:extLst>
              <a:ext uri="{FF2B5EF4-FFF2-40B4-BE49-F238E27FC236}">
                <a16:creationId xmlns:a16="http://schemas.microsoft.com/office/drawing/2014/main" id="{4028F4BE-FAEC-680D-925A-6ABE7FB4C230}"/>
              </a:ext>
            </a:extLst>
          </p:cNvPr>
          <p:cNvSpPr/>
          <p:nvPr/>
        </p:nvSpPr>
        <p:spPr>
          <a:xfrm>
            <a:off x="6378120" y="3516393"/>
            <a:ext cx="915314" cy="47945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1048" b="1">
                <a:solidFill>
                  <a:srgbClr val="FFFFFF"/>
                </a:solidFill>
                <a:latin typeface="Helvetica Neue"/>
              </a:rPr>
              <a:t>eq</a:t>
            </a:r>
          </a:p>
        </p:txBody>
      </p:sp>
      <p:sp>
        <p:nvSpPr>
          <p:cNvPr id="15" name="Rounded Rectangle 7">
            <a:extLst>
              <a:ext uri="{FF2B5EF4-FFF2-40B4-BE49-F238E27FC236}">
                <a16:creationId xmlns:a16="http://schemas.microsoft.com/office/drawing/2014/main" id="{3BA0E0FD-53E6-C282-4BE2-C7CEEE09B620}"/>
              </a:ext>
            </a:extLst>
          </p:cNvPr>
          <p:cNvSpPr/>
          <p:nvPr/>
        </p:nvSpPr>
        <p:spPr>
          <a:xfrm>
            <a:off x="7424194" y="3516393"/>
            <a:ext cx="915314" cy="479450"/>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1048" b="1">
                <a:solidFill>
                  <a:srgbClr val="FFFFFF"/>
                </a:solidFill>
                <a:latin typeface="Helvetica Neue"/>
              </a:rPr>
              <a:t>prod_001</a:t>
            </a:r>
          </a:p>
        </p:txBody>
      </p:sp>
      <p:cxnSp>
        <p:nvCxnSpPr>
          <p:cNvPr id="16" name="Connector 8">
            <a:extLst>
              <a:ext uri="{FF2B5EF4-FFF2-40B4-BE49-F238E27FC236}">
                <a16:creationId xmlns:a16="http://schemas.microsoft.com/office/drawing/2014/main" id="{8D3199B3-4CDF-239C-36A6-70C535EFA89E}"/>
              </a:ext>
            </a:extLst>
          </p:cNvPr>
          <p:cNvCxnSpPr/>
          <p:nvPr/>
        </p:nvCxnSpPr>
        <p:spPr>
          <a:xfrm>
            <a:off x="3109140" y="3756118"/>
            <a:ext cx="130759"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9">
            <a:extLst>
              <a:ext uri="{FF2B5EF4-FFF2-40B4-BE49-F238E27FC236}">
                <a16:creationId xmlns:a16="http://schemas.microsoft.com/office/drawing/2014/main" id="{C357CE5D-C829-6B65-9109-94C766618D26}"/>
              </a:ext>
            </a:extLst>
          </p:cNvPr>
          <p:cNvCxnSpPr/>
          <p:nvPr/>
        </p:nvCxnSpPr>
        <p:spPr>
          <a:xfrm>
            <a:off x="4155214" y="3756118"/>
            <a:ext cx="130759"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0">
            <a:extLst>
              <a:ext uri="{FF2B5EF4-FFF2-40B4-BE49-F238E27FC236}">
                <a16:creationId xmlns:a16="http://schemas.microsoft.com/office/drawing/2014/main" id="{F3698523-B64E-6C7A-DDEC-A2E0CA32D414}"/>
              </a:ext>
            </a:extLst>
          </p:cNvPr>
          <p:cNvCxnSpPr/>
          <p:nvPr/>
        </p:nvCxnSpPr>
        <p:spPr>
          <a:xfrm>
            <a:off x="5201287" y="3756118"/>
            <a:ext cx="130758"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1">
            <a:extLst>
              <a:ext uri="{FF2B5EF4-FFF2-40B4-BE49-F238E27FC236}">
                <a16:creationId xmlns:a16="http://schemas.microsoft.com/office/drawing/2014/main" id="{4C7DB6C9-68E1-EFF7-F2A4-5B5B9747E052}"/>
              </a:ext>
            </a:extLst>
          </p:cNvPr>
          <p:cNvCxnSpPr/>
          <p:nvPr/>
        </p:nvCxnSpPr>
        <p:spPr>
          <a:xfrm>
            <a:off x="6247360" y="3756118"/>
            <a:ext cx="130760"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2">
            <a:extLst>
              <a:ext uri="{FF2B5EF4-FFF2-40B4-BE49-F238E27FC236}">
                <a16:creationId xmlns:a16="http://schemas.microsoft.com/office/drawing/2014/main" id="{6C03F2E9-ABEE-24F5-7D14-A0F24592046A}"/>
              </a:ext>
            </a:extLst>
          </p:cNvPr>
          <p:cNvCxnSpPr/>
          <p:nvPr/>
        </p:nvCxnSpPr>
        <p:spPr>
          <a:xfrm>
            <a:off x="7293434" y="3756118"/>
            <a:ext cx="130759" cy="0"/>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13">
            <a:extLst>
              <a:ext uri="{FF2B5EF4-FFF2-40B4-BE49-F238E27FC236}">
                <a16:creationId xmlns:a16="http://schemas.microsoft.com/office/drawing/2014/main" id="{63B949FF-1B24-2704-25FC-6F5D65B60EE3}"/>
              </a:ext>
            </a:extLst>
          </p:cNvPr>
          <p:cNvSpPr/>
          <p:nvPr/>
        </p:nvSpPr>
        <p:spPr>
          <a:xfrm>
            <a:off x="3239899" y="4693226"/>
            <a:ext cx="915314" cy="479450"/>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953" b="1">
                <a:solidFill>
                  <a:srgbClr val="FFFFFF"/>
                </a:solidFill>
                <a:latin typeface="Helvetica Neue"/>
              </a:rPr>
              <a:t>prep_mut</a:t>
            </a:r>
          </a:p>
        </p:txBody>
      </p:sp>
      <p:sp>
        <p:nvSpPr>
          <p:cNvPr id="22" name="Rounded Rectangle 14">
            <a:extLst>
              <a:ext uri="{FF2B5EF4-FFF2-40B4-BE49-F238E27FC236}">
                <a16:creationId xmlns:a16="http://schemas.microsoft.com/office/drawing/2014/main" id="{88E14908-B144-911F-E6D4-AD36962F5BAC}"/>
              </a:ext>
            </a:extLst>
          </p:cNvPr>
          <p:cNvSpPr/>
          <p:nvPr/>
        </p:nvSpPr>
        <p:spPr>
          <a:xfrm>
            <a:off x="4285973" y="4693226"/>
            <a:ext cx="915314" cy="479450"/>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953" b="1">
                <a:solidFill>
                  <a:srgbClr val="FFFFFF"/>
                </a:solidFill>
                <a:latin typeface="Helvetica Neue"/>
              </a:rPr>
              <a:t>solv_mut</a:t>
            </a:r>
          </a:p>
        </p:txBody>
      </p:sp>
      <p:sp>
        <p:nvSpPr>
          <p:cNvPr id="23" name="Rounded Rectangle 15">
            <a:extLst>
              <a:ext uri="{FF2B5EF4-FFF2-40B4-BE49-F238E27FC236}">
                <a16:creationId xmlns:a16="http://schemas.microsoft.com/office/drawing/2014/main" id="{302C6401-5777-3873-3282-124ED6A7C7FE}"/>
              </a:ext>
            </a:extLst>
          </p:cNvPr>
          <p:cNvSpPr/>
          <p:nvPr/>
        </p:nvSpPr>
        <p:spPr>
          <a:xfrm>
            <a:off x="5332045" y="4693226"/>
            <a:ext cx="915314" cy="479450"/>
          </a:xfrm>
          <a:prstGeom prst="roundRect">
            <a:avLst/>
          </a:prstGeom>
          <a:solidFill>
            <a:srgbClr val="2B73E6"/>
          </a:solidFill>
          <a:ln>
            <a:solidFill>
              <a:srgbClr val="2B73E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953" b="1">
                <a:solidFill>
                  <a:srgbClr val="FFFFFF"/>
                </a:solidFill>
                <a:latin typeface="Helvetica Neue"/>
              </a:rPr>
              <a:t>topo_mut</a:t>
            </a:r>
          </a:p>
        </p:txBody>
      </p:sp>
      <p:sp>
        <p:nvSpPr>
          <p:cNvPr id="24" name="Rounded Rectangle 16">
            <a:extLst>
              <a:ext uri="{FF2B5EF4-FFF2-40B4-BE49-F238E27FC236}">
                <a16:creationId xmlns:a16="http://schemas.microsoft.com/office/drawing/2014/main" id="{419E6008-D90E-DC3D-5C02-D0A5A105DF1D}"/>
              </a:ext>
            </a:extLst>
          </p:cNvPr>
          <p:cNvSpPr/>
          <p:nvPr/>
        </p:nvSpPr>
        <p:spPr>
          <a:xfrm>
            <a:off x="6378120" y="4693226"/>
            <a:ext cx="915314" cy="47945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953" b="1">
                <a:solidFill>
                  <a:srgbClr val="FFFFFF"/>
                </a:solidFill>
                <a:latin typeface="Helvetica Neue"/>
              </a:rPr>
              <a:t>eq_mut</a:t>
            </a:r>
          </a:p>
        </p:txBody>
      </p:sp>
      <p:sp>
        <p:nvSpPr>
          <p:cNvPr id="25" name="Rounded Rectangle 17">
            <a:extLst>
              <a:ext uri="{FF2B5EF4-FFF2-40B4-BE49-F238E27FC236}">
                <a16:creationId xmlns:a16="http://schemas.microsoft.com/office/drawing/2014/main" id="{1129871B-888A-9AF3-D357-5F9B1CC1B364}"/>
              </a:ext>
            </a:extLst>
          </p:cNvPr>
          <p:cNvSpPr/>
          <p:nvPr/>
        </p:nvSpPr>
        <p:spPr>
          <a:xfrm>
            <a:off x="7424194" y="4693226"/>
            <a:ext cx="915314" cy="479450"/>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953" b="1">
                <a:solidFill>
                  <a:srgbClr val="FFFFFF"/>
                </a:solidFill>
                <a:latin typeface="Helvetica Neue"/>
              </a:rPr>
              <a:t>prod_mut</a:t>
            </a:r>
          </a:p>
        </p:txBody>
      </p:sp>
      <p:cxnSp>
        <p:nvCxnSpPr>
          <p:cNvPr id="26" name="Connector 18">
            <a:extLst>
              <a:ext uri="{FF2B5EF4-FFF2-40B4-BE49-F238E27FC236}">
                <a16:creationId xmlns:a16="http://schemas.microsoft.com/office/drawing/2014/main" id="{408E6770-7AD9-BE3B-1CFA-90C1F9C6E979}"/>
              </a:ext>
            </a:extLst>
          </p:cNvPr>
          <p:cNvCxnSpPr/>
          <p:nvPr/>
        </p:nvCxnSpPr>
        <p:spPr>
          <a:xfrm>
            <a:off x="3697556" y="3995843"/>
            <a:ext cx="0" cy="697382"/>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19">
            <a:extLst>
              <a:ext uri="{FF2B5EF4-FFF2-40B4-BE49-F238E27FC236}">
                <a16:creationId xmlns:a16="http://schemas.microsoft.com/office/drawing/2014/main" id="{FFA38CCD-F335-77A6-3EA6-3BA65662FA22}"/>
              </a:ext>
            </a:extLst>
          </p:cNvPr>
          <p:cNvCxnSpPr/>
          <p:nvPr/>
        </p:nvCxnSpPr>
        <p:spPr>
          <a:xfrm>
            <a:off x="4155214" y="4932951"/>
            <a:ext cx="130759" cy="0"/>
          </a:xfrm>
          <a:prstGeom prst="line">
            <a:avLst/>
          </a:prstGeom>
          <a:ln w="1651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0">
            <a:extLst>
              <a:ext uri="{FF2B5EF4-FFF2-40B4-BE49-F238E27FC236}">
                <a16:creationId xmlns:a16="http://schemas.microsoft.com/office/drawing/2014/main" id="{ECAC181A-74EB-DFD7-482E-20FE26C12061}"/>
              </a:ext>
            </a:extLst>
          </p:cNvPr>
          <p:cNvCxnSpPr/>
          <p:nvPr/>
        </p:nvCxnSpPr>
        <p:spPr>
          <a:xfrm>
            <a:off x="5201287" y="4932951"/>
            <a:ext cx="130758" cy="0"/>
          </a:xfrm>
          <a:prstGeom prst="line">
            <a:avLst/>
          </a:prstGeom>
          <a:ln w="1651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1">
            <a:extLst>
              <a:ext uri="{FF2B5EF4-FFF2-40B4-BE49-F238E27FC236}">
                <a16:creationId xmlns:a16="http://schemas.microsoft.com/office/drawing/2014/main" id="{953AADBB-884A-8920-504D-8C234E628B92}"/>
              </a:ext>
            </a:extLst>
          </p:cNvPr>
          <p:cNvCxnSpPr/>
          <p:nvPr/>
        </p:nvCxnSpPr>
        <p:spPr>
          <a:xfrm>
            <a:off x="6247360" y="4932951"/>
            <a:ext cx="130760" cy="0"/>
          </a:xfrm>
          <a:prstGeom prst="line">
            <a:avLst/>
          </a:prstGeom>
          <a:ln w="1651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2">
            <a:extLst>
              <a:ext uri="{FF2B5EF4-FFF2-40B4-BE49-F238E27FC236}">
                <a16:creationId xmlns:a16="http://schemas.microsoft.com/office/drawing/2014/main" id="{A6C01EB5-BBDA-6C72-18F4-619F6DA8E2AE}"/>
              </a:ext>
            </a:extLst>
          </p:cNvPr>
          <p:cNvCxnSpPr/>
          <p:nvPr/>
        </p:nvCxnSpPr>
        <p:spPr>
          <a:xfrm>
            <a:off x="7293434" y="4932951"/>
            <a:ext cx="130759" cy="0"/>
          </a:xfrm>
          <a:prstGeom prst="line">
            <a:avLst/>
          </a:prstGeom>
          <a:ln w="1651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23">
            <a:extLst>
              <a:ext uri="{FF2B5EF4-FFF2-40B4-BE49-F238E27FC236}">
                <a16:creationId xmlns:a16="http://schemas.microsoft.com/office/drawing/2014/main" id="{A1CC842D-0AE2-7F9A-B975-14CEFA6D2BC9}"/>
              </a:ext>
            </a:extLst>
          </p:cNvPr>
          <p:cNvSpPr/>
          <p:nvPr/>
        </p:nvSpPr>
        <p:spPr>
          <a:xfrm>
            <a:off x="8731786" y="2470319"/>
            <a:ext cx="1438351" cy="479450"/>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953" b="1">
                <a:solidFill>
                  <a:srgbClr val="FFFFFF"/>
                </a:solidFill>
                <a:latin typeface="Helvetica Neue"/>
              </a:rPr>
              <a:t>prod_002  seed=42</a:t>
            </a:r>
          </a:p>
        </p:txBody>
      </p:sp>
      <p:sp>
        <p:nvSpPr>
          <p:cNvPr id="32" name="Rounded Rectangle 24">
            <a:extLst>
              <a:ext uri="{FF2B5EF4-FFF2-40B4-BE49-F238E27FC236}">
                <a16:creationId xmlns:a16="http://schemas.microsoft.com/office/drawing/2014/main" id="{A406514F-FD7E-23B8-C3D8-581C4C95AD73}"/>
              </a:ext>
            </a:extLst>
          </p:cNvPr>
          <p:cNvSpPr/>
          <p:nvPr/>
        </p:nvSpPr>
        <p:spPr>
          <a:xfrm>
            <a:off x="8731786" y="3080529"/>
            <a:ext cx="1438351" cy="479450"/>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953" b="1">
                <a:solidFill>
                  <a:srgbClr val="FFFFFF"/>
                </a:solidFill>
                <a:latin typeface="Helvetica Neue"/>
              </a:rPr>
              <a:t>prod_003  T=320 K</a:t>
            </a:r>
          </a:p>
        </p:txBody>
      </p:sp>
      <p:cxnSp>
        <p:nvCxnSpPr>
          <p:cNvPr id="33" name="Connector 25">
            <a:extLst>
              <a:ext uri="{FF2B5EF4-FFF2-40B4-BE49-F238E27FC236}">
                <a16:creationId xmlns:a16="http://schemas.microsoft.com/office/drawing/2014/main" id="{32D0D3DA-13E7-45B9-D61C-A521D9403A28}"/>
              </a:ext>
            </a:extLst>
          </p:cNvPr>
          <p:cNvCxnSpPr/>
          <p:nvPr/>
        </p:nvCxnSpPr>
        <p:spPr>
          <a:xfrm flipV="1">
            <a:off x="7293434" y="2710044"/>
            <a:ext cx="1438351" cy="1046074"/>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26">
            <a:extLst>
              <a:ext uri="{FF2B5EF4-FFF2-40B4-BE49-F238E27FC236}">
                <a16:creationId xmlns:a16="http://schemas.microsoft.com/office/drawing/2014/main" id="{B11A97B6-DA73-1694-B36B-923D811965F1}"/>
              </a:ext>
            </a:extLst>
          </p:cNvPr>
          <p:cNvCxnSpPr/>
          <p:nvPr/>
        </p:nvCxnSpPr>
        <p:spPr>
          <a:xfrm flipV="1">
            <a:off x="7293434" y="3320254"/>
            <a:ext cx="1438351" cy="435864"/>
          </a:xfrm>
          <a:prstGeom prst="line">
            <a:avLst/>
          </a:prstGeom>
          <a:ln w="190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5" name="図 34">
            <a:extLst>
              <a:ext uri="{FF2B5EF4-FFF2-40B4-BE49-F238E27FC236}">
                <a16:creationId xmlns:a16="http://schemas.microsoft.com/office/drawing/2014/main" id="{6A35B63F-3873-A4FC-04AD-C866474A0CC7}"/>
              </a:ext>
            </a:extLst>
          </p:cNvPr>
          <p:cNvPicPr>
            <a:picLocks noChangeAspect="1"/>
          </p:cNvPicPr>
          <p:nvPr/>
        </p:nvPicPr>
        <p:blipFill>
          <a:blip r:embed="rId3"/>
          <a:stretch>
            <a:fillRect/>
          </a:stretch>
        </p:blipFill>
        <p:spPr>
          <a:xfrm>
            <a:off x="2360216" y="2306828"/>
            <a:ext cx="1337340" cy="1170172"/>
          </a:xfrm>
          <a:prstGeom prst="rect">
            <a:avLst/>
          </a:prstGeom>
        </p:spPr>
      </p:pic>
      <p:pic>
        <p:nvPicPr>
          <p:cNvPr id="36" name="図 35">
            <a:extLst>
              <a:ext uri="{FF2B5EF4-FFF2-40B4-BE49-F238E27FC236}">
                <a16:creationId xmlns:a16="http://schemas.microsoft.com/office/drawing/2014/main" id="{AEA73BFB-CD40-99FA-C7FF-DEB10B414FFE}"/>
              </a:ext>
            </a:extLst>
          </p:cNvPr>
          <p:cNvPicPr>
            <a:picLocks noChangeAspect="1"/>
          </p:cNvPicPr>
          <p:nvPr/>
        </p:nvPicPr>
        <p:blipFill>
          <a:blip r:embed="rId5"/>
          <a:stretch>
            <a:fillRect/>
          </a:stretch>
        </p:blipFill>
        <p:spPr>
          <a:xfrm>
            <a:off x="4155214" y="2034341"/>
            <a:ext cx="1177005" cy="1300036"/>
          </a:xfrm>
          <a:prstGeom prst="rect">
            <a:avLst/>
          </a:prstGeom>
        </p:spPr>
      </p:pic>
      <p:pic>
        <p:nvPicPr>
          <p:cNvPr id="37" name="図 36">
            <a:extLst>
              <a:ext uri="{FF2B5EF4-FFF2-40B4-BE49-F238E27FC236}">
                <a16:creationId xmlns:a16="http://schemas.microsoft.com/office/drawing/2014/main" id="{5EDA4DD7-EAF6-00FE-0298-B3536A9EE7D9}"/>
              </a:ext>
            </a:extLst>
          </p:cNvPr>
          <p:cNvPicPr>
            <a:picLocks noChangeAspect="1"/>
          </p:cNvPicPr>
          <p:nvPr/>
        </p:nvPicPr>
        <p:blipFill>
          <a:blip r:embed="rId4"/>
          <a:stretch>
            <a:fillRect/>
          </a:stretch>
        </p:blipFill>
        <p:spPr>
          <a:xfrm>
            <a:off x="6358400" y="1851993"/>
            <a:ext cx="2073466" cy="999707"/>
          </a:xfrm>
          <a:prstGeom prst="rect">
            <a:avLst/>
          </a:prstGeom>
        </p:spPr>
      </p:pic>
      <p:sp>
        <p:nvSpPr>
          <p:cNvPr id="38" name="TextBox 3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正方形/長方形 1">
            <a:extLst>
              <a:ext uri="{FF2B5EF4-FFF2-40B4-BE49-F238E27FC236}">
                <a16:creationId xmlns:a16="http://schemas.microsoft.com/office/drawing/2014/main" id="{C9EB40BD-D544-FC79-F7B8-A66C3AD77776}"/>
              </a:ext>
            </a:extLst>
          </p:cNvPr>
          <p:cNvSpPr>
            <a:spLocks noGrp="1"/>
          </p:cNvSpPr>
          <p:nvPr/>
        </p:nvSpPr>
        <p:spPr>
          <a:xfrm>
            <a:off x="284327" y="54864"/>
            <a:ext cx="11623040" cy="72644"/>
          </a:xfrm>
          <a:prstGeom prst="rect">
            <a:avLst/>
          </a:prstGeom>
          <a:solidFill>
            <a:srgbClr val="111827"/>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996BFB4F-5146-15E8-40FA-DE6CBAE04A5B}"/>
              </a:ext>
            </a:extLst>
          </p:cNvPr>
          <p:cNvSpPr>
            <a:spLocks noGrp="1"/>
          </p:cNvSpPr>
          <p:nvPr/>
        </p:nvSpPr>
        <p:spPr>
          <a:xfrm>
            <a:off x="611225" y="363601"/>
            <a:ext cx="163449" cy="163449"/>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DAA58F7-9430-A334-CC0A-7E32D61DC27A}"/>
              </a:ext>
            </a:extLst>
          </p:cNvPr>
          <p:cNvSpPr>
            <a:spLocks noGrp="1"/>
          </p:cNvSpPr>
          <p:nvPr/>
        </p:nvSpPr>
        <p:spPr>
          <a:xfrm>
            <a:off x="611225" y="626935"/>
            <a:ext cx="2161159" cy="27241"/>
          </a:xfrm>
          <a:prstGeom prst="rect">
            <a:avLst/>
          </a:prstGeom>
          <a:solidFill>
            <a:srgbClr val="0E3A75"/>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887F834-1123-EADD-E377-5F1BC0BA9BB0}"/>
              </a:ext>
            </a:extLst>
          </p:cNvPr>
          <p:cNvSpPr>
            <a:spLocks noGrp="1"/>
          </p:cNvSpPr>
          <p:nvPr/>
        </p:nvSpPr>
        <p:spPr>
          <a:xfrm>
            <a:off x="901801" y="336359"/>
            <a:ext cx="4267835" cy="25425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8" b="1">
                <a:solidFill>
                  <a:srgbClr val="0E3A75"/>
                </a:solidFill>
                <a:latin typeface="Aptos"/>
                <a:ea typeface="Aptos"/>
                <a:cs typeface="Aptos"/>
              </a:defRPr>
            </a:pPr>
            <a:r>
              <a:rPr sz="958" b="1">
                <a:solidFill>
                  <a:srgbClr val="0E3A75"/>
                </a:solidFill>
                <a:latin typeface="Aptos"/>
                <a:ea typeface="Aptos"/>
                <a:cs typeface="Aptos"/>
              </a:rPr>
              <a:t>DAG-MANAGED WORKFLOW</a:t>
            </a:r>
          </a:p>
        </p:txBody>
      </p:sp>
      <p:sp>
        <p:nvSpPr>
          <p:cNvPr id="6" name="正方形/長方形 5">
            <a:extLst>
              <a:ext uri="{FF2B5EF4-FFF2-40B4-BE49-F238E27FC236}">
                <a16:creationId xmlns:a16="http://schemas.microsoft.com/office/drawing/2014/main" id="{A8C59781-8F08-0F1B-E56D-3542122C59C5}"/>
              </a:ext>
            </a:extLst>
          </p:cNvPr>
          <p:cNvSpPr>
            <a:spLocks noGrp="1"/>
          </p:cNvSpPr>
          <p:nvPr/>
        </p:nvSpPr>
        <p:spPr>
          <a:xfrm>
            <a:off x="886233" y="901166"/>
            <a:ext cx="9806940" cy="83540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38" b="1">
                <a:solidFill>
                  <a:srgbClr val="172033"/>
                </a:solidFill>
                <a:latin typeface="Aptos Display"/>
                <a:ea typeface="Aptos Display"/>
                <a:cs typeface="Aptos Display"/>
              </a:defRPr>
            </a:pPr>
            <a:r>
              <a:rPr lang="en-US" sz="2538" b="1" dirty="0">
                <a:solidFill>
                  <a:srgbClr val="172033"/>
                </a:solidFill>
                <a:latin typeface="Aptos Display"/>
                <a:ea typeface="Aptos Display"/>
                <a:cs typeface="Aptos Display"/>
              </a:rPr>
              <a:t>DAG-based MD workflow is auditable, durable, and flexible</a:t>
            </a:r>
            <a:endParaRPr sz="2538" b="1" dirty="0">
              <a:solidFill>
                <a:srgbClr val="172033"/>
              </a:solidFill>
              <a:latin typeface="Aptos Display"/>
              <a:ea typeface="Aptos Display"/>
              <a:cs typeface="Aptos Display"/>
            </a:endParaRPr>
          </a:p>
        </p:txBody>
      </p:sp>
      <p:sp>
        <p:nvSpPr>
          <p:cNvPr id="7" name="Rounded Rectangle 1">
            <a:extLst>
              <a:ext uri="{FF2B5EF4-FFF2-40B4-BE49-F238E27FC236}">
                <a16:creationId xmlns:a16="http://schemas.microsoft.com/office/drawing/2014/main" id="{425BBFAC-B34A-3A17-31D7-F8E2C3E751B1}"/>
              </a:ext>
            </a:extLst>
          </p:cNvPr>
          <p:cNvSpPr/>
          <p:nvPr/>
        </p:nvSpPr>
        <p:spPr>
          <a:xfrm>
            <a:off x="4168644" y="2857213"/>
            <a:ext cx="958900" cy="435864"/>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1048" b="1">
                <a:solidFill>
                  <a:srgbClr val="FFFFFF"/>
                </a:solidFill>
                <a:latin typeface="Helvetica Neue"/>
              </a:rPr>
              <a:t>eq_001</a:t>
            </a:r>
          </a:p>
        </p:txBody>
      </p:sp>
      <p:sp>
        <p:nvSpPr>
          <p:cNvPr id="9" name="Rounded Rectangle 2">
            <a:extLst>
              <a:ext uri="{FF2B5EF4-FFF2-40B4-BE49-F238E27FC236}">
                <a16:creationId xmlns:a16="http://schemas.microsoft.com/office/drawing/2014/main" id="{C6364ECB-3AC3-73B6-29FA-378EDD2D7C37}"/>
              </a:ext>
            </a:extLst>
          </p:cNvPr>
          <p:cNvSpPr/>
          <p:nvPr/>
        </p:nvSpPr>
        <p:spPr>
          <a:xfrm>
            <a:off x="5824927" y="2159829"/>
            <a:ext cx="1307592" cy="523036"/>
          </a:xfrm>
          <a:prstGeom prst="roundRect">
            <a:avLst/>
          </a:prstGeom>
          <a:solidFill>
            <a:srgbClr val="9AA2AE"/>
          </a:solidFill>
          <a:ln>
            <a:solidFill>
              <a:srgbClr val="9AA2AE"/>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953" b="1">
                <a:solidFill>
                  <a:srgbClr val="FFFFFF"/>
                </a:solidFill>
                <a:latin typeface="Helvetica Neue"/>
              </a:rPr>
              <a:t>prod_001
attempt 1</a:t>
            </a:r>
          </a:p>
        </p:txBody>
      </p:sp>
      <p:sp>
        <p:nvSpPr>
          <p:cNvPr id="38" name="TextBox 3">
            <a:extLst>
              <a:ext uri="{FF2B5EF4-FFF2-40B4-BE49-F238E27FC236}">
                <a16:creationId xmlns:a16="http://schemas.microsoft.com/office/drawing/2014/main" id="{D096A666-BC98-AC86-F17F-E3F2072C4B68}"/>
              </a:ext>
            </a:extLst>
          </p:cNvPr>
          <p:cNvSpPr txBox="1"/>
          <p:nvPr/>
        </p:nvSpPr>
        <p:spPr>
          <a:xfrm>
            <a:off x="5519822" y="2813625"/>
            <a:ext cx="1917801" cy="261518"/>
          </a:xfrm>
          <a:prstGeom prst="rect">
            <a:avLst/>
          </a:prstGeom>
          <a:noFill/>
        </p:spPr>
        <p:txBody>
          <a:bodyPr wrap="square" lIns="0" tIns="0" rIns="0" bIns="0" anchor="t">
            <a:spAutoFit/>
          </a:bodyPr>
          <a:lstStyle/>
          <a:p>
            <a:pPr algn="ctr">
              <a:lnSpc>
                <a:spcPct val="115000"/>
              </a:lnSpc>
              <a:spcAft>
                <a:spcPts val="0"/>
              </a:spcAft>
            </a:pPr>
            <a:r>
              <a:rPr sz="953" b="1" i="0">
                <a:solidFill>
                  <a:srgbClr val="DC2626"/>
                </a:solidFill>
                <a:latin typeface="Helvetica Neue"/>
              </a:rPr>
              <a:t>✗ FAILED</a:t>
            </a:r>
          </a:p>
        </p:txBody>
      </p:sp>
      <p:sp>
        <p:nvSpPr>
          <p:cNvPr id="39" name="TextBox 4">
            <a:extLst>
              <a:ext uri="{FF2B5EF4-FFF2-40B4-BE49-F238E27FC236}">
                <a16:creationId xmlns:a16="http://schemas.microsoft.com/office/drawing/2014/main" id="{10CFFBF0-FEC0-76DA-55A4-EF3D008291E0}"/>
              </a:ext>
            </a:extLst>
          </p:cNvPr>
          <p:cNvSpPr txBox="1"/>
          <p:nvPr/>
        </p:nvSpPr>
        <p:spPr>
          <a:xfrm>
            <a:off x="5519822" y="3048993"/>
            <a:ext cx="1917801" cy="261518"/>
          </a:xfrm>
          <a:prstGeom prst="rect">
            <a:avLst/>
          </a:prstGeom>
          <a:noFill/>
        </p:spPr>
        <p:txBody>
          <a:bodyPr wrap="square" lIns="0" tIns="0" rIns="0" bIns="0" anchor="t">
            <a:spAutoFit/>
          </a:bodyPr>
          <a:lstStyle/>
          <a:p>
            <a:pPr algn="ctr">
              <a:lnSpc>
                <a:spcPct val="115000"/>
              </a:lnSpc>
              <a:spcAft>
                <a:spcPts val="0"/>
              </a:spcAft>
            </a:pPr>
            <a:r>
              <a:rPr sz="858" b="0" i="1">
                <a:solidFill>
                  <a:srgbClr val="4B5563"/>
                </a:solidFill>
                <a:latin typeface="Menlo"/>
              </a:rPr>
              <a:t>NaN at step 1.2e7</a:t>
            </a:r>
          </a:p>
        </p:txBody>
      </p:sp>
      <p:sp>
        <p:nvSpPr>
          <p:cNvPr id="40" name="Rounded Rectangle 5">
            <a:extLst>
              <a:ext uri="{FF2B5EF4-FFF2-40B4-BE49-F238E27FC236}">
                <a16:creationId xmlns:a16="http://schemas.microsoft.com/office/drawing/2014/main" id="{5431560A-F720-D364-859C-075A90003F53}"/>
              </a:ext>
            </a:extLst>
          </p:cNvPr>
          <p:cNvSpPr/>
          <p:nvPr/>
        </p:nvSpPr>
        <p:spPr>
          <a:xfrm>
            <a:off x="5824927" y="3641768"/>
            <a:ext cx="1307592" cy="523036"/>
          </a:xfrm>
          <a:prstGeom prst="round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lstStyle/>
          <a:p>
            <a:pPr algn="ctr"/>
            <a:r>
              <a:rPr sz="953" b="1">
                <a:solidFill>
                  <a:srgbClr val="FFFFFF"/>
                </a:solidFill>
                <a:latin typeface="Helvetica Neue"/>
              </a:rPr>
              <a:t>prod_001
attempt 2</a:t>
            </a:r>
          </a:p>
        </p:txBody>
      </p:sp>
      <p:sp>
        <p:nvSpPr>
          <p:cNvPr id="41" name="TextBox 6">
            <a:extLst>
              <a:ext uri="{FF2B5EF4-FFF2-40B4-BE49-F238E27FC236}">
                <a16:creationId xmlns:a16="http://schemas.microsoft.com/office/drawing/2014/main" id="{68BC602E-F73D-A52C-DDE2-886F0823C28B}"/>
              </a:ext>
            </a:extLst>
          </p:cNvPr>
          <p:cNvSpPr txBox="1"/>
          <p:nvPr/>
        </p:nvSpPr>
        <p:spPr>
          <a:xfrm>
            <a:off x="5519822" y="4269411"/>
            <a:ext cx="1917801" cy="261518"/>
          </a:xfrm>
          <a:prstGeom prst="rect">
            <a:avLst/>
          </a:prstGeom>
          <a:noFill/>
        </p:spPr>
        <p:txBody>
          <a:bodyPr wrap="square" lIns="0" tIns="0" rIns="0" bIns="0" anchor="t">
            <a:spAutoFit/>
          </a:bodyPr>
          <a:lstStyle/>
          <a:p>
            <a:pPr algn="ctr">
              <a:lnSpc>
                <a:spcPct val="115000"/>
              </a:lnSpc>
              <a:spcAft>
                <a:spcPts val="0"/>
              </a:spcAft>
            </a:pPr>
            <a:r>
              <a:rPr sz="953" b="1" i="0">
                <a:solidFill>
                  <a:srgbClr val="10B981"/>
                </a:solidFill>
                <a:latin typeface="Helvetica Neue"/>
              </a:rPr>
              <a:t>✓ COMPLETED</a:t>
            </a:r>
          </a:p>
        </p:txBody>
      </p:sp>
      <p:sp>
        <p:nvSpPr>
          <p:cNvPr id="42" name="TextBox 7">
            <a:extLst>
              <a:ext uri="{FF2B5EF4-FFF2-40B4-BE49-F238E27FC236}">
                <a16:creationId xmlns:a16="http://schemas.microsoft.com/office/drawing/2014/main" id="{1B8D8799-1AC5-5FC4-E55F-993D1A952A0A}"/>
              </a:ext>
            </a:extLst>
          </p:cNvPr>
          <p:cNvSpPr txBox="1"/>
          <p:nvPr/>
        </p:nvSpPr>
        <p:spPr>
          <a:xfrm>
            <a:off x="5519822" y="4496060"/>
            <a:ext cx="1917801" cy="261518"/>
          </a:xfrm>
          <a:prstGeom prst="rect">
            <a:avLst/>
          </a:prstGeom>
          <a:noFill/>
        </p:spPr>
        <p:txBody>
          <a:bodyPr wrap="square" lIns="0" tIns="0" rIns="0" bIns="0" anchor="t">
            <a:spAutoFit/>
          </a:bodyPr>
          <a:lstStyle/>
          <a:p>
            <a:pPr algn="ctr">
              <a:lnSpc>
                <a:spcPct val="115000"/>
              </a:lnSpc>
              <a:spcAft>
                <a:spcPts val="0"/>
              </a:spcAft>
            </a:pPr>
            <a:r>
              <a:rPr sz="858" b="0" i="1">
                <a:solidFill>
                  <a:srgbClr val="4B5563"/>
                </a:solidFill>
                <a:latin typeface="Menlo"/>
              </a:rPr>
              <a:t>restarted from eq state.xml, new seed</a:t>
            </a:r>
          </a:p>
        </p:txBody>
      </p:sp>
      <p:cxnSp>
        <p:nvCxnSpPr>
          <p:cNvPr id="43" name="Connector 8">
            <a:extLst>
              <a:ext uri="{FF2B5EF4-FFF2-40B4-BE49-F238E27FC236}">
                <a16:creationId xmlns:a16="http://schemas.microsoft.com/office/drawing/2014/main" id="{2DFBD80F-9B17-E15A-DF91-6ED92A30FD3A}"/>
              </a:ext>
            </a:extLst>
          </p:cNvPr>
          <p:cNvCxnSpPr/>
          <p:nvPr/>
        </p:nvCxnSpPr>
        <p:spPr>
          <a:xfrm flipV="1">
            <a:off x="5127545" y="2421348"/>
            <a:ext cx="697382" cy="653796"/>
          </a:xfrm>
          <a:prstGeom prst="line">
            <a:avLst/>
          </a:prstGeom>
          <a:ln w="1778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9">
            <a:extLst>
              <a:ext uri="{FF2B5EF4-FFF2-40B4-BE49-F238E27FC236}">
                <a16:creationId xmlns:a16="http://schemas.microsoft.com/office/drawing/2014/main" id="{D691D0CF-E742-52E0-98AF-2A796D85B675}"/>
              </a:ext>
            </a:extLst>
          </p:cNvPr>
          <p:cNvCxnSpPr/>
          <p:nvPr/>
        </p:nvCxnSpPr>
        <p:spPr>
          <a:xfrm>
            <a:off x="5127545" y="3075145"/>
            <a:ext cx="697382" cy="828140"/>
          </a:xfrm>
          <a:prstGeom prst="line">
            <a:avLst/>
          </a:prstGeom>
          <a:ln w="1778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10">
            <a:extLst>
              <a:ext uri="{FF2B5EF4-FFF2-40B4-BE49-F238E27FC236}">
                <a16:creationId xmlns:a16="http://schemas.microsoft.com/office/drawing/2014/main" id="{59E6D381-9F5F-E99F-94A7-1803F645004D}"/>
              </a:ext>
            </a:extLst>
          </p:cNvPr>
          <p:cNvCxnSpPr/>
          <p:nvPr/>
        </p:nvCxnSpPr>
        <p:spPr>
          <a:xfrm>
            <a:off x="6478723" y="2726452"/>
            <a:ext cx="0" cy="871728"/>
          </a:xfrm>
          <a:prstGeom prst="line">
            <a:avLst/>
          </a:prstGeom>
          <a:ln w="20320">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原著・原資料と日付</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463040"/>
            <a:ext cx="10881360" cy="4480560"/>
          </a:xfrm>
          <a:prstGeom prst="rect">
            <a:avLst/>
          </a:prstGeom>
          <a:noFill/>
        </p:spPr>
        <p:txBody>
          <a:bodyPr wrap="square" lIns="0" rIns="0" tIns="0" bIns="0" anchor="t">
            <a:noAutofit/>
          </a:bodyPr>
          <a:lstStyle/>
          <a:p>
            <a:pPr algn="l">
              <a:lnSpc>
                <a:spcPts val="3105"/>
              </a:lnSpc>
            </a:pPr>
            <a:r>
              <a:rPr sz="2300" b="0" lang="ja-JP" altLang="en-US">
                <a:solidFill>
                  <a:srgbClr val="333333"/>
                </a:solidFill>
                <a:latin typeface="Noto Sans JP"/>
                <a:ea typeface="Noto Sans JP"/>
              </a:rPr>
              <a:t>AI Scientist：Robin DOI:10.1038/s41586-026-10652-y／Co-Scientist DOI:10.1038/s41586-026-10644-y／ERA DOI:10.1038/s41586-026-10658-6。</a:t>
            </a:r>
          </a:p>
          <a:p>
            <a:pPr algn="l">
              <a:lnSpc>
                <a:spcPts val="3105"/>
              </a:lnSpc>
            </a:pPr>
            <a:r>
              <a:rPr sz="2300" b="0" lang="ja-JP" altLang="en-US">
                <a:solidFill>
                  <a:srgbClr val="333333"/>
                </a:solidFill>
                <a:latin typeface="Noto Sans JP"/>
                <a:ea typeface="Noto Sans JP"/>
              </a:rPr>
              <a:t>転移学習：Murakami et al. DOI:10.64898/2026.07.30.741744。図は投稿原稿Fig. 1–3。</a:t>
            </a:r>
          </a:p>
          <a:p>
            <a:pPr algn="l">
              <a:lnSpc>
                <a:spcPts val="3105"/>
              </a:lnSpc>
            </a:pPr>
            <a:r>
              <a:rPr sz="2300" b="0" lang="ja-JP" altLang="en-US">
                <a:solidFill>
                  <a:srgbClr val="333333"/>
                </a:solidFill>
                <a:latin typeface="Noto Sans JP"/>
                <a:ea typeface="Noto Sans JP"/>
              </a:rPr>
              <a:t>MDClaw：github.com/matsunagalab/mdclaw。6月9日理研・6月17日蛋白質科学会の発表を再利用。</a:t>
            </a:r>
          </a:p>
          <a:p>
            <a:pPr algn="l">
              <a:lnSpc>
                <a:spcPts val="3105"/>
              </a:lnSpc>
            </a:pPr>
            <a:r>
              <a:rPr sz="2300" b="0" lang="ja-JP" altLang="en-US">
                <a:solidFill>
                  <a:srgbClr val="333333"/>
                </a:solidFill>
                <a:latin typeface="Noto Sans JP"/>
                <a:ea typeface="Noto Sans JP"/>
              </a:rPr>
              <a:t>現在の役割分担は2026年10月11日のローカル実装・READMEと照合。</a:t>
            </a:r>
          </a:p>
        </p:txBody>
      </p:sp>
      <p:sp>
        <p:nvSpPr>
          <p:cNvPr id="7" name="TextBox 6"/>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生命情報工学特論 第15回</dc:title>
  <dc:subject/>
  <dc:creator>松永 康佑</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