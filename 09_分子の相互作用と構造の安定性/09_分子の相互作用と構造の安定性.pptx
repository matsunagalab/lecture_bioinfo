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生命情報工学特論の第九回です。埼玉大学、理化学研究所の松永です。今回は分子の相互作用と構造の安定性を扱います。エネルギーが低い構造でも、その一枚を見ただけでは安定性を決められません。右の図では、状態の数が違うだけで温度に対する出現割合が変わります。力場、温度、状態数を順に結び付け、最後にブラウザで確率の変化を観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今回の結論を先に示します。構造の安定性を考えるには、エネルギーの低さだけでなく、同じ群に属する構造がどれほど多いかを数える必要があります。右では、低いエネルギーの状態が一つ、高いエネルギーの状態が八つあります。一つずつ比べれば低い状態が有利ですが、八つをまとめると結果が変わります。この違いを、講義の後半で数値まで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最初に、原子配置からエネルギーと力を求める力場を説明します。結合、非結合相互作用、水の役割を見たあと、温度一定の系で構造がどう分布するかへ進みます。熱浴の状態数からボルツマン分布を導き、エントロピーと自由エネルギーにつなげます。最後の操作教材では、温度と状態数を変え、図の二本の曲線が異なる理由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ポテンシャルエネルギーは、原子の配置に応じて変わるエネルギーです。図のように外から力を加えて配置を変えると、仕事が蓄えられます。力が一定なら仕事は力と移動距離の積です。一般には力が位置で変わるので積分して求めます。エネルギーのゼロは基準の選び方で変わり、意味を持つのは配置間の差です。次の図で、この差と力の向きを対応づけ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エネルギーの低さと力の大きさは、別の情報です。力はエネルギー曲線の傾きに負号を付けたものなので、谷の底では力がゼロになります。谷の少し右では左向き、少し左では右向きに働きます。右の青線はエネルギー、橙線は力です。極小の位置で橙線がゼロを通ることを確認してください。原子の計算では、エネルギーと長さの単位を揃えて微分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エネルギー曲線を距離で微分すると傾きが得られ、その符号を反転したものが力になります。左側で曲線が下がるなら距離を増やす向き、右側で上がるなら距離を減らす向きに力が働きます。底では傾きがゼロです。力の向きと、エネルギーの値の大小を混同せずに図を追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力場は、原子配置から複数の相互作用のエネルギーを計算し、足し合わせるモデルです。上の二行は結合長、結合角、二面角です。右の分子模型をそれぞれの項へ対応させてください。下の行は非結合原子の分散と反発、静電相互作用です。この講義ではレナード・ジョーンズ項の前に四を付け、イプシロンを井戸の深さとして定義します。係数の中へ四や二分の一を吸収する規約もあるので、数値だけを混ぜないでください。非結合項の除外規則も含めて一つの力場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化学結合のエネルギーを距離の関数として描いたMorseポテンシャルです。短い距離では強く反発し、十分離すと結合が切れる方向へ近づきます。通常の生体分子の固定結合型力場では、平衡長付近の揺らぎをもっと簡単な調和関数で近似します。次の図でその範囲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平衡結合長の近くでは、エネルギーを距離のずれの二乗で近似できます。ばね定数が大きいほど同じ距離のずれに必要なエネルギーが大きく、結合が硬いことを表します。この近似は結合の切断や化学反応を表すためのものではありません。適用する範囲を意識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三つの原子が作る結合角も、平衡値のまわりのずれに対してエネルギーが増えます。結合長と同じように、通常は比較的硬い自由度です。分子の構造が変わるとき、結合を大きく伸ばすより、次の二面角を回す方が起こりやすいこと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ロイシン側鎖の二面角を変えた例です。結合軸まわりの回転により、原子同士の近づき方が変わり、エネルギーには複数の極小が現れます。回転角は周期的なので、周期関数を組み合わせた力場の項で近似します。谷の位置と高さ、谷の間の障壁を図で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非結合原子の近距離反発と、少し離れた距離での引力を見ます。原子が重なると大きな反発が生じ、適切な距離には浅い極小があります。力場ではLennard–Jones型の関数などで近似します。距離に対するエネルギーの形から、引き合う範囲と反発する範囲を読み取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化学結合の中でも電子は一様に分布せず、原子ごとに部分電荷を割り当てて静電相互作用を近似します。反対符号は引き合い、同符号は反発します。この電荷は通常の固定電荷力場では一定のパラメータです。電子の運動や分極をその場で厳密に解いてい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レナード・ジョーンズ項は、短距離反発と分散引力を簡潔な二体関数で表します。十二乗の反発は電子構造からの厳密な導出ではなく、関数形の選択です。微分をゼロと置くと極小距離が求まり、さらに二回微分すれば接触付近の剛性が得られます。この関係から、井戸の深さと接触距離を別々に合わせても局所的な応答が自動的に正しくなるとは限らないことが分かります。異種原子間では組合せ則が必要になりますが、ローレンツ・ベルテロ則は普遍的な法則ではありません。使用する力場の定義に従い、特定原子対の補正も含めて扱います。また、結合で近くつながった原子には通常と異なる非結合規約を用います。一対四の規約は特に二面角の配座エネルギーへ直結するため、二面角パラメータと組で管理します。溶質と水、イオンの組合せを検証するときも、個々の原子パラメータだけでなく、最終的に生成される原子対の相互作用を確認します。同じ極小距離でも、井戸の深さが異なれば熱揺らぎに対する相対的な強さが変わります。一方、極小点だけの一致では、短距離での反発や長距離での引力の尾は完全には検証できません。接触構造、液体物性、異種分子との相互作用を併用する理由です。特定原子対への補正は便利ですが、その補正を含む組合せとして再現性を管理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水素結合は二次構造の形成でも出てきました。通常の固定電荷型の力場では、部分電荷による静電相互作用と短距離の反発などを組み合わせて、その効果を近似します。水素結合を厳密に電子から解いているわけではありません。供与体、水素、受容体の配置によって、近づける方向と距離が限られることを図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タンパク質は真空中にあるわけではなく、周囲の水やイオンと相互作用します。水にも部分電荷があり、タンパク質の荷電した部分と引き合ったり、水同士で配置を変えたりします。タンパク質だけのエネルギーが低くても、水の配置を含めた全体で有利とは限りません。構造の現れやすさを考えるときには、溶媒の自由度も含め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溶液中のタンパク質を計算するため、水や必要なイオンを含む箱を用意します。相互作用を評価する対象はタンパク質の内部だけではありません。水との接触や水の配置の自由度も、構造の現れやすさへ影響します。箱の境界をどう扱うかは、分子シミュレーションの設定で重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溶液中では、タンパク質だけのエネルギーでは構造の優劣を決められません。右の既存の模型のように、周囲には多くの水分子があります。構造が変わると、タンパク質と水の接触だけでなく、水自身が取れる配置も変わります。疎水効果も、この溶媒を含む全体の問題です。水を一個ずつ表す方法と、平均的な効果としてまとめる方法を区別し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実験との不一致を見たとき、全てを力場のパラメータへ帰着させないことが重要です。左の式は、構造から予測する信号を、力場が作る配置分布で平均したものです。実験と比較するまでには、分布のモデルと観測量への変換という二つの段階があります。例えばエヌエムアールの信号では、構造が正しくても変換式の近似によって差が生じることがあります。また、有限の軌道が別の状態を訪れていなければ、力場が定める平衡平均をまだ計算できていません。複数の初期条件や計算の延長によって標本誤差を調べ、温度やプロトン化などの条件を揃えてからパラメータの影響を評価します。右側には開発と検証の手順をまとめました。計算が最後まで実行できることと、意図した物理モデルが定義できていることは異なります。割当や除外規則を含む設定を保存することで、不一致の原因を後から追跡できるようにします。観測モデルにもパラメータや近似が含まれる場合、それを固定して比較したのか、別に調整したのかを記録します。力場と観測モデルを同じデータへ同時に合わせると、どちらの改善で一致したのか分けにくくなります。複数種類の観測量や独立した条件のデータを用いることで、この補償を調べられます。比較の過程全体を推定の一部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温度一定の熱平衡では、最低エネルギーの一点だけに止まるわけではありません。ここでのエックスは全原子の配置です。ポテンシャルエネルギーにマイナスを付け、熱エネルギーで割った指数が重みになります。分母は全配置にわたる重みの積分で、密度の積分を一にします。同じ大きさの配置領域なら、エネルギーが低い方ほど現れやすくなります。ただし、構造群には多くの配置が含まれるので、その全体を足す必要があります。また、この式が与えるのは割合であり、運動の速さ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微視的状態と構造群を分けて考えます。一つの微視的状態は具体的な原子配置に対応します。構造群は、そのような状態を多数まとめたものです。右の青い点は一状態、橙の点はそれぞれ別の状態ですが、同じ群にまとめています。群の確率を求めるときには、その中のすべての点の重みを足します。これがエネルギーと状態数の両方を考える理由で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小さな系Sと、とても大きな熱浴Bを合わせる。全体は外部から孤立し、合計エネルギーを一定とする。相互作用のエネルギーは小さいとする。系がエネルギーを受け取ると、熱浴はその分失う。系の一つの状態が現れる確率は、それと組にできる熱浴の状態数に比例する。全体の許された微視的状態を同じ確率とするのが、ここでの統計力学の出発点。独立な系を合わせた状態数は掛け算になる。たとえばAに2通り、Bに3通りあれば、組は6通り。熱浴に可能な組が多い系の状態ほど現れやすい。iは系の一つの微視的状態。エネルギーE_iを持つ状態すべてをまとめた確率とは、まだ異なる。系と大きな熱浴を合わせた全体を孤立系として考えます。系が特定のエネルギーを持つとき、熱浴に残せるエネルギーが決まります。その残りのエネルギーで実現できる熱浴の状態が多いほど、系のその状態も出現しやすくなります。系のエネルギーだけに指数を仮定するのではなく、まず全体の状態の数から確率の比を作るのが導出の出発点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系があるエネルギーを持つと、その分だけ熱浴に残るエネルギーが減ります。その残りで実現できる熱浴の状態が多いほど、系の状態も現れやすくなります。大きな熱浴では、少しエネルギーを渡しても温度はほとんど変わりません。この条件で熱浴のエントロピーを一次まで展開すると、ボルツマンの指数重みが出てきます。途中の展開は付録に残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指数関数から得られるのは、まず規格化前の重みです。右の青い棒がその重み、橙の棒が総和で割った確率です。エネルギー差を熱エネルギーで割るので、同じ差でも温度が変われば相対的な重みが変わります。すべてのエネルギーへ同じ定数を足すと、重みには共通の係数が掛かりますが、分子と分母で打ち消され、確率は変わ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同じ温度で、エネルギー準位の間隔が異なる例を比較しています。個々の微視的状態の確率の比は、エネルギー差のボルツマン因子で決まります。一方で、同じエネルギーに複数の状態がある群の確率を求めるときは、その状態数も数える必要があります。この二つを区別して次のエントロピーへ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同じエネルギー準位で温度だけを変えた例です。温度が低いと低エネルギー側に集中し、温度が上がると高い準位の確率も増えます。温度はエネルギー差を測るものさしに相当します。右のグラフでどの準位から占有が増えるかを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タンパク質の折り畳みを例に温度の影響を示す模式図です。この例では高温になるとほどけた状態の割合が増えます。低エネルギーであることと、その構造群が多数存在することの両方が確率を決めます。個別のタンパク質での転移温度や低温変性まで、この単純な図から一律に決めることは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モル単位で三百ケルビンの熱エネルギーを計算すると、およそ二・四九キロジュール毎モルです。二つの状態に五キロジュール毎モルの差があると、高い方の重みは低い方の約〇・一三五倍です。右の左側が規格化前の重みです。二つの重みの和で割ると、高い状態の確率は約十一・九パーセントになります。確率の比と、高い状態そのものの確率は違う量で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温度はエネルギー差の効き方を変えます。右ではエネルギー差を同じにして、高い方の状態数が一つの場合と八つの場合を比べています。同じ状態数なら、高温で二つの群の確率は半分へ近づきます。一方、八倍の状態数があれば、高温でも群の確率は半分になりません。温度を上げることと、すべての構造の群を同じ確率にすることは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青の群はエネルギーゼロで一状態、橙の群はエネルギー二で八状態です。熱エネルギーを一とすると、橙の一状態の重みは青より小さいですが、八つを足すと約一・〇八三倍になります。この比を確率へ直すと、橙の群は約五十二パーセントです。高いエネルギーを状態の多さが補った例です。ここでは群の中を等エネルギーとした、説明用の模型を使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等確率な状態がいくつあるかを、対数で表した量がエントロピーです。独立な系を合わせると状態数は掛け算になりますが、対数を取ればエントロピーは足し算になります。右の曲線で、状態数が八のときの対数を確認してください。状態ごとの確率が異なる場合には、下の一般式を使います。見た目が複雑かどうかではなく、何を一状態と数えるかを定義して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自由エネルギーは、平均エネルギーから温度とエントロピーの積を引いた量です。いまの等エネルギーの模型では、平均エネルギーをその群のエネルギーと置けます。右の青はエネルギーの差、橙は状態数から来る差、緑がその合計です。合計が少し負になるため、エネルギーの高い橙の群も全体としては優勢になります。ここでは温度と体積を一定にしたヘルムホルツ自由エネルギーを扱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構造群の重みは、含まれる微視的状態の指数重みを全部足して求めます。その和の対数へ、マイナスの熱エネルギーを掛けると群の自由エネルギーです。二群の差を取ると、確率比の対数で表せます。右の図では、状態数の多い群が有利になる場合を示しています。個々の状態のエネルギーが等しくない場合も、足し合わせるという考え方は同じです。位置と運動量の分離の導出は付録冒頭に移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実際の構造群では、含まれる状態のエネルギーがすべて同じとは限りません。その場合は状態数だけを掛けず、各状態の指数重みを一つずつ足します。下の式の和の範囲が群の定義です。二つの群の重みの比は確率比になるので、自由エネルギー差を求められます。連続的な座標を使うときには、同じ刻み幅や測度で比べ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折れ畳んだ構造を一個、ほどけた構造も一個だけ描くと、低エネルギーの方が常に優勢に見えます。しかし、ほどけた構造には多くの異なる配置があります。各配置の重みが小さくても、その総和が大きければ、ほどけた群の確率が高くなります。これが状態数、エントロピー、自由エネルギーへつながる理由です。図の点一個と、点の集まり全体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安定性は平衡でどの群がどれだけ現れるか、速さはその群の間をどう移るかという問題です。右は二つの谷を持つポテンシャルの模型です。各谷の確率は、谷に含まれる配置の重みを積分して求めます。谷の間に高い障壁があれば、短い観測では片側から出られないことがあります。次回は分布を計算するために、どのように候補を提案し受理するかを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構造予測、エネルギー最小化、熱平衡の標本化は、答えたい問題が違います。右の上段は、学習済みモデルから候補の座標を得る操作です。中段は、与えたエネルギーの近くの極小へ進む操作です。下段は、温度に応じた割合で多くの配置を集める操作です。予測の信頼度、ポテンシャルエネルギー、自由エネルギーを一つの順位として比較せず、それぞれが何を表す値か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演習では、温度と状態数の操作教材をブラウザで開きます。追加のインストールは必要ありません。まず温度だけを変え、次にエネルギー差、最後に高い方の状態数を変えてください。重み、確率、自由エネルギー差が一緒に変わることを確認できます。群の中は等エネルギーとした模型です。二十分を目安に観察し、採点や提出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冒頭の結論へ戻ります。低いエネルギーの構造を一枚見つけただけでは、構造群の安定性は決まりません。原子の相互作用からエネルギーを求め、熱エネルギーと比較して重みを作り、多数の状態の重みを足す必要があります。右の二本の曲線が異なるのは、状態数の違いが群の確率へ反映されるためです。次回は、巨大な和を直接計算せず、分布から標本を集める方法を学び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ここからは独習用の付録です。力場の関数形と検証、熱浴からの分布の導出、運動量と等分配を順に置いてあります。右は、なぜ位置だけのボルツマン分布を使えるかという補足です。古典的なエネルギーが位置と運動量の和に分かれると、指数の重みは掛け算に分かれます。運動量を全範囲で積分すると、位置によらない因子になります。この因子は規格化で消えるので、位置の分布にはポテンシャルエネルギーの指数重みが残ります。</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力場の転用可能性は、同じパラメータをどの化学環境に共有させるかという設計に依存します。原子タイプは単なる元素のラベルではなく、結合次数や周囲の置換基をどこまで区別するかを定めます。分類を細分化すると訓練データには合わせやすくなりますが、まれなタイプには十分な参照データがなく、かえって予測が不安定になることがあります。オープンエフエフでは、部分構造のパターンから相互作用へ直接パラメータを割り当てます。この場合も化学構造の認識規則はモデルの一部です。実際の利用では、プロトン化状態や芳香族性の指定を確認してから、どのパラメータが割り当たったかを追跡します。右下の式は、あるパラメータを変えたときのエネルギー変化を一次で表しています。どの構造に強く影響する変更なのかを考えることで、検証すべきデータも決まります。名称の似たパラメータでも、調整時の規約が違えばそのまま転用はできません。パラメータを共有するという操作は、異なる分子の局所環境に同じ近似を適用することです。その近似が妥当かどうかは、未使用の置換基や電荷状態で確認します。共有を減らせば常に改善するわけではなく、推定に使えるデータが不足する方向も生じます。分類の細かさとデータの範囲を同時に設計することが、汎用的な力場開発の課題で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モースポテンシャルを用いると、調和近似で失われる性質を明確にできます。指数関数を四次まで展開すると、二次の項は通常の調和結合と一致し、三次の項が伸長側と圧縮側の非対称性を与えます。局所曲率を一致させる条件は、力定数が井戸の深さと逆長さの二乗の積の二倍になることです。しかし、この条件だけでは井戸の深さと逆長さを個別には決められません。振動数だけを参照する場合の識別性の問題でもあります。右側では負の微分から力を求めています。十分に伸長するとエネルギーは有限値へ近づき、力はゼロへ近づきます。調和結合とはこの極限が異なります。ただし、結合一つの解離形を持つことと、分子の化学反応を正しく記述することは別です。反応途中の電子状態や新たな結合の生成には、モデル自体の拡張が必要になります。どの変形範囲で関数を比較しているのかを明示して評価します。三次項と二次項の大きさの比は、およそ逆長さのパラメータと変位の積です。この比を見積もれば、単に変位が小さいと言うより具体的に近似の範囲を判断できます。解離エネルギーを参照しないまま振動だけに合わせる場合には、複数のモース関数が同じ調和振動数を与えることになります。異なる性質の参照データを加える必要性が、単純な関数でも現れ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二面角項には、振幅と位相で書く形式と、サインとコサインの線形係数で書く形式があります。両者の対応を左に示しました。位相を自由にする場合でも、線形係数を先に推定すれば、非線形な振幅と位相を直接探索する必要はありません。右ではエネルギーを角度で微分して一般化トルクを求めています。原子ごとの力は、このトルクに二面角の座標勾配を掛けたものです。ここで周期数が一つ掛かることに注目してください。さらに微分して曲率を求めると、周期数の二乗が掛かります。したがって、エネルギーの見た目には小さな高周波の成分でも、力や振動には大きな影響を与えることがあります。多くの係数を使えば参照点のエネルギーは再現しやすくなりますが、参照点の間に不自然な勾配を作らないかも検証する必要があります。振幅と位相への変換では、係数がほぼゼロの成分の位相は不安定になります。そのような位相の大きな変化を、物理的な障壁位置の大きな変化と解釈する必要はありません。最終的には各成分の値だけでなく、合成された周期曲線とその勾配を比較します。推定のパラメータ表現と、分子が実際に感じるエネルギー面を区別する例で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単純な結合と二面角の和では不足する変形を補う二つの例を示します。インプロパー項は、局所的な平面性や立体配置を制約するために用います。調和型と周期型があり、原子の並び順も力場ごとに異なるので、名前だけから関数形を推測してはいけません。右側のシーマップは、タンパク質主鎖などの二つの二面角へ同時に依存する補正です。独立した二つの一次元関数では混合二階微分がゼロになりますが、二次元の補正には一般に角度間の結合があります。これにより、片方の角度によってもう片方の安定性が変わるようなエネルギー面を表現できます。ただし、シーマップは全モデルに対する補正として調整されます。補正表だけを別の力場へ移しても、同じ主鎖分布にはなりません。格子点のエネルギーだけでなく、補間後の力が連続であることも計算上の要件です。二つの角度を別々にスキャンするだけでは、両方を同時に動かした場合の補正は十分に決まりません。二次元面の情報や、両角度が同時に変化する配座を参照に含める必要があります。また、補正表の分解能を細かくすれば、より多くのデータが必要になります。表の細かさと、データが実際に制約している構造領域の釣り合いを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力場の評価では、パラメータを合わせたデータと、予測力を測るデータを分けます。重みや正則化を選ぶために見たデータも、モデル選択に使われているので完全に独立な最終評価ではありません。同じ分子の隣接した二面角スキャン点を分ける方法は補間の評価にはなりますが、新しい化学環境への転用を十分には測れません。分子や骨格、官能基、電荷状態ごとの分割を目的に応じて設計します。右側では平均二乗誤差の平方根を示していますが、これだけを報告すると特定の化学種の悪化が平均に隠れることがあります。集約した精度と、化学種ごとの系統的な偏りを併記することが重要です。また、量子化学の局所エネルギー、液体物性、溶液中の配座分布は異なる検証軸です。計算時間の違いによるサンプリングの改善を力場自体の改善と取り違えないよう、比較条件と統計誤差も揃えて評価します。検証対象が異なると、同じ誤差指標でも意味が変わります。訓練に近い分子での補間精度と、新しい官能基での外挿精度を一つの数値に混ぜると、適用範囲が分かりにくくなります。報告では分割の基準と各集合の化学的な範囲を示します。最終評価を見てさらにモデルを調整した場合、その集合は以後、独立な最終評価ではな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初期の代表的な論文を、解こうとした課題から比較します。チャームの一九八三年の論文は、経験的エネルギー関数を用いて巨大分子の最小化や振動、動力学を扱う計算体系を示しました。プログラムとしてのチャームと、後に更新される個々のパラメータ版は区別します。アンバーの初期の力場も、タンパク質と核酸を共通の項とパラメータ体系で扱うことが重要な目的でした。九〇年代には、電荷推定の安定性と再現性がレスプで改善され、より広い分子の体系へ組み込まれます。一方、オープルスの全原子モデルでは、分子の構造と配座に加えて有機液体の物性が調整と評価に使われました。これらの違いは、同じ名前の係数を比較するだけでは読み取れません。非結合の組合せ則や一対四の扱いまで含めた全エネルギーを比較する必要があります。開発史を理解することは、既存パラメータを組み合わせる際の整合性を判断する助けになります。同じ系統の名称でも、原子の表現や電荷、主鎖項が異なる版が含まれます。ソフトウェアの名称、パラメータセットの名称、論文で評価された版を分けて記録します。論文の発表年だけで新旧の優劣を決めるのではなく、対象分子と温度、溶媒、比較した観測量を揃えたときに何が改善したのかを確認することが実際の選択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説明用の三状態A・B・Cが確率0.5、0.3、0.2で現れるとする。一回にはどれか一つだけが現れる。AとBをまとめた集合の確率は0.8。状態の集合へ移るときは、その中の確率を足す。aが各状態で0、1、2なら平均は0×0.5+1×0.3+2×0.2=0.7。山括弧は分布に従う平均。位置xが実数なら、ちょうど一点の確率ではなく、小さな幅の中へ入る確率を扱う。密度ρの単位は位置の逆数。密度の高さが1を超えても、全体の面積が1ならよい。分布の横軸と幅を必ず確認する。離散した状態では確率を足し、連続した座標では密度を積分します。密度そのものは区間の幅と組にして初めて確率になります。横軸を変えれば同じ物理的な確率でも密度の値は変わります。この区別は、自由エネルギーの曲線や運動エネルギーの分布を導くときに必要です。規格化が一になることを、計算の最初の検算に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自然対数lnは、指数関数expの逆。exp(a+b)=exp(a)exp(b)より、ln(ab)=ln a+ln bとなる。このSをエントロピーと呼ぶ。ここでは可能な状態数を数える量であり、「乱雑さ」だけで意味を済ませない。k_Bはボルツマン定数。Sの単位はJ/K。状態数の掛け算を、足せる量へ変換している。小さいエネルギーδEをAからBへ移す。全体のエントロピーの変化を一次まで書く。最も状態数の多い平衡では、両者の傾きが等しい。この傾きが温度の逆数になる。体積と粒子数を固定した微分。温度はエネルギーの単位そのものではなく、エネルギー交換の平衡を決める量。エントロピーは状態数の対数に比例します。独立な部分の状態数は掛け算ですが、対数を取ることで足し算になります。エネルギーを少し渡したときにエントロピーがどれだけ変わるか、その傾きが逆温度です。熱が移る向きも、合わせた状態数が増える向きとして理解できます。ここでの温度の定義が、次の展開の係数を決め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熱浴のエネルギー変化は、その全エネルギーに比べて小さい。Taylor展開で一次まで残す。二次項の大きさは熱浴の有限な熱容量に関係する。十分大きな熱浴では、系へ熱を渡してもTを一定としてよい。最初の因子はiに依存しないので、確率の比では消える。β=1/(k_BT)と略記する。Zは全部の重みを足して、確率の和を1にする分配関数。これがカノニカル分布。エネルギーの低い一状態ほど重みは大きい。熱浴のエントロピーを展開するとき、系へ渡したエネルギーは熱浴から引かれるので一次項にマイナスが付きます。指数へ戻せば、状態に共通する係数とエネルギー依存の重みに分かれます。共通係数を規格化へ吸収してカノニカル分布が得られます。熱浴が有限なら二次の補正が残るため、指数の重みは大きな熱浴という仮定に支え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指数の微分でE_iが前へ出てくる。エネルギー準位自体がβに依存しない条件で計算した。Zは単なる割り算の係数ではなく、平衡の平均値をまとめて持っている。Varは平均からのずれの二乗の平均。C_V=∂〈E〉/∂Tは、体積一定で温度を上げるのに必要な熱の大きさ。最後の等式はdT/dβ=−k_BT²を連鎖律で使った。NVTではエネルギーが揺らぐこと自体が正しい。分配関数の微分では、指数の中のエネルギーが係数として外へ出ます。一回目で平均、二回目で二乗平均と平均の二乗の差が現れます。温度による応答と平衡の揺らぎが同じ式で結び付くのは、この微分の構造のためです。エネルギー準位やHamiltonian自身が温度依存するモデルでは、追加の微分項を別途扱う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平均は0。正負どちらへ進むかに偏りがなく、絶対値が大きい運動量ほど出現しにくい。幅は√(mk_BT)。速度v=p/mの幅は√(k_BT/m)なので、同じ温度でも軽い原子の方が速い。これは速度の一成分の分布。三次元の速さ|v|の分布には、同じ速さを持つ方向の数が掛かる。a=β/(2m)&gt;0と置く。正規分布の規格化に使うガウス積分を利用します。積分の微分を中へ入れると−p²が出る。Gaussianの減衰により積分は収束する。Gaussian積分を暗記するだけでなく、係数で微分して二乗平均を取り出す手順を見てください。指数を微分すると運動量の二乗が現れ、規格化積分で割れば期待値になります。質量が大きいほど運動量の幅は大きい一方、速度の幅は小さくなります。しかし二次形式の平均エネルギーは質量に依存せず、温度で決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fは独立に動ける運動量成分の数、すなわち自由度。古典的な平衡分布と、二乗で入る運動エネルギーを仮定した。量子効果が重要な高振動数のモードまで、現実で必ずこの平均になるわけではない。本教材の古典MDモデル内の関係である。N原子の三次元位置には3N個の成分がある。独立な結合長拘束を一つ加えると、独立に動ける方向が一つ減る。N_cは独立な拘束数。全体の重心並進を止めれば通常3を引く。孤立分子の回転を除く場合は別に数える。例：3原子の剛体水1分子は、三つの距離拘束で9−3=6自由度。重心並進も除けば回転の3自由度。周期境界の液体で、系全体の回転3を自動的に引くわけではない。実装の拘束と除去操作に合わせる。等分配は独立な二次形式の自由度ごとの性質です。原子数の三倍をいつも代入してよいわけではありません。拘束や全体の並進の除去で独立な速度の数が減ります。同じ運動エネルギーを誤った自由度で割れば、表示される温度も変わります。どの操作で何成分を除いたかを、ソフトの設定と出力で対応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力場の説明に用いた参考文献です。結合、二面角、電荷、非結合相互作用の規約を確認するときは、対応する原著やマニュアルを参照してください。各項目から原文を開けます。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確率分布と熱平衡の参考文献です。今回の導出はトンの統計物理学講義を中心に参照しています。温度制御の手法の原著も、分子動力学の回へ進むための学び直し先として残しています。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wmf"/><Relationship Id="rId6" Type="http://schemas.openxmlformats.org/officeDocument/2006/relationships/notesSlide" Target="../notesSlides/notesSlide7.xml"/><Relationship Id="rId7" Type="http://schemas.openxmlformats.org/officeDocument/2006/relationships/image" Target="../media/image94.png"/><Relationship Id="rId8" Type="http://schemas.openxmlformats.org/officeDocument/2006/relationships/image" Target="../media/image95.png"/><Relationship Id="rId9" Type="http://schemas.openxmlformats.org/officeDocument/2006/relationships/image" Target="../media/image9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9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20.xml"/><Relationship Id="rId5" Type="http://schemas.openxmlformats.org/officeDocument/2006/relationships/image" Target="../media/image9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26.png"/><Relationship Id="rId8" Type="http://schemas.openxmlformats.org/officeDocument/2006/relationships/image" Target="../media/image99.png"/><Relationship Id="rId9" Type="http://schemas.openxmlformats.org/officeDocument/2006/relationships/image" Target="../media/image100.png"/><Relationship Id="rId10" Type="http://schemas.openxmlformats.org/officeDocument/2006/relationships/image" Target="../media/image10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5.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40.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 Id="rId4"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3.png"/><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5.png"/><Relationship Id="rId4"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1.png"/><Relationship Id="rId9" Type="http://schemas.openxmlformats.org/officeDocument/2006/relationships/image" Target="../media/image105.png"/><Relationship Id="rId10" Type="http://schemas.openxmlformats.org/officeDocument/2006/relationships/image" Target="../media/image10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5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10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11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69.png"/><Relationship Id="rId4" Type="http://schemas.openxmlformats.org/officeDocument/2006/relationships/image" Target="../media/image7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90.png"/><Relationship Id="rId7" Type="http://schemas.openxmlformats.org/officeDocument/2006/relationships/image" Target="../media/image91.png"/><Relationship Id="rId8" Type="http://schemas.openxmlformats.org/officeDocument/2006/relationships/image" Target="../media/image1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92.png"/><Relationship Id="rId4" Type="http://schemas.openxmlformats.org/officeDocument/2006/relationships/image" Target="../media/image9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kthpanor.github.io/echem/resp/" TargetMode="External"/><Relationship Id="rId4" Type="http://schemas.openxmlformats.org/officeDocument/2006/relationships/hyperlink" Target="https://doi.org/10.1103/PhysRev.34.57" TargetMode="External"/><Relationship Id="rId5" Type="http://schemas.openxmlformats.org/officeDocument/2006/relationships/hyperlink" Target="https://pubmed.ncbi.nlm.nih.gov/14733527/" TargetMode="External"/><Relationship Id="rId6" Type="http://schemas.openxmlformats.org/officeDocument/2006/relationships/hyperlink" Target="https://manual.gromacs.org/documentation/2026.0/reference-manual/functions/bonded-interactions.html" TargetMode="External"/><Relationship Id="rId7" Type="http://schemas.openxmlformats.org/officeDocument/2006/relationships/hyperlink" Target="https://manual.gromacs.org/documentation/2026.0/reference-manual/functions/nonbonded-interactions.html" TargetMode="External"/><Relationship Id="rId8" Type="http://schemas.openxmlformats.org/officeDocument/2006/relationships/hyperlink" Target="https://doi.org/10.1021/jz500737m" TargetMode="External"/><Relationship Id="rId9" Type="http://schemas.openxmlformats.org/officeDocument/2006/relationships/hyperlink" Target="https://doi.org/10.1021/j100142a0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www.damtp.cam.ac.uk/user/tong/statphys/sp.pdf" TargetMode="External"/><Relationship Id="rId4" Type="http://schemas.openxmlformats.org/officeDocument/2006/relationships/hyperlink" Target="https://manual.gromacs.org/documentation/2026.0/reference-manual/algorithms/molecular-dynamics.html" TargetMode="External"/><Relationship Id="rId5" Type="http://schemas.openxmlformats.org/officeDocument/2006/relationships/hyperlink" Target="https://doi.org/10.1063/1.439486" TargetMode="External"/><Relationship Id="rId6" Type="http://schemas.openxmlformats.org/officeDocument/2006/relationships/hyperlink" Target="https://doi.org/10.1063/1.448118" TargetMode="External"/><Relationship Id="rId7" Type="http://schemas.openxmlformats.org/officeDocument/2006/relationships/hyperlink" Target="https://doi.org/10.1063/1.447334" TargetMode="External"/><Relationship Id="rId8" Type="http://schemas.openxmlformats.org/officeDocument/2006/relationships/hyperlink" Target="https://doi.org/10.1103/PhysRevA.31.1695" TargetMode="External"/><Relationship Id="rId9" Type="http://schemas.openxmlformats.org/officeDocument/2006/relationships/hyperlink" Target="https://doi.org/10.1063/1.463940" TargetMode="External"/><Relationship Id="rId10" Type="http://schemas.openxmlformats.org/officeDocument/2006/relationships/hyperlink" Target="https://arxiv.org/pdf/0803.4060"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94360"/>
            <a:ext cx="5486400" cy="45720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生命情報工学特論　第09回</a:t>
            </a:r>
          </a:p>
        </p:txBody>
      </p:sp>
      <p:sp>
        <p:nvSpPr>
          <p:cNvPr id="3" name="TextBox 2"/>
          <p:cNvSpPr txBox="1"/>
          <p:nvPr/>
        </p:nvSpPr>
        <p:spPr>
          <a:xfrm>
            <a:off x="731520" y="1508760"/>
            <a:ext cx="5852160" cy="1645920"/>
          </a:xfrm>
          <a:prstGeom prst="rect">
            <a:avLst/>
          </a:prstGeom>
          <a:noFill/>
        </p:spPr>
        <p:txBody>
          <a:bodyPr wrap="square" lIns="0" rIns="0" tIns="0" bIns="0" anchor="t">
            <a:noAutofit/>
          </a:bodyPr>
          <a:lstStyle/>
          <a:p>
            <a:pPr algn="l">
              <a:lnSpc>
                <a:spcPts val="4620"/>
              </a:lnSpc>
            </a:pPr>
            <a:r>
              <a:rPr sz="3300" b="1" lang="ja-JP" altLang="en-US">
                <a:solidFill>
                  <a:srgbClr val="333333"/>
                </a:solidFill>
                <a:latin typeface="Noto Sans JP"/>
                <a:ea typeface="Noto Sans JP"/>
              </a:rPr>
              <a:t>分子の相互作用と</a:t>
            </a:r>
          </a:p>
          <a:p>
            <a:pPr algn="l">
              <a:lnSpc>
                <a:spcPts val="4620"/>
              </a:lnSpc>
            </a:pPr>
            <a:r>
              <a:rPr sz="3300" b="1" lang="ja-JP" altLang="en-US">
                <a:solidFill>
                  <a:srgbClr val="333333"/>
                </a:solidFill>
                <a:latin typeface="Noto Sans JP"/>
                <a:ea typeface="Noto Sans JP"/>
              </a:rPr>
              <a:t>構造の安定性</a:t>
            </a:r>
          </a:p>
        </p:txBody>
      </p:sp>
      <p:sp>
        <p:nvSpPr>
          <p:cNvPr id="4" name="TextBox 3"/>
          <p:cNvSpPr txBox="1"/>
          <p:nvPr/>
        </p:nvSpPr>
        <p:spPr>
          <a:xfrm>
            <a:off x="777240" y="3337560"/>
            <a:ext cx="5440680" cy="11430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エネルギー・状態数・温度から</a:t>
            </a:r>
          </a:p>
          <a:p>
            <a:pPr algn="l">
              <a:lnSpc>
                <a:spcPts val="2800"/>
              </a:lnSpc>
            </a:pPr>
            <a:r>
              <a:rPr sz="2000" b="0" lang="ja-JP" altLang="en-US">
                <a:solidFill>
                  <a:srgbClr val="333333"/>
                </a:solidFill>
                <a:latin typeface="Noto Sans JP"/>
                <a:ea typeface="Noto Sans JP"/>
              </a:rPr>
              <a:t>構造の現れやすさを考える</a:t>
            </a:r>
          </a:p>
        </p:txBody>
      </p:sp>
      <p:sp>
        <p:nvSpPr>
          <p:cNvPr id="5" name="TextBox 4"/>
          <p:cNvSpPr txBox="1"/>
          <p:nvPr/>
        </p:nvSpPr>
        <p:spPr>
          <a:xfrm>
            <a:off x="777240" y="4709160"/>
            <a:ext cx="5394960" cy="457200"/>
          </a:xfrm>
          <a:prstGeom prst="rect">
            <a:avLst/>
          </a:prstGeom>
          <a:noFill/>
        </p:spPr>
        <p:txBody>
          <a:bodyPr wrap="square" lIns="0" rIns="0" tIns="0" bIns="0" anchor="t">
            <a:noAutofit/>
          </a:bodyPr>
          <a:lstStyle/>
          <a:p>
            <a:pPr algn="l">
              <a:lnSpc>
                <a:spcPts val="3500"/>
              </a:lnSpc>
            </a:pPr>
            <a:r>
              <a:rPr sz="2500" b="1" lang="ja-JP" altLang="en-US">
                <a:solidFill>
                  <a:srgbClr val="333333"/>
                </a:solidFill>
                <a:latin typeface="Noto Sans JP"/>
                <a:ea typeface="Noto Sans JP"/>
              </a:rPr>
              <a:t>松永 康佑</a:t>
            </a:r>
          </a:p>
        </p:txBody>
      </p:sp>
      <p:sp>
        <p:nvSpPr>
          <p:cNvPr id="6" name="TextBox 5"/>
          <p:cNvSpPr txBox="1"/>
          <p:nvPr/>
        </p:nvSpPr>
        <p:spPr>
          <a:xfrm>
            <a:off x="777240" y="5303520"/>
            <a:ext cx="5486400" cy="7315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埼玉大学 大学院理工学研究科</a:t>
            </a:r>
          </a:p>
          <a:p>
            <a:pPr algn="l">
              <a:lnSpc>
                <a:spcPts val="2379"/>
              </a:lnSpc>
            </a:pPr>
            <a:r>
              <a:rPr sz="1700" b="0" lang="ja-JP" altLang="en-US">
                <a:solidFill>
                  <a:srgbClr val="333333"/>
                </a:solidFill>
                <a:latin typeface="Noto Sans JP"/>
                <a:ea typeface="Noto Sans JP"/>
              </a:rPr>
              <a:t>理化学研究所 計算科学研究センター</a:t>
            </a:r>
          </a:p>
        </p:txBody>
      </p:sp>
      <p:sp>
        <p:nvSpPr>
          <p:cNvPr id="7" name="TextBox 6"/>
          <p:cNvSpPr txBox="1"/>
          <p:nvPr/>
        </p:nvSpPr>
        <p:spPr>
          <a:xfrm>
            <a:off x="777240" y="6236208"/>
            <a:ext cx="5212080" cy="3200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2026年11月23日（オンデマンド）</a:t>
            </a:r>
          </a:p>
        </p:txBody>
      </p:sp>
      <p:pic>
        <p:nvPicPr>
          <p:cNvPr id="8" name="Picture 7" descr="cover9.png"/>
          <p:cNvPicPr>
            <a:picLocks noChangeAspect="1"/>
          </p:cNvPicPr>
          <p:nvPr/>
        </p:nvPicPr>
        <p:blipFill>
          <a:blip r:embed="rId3"/>
          <a:stretch>
            <a:fillRect/>
          </a:stretch>
        </p:blipFill>
        <p:spPr>
          <a:xfrm>
            <a:off x="6446520" y="1188720"/>
            <a:ext cx="5257800" cy="4661698"/>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一つの低エネルギー構造だけでは安定性は決まらない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states.png"/>
          <p:cNvPicPr>
            <a:picLocks noChangeAspect="1"/>
          </p:cNvPicPr>
          <p:nvPr/>
        </p:nvPicPr>
        <p:blipFill>
          <a:blip r:embed="rId3"/>
          <a:stretch>
            <a:fillRect/>
          </a:stretch>
        </p:blipFill>
        <p:spPr>
          <a:xfrm>
            <a:off x="6949440" y="1508760"/>
            <a:ext cx="4617720" cy="3717065"/>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力場は、原子配置からエネルギーと力を計算するモデル。</a:t>
            </a:r>
          </a:p>
          <a:p>
            <a:pPr>
              <a:lnSpc>
                <a:spcPts val="2940"/>
              </a:lnSpc>
              <a:spcAft>
                <a:spcPts val="800"/>
              </a:spcAft>
            </a:pPr>
            <a:r>
              <a:rPr sz="2100" i="0" b="0" lang="ja-JP" altLang="en-US">
                <a:latin typeface="Noto Sans JP"/>
                <a:solidFill>
                  <a:srgbClr val="333333"/>
                </a:solidFill>
              </a:rPr>
              <a:t>熱平衡では、エネルギーの低さと、その構造群に含まれる状態の多さが効く。</a:t>
            </a:r>
          </a:p>
          <a:p>
            <a:pPr>
              <a:lnSpc>
                <a:spcPts val="2940"/>
              </a:lnSpc>
              <a:spcAft>
                <a:spcPts val="800"/>
              </a:spcAft>
            </a:pPr>
            <a:r>
              <a:rPr sz="2100" i="0" b="0" lang="ja-JP" altLang="en-US">
                <a:latin typeface="Noto Sans JP"/>
                <a:solidFill>
                  <a:srgbClr val="333333"/>
                </a:solidFill>
              </a:rPr>
              <a:t>安定性は一枚の構造画像だけでは決められない。</a:t>
            </a:r>
          </a:p>
          <a:p>
            <a:pPr>
              <a:lnSpc>
                <a:spcPts val="2940"/>
              </a:lnSpc>
              <a:spcAft>
                <a:spcPts val="800"/>
              </a:spcAft>
            </a:pPr>
            <a:r>
              <a:rPr sz="2100" i="0" b="0" lang="ja-JP" altLang="en-US">
                <a:latin typeface="Noto Sans JP"/>
                <a:solidFill>
                  <a:srgbClr val="333333"/>
                </a:solidFill>
              </a:rPr>
              <a:t>温度を指定したときの構造群の確率を考える。</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相互作用から、構造の現れやすさへ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9.png"/>
          <p:cNvPicPr>
            <a:picLocks noChangeAspect="1"/>
          </p:cNvPicPr>
          <p:nvPr/>
        </p:nvPicPr>
        <p:blipFill>
          <a:blip r:embed="rId3"/>
          <a:stretch>
            <a:fillRect/>
          </a:stretch>
        </p:blipFill>
        <p:spPr>
          <a:xfrm>
            <a:off x="6949440" y="1508760"/>
            <a:ext cx="4617720" cy="409418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1　エネルギーと力の関係</a:t>
            </a:r>
          </a:p>
          <a:p>
            <a:pPr>
              <a:lnSpc>
                <a:spcPts val="2940"/>
              </a:lnSpc>
              <a:spcAft>
                <a:spcPts val="800"/>
              </a:spcAft>
            </a:pPr>
            <a:r>
              <a:rPr sz="2100" i="0" b="0" lang="ja-JP" altLang="en-US">
                <a:latin typeface="Noto Sans JP"/>
                <a:solidFill>
                  <a:srgbClr val="333333"/>
                </a:solidFill>
              </a:rPr>
              <a:t>2　結合・静電・分散と反発・溶媒</a:t>
            </a:r>
          </a:p>
          <a:p>
            <a:pPr>
              <a:lnSpc>
                <a:spcPts val="2940"/>
              </a:lnSpc>
              <a:spcAft>
                <a:spcPts val="800"/>
              </a:spcAft>
            </a:pPr>
            <a:r>
              <a:rPr sz="2100" i="0" b="0" lang="ja-JP" altLang="en-US">
                <a:latin typeface="Noto Sans JP"/>
                <a:solidFill>
                  <a:srgbClr val="333333"/>
                </a:solidFill>
              </a:rPr>
              <a:t>3　熱浴からボルツマン分布へ</a:t>
            </a:r>
          </a:p>
          <a:p>
            <a:pPr>
              <a:lnSpc>
                <a:spcPts val="2940"/>
              </a:lnSpc>
              <a:spcAft>
                <a:spcPts val="800"/>
              </a:spcAft>
            </a:pPr>
            <a:r>
              <a:rPr sz="2100" i="0" b="0" lang="ja-JP" altLang="en-US">
                <a:latin typeface="Noto Sans JP"/>
                <a:solidFill>
                  <a:srgbClr val="333333"/>
                </a:solidFill>
              </a:rPr>
              <a:t>4　状態数・エントロピー・自由エネルギー</a:t>
            </a:r>
          </a:p>
          <a:p>
            <a:pPr>
              <a:lnSpc>
                <a:spcPts val="2940"/>
              </a:lnSpc>
              <a:spcAft>
                <a:spcPts val="800"/>
              </a:spcAft>
            </a:pPr>
            <a:r>
              <a:rPr sz="2100" i="0" b="0" lang="ja-JP" altLang="en-US">
                <a:latin typeface="Noto Sans JP"/>
                <a:solidFill>
                  <a:srgbClr val="333333"/>
                </a:solidFill>
              </a:rPr>
              <a:t>最後に温度と状態数を動かして確率を見る。</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 name="図 2">
            <a:extLst>
              <a:ext uri="{FF2B5EF4-FFF2-40B4-BE49-F238E27FC236}">
                <a16:creationId xmlns:a16="http://schemas.microsoft.com/office/drawing/2014/main" id="{FC533D27-86E5-E542-9E05-46FDF08CCE22}"/>
              </a:ext>
            </a:extLst>
          </p:cNvPr>
          <p:cNvPicPr>
            <a:picLocks noChangeAspect="1"/>
          </p:cNvPicPr>
          <p:nvPr/>
        </p:nvPicPr>
        <p:blipFill>
          <a:blip r:embed="rId2"/>
          <a:stretch>
            <a:fillRect/>
          </a:stretch>
        </p:blipFill>
        <p:spPr>
          <a:xfrm>
            <a:off x="922155" y="1771572"/>
            <a:ext cx="10347382" cy="4911311"/>
          </a:xfrm>
          <a:prstGeom prst="rect">
            <a:avLst/>
          </a:prstGeom>
        </p:spPr>
      </p:pic>
      <p:sp>
        <p:nvSpPr>
          <p:cNvPr id="4" name="タイトル 3">
            <a:extLst>
              <a:ext uri="{FF2B5EF4-FFF2-40B4-BE49-F238E27FC236}">
                <a16:creationId xmlns:a16="http://schemas.microsoft.com/office/drawing/2014/main" id="{55DE6C84-93BC-0A44-8E91-8010530F0730}"/>
              </a:ext>
            </a:extLst>
          </p:cNvPr>
          <p:cNvSpPr>
            <a:spLocks noGrp="1"/>
          </p:cNvSpPr>
          <p:nvPr>
            <p:ph type="title"/>
          </p:nvPr>
        </p:nvSpPr>
        <p:spPr>
          <a:xfrm>
            <a:off x="405023" y="175117"/>
            <a:ext cx="11642690" cy="1143000"/>
          </a:xfrm>
        </p:spPr>
        <p:txBody>
          <a:bodyPr wrap="square">
            <a:noAutofit/>
          </a:bodyPr>
          <a:lstStyle/>
          <a:p>
            <a:pPr>
              <a:lnSpc>
                <a:spcPts val="3779"/>
              </a:lnSpc>
              <a:spcAft>
                <a:spcPts val="0"/>
              </a:spcAft>
            </a:pPr>
            <a:r>
              <a:rPr sz="2700" i="0" b="1" lang="ja-JP" altLang="en-US">
                <a:latin typeface="Noto Sans JP"/>
              </a:rPr>
              <a:t>配置を変えると、ポテンシャルエネルギーが変わる</a:t>
            </a:r>
          </a:p>
        </p:txBody>
      </p:sp>
      <p:sp>
        <p:nvSpPr>
          <p:cNvPr id="5" name="テキスト ボックス 4">
            <a:extLst>
              <a:ext uri="{FF2B5EF4-FFF2-40B4-BE49-F238E27FC236}">
                <a16:creationId xmlns:a16="http://schemas.microsoft.com/office/drawing/2014/main" id="{C0696DF3-0354-9241-B553-9E9F8B83D3D4}"/>
              </a:ext>
            </a:extLst>
          </p:cNvPr>
          <p:cNvSpPr txBox="1"/>
          <p:nvPr/>
        </p:nvSpPr>
        <p:spPr>
          <a:xfrm>
            <a:off x="5921679" y="1482350"/>
            <a:ext cx="4056993" cy="369332"/>
          </a:xfrm>
          <a:prstGeom prst="rect">
            <a:avLst/>
          </a:prstGeom>
          <a:noFill/>
        </p:spPr>
        <p:txBody>
          <a:bodyPr wrap="square" rtlCol="0">
            <a:spAutoFit/>
          </a:bodyPr>
          <a:lstStyle/>
          <a:p>
            <a:pPr>
              <a:lnSpc>
                <a:spcPts val="2660"/>
              </a:lnSpc>
              <a:spcAft>
                <a:spcPts val="0"/>
              </a:spcAft>
            </a:pPr>
            <a:r>
              <a:rPr sz="1900" i="0" lang="ja-JP" altLang="en-US">
                <a:latin typeface="Noto Sans JP"/>
              </a:rPr>
              <a:t>高さh：U = mgh</a:t>
            </a:r>
          </a:p>
        </p:txBody>
      </p:sp>
      <p:sp>
        <p:nvSpPr>
          <p:cNvPr id="6" name="テキスト ボックス 5">
            <a:extLst>
              <a:ext uri="{FF2B5EF4-FFF2-40B4-BE49-F238E27FC236}">
                <a16:creationId xmlns:a16="http://schemas.microsoft.com/office/drawing/2014/main" id="{0F1422EE-3EA4-3D45-9A16-5223FED306B4}"/>
              </a:ext>
            </a:extLst>
          </p:cNvPr>
          <p:cNvSpPr txBox="1"/>
          <p:nvPr/>
        </p:nvSpPr>
        <p:spPr>
          <a:xfrm>
            <a:off x="609583" y="1448406"/>
            <a:ext cx="4497272" cy="646331"/>
          </a:xfrm>
          <a:prstGeom prst="rect">
            <a:avLst/>
          </a:prstGeom>
          <a:noFill/>
        </p:spPr>
        <p:txBody>
          <a:bodyPr wrap="square" rtlCol="0">
            <a:spAutoFit/>
          </a:bodyPr>
          <a:lstStyle/>
          <a:p>
            <a:pPr>
              <a:lnSpc>
                <a:spcPts val="2660"/>
              </a:lnSpc>
              <a:spcAft>
                <a:spcPts val="0"/>
              </a:spcAft>
            </a:pPr>
            <a:r>
              <a:rPr sz="1900" i="0" lang="ja-JP" altLang="en-US">
                <a:latin typeface="Noto Sans JP"/>
              </a:rPr>
              <a:t>基準の高さ：U = 0</a:t>
            </a:r>
          </a:p>
        </p:txBody>
      </p:sp>
      <p:sp>
        <p:nvSpPr>
          <p:cNvPr id="7" name="テキスト ボックス 6">
            <a:extLst>
              <a:ext uri="{FF2B5EF4-FFF2-40B4-BE49-F238E27FC236}">
                <a16:creationId xmlns:a16="http://schemas.microsoft.com/office/drawing/2014/main" id="{146BFC4E-1D1A-504E-894C-861CF6AC114C}"/>
              </a:ext>
            </a:extLst>
          </p:cNvPr>
          <p:cNvSpPr txBox="1"/>
          <p:nvPr/>
        </p:nvSpPr>
        <p:spPr>
          <a:xfrm>
            <a:off x="5029200" y="6368572"/>
            <a:ext cx="6675120" cy="461665"/>
          </a:xfrm>
          <a:prstGeom prst="rect">
            <a:avLst/>
          </a:prstGeom>
          <a:noFill/>
        </p:spPr>
        <p:txBody>
          <a:bodyPr wrap="square" rtlCol="0">
            <a:spAutoFit/>
          </a:bodyPr>
          <a:lstStyle/>
          <a:p>
            <a:pPr>
              <a:lnSpc>
                <a:spcPts val="2520"/>
              </a:lnSpc>
              <a:spcAft>
                <a:spcPts val="0"/>
              </a:spcAft>
            </a:pPr>
            <a:r>
              <a:rPr sz="1800" i="0" lang="ja-JP" altLang="en-US">
                <a:latin typeface="Noto Sans JP"/>
                <a:solidFill>
                  <a:srgbClr val="FF0000"/>
                </a:solidFill>
              </a:rPr>
              <a:t>一定の重力に逆らう仕事：ΔU = mgh</a:t>
            </a:r>
          </a:p>
        </p:txBody>
      </p:sp>
      <p:sp>
        <p:nvSpPr>
          <p:cNvPr id="8" name="正方形/長方形 7">
            <a:extLst>
              <a:ext uri="{FF2B5EF4-FFF2-40B4-BE49-F238E27FC236}">
                <a16:creationId xmlns:a16="http://schemas.microsoft.com/office/drawing/2014/main" id="{A269056B-654C-244A-AE52-CA0E14227EDC}"/>
              </a:ext>
            </a:extLst>
          </p:cNvPr>
          <p:cNvSpPr/>
          <p:nvPr/>
        </p:nvSpPr>
        <p:spPr>
          <a:xfrm>
            <a:off x="281443" y="6048043"/>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10" name="TextBox 9"/>
          <p:cNvSpPr txBox="1"/>
          <p:nvPr/>
        </p:nvSpPr>
        <p:spPr>
          <a:xfrm>
            <a:off x="731520" y="987552"/>
            <a:ext cx="10789920" cy="384048"/>
          </a:xfrm>
          <a:prstGeom prst="rect">
            <a:avLst/>
          </a:prstGeom>
          <a:noFill/>
        </p:spPr>
        <p:txBody>
          <a:bodyPr wrap="square" lIns="0" rIns="0" tIns="0" bIns="0" anchor="t">
            <a:noAutofit/>
          </a:bodyPr>
          <a:lstStyle/>
          <a:p>
            <a:pPr algn="l">
              <a:lnSpc>
                <a:spcPts val="2379"/>
              </a:lnSpc>
            </a:pPr>
            <a:r>
              <a:rPr sz="1700" b="0" lang="ja-JP" altLang="en-US">
                <a:solidFill>
                  <a:srgbClr val="202020"/>
                </a:solidFill>
                <a:latin typeface="Noto Sans JP"/>
                <a:ea typeface="Noto Sans JP"/>
              </a:rPr>
              <a:t>エネルギーのゼロは基準の選び方による。意味を持つのは配置間の差。</a:t>
            </a:r>
          </a:p>
        </p:txBody>
      </p:sp>
      <p:sp>
        <p:nvSpPr>
          <p:cNvPr id="11" name="TextBox 10"/>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力は、エネルギーが下がる向きを示す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force.png"/>
          <p:cNvPicPr>
            <a:picLocks noChangeAspect="1"/>
          </p:cNvPicPr>
          <p:nvPr/>
        </p:nvPicPr>
        <p:blipFill>
          <a:blip r:embed="rId3"/>
          <a:stretch>
            <a:fillRect/>
          </a:stretch>
        </p:blipFill>
        <p:spPr>
          <a:xfrm>
            <a:off x="6949440" y="1508760"/>
            <a:ext cx="4617719" cy="417638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一次元ではエネルギーの傾きに負号を付ける。</a:t>
            </a:r>
          </a:p>
          <a:p>
            <a:pPr>
              <a:lnSpc>
                <a:spcPts val="2940"/>
              </a:lnSpc>
              <a:spcAft>
                <a:spcPts val="800"/>
              </a:spcAft>
            </a:pPr>
            <a:r>
              <a:rPr sz="2100" i="0" b="0" lang="ja-JP" altLang="en-US">
                <a:latin typeface="Noto Sans JP"/>
                <a:solidFill>
                  <a:srgbClr val="333333"/>
                </a:solidFill>
              </a:rPr>
              <a:t>極小点では力が0。曲率が正なら、小さい変位に対し元へ戻す向きになる。</a:t>
            </a:r>
          </a:p>
          <a:p>
            <a:pPr>
              <a:lnSpc>
                <a:spcPts val="2940"/>
              </a:lnSpc>
              <a:spcAft>
                <a:spcPts val="800"/>
              </a:spcAft>
            </a:pPr>
            <a:r>
              <a:rPr sz="2100" i="0" b="0" lang="ja-JP" altLang="en-US">
                <a:latin typeface="Noto Sans JP"/>
                <a:solidFill>
                  <a:srgbClr val="333333"/>
                </a:solidFill>
              </a:rPr>
              <a:t>低いエネルギーの位置と、大きな力が働く位置は同じではない。</a:t>
            </a:r>
          </a:p>
          <a:p>
            <a:pPr>
              <a:lnSpc>
                <a:spcPts val="2940"/>
              </a:lnSpc>
              <a:spcAft>
                <a:spcPts val="800"/>
              </a:spcAft>
            </a:pPr>
            <a:r>
              <a:rPr sz="2100" i="0" b="0" lang="ja-JP" altLang="en-US">
                <a:latin typeface="Noto Sans JP"/>
                <a:solidFill>
                  <a:srgbClr val="333333"/>
                </a:solidFill>
              </a:rPr>
              <a:t>右の模型は無次元。原子系では座標とエネルギーの単位をそろえる。</a:t>
            </a:r>
          </a:p>
        </p:txBody>
      </p:sp>
      <p:pic>
        <p:nvPicPr>
          <p:cNvPr id="8" name="Picture 7" descr="eq.png"/>
          <p:cNvPicPr>
            <a:picLocks noChangeAspect="1"/>
          </p:cNvPicPr>
          <p:nvPr/>
        </p:nvPicPr>
        <p:blipFill>
          <a:blip r:embed="rId4"/>
          <a:stretch>
            <a:fillRect/>
          </a:stretch>
        </p:blipFill>
        <p:spPr>
          <a:xfrm>
            <a:off x="777240" y="5577840"/>
            <a:ext cx="3797808" cy="618744"/>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4" name="図 3">
            <a:extLst>
              <a:ext uri="{FF2B5EF4-FFF2-40B4-BE49-F238E27FC236}">
                <a16:creationId xmlns:a16="http://schemas.microsoft.com/office/drawing/2014/main" id="{7E558812-C318-124E-860E-BD1FEDFF68F7}"/>
              </a:ext>
            </a:extLst>
          </p:cNvPr>
          <p:cNvPicPr>
            <a:picLocks noChangeAspect="1"/>
          </p:cNvPicPr>
          <p:nvPr/>
        </p:nvPicPr>
        <p:blipFill>
          <a:blip r:embed="rId3"/>
          <a:stretch>
            <a:fillRect/>
          </a:stretch>
        </p:blipFill>
        <p:spPr>
          <a:xfrm>
            <a:off x="1244568" y="1556921"/>
            <a:ext cx="9702557" cy="4826000"/>
          </a:xfrm>
          <a:prstGeom prst="rect">
            <a:avLst/>
          </a:prstGeom>
        </p:spPr>
      </p:pic>
      <p:sp>
        <p:nvSpPr>
          <p:cNvPr id="3" name="タイトル 2">
            <a:extLst>
              <a:ext uri="{FF2B5EF4-FFF2-40B4-BE49-F238E27FC236}">
                <a16:creationId xmlns:a16="http://schemas.microsoft.com/office/drawing/2014/main" id="{F997F4E8-9A3C-FF49-A60D-E94C2063C0DB}"/>
              </a:ext>
            </a:extLst>
          </p:cNvPr>
          <p:cNvSpPr>
            <a:spLocks noGrp="1"/>
          </p:cNvSpPr>
          <p:nvPr>
            <p:ph type="title"/>
          </p:nvPr>
        </p:nvSpPr>
        <p:spPr>
          <a:xfrm>
            <a:off x="609584" y="136525"/>
            <a:ext cx="10972525" cy="1143000"/>
          </a:xfrm>
        </p:spPr>
        <p:txBody>
          <a:bodyPr wrap="square">
            <a:normAutofit fontScale="90000"/>
          </a:bodyPr>
          <a:lstStyle/>
          <a:p>
            <a:pPr>
              <a:lnSpc>
                <a:spcPts val="3779"/>
              </a:lnSpc>
              <a:spcAft>
                <a:spcPts val="0"/>
              </a:spcAft>
            </a:pPr>
            <a:r>
              <a:rPr sz="2700" i="0" b="1" lang="ja-JP" altLang="en-US">
                <a:latin typeface="Noto Sans JP"/>
              </a:rPr>
              <a:t>力は、ポテンシャルエネルギーの傾きから求める</a:t>
            </a:r>
          </a:p>
        </p:txBody>
      </p:sp>
      <p:sp>
        <p:nvSpPr>
          <p:cNvPr id="5" name="テキスト ボックス 4">
            <a:extLst>
              <a:ext uri="{FF2B5EF4-FFF2-40B4-BE49-F238E27FC236}">
                <a16:creationId xmlns:a16="http://schemas.microsoft.com/office/drawing/2014/main" id="{75607FE5-F8E4-7C4A-91EC-D637EEB2BAA2}"/>
              </a:ext>
            </a:extLst>
          </p:cNvPr>
          <p:cNvSpPr txBox="1"/>
          <p:nvPr/>
        </p:nvSpPr>
        <p:spPr>
          <a:xfrm>
            <a:off x="318044" y="3462748"/>
            <a:ext cx="5450502" cy="646331"/>
          </a:xfrm>
          <a:prstGeom prst="rect">
            <a:avLst/>
          </a:prstGeom>
          <a:noFill/>
        </p:spPr>
        <p:txBody>
          <a:bodyPr wrap="square" rtlCol="0">
            <a:spAutoFit/>
          </a:bodyPr>
          <a:lstStyle/>
          <a:p>
            <a:pPr>
              <a:lnSpc>
                <a:spcPts val="2520"/>
              </a:lnSpc>
              <a:spcAft>
                <a:spcPts val="0"/>
              </a:spcAft>
            </a:pPr>
            <a:r>
              <a:rPr sz="1800" i="0" lang="ja-JP" altLang="en-US">
                <a:latin typeface="Noto Sans JP"/>
              </a:rPr>
              <a:t>原子間距離rに応じて変わるエネルギーをU(r)と表す。</a:t>
            </a:r>
          </a:p>
        </p:txBody>
      </p:sp>
      <p:sp>
        <p:nvSpPr>
          <p:cNvPr id="6" name="正方形/長方形 5">
            <a:extLst>
              <a:ext uri="{FF2B5EF4-FFF2-40B4-BE49-F238E27FC236}">
                <a16:creationId xmlns:a16="http://schemas.microsoft.com/office/drawing/2014/main" id="{B902E882-920F-2E42-AB49-C9FBB307E22C}"/>
              </a:ext>
            </a:extLst>
          </p:cNvPr>
          <p:cNvSpPr/>
          <p:nvPr/>
        </p:nvSpPr>
        <p:spPr>
          <a:xfrm>
            <a:off x="7774254" y="6498667"/>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テキスト ボックス 6">
            <a:extLst>
              <a:ext uri="{FF2B5EF4-FFF2-40B4-BE49-F238E27FC236}">
                <a16:creationId xmlns:a16="http://schemas.microsoft.com/office/drawing/2014/main" id="{713773D6-E7B9-A64C-A33C-8DA5F0D83A2F}"/>
              </a:ext>
            </a:extLst>
          </p:cNvPr>
          <p:cNvSpPr txBox="1"/>
          <p:nvPr/>
        </p:nvSpPr>
        <p:spPr>
          <a:xfrm>
            <a:off x="609584" y="4294998"/>
            <a:ext cx="4531469" cy="461665"/>
          </a:xfrm>
          <a:prstGeom prst="rect">
            <a:avLst/>
          </a:prstGeom>
          <a:noFill/>
        </p:spPr>
        <p:txBody>
          <a:bodyPr wrap="square" rtlCol="0">
            <a:spAutoFit/>
          </a:bodyPr>
          <a:lstStyle/>
          <a:p>
            <a:pPr>
              <a:lnSpc>
                <a:spcPts val="2520"/>
              </a:lnSpc>
              <a:spcAft>
                <a:spcPts val="0"/>
              </a:spcAft>
            </a:pPr>
            <a:r>
              <a:rPr sz="1800" i="0" lang="ja-JP" altLang="en-US">
                <a:latin typeface="Noto Sans JP"/>
              </a:rPr>
              <a:t>傾きが負ならF &gt; 0、傾きが正ならF &lt; 0。</a:t>
            </a:r>
          </a:p>
        </p:txBody>
      </p:sp>
      <p:sp>
        <p:nvSpPr>
          <p:cNvPr id="8" name="テキスト ボックス 7">
            <a:extLst>
              <a:ext uri="{FF2B5EF4-FFF2-40B4-BE49-F238E27FC236}">
                <a16:creationId xmlns:a16="http://schemas.microsoft.com/office/drawing/2014/main" id="{CFB52CDF-DC5A-4A4C-AE76-F305F3EEC657}"/>
              </a:ext>
            </a:extLst>
          </p:cNvPr>
          <p:cNvSpPr txBox="1"/>
          <p:nvPr/>
        </p:nvSpPr>
        <p:spPr>
          <a:xfrm>
            <a:off x="1057544" y="4895361"/>
            <a:ext cx="4251484" cy="461665"/>
          </a:xfrm>
          <a:prstGeom prst="rect">
            <a:avLst/>
          </a:prstGeom>
          <a:noFill/>
        </p:spPr>
        <p:txBody>
          <a:bodyPr wrap="square" rtlCol="0">
            <a:spAutoFit/>
          </a:bodyPr>
          <a:lstStyle/>
          <a:p>
            <a:pPr>
              <a:lnSpc>
                <a:spcPts val="2520"/>
              </a:lnSpc>
              <a:spcAft>
                <a:spcPts val="0"/>
              </a:spcAft>
            </a:pPr>
            <a:r>
              <a:rPr sz="1800" i="0" lang="ja-JP" altLang="en-US">
                <a:latin typeface="Noto Sans JP"/>
              </a:rPr>
              <a:t>力の単位は、エネルギー÷長さ。</a:t>
            </a: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9ED09AD3-3C42-5F4C-AD23-57C419956828}"/>
                  </a:ext>
                </a:extLst>
              </p:cNvPr>
              <p:cNvSpPr txBox="1"/>
              <p:nvPr/>
            </p:nvSpPr>
            <p:spPr>
              <a:xfrm>
                <a:off x="1631848" y="5566968"/>
                <a:ext cx="3359126" cy="820674"/>
              </a:xfrm>
              <a:prstGeom prst="rect">
                <a:avLst/>
              </a:prstGeom>
              <a:noFill/>
            </p:spPr>
            <p:txBody>
              <a:bodyPr wrap="none" lIns="0" tIns="0" rIns="0" bIns="0" rtlCol="0">
                <a:spAutoFit/>
              </a:bodyPr>
              <a:lstStyle/>
              <a:p>
                <a:pPr/>
                <a14:m>
                  <m:oMathPara xmlns:m="http://schemas.openxmlformats.org/officeDocument/2006/math">
                    <m:oMathParaPr>
                      <m:jc m:val="centerGroup"/>
                    </m:oMathParaPr>
                    <m:oMath>
                      <m:r>
                        <a:rPr kumimoji="1" lang="ja-JP" altLang="en-US" sz="2800" b="0" i="1" smtClean="0">
                          <a:latin typeface="Cambria Math" panose="02040503050406030204" pitchFamily="18" charset="0"/>
                        </a:rPr>
                        <m:t>𝐹</m:t>
                      </m:r>
                      <m:d>
                        <m:dPr>
                          <m:ctrlPr>
                            <a:rPr kumimoji="1" lang="ja-JP" altLang="en-US" sz="2800" b="0" i="1" smtClean="0">
                              <a:latin typeface="Cambria Math" panose="02040503050406030204" pitchFamily="18" charset="0"/>
                            </a:rPr>
                          </m:ctrlPr>
                        </m:dPr>
                        <m:e>
                          <m:r>
                            <a:rPr kumimoji="1" lang="ja-JP" altLang="en-US" sz="2800" b="0" i="1" smtClean="0">
                              <a:latin typeface="Cambria Math" panose="02040503050406030204" pitchFamily="18" charset="0"/>
                            </a:rPr>
                            <m:t>𝑟</m:t>
                          </m:r>
                        </m:e>
                      </m:d>
                      <m:r>
                        <a:rPr kumimoji="1" lang="ja-JP" altLang="en-US" sz="2800" b="0" i="1" smtClean="0">
                          <a:latin typeface="Cambria Math" panose="02040503050406030204" pitchFamily="18" charset="0"/>
                        </a:rPr>
                        <m:t>=−</m:t>
                      </m:r>
                      <m:f>
                        <m:fPr>
                          <m:ctrlPr>
                            <a:rPr kumimoji="1" lang="ja-JP" altLang="en-US" sz="2800" b="0" i="1" smtClean="0">
                              <a:latin typeface="Cambria Math" panose="02040503050406030204" pitchFamily="18" charset="0"/>
                            </a:rPr>
                          </m:ctrlPr>
                        </m:fPr>
                        <m:num>
                          <m:r>
                            <a:rPr kumimoji="1" lang="ja-JP" altLang="en-US" sz="2800" b="0" i="1" smtClean="0">
                              <a:latin typeface="Cambria Math" panose="02040503050406030204" pitchFamily="18" charset="0"/>
                              <a:ea typeface="Cambria Math" panose="02040503050406030204" pitchFamily="18" charset="0"/>
                            </a:rPr>
                            <m:t>𝜕</m:t>
                          </m:r>
                          <m:r>
                            <a:rPr kumimoji="1" lang="ja-JP" altLang="en-US" sz="2800" b="0" i="1" smtClean="0">
                              <a:latin typeface="Cambria Math" panose="02040503050406030204" pitchFamily="18" charset="0"/>
                              <a:ea typeface="Cambria Math" panose="02040503050406030204" pitchFamily="18" charset="0"/>
                            </a:rPr>
                            <m:t>𝑈</m:t>
                          </m:r>
                          <m:r>
                            <a:rPr kumimoji="1" lang="ja-JP" altLang="en-US" sz="2800" b="0" i="1" smtClean="0">
                              <a:latin typeface="Cambria Math" panose="02040503050406030204" pitchFamily="18" charset="0"/>
                              <a:ea typeface="Cambria Math" panose="02040503050406030204" pitchFamily="18" charset="0"/>
                            </a:rPr>
                            <m:t>(</m:t>
                          </m:r>
                          <m:r>
                            <a:rPr kumimoji="1" lang="ja-JP" altLang="en-US" sz="2800" b="0" i="1" smtClean="0">
                              <a:latin typeface="Cambria Math" panose="02040503050406030204" pitchFamily="18" charset="0"/>
                              <a:ea typeface="Cambria Math" panose="02040503050406030204" pitchFamily="18" charset="0"/>
                            </a:rPr>
                            <m:t>𝑟</m:t>
                          </m:r>
                          <m:r>
                            <a:rPr kumimoji="1" lang="ja-JP" altLang="en-US" sz="2800" b="0" i="1" smtClean="0">
                              <a:latin typeface="Cambria Math" panose="02040503050406030204" pitchFamily="18" charset="0"/>
                              <a:ea typeface="Cambria Math" panose="02040503050406030204" pitchFamily="18" charset="0"/>
                            </a:rPr>
                            <m:t>)</m:t>
                          </m:r>
                        </m:num>
                        <m:den>
                          <m:r>
                            <a:rPr kumimoji="1" lang="ja-JP" altLang="en-US" sz="2800" b="0" i="1" smtClean="0">
                              <a:latin typeface="Cambria Math" panose="02040503050406030204" pitchFamily="18" charset="0"/>
                              <a:ea typeface="Cambria Math" panose="02040503050406030204" pitchFamily="18" charset="0"/>
                            </a:rPr>
                            <m:t>𝜕</m:t>
                          </m:r>
                          <m:r>
                            <a:rPr kumimoji="1" lang="ja-JP" altLang="en-US" sz="2800" b="0" i="1" smtClean="0">
                              <a:latin typeface="Cambria Math" panose="02040503050406030204" pitchFamily="18" charset="0"/>
                              <a:ea typeface="Cambria Math" panose="02040503050406030204" pitchFamily="18" charset="0"/>
                            </a:rPr>
                            <m:t>𝑟</m:t>
                          </m:r>
                        </m:den>
                      </m:f>
                    </m:oMath>
                  </m:oMathPara>
                </a14:m>
                <a:endParaRPr kumimoji="1" lang="ja-JP" altLang="en-US" sz="2800"/>
              </a:p>
            </p:txBody>
          </p:sp>
        </mc:Choice>
        <mc:Fallback xmlns="">
          <p:sp>
            <p:nvSpPr>
              <p:cNvPr id="11" name="テキスト ボックス 10">
                <a:extLst>
                  <a:ext uri="{FF2B5EF4-FFF2-40B4-BE49-F238E27FC236}">
                    <a16:creationId xmlns:a16="http://schemas.microsoft.com/office/drawing/2014/main" id="{9ED09AD3-3C42-5F4C-AD23-57C419956828}"/>
                  </a:ext>
                </a:extLst>
              </p:cNvPr>
              <p:cNvSpPr txBox="1">
                <a:spLocks noRot="1" noChangeAspect="1" noMove="1" noResize="1" noEditPoints="1" noAdjustHandles="1" noChangeArrowheads="1" noChangeShapeType="1" noTextEdit="1"/>
              </p:cNvSpPr>
              <p:nvPr/>
            </p:nvSpPr>
            <p:spPr>
              <a:xfrm>
                <a:off x="1631848" y="5566968"/>
                <a:ext cx="3359126" cy="820674"/>
              </a:xfrm>
              <a:prstGeom prst="rect">
                <a:avLst/>
              </a:prstGeom>
              <a:blipFill>
                <a:blip r:embed="rId2"/>
                <a:stretch>
                  <a:fillRect l="-3015" t="-4545" r="-4523" b="-12121"/>
                </a:stretch>
              </a:blipFill>
            </p:spPr>
            <p:txBody>
              <a:bodyPr/>
              <a:lstStyle/>
              <a:p>
                <a:r>
                  <a:rPr lang="ja-JP" altLang="en-US">
                    <a:noFill/>
                  </a:rPr>
                  <a:t> </a:t>
                </a:r>
              </a:p>
            </p:txBody>
          </p:sp>
        </mc:Fallback>
      </mc:AlternateContent>
      <p:sp>
        <p:nvSpPr>
          <p:cNvPr id="12" name="TextBox 11"/>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256032"/>
            <a:ext cx="10972800" cy="274320"/>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力場</a:t>
            </a:r>
          </a:p>
        </p:txBody>
      </p:sp>
      <p:sp>
        <p:nvSpPr>
          <p:cNvPr id="3" name="TextBox 2"/>
          <p:cNvSpPr txBox="1"/>
          <p:nvPr/>
        </p:nvSpPr>
        <p:spPr>
          <a:xfrm>
            <a:off x="612648" y="576072"/>
            <a:ext cx="10972800" cy="585216"/>
          </a:xfrm>
          <a:prstGeom prst="rect">
            <a:avLst/>
          </a:prstGeom>
          <a:noFill/>
        </p:spPr>
        <p:txBody>
          <a:bodyPr wrap="square" lIns="0" rIns="0" tIns="0" bIns="0" anchor="t">
            <a:noAutofit/>
          </a:bodyPr>
          <a:lstStyle/>
          <a:p>
            <a:pPr algn="l">
              <a:lnSpc>
                <a:spcPts val="4059"/>
              </a:lnSpc>
            </a:pPr>
            <a:r>
              <a:rPr sz="2900" b="1" lang="ja-JP" altLang="en-US">
                <a:solidFill>
                  <a:srgbClr val="202020"/>
                </a:solidFill>
                <a:latin typeface="Noto Sans JP"/>
                <a:ea typeface="Noto Sans JP"/>
              </a:rPr>
              <a:t>力場は、原子配置から各相互作用を足し合わせる</a:t>
            </a:r>
          </a:p>
        </p:txBody>
      </p:sp>
      <p:sp>
        <p:nvSpPr>
          <p:cNvPr id="4" name="Rectangle 3"/>
          <p:cNvSpPr/>
          <p:nvPr/>
        </p:nvSpPr>
        <p:spPr>
          <a:xfrm>
            <a:off x="612648" y="1207008"/>
            <a:ext cx="10972800" cy="12801"/>
          </a:xfrm>
          <a:prstGeom prst="rect">
            <a:avLst/>
          </a:prstGeom>
          <a:solidFill>
            <a:srgbClr val="1748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um_{\rm bonds}\frac{k_b}{2}(r-r_0)^2+\sum_{\rm angles}\frac{k_\theta}{2}(\theta-\theta_0)^2"/>
          <p:cNvPicPr>
            <a:picLocks noChangeAspect="1"/>
          </p:cNvPicPr>
          <p:nvPr/>
        </p:nvPicPr>
        <p:blipFill>
          <a:blip r:embed="rId7"/>
          <a:stretch>
            <a:fillRect/>
          </a:stretch>
        </p:blipFill>
        <p:spPr>
          <a:xfrm>
            <a:off x="731520" y="1572768"/>
            <a:ext cx="4956048" cy="813815"/>
          </a:xfrm>
          <a:prstGeom prst="rect">
            <a:avLst/>
          </a:prstGeom>
        </p:spPr>
      </p:pic>
      <p:pic>
        <p:nvPicPr>
          <p:cNvPr id="6" name="Picture 5" descr="\quad+\sum_{\rm torsions}\frac{V_n}{2}[1+\cos(n\phi-\delta)]"/>
          <p:cNvPicPr>
            <a:picLocks noChangeAspect="1"/>
          </p:cNvPicPr>
          <p:nvPr/>
        </p:nvPicPr>
        <p:blipFill>
          <a:blip r:embed="rId8"/>
          <a:stretch>
            <a:fillRect/>
          </a:stretch>
        </p:blipFill>
        <p:spPr>
          <a:xfrm>
            <a:off x="731520" y="2468880"/>
            <a:ext cx="3587496" cy="749808"/>
          </a:xfrm>
          <a:prstGeom prst="rect">
            <a:avLst/>
          </a:prstGeom>
        </p:spPr>
      </p:pic>
      <p:pic>
        <p:nvPicPr>
          <p:cNvPr id="7" name="Picture 6" descr="\quad+\sum_{i&lt;j}^{\rm nonbonded}\left\{4\varepsilon_{ij}\left[\left(\frac{\sigma_{ij}}{r_{ij}}\right)^{12}-\left(\frac{\sigma_{ij}}{r_{ij}}\right)^6\right]+\frac{q_iq_j}{4\pi\epsilon_0r_{ij}}\right\}"/>
          <p:cNvPicPr>
            <a:picLocks noChangeAspect="1"/>
          </p:cNvPicPr>
          <p:nvPr/>
        </p:nvPicPr>
        <p:blipFill>
          <a:blip r:embed="rId9"/>
          <a:stretch>
            <a:fillRect/>
          </a:stretch>
        </p:blipFill>
        <p:spPr>
          <a:xfrm>
            <a:off x="731520" y="3447288"/>
            <a:ext cx="5876544" cy="1319784"/>
          </a:xfrm>
          <a:prstGeom prst="rect">
            <a:avLst/>
          </a:prstGeom>
        </p:spPr>
      </p:pic>
      <p:pic>
        <p:nvPicPr>
          <p:cNvPr id="8" name="Picture 7" descr="image.png"/>
          <p:cNvPicPr>
            <a:picLocks noChangeAspect="1"/>
          </p:cNvPicPr>
          <p:nvPr/>
        </p:nvPicPr>
        <p:blipFill>
          <a:blip r:embed="rId4"/>
          <a:stretch>
            <a:fillRect/>
          </a:stretch>
        </p:blipFill>
        <p:spPr>
          <a:xfrm>
            <a:off x="9843410" y="1435608"/>
            <a:ext cx="1161498" cy="786384"/>
          </a:xfrm>
          <a:prstGeom prst="rect">
            <a:avLst/>
          </a:prstGeom>
        </p:spPr>
      </p:pic>
      <p:pic>
        <p:nvPicPr>
          <p:cNvPr id="9" name="Picture 8" descr="image.png"/>
          <p:cNvPicPr>
            <a:picLocks noChangeAspect="1"/>
          </p:cNvPicPr>
          <p:nvPr/>
        </p:nvPicPr>
        <p:blipFill>
          <a:blip r:embed="rId3"/>
          <a:stretch>
            <a:fillRect/>
          </a:stretch>
        </p:blipFill>
        <p:spPr>
          <a:xfrm>
            <a:off x="9647250" y="2304288"/>
            <a:ext cx="1553818" cy="786384"/>
          </a:xfrm>
          <a:prstGeom prst="rect">
            <a:avLst/>
          </a:prstGeom>
        </p:spPr>
      </p:pic>
      <p:pic>
        <p:nvPicPr>
          <p:cNvPr id="10" name="Picture 9" descr="image.png"/>
          <p:cNvPicPr>
            <a:picLocks noChangeAspect="1"/>
          </p:cNvPicPr>
          <p:nvPr/>
        </p:nvPicPr>
        <p:blipFill>
          <a:blip r:embed="rId2"/>
          <a:stretch>
            <a:fillRect/>
          </a:stretch>
        </p:blipFill>
        <p:spPr>
          <a:xfrm>
            <a:off x="9783086" y="3017520"/>
            <a:ext cx="1282147" cy="786384"/>
          </a:xfrm>
          <a:prstGeom prst="rect">
            <a:avLst/>
          </a:prstGeom>
        </p:spPr>
      </p:pic>
      <p:sp>
        <p:nvSpPr>
          <p:cNvPr id="11" name="TextBox 10"/>
          <p:cNvSpPr txBox="1"/>
          <p:nvPr/>
        </p:nvSpPr>
        <p:spPr>
          <a:xfrm>
            <a:off x="731520" y="4791456"/>
            <a:ext cx="10789920" cy="649224"/>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上段：結合長r、結合角θ、二面角φ。下段：非結合原子対の分散・反発と静電相互作用。</a:t>
            </a:r>
          </a:p>
          <a:p>
            <a:pPr algn="l">
              <a:lnSpc>
                <a:spcPts val="2520"/>
              </a:lnSpc>
            </a:pPr>
            <a:r>
              <a:rPr sz="1800" b="0" lang="ja-JP" altLang="en-US">
                <a:solidFill>
                  <a:srgbClr val="202020"/>
                </a:solidFill>
                <a:latin typeface="Noto Sans JP"/>
                <a:ea typeface="Noto Sans JP"/>
              </a:rPr>
              <a:t>kは力定数、Vnは二面角の振幅、qは部分電荷。LJ項のσとεは次の詳説で定義する。</a:t>
            </a:r>
          </a:p>
        </p:txBody>
      </p:sp>
      <p:sp>
        <p:nvSpPr>
          <p:cNvPr id="12" name="TextBox 11"/>
          <p:cNvSpPr txBox="1"/>
          <p:nvPr/>
        </p:nvSpPr>
        <p:spPr>
          <a:xfrm>
            <a:off x="731520" y="5605272"/>
            <a:ext cx="10789920" cy="594360"/>
          </a:xfrm>
          <a:prstGeom prst="rect">
            <a:avLst/>
          </a:prstGeom>
          <a:noFill/>
        </p:spPr>
        <p:txBody>
          <a:bodyPr wrap="square" lIns="0" rIns="0" tIns="0" bIns="0" anchor="t">
            <a:noAutofit/>
          </a:bodyPr>
          <a:lstStyle/>
          <a:p>
            <a:pPr algn="l">
              <a:lnSpc>
                <a:spcPts val="2100"/>
              </a:lnSpc>
            </a:pPr>
            <a:r>
              <a:rPr sz="1500" b="0" lang="ja-JP" altLang="en-US">
                <a:solidFill>
                  <a:srgbClr val="202020"/>
                </a:solidFill>
                <a:latin typeface="Noto Sans JP"/>
                <a:ea typeface="Noto Sans JP"/>
              </a:rPr>
              <a:t>非結合項の除外・縮小規則も力場の一部。全原子対を直接足すと計算量はN²に比例するが、</a:t>
            </a:r>
          </a:p>
          <a:p>
            <a:pPr algn="l">
              <a:lnSpc>
                <a:spcPts val="2100"/>
              </a:lnSpc>
            </a:pPr>
            <a:r>
              <a:rPr sz="1500" b="0" lang="ja-JP" altLang="en-US">
                <a:solidFill>
                  <a:srgbClr val="202020"/>
                </a:solidFill>
                <a:latin typeface="Noto Sans JP"/>
                <a:ea typeface="Noto Sans JP"/>
              </a:rPr>
              <a:t>実際は近接リストや長距離相互作用の計算法を使う。1/2や4を含めた係数の定義を揃える。</a:t>
            </a:r>
          </a:p>
        </p:txBody>
      </p:sp>
      <p:sp>
        <p:nvSpPr>
          <p:cNvPr id="13" name="TextBox 12"/>
          <p:cNvSpPr txBox="1"/>
          <p:nvPr/>
        </p:nvSpPr>
        <p:spPr>
          <a:xfrm>
            <a:off x="640080" y="6281928"/>
            <a:ext cx="10424160" cy="237744"/>
          </a:xfrm>
          <a:prstGeom prst="rect">
            <a:avLst/>
          </a:prstGeom>
          <a:noFill/>
        </p:spPr>
        <p:txBody>
          <a:bodyPr wrap="square" lIns="0" rIns="0" tIns="0" bIns="0" anchor="t">
            <a:noAutofit/>
          </a:bodyPr>
          <a:lstStyle/>
          <a:p>
            <a:pPr algn="l">
              <a:lnSpc>
                <a:spcPts val="1260"/>
              </a:lnSpc>
            </a:pPr>
            <a:r>
              <a:rPr sz="900" b="0" lang="ja-JP" altLang="en-US">
                <a:solidFill>
                  <a:srgbClr val="666666"/>
                </a:solidFill>
                <a:latin typeface="Noto Sans JP"/>
                <a:ea typeface="Noto Sans JP"/>
              </a:rPr>
              <a:t>前年「分子シミュレーションの準備」の分子模型を再利用。式は本講義の規約へ統一。</a:t>
            </a:r>
          </a:p>
        </p:txBody>
      </p:sp>
      <p:sp>
        <p:nvSpPr>
          <p:cNvPr id="14" name="TextBox 13"/>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5" name="タイトル 4">
            <a:extLst>
              <a:ext uri="{FF2B5EF4-FFF2-40B4-BE49-F238E27FC236}">
                <a16:creationId xmlns:a16="http://schemas.microsoft.com/office/drawing/2014/main" id="{9BBFB49E-FB4F-0642-9B1A-2C5F3B4F4C57}"/>
              </a:ext>
            </a:extLst>
          </p:cNvPr>
          <p:cNvSpPr>
            <a:spLocks noGrp="1"/>
          </p:cNvSpPr>
          <p:nvPr>
            <p:ph type="title"/>
          </p:nvPr>
        </p:nvSpPr>
        <p:spPr>
          <a:xfrm>
            <a:off x="311732" y="228600"/>
            <a:ext cx="11728513" cy="713232"/>
          </a:xfrm>
        </p:spPr>
        <p:txBody>
          <a:bodyPr wrap="square">
            <a:noAutofit/>
          </a:bodyPr>
          <a:lstStyle/>
          <a:p>
            <a:pPr>
              <a:lnSpc>
                <a:spcPts val="3779"/>
              </a:lnSpc>
              <a:spcAft>
                <a:spcPts val="0"/>
              </a:spcAft>
            </a:pPr>
            <a:r>
              <a:rPr sz="2700" i="0" b="1" lang="ja-JP" altLang="en-US">
                <a:latin typeface="Noto Sans JP"/>
              </a:rPr>
              <a:t>結合の伸縮を、Morseポテンシャルで近似する</a:t>
            </a:r>
          </a:p>
        </p:txBody>
      </p:sp>
      <p:pic>
        <p:nvPicPr>
          <p:cNvPr id="3" name="図 2">
            <a:extLst>
              <a:ext uri="{FF2B5EF4-FFF2-40B4-BE49-F238E27FC236}">
                <a16:creationId xmlns:a16="http://schemas.microsoft.com/office/drawing/2014/main" id="{6D13ABBD-7AD5-A147-B705-5DBB699D19CE}"/>
              </a:ext>
            </a:extLst>
          </p:cNvPr>
          <p:cNvPicPr>
            <a:picLocks noChangeAspect="1"/>
          </p:cNvPicPr>
          <p:nvPr/>
        </p:nvPicPr>
        <p:blipFill rotWithShape="1">
          <a:blip r:embed="rId2"/>
          <a:srcRect r="50000"/>
          <a:stretch/>
        </p:blipFill>
        <p:spPr>
          <a:xfrm>
            <a:off x="2998702" y="904496"/>
            <a:ext cx="6194289" cy="5880801"/>
          </a:xfrm>
          <a:prstGeom prst="rect">
            <a:avLst/>
          </a:prstGeom>
        </p:spPr>
      </p:pic>
      <p:sp>
        <p:nvSpPr>
          <p:cNvPr id="4" name="正方形/長方形 3">
            <a:extLst>
              <a:ext uri="{FF2B5EF4-FFF2-40B4-BE49-F238E27FC236}">
                <a16:creationId xmlns:a16="http://schemas.microsoft.com/office/drawing/2014/main" id="{4E30D255-DDF2-5C47-A645-6F112D14C6E9}"/>
              </a:ext>
            </a:extLst>
          </p:cNvPr>
          <p:cNvSpPr/>
          <p:nvPr/>
        </p:nvSpPr>
        <p:spPr>
          <a:xfrm>
            <a:off x="311732" y="5962901"/>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6" name="TextBox 5"/>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6" name="タイトル 5">
            <a:extLst>
              <a:ext uri="{FF2B5EF4-FFF2-40B4-BE49-F238E27FC236}">
                <a16:creationId xmlns:a16="http://schemas.microsoft.com/office/drawing/2014/main" id="{0EBC69D7-E6CC-964A-AD43-4B81A81B3FE5}"/>
              </a:ext>
            </a:extLst>
          </p:cNvPr>
          <p:cNvSpPr>
            <a:spLocks noGrp="1"/>
          </p:cNvSpPr>
          <p:nvPr>
            <p:ph type="title"/>
          </p:nvPr>
        </p:nvSpPr>
        <p:spPr>
          <a:xfrm>
            <a:off x="609584" y="228600"/>
            <a:ext cx="10972525" cy="713232"/>
          </a:xfrm>
        </p:spPr>
        <p:txBody>
          <a:bodyPr wrap="square">
            <a:noAutofit/>
          </a:bodyPr>
          <a:lstStyle/>
          <a:p>
            <a:pPr>
              <a:lnSpc>
                <a:spcPts val="3779"/>
              </a:lnSpc>
              <a:spcAft>
                <a:spcPts val="0"/>
              </a:spcAft>
            </a:pPr>
            <a:r>
              <a:rPr sz="2700" i="0" b="1" lang="ja-JP" altLang="en-US">
                <a:latin typeface="Noto Sans JP"/>
              </a:rPr>
              <a:t>平衡結合長の近くでは、ばねの式で近似する</a:t>
            </a:r>
          </a:p>
        </p:txBody>
      </p:sp>
      <p:pic>
        <p:nvPicPr>
          <p:cNvPr id="4" name="図 3">
            <a:extLst>
              <a:ext uri="{FF2B5EF4-FFF2-40B4-BE49-F238E27FC236}">
                <a16:creationId xmlns:a16="http://schemas.microsoft.com/office/drawing/2014/main" id="{EF4108B3-00AB-5B45-98CE-9D67B7B28DEA}"/>
              </a:ext>
            </a:extLst>
          </p:cNvPr>
          <p:cNvPicPr>
            <a:picLocks noChangeAspect="1"/>
          </p:cNvPicPr>
          <p:nvPr/>
        </p:nvPicPr>
        <p:blipFill>
          <a:blip r:embed="rId2"/>
          <a:stretch>
            <a:fillRect/>
          </a:stretch>
        </p:blipFill>
        <p:spPr>
          <a:xfrm>
            <a:off x="0" y="1576146"/>
            <a:ext cx="12191694" cy="4625788"/>
          </a:xfrm>
          <a:prstGeom prst="rect">
            <a:avLst/>
          </a:prstGeom>
        </p:spPr>
      </p:pic>
      <p:sp>
        <p:nvSpPr>
          <p:cNvPr id="7" name="正方形/長方形 6">
            <a:extLst>
              <a:ext uri="{FF2B5EF4-FFF2-40B4-BE49-F238E27FC236}">
                <a16:creationId xmlns:a16="http://schemas.microsoft.com/office/drawing/2014/main" id="{A7B44255-E9E9-4244-AD1D-C7D8AC711103}"/>
              </a:ext>
            </a:extLst>
          </p:cNvPr>
          <p:cNvSpPr/>
          <p:nvPr/>
        </p:nvSpPr>
        <p:spPr>
          <a:xfrm>
            <a:off x="281443" y="6048043"/>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 name="図 2">
            <a:extLst>
              <a:ext uri="{FF2B5EF4-FFF2-40B4-BE49-F238E27FC236}">
                <a16:creationId xmlns:a16="http://schemas.microsoft.com/office/drawing/2014/main" id="{0A8DD863-4A2A-DC4B-9414-D2D98A5B56B2}"/>
              </a:ext>
            </a:extLst>
          </p:cNvPr>
          <p:cNvPicPr>
            <a:picLocks noChangeAspect="1"/>
          </p:cNvPicPr>
          <p:nvPr/>
        </p:nvPicPr>
        <p:blipFill>
          <a:blip r:embed="rId2"/>
          <a:stretch>
            <a:fillRect/>
          </a:stretch>
        </p:blipFill>
        <p:spPr>
          <a:xfrm>
            <a:off x="395136" y="1043096"/>
            <a:ext cx="11186973" cy="5410796"/>
          </a:xfrm>
          <a:prstGeom prst="rect">
            <a:avLst/>
          </a:prstGeom>
        </p:spPr>
      </p:pic>
      <p:sp>
        <p:nvSpPr>
          <p:cNvPr id="5" name="タイトル 4">
            <a:extLst>
              <a:ext uri="{FF2B5EF4-FFF2-40B4-BE49-F238E27FC236}">
                <a16:creationId xmlns:a16="http://schemas.microsoft.com/office/drawing/2014/main" id="{E8D29F33-6C0E-314F-8CE3-928E65BAB109}"/>
              </a:ext>
            </a:extLst>
          </p:cNvPr>
          <p:cNvSpPr txBox="1">
            <a:spLocks/>
          </p:cNvSpPr>
          <p:nvPr/>
        </p:nvSpPr>
        <p:spPr>
          <a:xfrm>
            <a:off x="319305" y="228600"/>
            <a:ext cx="11728513" cy="713232"/>
          </a:xfrm>
          <a:prstGeom prst="rect">
            <a:avLst/>
          </a:prstGeom>
        </p:spPr>
        <p:txBody>
          <a:bodyPr wrap="square">
            <a:noAutofit/>
          </a:bodyPr>
          <a:lstStyle>
            <a:lvl1pPr algn="ctr" defTabSz="457200" rtl="0" eaLnBrk="1" latinLnBrk="0" hangingPunct="1">
              <a:spcBef>
                <a:spcPct val="0"/>
              </a:spcBef>
              <a:buNone/>
              <a:defRPr kumimoji="1" sz="4400" kern="1200" lang="ja-JP" altLang="en-US">
                <a:solidFill>
                  <a:schemeClr val="tx1"/>
                </a:solidFill>
                <a:latin typeface="+mj-lt"/>
                <a:ea typeface="+mj-ea"/>
                <a:cs typeface="+mj-cs"/>
              </a:defRPr>
            </a:lvl1pPr>
          </a:lstStyle>
          <a:p>
            <a:pPr>
              <a:lnSpc>
                <a:spcPts val="3779"/>
              </a:lnSpc>
              <a:spcAft>
                <a:spcPts val="0"/>
              </a:spcAft>
            </a:pPr>
            <a:r>
              <a:rPr sz="2700" i="0" b="1" lang="ja-JP" altLang="en-US">
                <a:latin typeface="Noto Sans JP"/>
              </a:rPr>
              <a:t>結合角も、平衡値からずれるとエネルギーが増える</a:t>
            </a:r>
          </a:p>
        </p:txBody>
      </p:sp>
      <p:sp>
        <p:nvSpPr>
          <p:cNvPr id="6" name="正方形/長方形 5">
            <a:extLst>
              <a:ext uri="{FF2B5EF4-FFF2-40B4-BE49-F238E27FC236}">
                <a16:creationId xmlns:a16="http://schemas.microsoft.com/office/drawing/2014/main" id="{0DA9B6F2-0EDC-5648-97E2-54145B4F6D91}"/>
              </a:ext>
            </a:extLst>
          </p:cNvPr>
          <p:cNvSpPr/>
          <p:nvPr/>
        </p:nvSpPr>
        <p:spPr>
          <a:xfrm>
            <a:off x="281443" y="6048043"/>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TextBox 6"/>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5" name="タイトル 4">
            <a:extLst>
              <a:ext uri="{FF2B5EF4-FFF2-40B4-BE49-F238E27FC236}">
                <a16:creationId xmlns:a16="http://schemas.microsoft.com/office/drawing/2014/main" id="{B0644E09-60D1-0C47-A1AB-9EADFE5B5540}"/>
              </a:ext>
            </a:extLst>
          </p:cNvPr>
          <p:cNvSpPr>
            <a:spLocks noGrp="1"/>
          </p:cNvSpPr>
          <p:nvPr>
            <p:ph type="title"/>
          </p:nvPr>
        </p:nvSpPr>
        <p:spPr>
          <a:xfrm>
            <a:off x="609584" y="228600"/>
            <a:ext cx="10972525" cy="713232"/>
          </a:xfrm>
        </p:spPr>
        <p:txBody>
          <a:bodyPr wrap="square">
            <a:normAutofit/>
          </a:bodyPr>
          <a:lstStyle/>
          <a:p>
            <a:pPr>
              <a:lnSpc>
                <a:spcPts val="3779"/>
              </a:lnSpc>
              <a:spcAft>
                <a:spcPts val="0"/>
              </a:spcAft>
            </a:pPr>
            <a:r>
              <a:rPr sz="2700" i="0" b="1" lang="ja-JP" altLang="en-US">
                <a:latin typeface="Noto Sans JP"/>
              </a:rPr>
              <a:t>ロイシン側鎖の回転と二面角エネルギー</a:t>
            </a:r>
          </a:p>
        </p:txBody>
      </p:sp>
      <p:pic>
        <p:nvPicPr>
          <p:cNvPr id="4" name="図 3">
            <a:extLst>
              <a:ext uri="{FF2B5EF4-FFF2-40B4-BE49-F238E27FC236}">
                <a16:creationId xmlns:a16="http://schemas.microsoft.com/office/drawing/2014/main" id="{A92D14F9-997B-0843-86DA-331D7DC380D8}"/>
              </a:ext>
            </a:extLst>
          </p:cNvPr>
          <p:cNvPicPr>
            <a:picLocks noChangeAspect="1"/>
          </p:cNvPicPr>
          <p:nvPr/>
        </p:nvPicPr>
        <p:blipFill>
          <a:blip r:embed="rId2"/>
          <a:stretch>
            <a:fillRect/>
          </a:stretch>
        </p:blipFill>
        <p:spPr>
          <a:xfrm>
            <a:off x="609584" y="1006693"/>
            <a:ext cx="10870296" cy="5543990"/>
          </a:xfrm>
          <a:prstGeom prst="rect">
            <a:avLst/>
          </a:prstGeom>
        </p:spPr>
      </p:pic>
      <p:sp>
        <p:nvSpPr>
          <p:cNvPr id="6" name="正方形/長方形 5">
            <a:extLst>
              <a:ext uri="{FF2B5EF4-FFF2-40B4-BE49-F238E27FC236}">
                <a16:creationId xmlns:a16="http://schemas.microsoft.com/office/drawing/2014/main" id="{509B5CB0-D2EA-EB4D-B2CE-AB6AD792E7A4}"/>
              </a:ext>
            </a:extLst>
          </p:cNvPr>
          <p:cNvSpPr/>
          <p:nvPr/>
        </p:nvSpPr>
        <p:spPr>
          <a:xfrm>
            <a:off x="281443" y="6519446"/>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TextBox 6"/>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 name="図 2">
            <a:extLst>
              <a:ext uri="{FF2B5EF4-FFF2-40B4-BE49-F238E27FC236}">
                <a16:creationId xmlns:a16="http://schemas.microsoft.com/office/drawing/2014/main" id="{5811DCC7-B7EC-D240-A878-BB9C0079FE6E}"/>
              </a:ext>
            </a:extLst>
          </p:cNvPr>
          <p:cNvPicPr>
            <a:picLocks noChangeAspect="1"/>
          </p:cNvPicPr>
          <p:nvPr/>
        </p:nvPicPr>
        <p:blipFill>
          <a:blip r:embed="rId2"/>
          <a:stretch>
            <a:fillRect/>
          </a:stretch>
        </p:blipFill>
        <p:spPr>
          <a:xfrm>
            <a:off x="2514063" y="971190"/>
            <a:ext cx="8047413" cy="5750285"/>
          </a:xfrm>
          <a:prstGeom prst="rect">
            <a:avLst/>
          </a:prstGeom>
        </p:spPr>
      </p:pic>
      <p:sp>
        <p:nvSpPr>
          <p:cNvPr id="4" name="タイトル 3">
            <a:extLst>
              <a:ext uri="{FF2B5EF4-FFF2-40B4-BE49-F238E27FC236}">
                <a16:creationId xmlns:a16="http://schemas.microsoft.com/office/drawing/2014/main" id="{76F706B7-2D12-2148-9CE0-30D7C26301E0}"/>
              </a:ext>
            </a:extLst>
          </p:cNvPr>
          <p:cNvSpPr>
            <a:spLocks noGrp="1"/>
          </p:cNvSpPr>
          <p:nvPr>
            <p:ph type="title"/>
          </p:nvPr>
        </p:nvSpPr>
        <p:spPr>
          <a:xfrm>
            <a:off x="609584" y="228600"/>
            <a:ext cx="10972525" cy="713232"/>
          </a:xfrm>
        </p:spPr>
        <p:txBody>
          <a:bodyPr wrap="square">
            <a:noAutofit/>
          </a:bodyPr>
          <a:lstStyle/>
          <a:p>
            <a:pPr>
              <a:lnSpc>
                <a:spcPts val="3779"/>
              </a:lnSpc>
              <a:spcAft>
                <a:spcPts val="0"/>
              </a:spcAft>
            </a:pPr>
            <a:r>
              <a:rPr sz="2700" i="0" b="1" lang="ja-JP" altLang="en-US">
                <a:latin typeface="Noto Sans JP"/>
              </a:rPr>
              <a:t>非結合原子には、短距離の反発と分散引力が働く</a:t>
            </a:r>
          </a:p>
        </p:txBody>
      </p:sp>
      <p:sp>
        <p:nvSpPr>
          <p:cNvPr id="5" name="正方形/長方形 4">
            <a:extLst>
              <a:ext uri="{FF2B5EF4-FFF2-40B4-BE49-F238E27FC236}">
                <a16:creationId xmlns:a16="http://schemas.microsoft.com/office/drawing/2014/main" id="{F170D001-DC03-1346-8107-31B28BBF9BB2}"/>
              </a:ext>
            </a:extLst>
          </p:cNvPr>
          <p:cNvSpPr/>
          <p:nvPr/>
        </p:nvSpPr>
        <p:spPr>
          <a:xfrm>
            <a:off x="281443" y="6280902"/>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6" name="TextBox 5"/>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4" name="タイトル 3">
            <a:extLst>
              <a:ext uri="{FF2B5EF4-FFF2-40B4-BE49-F238E27FC236}">
                <a16:creationId xmlns:a16="http://schemas.microsoft.com/office/drawing/2014/main" id="{651C3C00-6630-4946-9577-F7F97AC02526}"/>
              </a:ext>
            </a:extLst>
          </p:cNvPr>
          <p:cNvSpPr>
            <a:spLocks noGrp="1"/>
          </p:cNvSpPr>
          <p:nvPr>
            <p:ph type="title"/>
          </p:nvPr>
        </p:nvSpPr>
        <p:spPr>
          <a:xfrm>
            <a:off x="609584" y="228600"/>
            <a:ext cx="10972525" cy="713232"/>
          </a:xfrm>
        </p:spPr>
        <p:txBody>
          <a:bodyPr wrap="square">
            <a:noAutofit/>
          </a:bodyPr>
          <a:lstStyle/>
          <a:p>
            <a:pPr>
              <a:lnSpc>
                <a:spcPts val="3779"/>
              </a:lnSpc>
              <a:spcAft>
                <a:spcPts val="0"/>
              </a:spcAft>
            </a:pPr>
            <a:r>
              <a:rPr sz="2700" i="0" b="1" lang="ja-JP" altLang="en-US">
                <a:latin typeface="Noto Sans JP"/>
              </a:rPr>
              <a:t>原子の部分電荷が、静電相互作用を生む</a:t>
            </a:r>
          </a:p>
        </p:txBody>
      </p:sp>
      <p:pic>
        <p:nvPicPr>
          <p:cNvPr id="3" name="図 2">
            <a:extLst>
              <a:ext uri="{FF2B5EF4-FFF2-40B4-BE49-F238E27FC236}">
                <a16:creationId xmlns:a16="http://schemas.microsoft.com/office/drawing/2014/main" id="{106C228D-0BB5-1947-87A6-486261EA5A27}"/>
              </a:ext>
            </a:extLst>
          </p:cNvPr>
          <p:cNvPicPr>
            <a:picLocks noChangeAspect="1"/>
          </p:cNvPicPr>
          <p:nvPr/>
        </p:nvPicPr>
        <p:blipFill>
          <a:blip r:embed="rId2"/>
          <a:stretch>
            <a:fillRect/>
          </a:stretch>
        </p:blipFill>
        <p:spPr>
          <a:xfrm>
            <a:off x="0" y="1325880"/>
            <a:ext cx="12191694" cy="3574376"/>
          </a:xfrm>
          <a:prstGeom prst="rect">
            <a:avLst/>
          </a:prstGeom>
        </p:spPr>
      </p:pic>
      <p:sp>
        <p:nvSpPr>
          <p:cNvPr id="5" name="正方形/長方形 4">
            <a:extLst>
              <a:ext uri="{FF2B5EF4-FFF2-40B4-BE49-F238E27FC236}">
                <a16:creationId xmlns:a16="http://schemas.microsoft.com/office/drawing/2014/main" id="{A046E91E-0A00-6245-B830-E27F9470A2A9}"/>
              </a:ext>
            </a:extLst>
          </p:cNvPr>
          <p:cNvSpPr/>
          <p:nvPr/>
        </p:nvSpPr>
        <p:spPr>
          <a:xfrm>
            <a:off x="395030" y="5082096"/>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TextBox 6"/>
          <p:cNvSpPr txBox="1"/>
          <p:nvPr/>
        </p:nvSpPr>
        <p:spPr>
          <a:xfrm>
            <a:off x="731520" y="5614416"/>
            <a:ext cx="10789920" cy="594360"/>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固定電荷モデルでは、化学環境に応じた部分電荷qを各原子へ割り当てる。</a:t>
            </a:r>
          </a:p>
          <a:p>
            <a:pPr algn="l">
              <a:lnSpc>
                <a:spcPts val="2520"/>
              </a:lnSpc>
            </a:pPr>
            <a:r>
              <a:rPr sz="1800" b="0" lang="ja-JP" altLang="en-US">
                <a:solidFill>
                  <a:srgbClr val="202020"/>
                </a:solidFill>
                <a:latin typeface="Noto Sans JP"/>
                <a:ea typeface="Noto Sans JP"/>
              </a:rPr>
              <a:t>反対符号は引き合い、同符号は反発する。電子の偏りを一定のパラメータで近似する。</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Lennard–Jones項：極小・剛性・組合せ則</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反発と分散を表す経験的な二体関数</a:t>
            </a:r>
          </a:p>
        </p:txBody>
      </p:sp>
      <p:pic>
        <p:nvPicPr>
          <p:cNvPr id="7" name="Picture 6" descr="U_{ij}=4\varepsilon_{ij}[(\sigma_{ij}/r)^{12}-(\sigma_{ij}/r)^6]"/>
          <p:cNvPicPr>
            <a:picLocks noChangeAspect="1"/>
          </p:cNvPicPr>
          <p:nvPr/>
        </p:nvPicPr>
        <p:blipFill>
          <a:blip r:embed="rId3"/>
          <a:stretch>
            <a:fillRect/>
          </a:stretch>
        </p:blipFill>
        <p:spPr>
          <a:xfrm>
            <a:off x="609904" y="1729371"/>
            <a:ext cx="3608832" cy="394208"/>
          </a:xfrm>
          <a:prstGeom prst="rect">
            <a:avLst/>
          </a:prstGeom>
        </p:spPr>
      </p:pic>
      <p:pic>
        <p:nvPicPr>
          <p:cNvPr id="8" name="Picture 7" descr="U^{\prime}(r)=\frac{24\varepsilon}{r}[(\sigma/r)^6-2(\sigma/r)^{12}]"/>
          <p:cNvPicPr>
            <a:picLocks noChangeAspect="1"/>
          </p:cNvPicPr>
          <p:nvPr/>
        </p:nvPicPr>
        <p:blipFill>
          <a:blip r:embed="rId4"/>
          <a:stretch>
            <a:fillRect/>
          </a:stretch>
        </p:blipFill>
        <p:spPr>
          <a:xfrm>
            <a:off x="609904" y="2224163"/>
            <a:ext cx="3688080" cy="589280"/>
          </a:xfrm>
          <a:prstGeom prst="rect">
            <a:avLst/>
          </a:prstGeom>
        </p:spPr>
      </p:pic>
      <p:pic>
        <p:nvPicPr>
          <p:cNvPr id="9" name="Picture 8" descr="r_m=2^{1/6}\sigma,\quad U(r_m)=-\varepsilon,\quad U^{\prime\prime}(r_m)=\frac{72\varepsilon}{r_m^2}"/>
          <p:cNvPicPr>
            <a:picLocks noChangeAspect="1"/>
          </p:cNvPicPr>
          <p:nvPr/>
        </p:nvPicPr>
        <p:blipFill>
          <a:blip r:embed="rId5"/>
          <a:stretch>
            <a:fillRect/>
          </a:stretch>
        </p:blipFill>
        <p:spPr>
          <a:xfrm>
            <a:off x="609904" y="2914027"/>
            <a:ext cx="5159248" cy="719328"/>
          </a:xfrm>
          <a:prstGeom prst="rect">
            <a:avLst/>
          </a:prstGeom>
        </p:spPr>
      </p:pic>
      <p:sp>
        <p:nvSpPr>
          <p:cNvPr id="10" name="TextBox 9"/>
          <p:cNvSpPr txBox="1"/>
          <p:nvPr/>
        </p:nvSpPr>
        <p:spPr>
          <a:xfrm>
            <a:off x="609904" y="373393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σ はゼロ交点、ε は井戸の深さ。r⁻⁶は分散引力の漸近形に対応し、r⁻¹²は短距離反発の経験的近似である。</a:t>
            </a:r>
          </a:p>
        </p:txBody>
      </p:sp>
      <p:sp>
        <p:nvSpPr>
          <p:cNvPr id="11" name="TextBox 10"/>
          <p:cNvSpPr txBox="1"/>
          <p:nvPr/>
        </p:nvSpPr>
        <p:spPr>
          <a:xfrm>
            <a:off x="609904" y="471722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曲率は接触付近の剛性を規定する。井戸の深さを保ってσを変えても、力と曲率は変化する。</a:t>
            </a:r>
          </a:p>
        </p:txBody>
      </p:sp>
      <p:sp>
        <p:nvSpPr>
          <p:cNvPr id="12" name="TextBox 11"/>
          <p:cNvSpPr txBox="1"/>
          <p:nvPr/>
        </p:nvSpPr>
        <p:spPr>
          <a:xfrm>
            <a:off x="6242151" y="1280160"/>
            <a:ext cx="5339638" cy="405279"/>
          </a:xfrm>
          <a:prstGeom prst="rect">
            <a:avLst/>
          </a:prstGeom>
          <a:noFill/>
        </p:spPr>
        <p:txBody>
          <a:bodyPr wrap="square" lIns="0" rIns="0" tIns="0" bIns="0" anchor="t">
            <a:noAutofit/>
          </a:bodyPr>
          <a:lstStyle/>
          <a:p>
            <a:pPr algn="l">
              <a:lnSpc>
                <a:spcPts val="2219"/>
              </a:lnSpc>
            </a:pPr>
            <a:r>
              <a:rPr sz="1818" b="1" lang="ja-JP" altLang="en-US">
                <a:solidFill>
                  <a:srgbClr val="0017C1"/>
                </a:solidFill>
                <a:latin typeface="Noto Sans JP"/>
                <a:ea typeface="Noto Sans JP"/>
              </a:rPr>
              <a:t>異種原子対と結合接続に対する規約</a:t>
            </a:r>
          </a:p>
        </p:txBody>
      </p:sp>
      <p:pic>
        <p:nvPicPr>
          <p:cNvPr id="13" name="Picture 12" descr="\sigma_{ij}=(\sigma_i+\sigma_j)/2,\quad\varepsilon_{ij}=\sqrt{\varepsilon_i\varepsilon_j}"/>
          <p:cNvPicPr>
            <a:picLocks noChangeAspect="1"/>
          </p:cNvPicPr>
          <p:nvPr/>
        </p:nvPicPr>
        <p:blipFill>
          <a:blip r:embed="rId6"/>
          <a:stretch>
            <a:fillRect/>
          </a:stretch>
        </p:blipFill>
        <p:spPr>
          <a:xfrm>
            <a:off x="6242151" y="1708299"/>
            <a:ext cx="3432048" cy="363728"/>
          </a:xfrm>
          <a:prstGeom prst="rect">
            <a:avLst/>
          </a:prstGeom>
        </p:spPr>
      </p:pic>
      <p:sp>
        <p:nvSpPr>
          <p:cNvPr id="14" name="TextBox 13"/>
          <p:cNvSpPr txBox="1"/>
          <p:nvPr/>
        </p:nvSpPr>
        <p:spPr>
          <a:xfrm>
            <a:off x="6242151" y="2172611"/>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Lorentz–Berthelot則は一つの選択であり、普遍的な法則ではない。幾何平均や特定原子対への個別補正を使う力場もある。</a:t>
            </a:r>
          </a:p>
        </p:txBody>
      </p:sp>
      <p:sp>
        <p:nvSpPr>
          <p:cNvPr id="15" name="TextBox 14"/>
          <p:cNvSpPr txBox="1"/>
          <p:nvPr/>
        </p:nvSpPr>
        <p:spPr>
          <a:xfrm>
            <a:off x="6242151" y="3096399"/>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通常、1–2・1–3非結合項を除外し、1–4項には力場固有の縮小や専用値を使う。二面角項はその規約を含めて調整される。</a:t>
            </a:r>
          </a:p>
        </p:txBody>
      </p:sp>
      <p:sp>
        <p:nvSpPr>
          <p:cNvPr id="17" name="TextBox 16"/>
          <p:cNvSpPr txBox="1"/>
          <p:nvPr/>
        </p:nvSpPr>
        <p:spPr>
          <a:xfrm>
            <a:off x="6242151" y="5812411"/>
            <a:ext cx="5339638" cy="270941"/>
          </a:xfrm>
          <a:prstGeom prst="rect">
            <a:avLst/>
          </a:prstGeom>
          <a:noFill/>
        </p:spPr>
        <p:txBody>
          <a:bodyPr wrap="square" lIns="0" rIns="0" tIns="0" bIns="0" anchor="t">
            <a:noAutofit/>
          </a:bodyPr>
          <a:lstStyle/>
          <a:p>
            <a:pPr algn="l">
              <a:lnSpc>
                <a:spcPts val="1305"/>
              </a:lnSpc>
            </a:pPr>
            <a:r>
              <a:rPr sz="1070" b="0" lang="ja-JP" altLang="en-US">
                <a:solidFill>
                  <a:srgbClr val="666666"/>
                </a:solidFill>
                <a:latin typeface="Noto Sans JP"/>
                <a:ea typeface="Noto Sans JP"/>
              </a:rPr>
              <a:t>番号は結合グラフ上の距離を表す。空間距離の順位ではない。</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関数形・規約：GROMACS 2026.0 Reference Manual, Bonded / Non-bonded interactions。式変形と考察は本教材。</a:t>
            </a:r>
          </a:p>
        </p:txBody>
      </p:sp>
      <p:sp>
        <p:nvSpPr>
          <p:cNvPr id="20" name="Rectangle 19"/>
          <p:cNvSpPr/>
          <p:nvPr/>
        </p:nvSpPr>
        <p:spPr>
          <a:xfrm>
            <a:off x="6400800" y="5038344"/>
            <a:ext cx="457200" cy="457200"/>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5074920"/>
            <a:ext cx="310896" cy="265176"/>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1</a:t>
            </a:r>
          </a:p>
        </p:txBody>
      </p:sp>
      <p:sp>
        <p:nvSpPr>
          <p:cNvPr id="22" name="Rectangle 21"/>
          <p:cNvSpPr/>
          <p:nvPr/>
        </p:nvSpPr>
        <p:spPr>
          <a:xfrm>
            <a:off x="7470648" y="5038344"/>
            <a:ext cx="457200" cy="457200"/>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43800" y="5074920"/>
            <a:ext cx="310896" cy="265176"/>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2</a:t>
            </a:r>
          </a:p>
        </p:txBody>
      </p:sp>
      <p:sp>
        <p:nvSpPr>
          <p:cNvPr id="24" name="Rectangle 23"/>
          <p:cNvSpPr/>
          <p:nvPr/>
        </p:nvSpPr>
        <p:spPr>
          <a:xfrm>
            <a:off x="8540496" y="5038344"/>
            <a:ext cx="457200" cy="457200"/>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13648" y="5074920"/>
            <a:ext cx="310896" cy="265176"/>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3</a:t>
            </a:r>
          </a:p>
        </p:txBody>
      </p:sp>
      <p:sp>
        <p:nvSpPr>
          <p:cNvPr id="26" name="Rectangle 25"/>
          <p:cNvSpPr/>
          <p:nvPr/>
        </p:nvSpPr>
        <p:spPr>
          <a:xfrm>
            <a:off x="9610344" y="5038344"/>
            <a:ext cx="457200" cy="457200"/>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83496" y="5074920"/>
            <a:ext cx="310896" cy="265176"/>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4</a:t>
            </a:r>
          </a:p>
        </p:txBody>
      </p:sp>
      <p:sp>
        <p:nvSpPr>
          <p:cNvPr id="28" name="Rectangle 27"/>
          <p:cNvSpPr/>
          <p:nvPr/>
        </p:nvSpPr>
        <p:spPr>
          <a:xfrm>
            <a:off x="10680192" y="5038344"/>
            <a:ext cx="457200" cy="457200"/>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53344" y="5074920"/>
            <a:ext cx="310896" cy="265176"/>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5</a:t>
            </a:r>
          </a:p>
        </p:txBody>
      </p:sp>
      <p:sp>
        <p:nvSpPr>
          <p:cNvPr id="30" name="TextBox 29"/>
          <p:cNvSpPr txBox="1"/>
          <p:nvPr/>
        </p:nvSpPr>
        <p:spPr>
          <a:xfrm>
            <a:off x="6867144" y="5074920"/>
            <a:ext cx="557784" cy="274320"/>
          </a:xfrm>
          <a:prstGeom prst="rect">
            <a:avLst/>
          </a:prstGeom>
          <a:noFill/>
        </p:spPr>
        <p:txBody>
          <a:bodyPr wrap="square" lIns="0" rIns="0" tIns="0" bIns="0" anchor="t">
            <a:noAutofit/>
          </a:bodyPr>
          <a:lstStyle/>
          <a:p>
            <a:pPr algn="l">
              <a:lnSpc>
                <a:spcPts val="2240"/>
              </a:lnSpc>
            </a:pPr>
            <a:r>
              <a:rPr sz="1600" b="0" lang="ja-JP" altLang="en-US">
                <a:solidFill>
                  <a:srgbClr val="1748B7"/>
                </a:solidFill>
                <a:latin typeface="Noto Sans JP"/>
                <a:ea typeface="Noto Sans JP"/>
              </a:rPr>
              <a:t>—</a:t>
            </a:r>
          </a:p>
        </p:txBody>
      </p:sp>
      <p:sp>
        <p:nvSpPr>
          <p:cNvPr id="31" name="TextBox 30"/>
          <p:cNvSpPr txBox="1"/>
          <p:nvPr/>
        </p:nvSpPr>
        <p:spPr>
          <a:xfrm>
            <a:off x="7936992" y="5074920"/>
            <a:ext cx="557784" cy="274320"/>
          </a:xfrm>
          <a:prstGeom prst="rect">
            <a:avLst/>
          </a:prstGeom>
          <a:noFill/>
        </p:spPr>
        <p:txBody>
          <a:bodyPr wrap="square" lIns="0" rIns="0" tIns="0" bIns="0" anchor="t">
            <a:noAutofit/>
          </a:bodyPr>
          <a:lstStyle/>
          <a:p>
            <a:pPr algn="l">
              <a:lnSpc>
                <a:spcPts val="2240"/>
              </a:lnSpc>
            </a:pPr>
            <a:r>
              <a:rPr sz="1600" b="0" lang="ja-JP" altLang="en-US">
                <a:solidFill>
                  <a:srgbClr val="1748B7"/>
                </a:solidFill>
                <a:latin typeface="Noto Sans JP"/>
                <a:ea typeface="Noto Sans JP"/>
              </a:rPr>
              <a:t>—</a:t>
            </a:r>
          </a:p>
        </p:txBody>
      </p:sp>
      <p:sp>
        <p:nvSpPr>
          <p:cNvPr id="32" name="TextBox 31"/>
          <p:cNvSpPr txBox="1"/>
          <p:nvPr/>
        </p:nvSpPr>
        <p:spPr>
          <a:xfrm>
            <a:off x="9006840" y="5074920"/>
            <a:ext cx="557784" cy="274320"/>
          </a:xfrm>
          <a:prstGeom prst="rect">
            <a:avLst/>
          </a:prstGeom>
          <a:noFill/>
        </p:spPr>
        <p:txBody>
          <a:bodyPr wrap="square" lIns="0" rIns="0" tIns="0" bIns="0" anchor="t">
            <a:noAutofit/>
          </a:bodyPr>
          <a:lstStyle/>
          <a:p>
            <a:pPr algn="l">
              <a:lnSpc>
                <a:spcPts val="2240"/>
              </a:lnSpc>
            </a:pPr>
            <a:r>
              <a:rPr sz="1600" b="0" lang="ja-JP" altLang="en-US">
                <a:solidFill>
                  <a:srgbClr val="1748B7"/>
                </a:solidFill>
                <a:latin typeface="Noto Sans JP"/>
                <a:ea typeface="Noto Sans JP"/>
              </a:rPr>
              <a:t>—</a:t>
            </a:r>
          </a:p>
        </p:txBody>
      </p:sp>
      <p:sp>
        <p:nvSpPr>
          <p:cNvPr id="33" name="TextBox 32"/>
          <p:cNvSpPr txBox="1"/>
          <p:nvPr/>
        </p:nvSpPr>
        <p:spPr>
          <a:xfrm>
            <a:off x="10076688" y="5074920"/>
            <a:ext cx="557784" cy="274320"/>
          </a:xfrm>
          <a:prstGeom prst="rect">
            <a:avLst/>
          </a:prstGeom>
          <a:noFill/>
        </p:spPr>
        <p:txBody>
          <a:bodyPr wrap="square" lIns="0" rIns="0" tIns="0" bIns="0" anchor="t">
            <a:noAutofit/>
          </a:bodyPr>
          <a:lstStyle/>
          <a:p>
            <a:pPr algn="l">
              <a:lnSpc>
                <a:spcPts val="2240"/>
              </a:lnSpc>
            </a:pPr>
            <a:r>
              <a:rPr sz="1600" b="0" lang="ja-JP" altLang="en-US">
                <a:solidFill>
                  <a:srgbClr val="1748B7"/>
                </a:solidFill>
                <a:latin typeface="Noto Sans JP"/>
                <a:ea typeface="Noto Sans JP"/>
              </a:rPr>
              <a:t>—</a:t>
            </a:r>
          </a:p>
        </p:txBody>
      </p:sp>
      <p:sp>
        <p:nvSpPr>
          <p:cNvPr id="34" name="TextBox 33"/>
          <p:cNvSpPr txBox="1"/>
          <p:nvPr/>
        </p:nvSpPr>
        <p:spPr>
          <a:xfrm>
            <a:off x="6355080" y="4251960"/>
            <a:ext cx="5120640" cy="658368"/>
          </a:xfrm>
          <a:prstGeom prst="rect">
            <a:avLst/>
          </a:prstGeom>
          <a:noFill/>
        </p:spPr>
        <p:txBody>
          <a:bodyPr wrap="square" lIns="0" rIns="0" tIns="0" bIns="0" anchor="t">
            <a:noAutofit/>
          </a:bodyPr>
          <a:lstStyle/>
          <a:p>
            <a:pPr algn="l">
              <a:lnSpc>
                <a:spcPts val="2100"/>
              </a:lnSpc>
            </a:pPr>
            <a:r>
              <a:rPr sz="1500" b="0" lang="ja-JP" altLang="en-US">
                <a:solidFill>
                  <a:srgbClr val="202020"/>
                </a:solidFill>
                <a:latin typeface="Noto Sans JP"/>
                <a:ea typeface="Noto Sans JP"/>
              </a:rPr>
              <a:t>1–2と1–3：除外　／　1–4：規約により縮小</a:t>
            </a:r>
          </a:p>
          <a:p>
            <a:pPr algn="l">
              <a:lnSpc>
                <a:spcPts val="2100"/>
              </a:lnSpc>
            </a:pPr>
            <a:r>
              <a:rPr sz="1500" b="0" lang="ja-JP" altLang="en-US">
                <a:solidFill>
                  <a:srgbClr val="202020"/>
                </a:solidFill>
                <a:latin typeface="Noto Sans JP"/>
                <a:ea typeface="Noto Sans JP"/>
              </a:rPr>
              <a:t>それより離れた原子対：通常の非結合相互作用</a:t>
            </a:r>
          </a:p>
        </p:txBody>
      </p:sp>
      <p:sp>
        <p:nvSpPr>
          <p:cNvPr id="35" name="TextBox 34"/>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4" name="タイトル 3">
            <a:extLst>
              <a:ext uri="{FF2B5EF4-FFF2-40B4-BE49-F238E27FC236}">
                <a16:creationId xmlns:a16="http://schemas.microsoft.com/office/drawing/2014/main" id="{541323AC-0B67-0D43-8D5C-D54C982B4D20}"/>
              </a:ext>
            </a:extLst>
          </p:cNvPr>
          <p:cNvSpPr>
            <a:spLocks noGrp="1"/>
          </p:cNvSpPr>
          <p:nvPr>
            <p:ph type="title"/>
          </p:nvPr>
        </p:nvSpPr>
        <p:spPr>
          <a:xfrm>
            <a:off x="0" y="228600"/>
            <a:ext cx="12191694" cy="713232"/>
          </a:xfrm>
        </p:spPr>
        <p:txBody>
          <a:bodyPr wrap="square">
            <a:normAutofit fontScale="90000"/>
          </a:bodyPr>
          <a:lstStyle/>
          <a:p>
            <a:pPr>
              <a:lnSpc>
                <a:spcPts val="3779"/>
              </a:lnSpc>
              <a:spcAft>
                <a:spcPts val="0"/>
              </a:spcAft>
            </a:pPr>
            <a:r>
              <a:rPr sz="2700" i="0" b="1" lang="ja-JP" altLang="en-US">
                <a:latin typeface="Noto Sans JP"/>
              </a:rPr>
              <a:t>水素結合を、部分電荷と短距離相互作用で近似する</a:t>
            </a:r>
          </a:p>
        </p:txBody>
      </p:sp>
      <p:pic>
        <p:nvPicPr>
          <p:cNvPr id="3" name="図 2">
            <a:extLst>
              <a:ext uri="{FF2B5EF4-FFF2-40B4-BE49-F238E27FC236}">
                <a16:creationId xmlns:a16="http://schemas.microsoft.com/office/drawing/2014/main" id="{F094880C-3DE2-3F43-8397-AE9F14153B96}"/>
              </a:ext>
            </a:extLst>
          </p:cNvPr>
          <p:cNvPicPr>
            <a:picLocks noChangeAspect="1"/>
          </p:cNvPicPr>
          <p:nvPr/>
        </p:nvPicPr>
        <p:blipFill>
          <a:blip r:embed="rId2"/>
          <a:stretch>
            <a:fillRect/>
          </a:stretch>
        </p:blipFill>
        <p:spPr>
          <a:xfrm>
            <a:off x="501675" y="1499665"/>
            <a:ext cx="11470415" cy="4094568"/>
          </a:xfrm>
          <a:prstGeom prst="rect">
            <a:avLst/>
          </a:prstGeom>
        </p:spPr>
      </p:pic>
      <p:sp>
        <p:nvSpPr>
          <p:cNvPr id="5" name="テキスト ボックス 4">
            <a:extLst>
              <a:ext uri="{FF2B5EF4-FFF2-40B4-BE49-F238E27FC236}">
                <a16:creationId xmlns:a16="http://schemas.microsoft.com/office/drawing/2014/main" id="{CCE28510-339A-BF41-A0E3-3D9C6754C4D9}"/>
              </a:ext>
            </a:extLst>
          </p:cNvPr>
          <p:cNvSpPr txBox="1"/>
          <p:nvPr/>
        </p:nvSpPr>
        <p:spPr>
          <a:xfrm>
            <a:off x="4308741" y="744015"/>
            <a:ext cx="246301" cy="369332"/>
          </a:xfrm>
          <a:prstGeom prst="rect">
            <a:avLst/>
          </a:prstGeom>
          <a:noFill/>
        </p:spPr>
        <p:txBody>
          <a:bodyPr wrap="none" rtlCol="0">
            <a:spAutoFit/>
          </a:bodyPr>
          <a:lstStyle/>
          <a:p>
            <a:endParaRPr kumimoji="1" lang="ja-JP" altLang="en-US"/>
          </a:p>
        </p:txBody>
      </p:sp>
      <p:sp>
        <p:nvSpPr>
          <p:cNvPr id="6" name="正方形/長方形 5">
            <a:extLst>
              <a:ext uri="{FF2B5EF4-FFF2-40B4-BE49-F238E27FC236}">
                <a16:creationId xmlns:a16="http://schemas.microsoft.com/office/drawing/2014/main" id="{2B71E83D-8AAC-FD43-AF13-B6E87A9BFEA5}"/>
              </a:ext>
            </a:extLst>
          </p:cNvPr>
          <p:cNvSpPr/>
          <p:nvPr/>
        </p:nvSpPr>
        <p:spPr>
          <a:xfrm>
            <a:off x="3080940" y="5744653"/>
            <a:ext cx="5471875" cy="369332"/>
          </a:xfrm>
          <a:prstGeom prst="rect">
            <a:avLst/>
          </a:prstGeom>
        </p:spPr>
        <p:txBody>
          <a:bodyPr wrap="square">
            <a:spAutoFit/>
          </a:bodyPr>
          <a:lstStyle/>
          <a:p>
            <a:pPr>
              <a:lnSpc>
                <a:spcPts val="2379"/>
              </a:lnSpc>
              <a:spcAft>
                <a:spcPts val="0"/>
              </a:spcAft>
            </a:pPr>
            <a:r>
              <a:rPr sz="1700" i="0" lang="ja-JP" altLang="en-US">
                <a:latin typeface="Noto Sans JP"/>
              </a:rPr>
              <a:t>部分電荷の引力だけでなく、原子の反発と配置も水素結合を制約する。</a:t>
            </a:r>
          </a:p>
        </p:txBody>
      </p:sp>
      <p:sp>
        <p:nvSpPr>
          <p:cNvPr id="7" name="正方形/長方形 6">
            <a:extLst>
              <a:ext uri="{FF2B5EF4-FFF2-40B4-BE49-F238E27FC236}">
                <a16:creationId xmlns:a16="http://schemas.microsoft.com/office/drawing/2014/main" id="{7B91E767-E67B-1D47-90A4-50516F573038}"/>
              </a:ext>
            </a:extLst>
          </p:cNvPr>
          <p:cNvSpPr/>
          <p:nvPr/>
        </p:nvSpPr>
        <p:spPr>
          <a:xfrm>
            <a:off x="219603" y="5019781"/>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4" name="図 3">
            <a:extLst>
              <a:ext uri="{FF2B5EF4-FFF2-40B4-BE49-F238E27FC236}">
                <a16:creationId xmlns:a16="http://schemas.microsoft.com/office/drawing/2014/main" id="{FF2A85BA-3D8B-7F49-8EAC-0684CE7DAA22}"/>
              </a:ext>
            </a:extLst>
          </p:cNvPr>
          <p:cNvPicPr>
            <a:picLocks noChangeAspect="1"/>
          </p:cNvPicPr>
          <p:nvPr/>
        </p:nvPicPr>
        <p:blipFill>
          <a:blip r:embed="rId2"/>
          <a:stretch>
            <a:fillRect/>
          </a:stretch>
        </p:blipFill>
        <p:spPr>
          <a:xfrm>
            <a:off x="2922977" y="1388615"/>
            <a:ext cx="6617319" cy="5469385"/>
          </a:xfrm>
          <a:prstGeom prst="rect">
            <a:avLst/>
          </a:prstGeom>
        </p:spPr>
      </p:pic>
      <p:sp>
        <p:nvSpPr>
          <p:cNvPr id="5" name="タイトル 4">
            <a:extLst>
              <a:ext uri="{FF2B5EF4-FFF2-40B4-BE49-F238E27FC236}">
                <a16:creationId xmlns:a16="http://schemas.microsoft.com/office/drawing/2014/main" id="{A6AEBA15-F3F2-C148-AA37-3D8AE2EB6A6C}"/>
              </a:ext>
            </a:extLst>
          </p:cNvPr>
          <p:cNvSpPr>
            <a:spLocks noGrp="1"/>
          </p:cNvSpPr>
          <p:nvPr>
            <p:ph type="title"/>
          </p:nvPr>
        </p:nvSpPr>
        <p:spPr>
          <a:xfrm>
            <a:off x="0" y="228600"/>
            <a:ext cx="12191694" cy="713232"/>
          </a:xfrm>
        </p:spPr>
        <p:txBody>
          <a:bodyPr wrap="square">
            <a:noAutofit/>
          </a:bodyPr>
          <a:lstStyle/>
          <a:p>
            <a:pPr>
              <a:lnSpc>
                <a:spcPts val="3779"/>
              </a:lnSpc>
              <a:spcAft>
                <a:spcPts val="0"/>
              </a:spcAft>
            </a:pPr>
            <a:r>
              <a:rPr sz="2700" i="0" b="1" lang="ja-JP" altLang="en-US">
                <a:latin typeface="Noto Sans JP"/>
              </a:rPr>
              <a:t>水やイオンとの相互作用も、系に含める</a:t>
            </a:r>
          </a:p>
        </p:txBody>
      </p:sp>
      <p:sp>
        <p:nvSpPr>
          <p:cNvPr id="6" name="正方形/長方形 5">
            <a:extLst>
              <a:ext uri="{FF2B5EF4-FFF2-40B4-BE49-F238E27FC236}">
                <a16:creationId xmlns:a16="http://schemas.microsoft.com/office/drawing/2014/main" id="{487760E4-30D9-4342-882B-C530138057DF}"/>
              </a:ext>
            </a:extLst>
          </p:cNvPr>
          <p:cNvSpPr/>
          <p:nvPr/>
        </p:nvSpPr>
        <p:spPr>
          <a:xfrm>
            <a:off x="281443" y="6048043"/>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TextBox 6"/>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9" name="タイトル 1"/>
          <p:cNvSpPr>
            <a:spLocks noGrp="1"/>
          </p:cNvSpPr>
          <p:nvPr>
            <p:ph type="title"/>
          </p:nvPr>
        </p:nvSpPr>
        <p:spPr>
          <a:xfrm>
            <a:off x="609584" y="423264"/>
            <a:ext cx="10972525" cy="805392"/>
          </a:xfrm>
        </p:spPr>
        <p:txBody>
          <a:bodyPr anchor="t">
            <a:normAutofit/>
          </a:bodyPr>
          <a:lstStyle/>
          <a:p>
            <a:r>
              <a:rPr lang="ja-JP" altLang="en-US" sz="3600" b="1" dirty="0"/>
              <a:t>典型的なシミュレーション系</a:t>
            </a:r>
            <a:endParaRPr kumimoji="1" lang="ja-JP" altLang="en-US" sz="3600" b="1" dirty="0"/>
          </a:p>
        </p:txBody>
      </p:sp>
      <p:sp>
        <p:nvSpPr>
          <p:cNvPr id="5" name="TextBox 4"/>
          <p:cNvSpPr txBox="1"/>
          <p:nvPr/>
        </p:nvSpPr>
        <p:spPr>
          <a:xfrm>
            <a:off x="3373036" y="5941298"/>
            <a:ext cx="5818114" cy="646331"/>
          </a:xfrm>
          <a:prstGeom prst="rect">
            <a:avLst/>
          </a:prstGeom>
          <a:noFill/>
        </p:spPr>
        <p:txBody>
          <a:bodyPr wrap="none" rtlCol="0">
            <a:spAutoFit/>
          </a:bodyPr>
          <a:lstStyle/>
          <a:p>
            <a:pPr algn="ctr"/>
            <a:r>
              <a:rPr lang="ja-JP" altLang="en-US" dirty="0"/>
              <a:t>溶媒</a:t>
            </a:r>
            <a:r>
              <a:rPr lang="ja-JP" altLang="en-US" dirty="0"/>
              <a:t>(</a:t>
            </a:r>
            <a:r>
              <a:rPr lang="ja-JP" altLang="en-US" dirty="0"/>
              <a:t>水のモデル</a:t>
            </a:r>
            <a:r>
              <a:rPr lang="ja-JP" altLang="en-US" dirty="0"/>
              <a:t>)</a:t>
            </a:r>
            <a:r>
              <a:rPr lang="ja-JP" altLang="en-US" dirty="0"/>
              <a:t>を含めて全部で数万原子</a:t>
            </a:r>
            <a:endParaRPr lang="ja-JP" altLang="en-US" dirty="0"/>
          </a:p>
          <a:p>
            <a:pPr algn="ctr"/>
            <a:r>
              <a:rPr lang="ja-JP" altLang="en-US" b="1" dirty="0">
                <a:solidFill>
                  <a:srgbClr val="FF0000"/>
                </a:solidFill>
              </a:rPr>
              <a:t>周期境界条件</a:t>
            </a:r>
            <a:r>
              <a:rPr lang="ja-JP" altLang="en-US" dirty="0"/>
              <a:t>で計算</a:t>
            </a:r>
            <a:endParaRPr lang="ja-JP" dirty="0" altLang="en-US"/>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24617" t="19394" r="24921" b="19567"/>
          <a:stretch/>
        </p:blipFill>
        <p:spPr>
          <a:xfrm>
            <a:off x="3373036" y="1417638"/>
            <a:ext cx="5573345" cy="4186052"/>
          </a:xfrm>
          <a:prstGeom prst="rect">
            <a:avLst/>
          </a:prstGeom>
        </p:spPr>
      </p:pic>
      <p:sp>
        <p:nvSpPr>
          <p:cNvPr id="10" name="TextBox 9"/>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溶媒を含めた系で、構造の安定性を考える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溶質の分子内エネルギーだけでは、水中の構造の優劣は決まらない。</a:t>
            </a:r>
          </a:p>
          <a:p>
            <a:pPr>
              <a:lnSpc>
                <a:spcPts val="2940"/>
              </a:lnSpc>
              <a:spcAft>
                <a:spcPts val="800"/>
              </a:spcAft>
            </a:pPr>
            <a:r>
              <a:rPr sz="2100" i="0" b="0" lang="ja-JP" altLang="en-US">
                <a:latin typeface="Noto Sans JP"/>
                <a:solidFill>
                  <a:srgbClr val="333333"/>
                </a:solidFill>
              </a:rPr>
              <a:t>水やイオンの配置が変わると、相互作用と状態の数が変わる。</a:t>
            </a:r>
          </a:p>
          <a:p>
            <a:pPr>
              <a:lnSpc>
                <a:spcPts val="2940"/>
              </a:lnSpc>
              <a:spcAft>
                <a:spcPts val="800"/>
              </a:spcAft>
            </a:pPr>
            <a:r>
              <a:rPr sz="2100" i="0" b="0" lang="ja-JP" altLang="en-US">
                <a:latin typeface="Noto Sans JP"/>
                <a:solidFill>
                  <a:srgbClr val="333333"/>
                </a:solidFill>
              </a:rPr>
              <a:t>疎水効果は一つの専用引力だけで表す現象ではない。</a:t>
            </a:r>
          </a:p>
          <a:p>
            <a:pPr>
              <a:lnSpc>
                <a:spcPts val="2940"/>
              </a:lnSpc>
              <a:spcAft>
                <a:spcPts val="800"/>
              </a:spcAft>
            </a:pPr>
            <a:r>
              <a:rPr sz="2100" i="0" b="0" lang="ja-JP" altLang="en-US">
                <a:latin typeface="Noto Sans JP"/>
                <a:solidFill>
                  <a:srgbClr val="333333"/>
                </a:solidFill>
              </a:rPr>
              <a:t>溶媒を明示する方法と、平均的な効果としてまとめる方法を区別する。</a:t>
            </a:r>
          </a:p>
        </p:txBody>
      </p:sp>
      <p:pic>
        <p:nvPicPr>
          <p:cNvPr id="9" name="Picture 8" descr="solvent.png"/>
          <p:cNvPicPr>
            <a:picLocks noChangeAspect="1"/>
          </p:cNvPicPr>
          <p:nvPr/>
        </p:nvPicPr>
        <p:blipFill>
          <a:blip r:embed="rId4"/>
          <a:stretch>
            <a:fillRect/>
          </a:stretch>
        </p:blipFill>
        <p:spPr>
          <a:xfrm>
            <a:off x="7246620" y="1600200"/>
            <a:ext cx="3977639" cy="3977639"/>
          </a:xfrm>
          <a:prstGeom prst="rect">
            <a:avLst/>
          </a:prstGeom>
        </p:spPr>
      </p:pic>
      <p:sp>
        <p:nvSpPr>
          <p:cNvPr id="10" name="TextBox 9"/>
          <p:cNvSpPr txBox="1"/>
          <p:nvPr/>
        </p:nvSpPr>
        <p:spPr>
          <a:xfrm>
            <a:off x="6858000" y="5669280"/>
            <a:ext cx="4754880" cy="402336"/>
          </a:xfrm>
          <a:prstGeom prst="rect">
            <a:avLst/>
          </a:prstGeom>
          <a:noFill/>
        </p:spPr>
        <p:txBody>
          <a:bodyPr wrap="square" lIns="0" rIns="0" tIns="0" bIns="0" anchor="t">
            <a:noAutofit/>
          </a:bodyPr>
          <a:lstStyle/>
          <a:p>
            <a:pPr algn="l">
              <a:lnSpc>
                <a:spcPts val="1820"/>
              </a:lnSpc>
            </a:pPr>
            <a:r>
              <a:rPr sz="1300" b="0" lang="ja-JP" altLang="en-US">
                <a:solidFill>
                  <a:srgbClr val="202020"/>
                </a:solidFill>
                <a:latin typeface="Noto Sans JP"/>
                <a:ea typeface="Noto Sans JP"/>
              </a:rPr>
              <a:t>既存の溶媒模型：溶質と周囲の水を一緒に扱う。</a:t>
            </a:r>
          </a:p>
        </p:txBody>
      </p:sp>
      <p:sp>
        <p:nvSpPr>
          <p:cNvPr id="11" name="TextBox 10"/>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実験との不一致を誤差源ごとに分ける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構造から観測量への変換を含めて比較する</a:t>
            </a:r>
          </a:p>
        </p:txBody>
      </p:sp>
      <p:pic>
        <p:nvPicPr>
          <p:cNvPr id="7" name="Picture 6" descr="\langle A\rangle_{\mathbf p}=\int A(\mathbf R)\pi_{\mathbf p}(\mathbf R)\,d\mathbf R"/>
          <p:cNvPicPr>
            <a:picLocks noChangeAspect="1"/>
          </p:cNvPicPr>
          <p:nvPr/>
        </p:nvPicPr>
        <p:blipFill>
          <a:blip r:embed="rId3"/>
          <a:stretch>
            <a:fillRect/>
          </a:stretch>
        </p:blipFill>
        <p:spPr>
          <a:xfrm>
            <a:off x="609904" y="2032279"/>
            <a:ext cx="2993136" cy="705104"/>
          </a:xfrm>
          <a:prstGeom prst="rect">
            <a:avLst/>
          </a:prstGeom>
        </p:spPr>
      </p:pic>
      <p:sp>
        <p:nvSpPr>
          <p:cNvPr id="8" name="TextBox 7"/>
          <p:cNvSpPr txBox="1"/>
          <p:nvPr/>
        </p:nvSpPr>
        <p:spPr>
          <a:xfrm>
            <a:off x="609904" y="2837967"/>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A(R)は構造から信号を予測する観測モデル、π_pは力場が定める配置分布。NMRなどでは座標そのものではなく、信号の平均を実験と比較する。</a:t>
            </a:r>
          </a:p>
        </p:txBody>
      </p:sp>
      <p:sp>
        <p:nvSpPr>
          <p:cNvPr id="9" name="TextBox 8"/>
          <p:cNvSpPr txBox="1"/>
          <p:nvPr/>
        </p:nvSpPr>
        <p:spPr>
          <a:xfrm>
            <a:off x="609904" y="4106341"/>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モデル誤差：関数形・電荷・水・境界条件。標本誤差：有限時間・遅い状態遷移。観測モデルと条件の誤差：信号変換、温度、組成、プロトン化など。</a:t>
            </a:r>
          </a:p>
        </p:txBody>
      </p:sp>
      <p:sp>
        <p:nvSpPr>
          <p:cNvPr id="10" name="TextBox 9"/>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誤差の切り分けと再現可能性</a:t>
            </a:r>
          </a:p>
        </p:txBody>
      </p:sp>
      <p:sp>
        <p:nvSpPr>
          <p:cNvPr id="11" name="TextBox 10"/>
          <p:cNvSpPr txBox="1"/>
          <p:nvPr/>
        </p:nvSpPr>
        <p:spPr>
          <a:xfrm>
            <a:off x="6242151" y="172937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複数初期条件や延長計算で標本誤差を評価し、観測モデルや実験条件の感度も調べる。その上で力場変更による差を解釈する。</a:t>
            </a:r>
          </a:p>
        </p:txBody>
      </p:sp>
      <p:sp>
        <p:nvSpPr>
          <p:cNvPr id="12" name="TextBox 11"/>
          <p:cNvSpPr txBox="1"/>
          <p:nvPr/>
        </p:nvSpPr>
        <p:spPr>
          <a:xfrm>
            <a:off x="6242151" y="2712656"/>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化学状態と用途の確定 → 割当範囲と欠落の調査 → 参照データの設計 → 制約付き推定 → 独立検証、の順に進める。</a:t>
            </a:r>
          </a:p>
        </p:txBody>
      </p:sp>
      <p:sp>
        <p:nvSpPr>
          <p:cNvPr id="13" name="TextBox 12"/>
          <p:cNvSpPr txBox="1"/>
          <p:nvPr/>
        </p:nvSpPr>
        <p:spPr>
          <a:xfrm>
            <a:off x="6242151" y="369594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トポロジー、電荷、除外・縮小規則、水・イオン、長距離処理、データ出典、最適化条件、ソフトウェア版を保存する。</a:t>
            </a:r>
          </a:p>
        </p:txBody>
      </p:sp>
      <p:sp>
        <p:nvSpPr>
          <p:cNvPr id="14" name="TextBox 13"/>
          <p:cNvSpPr txBox="1"/>
          <p:nvPr/>
        </p:nvSpPr>
        <p:spPr>
          <a:xfrm>
            <a:off x="6242151" y="4679226"/>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計算が安定して実行できることは、目的の物理モデルが正しく定義されたことの証明にはならない。</a:t>
            </a:r>
          </a:p>
        </p:txBody>
      </p:sp>
      <p:sp>
        <p:nvSpPr>
          <p:cNvPr id="15" name="TextBox 14"/>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最適化の参考：Wang, Martínez &amp; Pande, J. Phys. Chem. Lett. 5, 1885–1891 (2014), ForceBalance。導出は本教材。</a:t>
            </a:r>
          </a:p>
        </p:txBody>
      </p:sp>
      <p:sp>
        <p:nvSpPr>
          <p:cNvPr id="16" name="TextBox 15"/>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256032"/>
            <a:ext cx="10972800" cy="274320"/>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講義</a:t>
            </a:r>
          </a:p>
        </p:txBody>
      </p:sp>
      <p:sp>
        <p:nvSpPr>
          <p:cNvPr id="3" name="TextBox 2"/>
          <p:cNvSpPr txBox="1"/>
          <p:nvPr/>
        </p:nvSpPr>
        <p:spPr>
          <a:xfrm>
            <a:off x="612648" y="576072"/>
            <a:ext cx="10972800" cy="585216"/>
          </a:xfrm>
          <a:prstGeom prst="rect">
            <a:avLst/>
          </a:prstGeom>
          <a:noFill/>
        </p:spPr>
        <p:txBody>
          <a:bodyPr wrap="square" lIns="0" rIns="0" tIns="0" bIns="0" anchor="t">
            <a:noAutofit/>
          </a:bodyPr>
          <a:lstStyle/>
          <a:p>
            <a:pPr algn="l">
              <a:lnSpc>
                <a:spcPts val="4059"/>
              </a:lnSpc>
            </a:pPr>
            <a:r>
              <a:rPr sz="2900" b="1" lang="ja-JP" altLang="en-US">
                <a:solidFill>
                  <a:srgbClr val="202020"/>
                </a:solidFill>
                <a:latin typeface="Noto Sans JP"/>
                <a:ea typeface="Noto Sans JP"/>
              </a:rPr>
              <a:t>温度一定の熱平衡では、構造は分布として現れる</a:t>
            </a:r>
          </a:p>
        </p:txBody>
      </p:sp>
      <p:sp>
        <p:nvSpPr>
          <p:cNvPr id="4" name="Rectangle 3"/>
          <p:cNvSpPr/>
          <p:nvPr/>
        </p:nvSpPr>
        <p:spPr>
          <a:xfrm>
            <a:off x="612648" y="1207008"/>
            <a:ext cx="10972800" cy="12801"/>
          </a:xfrm>
          <a:prstGeom prst="rect">
            <a:avLst/>
          </a:prstGeom>
          <a:solidFill>
            <a:srgbClr val="1748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6035040" cy="822960"/>
          </a:xfrm>
          <a:prstGeom prst="rect">
            <a:avLst/>
          </a:prstGeom>
          <a:noFill/>
        </p:spPr>
        <p:txBody>
          <a:bodyPr wrap="square" lIns="0" rIns="0" tIns="0" bIns="0" anchor="t">
            <a:noAutofit/>
          </a:bodyPr>
          <a:lstStyle/>
          <a:p>
            <a:pPr algn="l">
              <a:lnSpc>
                <a:spcPts val="2940"/>
              </a:lnSpc>
            </a:pPr>
            <a:r>
              <a:rPr sz="2100" b="0" lang="ja-JP" altLang="en-US">
                <a:solidFill>
                  <a:srgbClr val="202020"/>
                </a:solidFill>
                <a:latin typeface="Noto Sans JP"/>
                <a:ea typeface="Noto Sans JP"/>
              </a:rPr>
              <a:t>最低エネルギーの一点だけに止まるわけではない。</a:t>
            </a:r>
          </a:p>
          <a:p>
            <a:pPr algn="l">
              <a:lnSpc>
                <a:spcPts val="2940"/>
              </a:lnSpc>
            </a:pPr>
            <a:r>
              <a:rPr sz="2100" b="0" lang="ja-JP" altLang="en-US">
                <a:solidFill>
                  <a:srgbClr val="202020"/>
                </a:solidFill>
                <a:latin typeface="Noto Sans JP"/>
                <a:ea typeface="Noto Sans JP"/>
              </a:rPr>
              <a:t>構造の現れやすさを、ボルツマン分布で表す。</a:t>
            </a:r>
          </a:p>
        </p:txBody>
      </p:sp>
      <p:pic>
        <p:nvPicPr>
          <p:cNvPr id="6" name="Picture 5" descr="p(\mathbf x)=\frac{e^{-U(\mathbf x)/(k_BT)}}{Z},\qquad Z=\int e^{-U(\mathbf x)/(k_BT)}\,d\mathbf x"/>
          <p:cNvPicPr>
            <a:picLocks noChangeAspect="1"/>
          </p:cNvPicPr>
          <p:nvPr/>
        </p:nvPicPr>
        <p:blipFill>
          <a:blip r:embed="rId5"/>
          <a:stretch>
            <a:fillRect/>
          </a:stretch>
        </p:blipFill>
        <p:spPr>
          <a:xfrm>
            <a:off x="822960" y="2624328"/>
            <a:ext cx="5782056" cy="734568"/>
          </a:xfrm>
          <a:prstGeom prst="rect">
            <a:avLst/>
          </a:prstGeom>
        </p:spPr>
      </p:pic>
      <p:sp>
        <p:nvSpPr>
          <p:cNvPr id="7" name="TextBox 6"/>
          <p:cNvSpPr txBox="1"/>
          <p:nvPr/>
        </p:nvSpPr>
        <p:spPr>
          <a:xfrm>
            <a:off x="731520" y="3675887"/>
            <a:ext cx="10698480" cy="960120"/>
          </a:xfrm>
          <a:prstGeom prst="rect">
            <a:avLst/>
          </a:prstGeom>
          <a:noFill/>
        </p:spPr>
        <p:txBody>
          <a:bodyPr wrap="square" lIns="0" rIns="0" tIns="0" bIns="0" anchor="t">
            <a:noAutofit/>
          </a:bodyPr>
          <a:lstStyle/>
          <a:p>
            <a:pPr algn="l">
              <a:lnSpc>
                <a:spcPts val="2800"/>
              </a:lnSpc>
            </a:pPr>
            <a:r>
              <a:rPr sz="2000" b="0" lang="ja-JP" altLang="en-US">
                <a:solidFill>
                  <a:srgbClr val="202020"/>
                </a:solidFill>
                <a:latin typeface="Noto Sans JP"/>
                <a:ea typeface="Noto Sans JP"/>
              </a:rPr>
              <a:t>x：全原子の配置。U(x)：その配置のポテンシャルエネルギー。</a:t>
            </a:r>
          </a:p>
          <a:p>
            <a:pPr algn="l">
              <a:lnSpc>
                <a:spcPts val="2800"/>
              </a:lnSpc>
            </a:pPr>
            <a:r>
              <a:rPr sz="2000" b="0" lang="ja-JP" altLang="en-US">
                <a:solidFill>
                  <a:srgbClr val="202020"/>
                </a:solidFill>
                <a:latin typeface="Noto Sans JP"/>
                <a:ea typeface="Noto Sans JP"/>
              </a:rPr>
              <a:t>T：絶対温度、kB：ボルツマン定数。Z：密度の積分を1にする規格化定数。</a:t>
            </a:r>
          </a:p>
        </p:txBody>
      </p:sp>
      <p:sp>
        <p:nvSpPr>
          <p:cNvPr id="8" name="TextBox 7"/>
          <p:cNvSpPr txBox="1"/>
          <p:nvPr/>
        </p:nvSpPr>
        <p:spPr>
          <a:xfrm>
            <a:off x="731520" y="4910328"/>
            <a:ext cx="10698480" cy="987552"/>
          </a:xfrm>
          <a:prstGeom prst="rect">
            <a:avLst/>
          </a:prstGeom>
          <a:noFill/>
        </p:spPr>
        <p:txBody>
          <a:bodyPr wrap="square" lIns="0" rIns="0" tIns="0" bIns="0" anchor="t">
            <a:noAutofit/>
          </a:bodyPr>
          <a:lstStyle/>
          <a:p>
            <a:pPr algn="l">
              <a:lnSpc>
                <a:spcPts val="2800"/>
              </a:lnSpc>
            </a:pPr>
            <a:r>
              <a:rPr sz="2000" b="0" lang="ja-JP" altLang="en-US">
                <a:solidFill>
                  <a:srgbClr val="202020"/>
                </a:solidFill>
                <a:latin typeface="Noto Sans JP"/>
                <a:ea typeface="Noto Sans JP"/>
              </a:rPr>
              <a:t>同じ大きさの配置領域を比べると、エネルギーが低いほど重みが大きい。</a:t>
            </a:r>
          </a:p>
          <a:p>
            <a:pPr algn="l">
              <a:lnSpc>
                <a:spcPts val="2800"/>
              </a:lnSpc>
            </a:pPr>
            <a:r>
              <a:rPr sz="2000" b="0" lang="ja-JP" altLang="en-US">
                <a:solidFill>
                  <a:srgbClr val="202020"/>
                </a:solidFill>
                <a:latin typeface="Noto Sans JP"/>
                <a:ea typeface="Noto Sans JP"/>
              </a:rPr>
              <a:t>構造群の確率は、その群に属する全配置の重みを足し合わせて求める。</a:t>
            </a:r>
          </a:p>
          <a:p>
            <a:pPr algn="l">
              <a:lnSpc>
                <a:spcPts val="2800"/>
              </a:lnSpc>
            </a:pPr>
            <a:r>
              <a:rPr sz="2000" b="0" lang="ja-JP" altLang="en-US">
                <a:solidFill>
                  <a:srgbClr val="202020"/>
                </a:solidFill>
                <a:latin typeface="Noto Sans JP"/>
                <a:ea typeface="Noto Sans JP"/>
              </a:rPr>
              <a:t>この式は平衡での出現割合を与える。運動の速さは別に考える。</a:t>
            </a:r>
          </a:p>
        </p:txBody>
      </p:sp>
      <p:sp>
        <p:nvSpPr>
          <p:cNvPr id="9" name="TextBox 8"/>
          <p:cNvSpPr txBox="1"/>
          <p:nvPr/>
        </p:nvSpPr>
        <p:spPr>
          <a:xfrm>
            <a:off x="640080" y="6281928"/>
            <a:ext cx="10424160" cy="237744"/>
          </a:xfrm>
          <a:prstGeom prst="rect">
            <a:avLst/>
          </a:prstGeom>
          <a:noFill/>
        </p:spPr>
        <p:txBody>
          <a:bodyPr wrap="square" lIns="0" rIns="0" tIns="0" bIns="0" anchor="t">
            <a:noAutofit/>
          </a:bodyPr>
          <a:lstStyle/>
          <a:p>
            <a:pPr algn="l">
              <a:lnSpc>
                <a:spcPts val="1260"/>
              </a:lnSpc>
            </a:pPr>
            <a:r>
              <a:rPr sz="900" b="0" lang="ja-JP" altLang="en-US">
                <a:solidFill>
                  <a:srgbClr val="666666"/>
                </a:solidFill>
                <a:latin typeface="Noto Sans JP"/>
                <a:ea typeface="Noto Sans JP"/>
              </a:rPr>
              <a:t>前年「分子シミュレーションの準備」の内容を再組版。連続座標なのでpは確率密度。</a:t>
            </a:r>
          </a:p>
        </p:txBody>
      </p:sp>
      <p:sp>
        <p:nvSpPr>
          <p:cNvPr id="10" name="TextBox 9"/>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確率を考える単位：微視的状態と構造群</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states.png"/>
          <p:cNvPicPr>
            <a:picLocks noChangeAspect="1"/>
          </p:cNvPicPr>
          <p:nvPr/>
        </p:nvPicPr>
        <p:blipFill>
          <a:blip r:embed="rId3"/>
          <a:stretch>
            <a:fillRect/>
          </a:stretch>
        </p:blipFill>
        <p:spPr>
          <a:xfrm>
            <a:off x="6949440" y="1508760"/>
            <a:ext cx="4617720" cy="3717065"/>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微視的状態：系の具体的な原子配置など。</a:t>
            </a:r>
          </a:p>
          <a:p>
            <a:pPr>
              <a:lnSpc>
                <a:spcPts val="2940"/>
              </a:lnSpc>
              <a:spcAft>
                <a:spcPts val="800"/>
              </a:spcAft>
            </a:pPr>
            <a:r>
              <a:rPr sz="2100" i="0" b="0" lang="ja-JP" altLang="en-US">
                <a:latin typeface="Noto Sans JP"/>
                <a:solidFill>
                  <a:srgbClr val="333333"/>
                </a:solidFill>
              </a:rPr>
              <a:t>構造群：多数の微視的状態をまとめたもの。例えば折り畳み群Aと広がった群B。</a:t>
            </a:r>
          </a:p>
          <a:p>
            <a:pPr>
              <a:lnSpc>
                <a:spcPts val="2940"/>
              </a:lnSpc>
              <a:spcAft>
                <a:spcPts val="800"/>
              </a:spcAft>
            </a:pPr>
            <a:r>
              <a:rPr sz="2100" i="0" b="0" lang="ja-JP" altLang="en-US">
                <a:latin typeface="Noto Sans JP"/>
                <a:solidFill>
                  <a:srgbClr val="333333"/>
                </a:solidFill>
              </a:rPr>
              <a:t>一状態のエネルギーが高くても、同程度の状態が多数あれば群の確率は大きくなる。</a:t>
            </a:r>
          </a:p>
          <a:p>
            <a:pPr>
              <a:lnSpc>
                <a:spcPts val="2940"/>
              </a:lnSpc>
              <a:spcAft>
                <a:spcPts val="800"/>
              </a:spcAft>
            </a:pPr>
            <a:r>
              <a:rPr sz="2100" i="0" b="0" lang="ja-JP" altLang="en-US">
                <a:latin typeface="Noto Sans JP"/>
                <a:solidFill>
                  <a:srgbClr val="333333"/>
                </a:solidFill>
              </a:rPr>
              <a:t>右はエネルギー0に1状態、エネルギー2に8状態の模型。</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256032"/>
            <a:ext cx="10972800" cy="274320"/>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熱平衡と確率分布</a:t>
            </a:r>
          </a:p>
        </p:txBody>
      </p:sp>
      <p:sp>
        <p:nvSpPr>
          <p:cNvPr id="3" name="TextBox 2"/>
          <p:cNvSpPr txBox="1"/>
          <p:nvPr/>
        </p:nvSpPr>
        <p:spPr>
          <a:xfrm>
            <a:off x="612648" y="576072"/>
            <a:ext cx="10972800" cy="585216"/>
          </a:xfrm>
          <a:prstGeom prst="rect">
            <a:avLst/>
          </a:prstGeom>
          <a:noFill/>
        </p:spPr>
        <p:txBody>
          <a:bodyPr wrap="square" lIns="0" rIns="0" tIns="0" bIns="0" anchor="t">
            <a:noAutofit/>
          </a:bodyPr>
          <a:lstStyle/>
          <a:p>
            <a:pPr algn="l">
              <a:lnSpc>
                <a:spcPts val="4059"/>
              </a:lnSpc>
            </a:pPr>
            <a:r>
              <a:rPr sz="2900" b="1" lang="ja-JP" altLang="en-US">
                <a:solidFill>
                  <a:srgbClr val="202020"/>
                </a:solidFill>
                <a:latin typeface="Noto Sans JP"/>
                <a:ea typeface="Noto Sans JP"/>
              </a:rPr>
              <a:t>大きな熱浴は、熱を渡してもほぼ温度が変わらない</a:t>
            </a:r>
          </a:p>
        </p:txBody>
      </p:sp>
      <p:sp>
        <p:nvSpPr>
          <p:cNvPr id="4" name="Rectangle 3"/>
          <p:cNvSpPr/>
          <p:nvPr/>
        </p:nvSpPr>
        <p:spPr>
          <a:xfrm>
            <a:off x="612648" y="1207008"/>
            <a:ext cx="10972800" cy="12801"/>
          </a:xfrm>
          <a:prstGeom prst="rect">
            <a:avLst/>
          </a:prstGeom>
          <a:solidFill>
            <a:srgbClr val="1748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35608"/>
            <a:ext cx="5669280" cy="411480"/>
          </a:xfrm>
          <a:prstGeom prst="rect">
            <a:avLst/>
          </a:prstGeom>
          <a:noFill/>
        </p:spPr>
        <p:txBody>
          <a:bodyPr wrap="square" lIns="0" rIns="0" tIns="0" bIns="0" anchor="t">
            <a:noAutofit/>
          </a:bodyPr>
          <a:lstStyle/>
          <a:p>
            <a:pPr algn="l">
              <a:lnSpc>
                <a:spcPts val="3079"/>
              </a:lnSpc>
            </a:pPr>
            <a:r>
              <a:rPr sz="2200" b="1" lang="ja-JP" altLang="en-US">
                <a:solidFill>
                  <a:srgbClr val="1748B7"/>
                </a:solidFill>
                <a:latin typeface="Noto Sans JP"/>
                <a:ea typeface="Noto Sans JP"/>
              </a:rPr>
              <a:t>系と熱浴を合わせ、全体を孤立させる</a:t>
            </a:r>
          </a:p>
        </p:txBody>
      </p:sp>
      <p:sp>
        <p:nvSpPr>
          <p:cNvPr id="6" name="TextBox 5"/>
          <p:cNvSpPr txBox="1"/>
          <p:nvPr/>
        </p:nvSpPr>
        <p:spPr>
          <a:xfrm>
            <a:off x="731520" y="1993392"/>
            <a:ext cx="5623560" cy="1170432"/>
          </a:xfrm>
          <a:prstGeom prst="rect">
            <a:avLst/>
          </a:prstGeom>
          <a:noFill/>
        </p:spPr>
        <p:txBody>
          <a:bodyPr wrap="square" lIns="0" rIns="0" tIns="0" bIns="0" anchor="t">
            <a:noAutofit/>
          </a:bodyPr>
          <a:lstStyle/>
          <a:p>
            <a:pPr algn="l">
              <a:lnSpc>
                <a:spcPts val="2660"/>
              </a:lnSpc>
            </a:pPr>
            <a:r>
              <a:rPr sz="1900" b="0" lang="ja-JP" altLang="en-US">
                <a:solidFill>
                  <a:srgbClr val="202020"/>
                </a:solidFill>
                <a:latin typeface="Noto Sans JP"/>
                <a:ea typeface="Noto Sans JP"/>
              </a:rPr>
              <a:t>小さな系Sと大きな熱浴Bを考える。全体のエネルギーは一定で、境界の相互作用エネルギーは小さいとする。系が受け取ったエネルギーを、熱浴は失う。</a:t>
            </a:r>
          </a:p>
        </p:txBody>
      </p:sp>
      <p:pic>
        <p:nvPicPr>
          <p:cNvPr id="7" name="Picture 6" descr="E_{\rm total}=E_S+E_B"/>
          <p:cNvPicPr>
            <a:picLocks noChangeAspect="1"/>
          </p:cNvPicPr>
          <p:nvPr/>
        </p:nvPicPr>
        <p:blipFill>
          <a:blip r:embed="rId8"/>
          <a:stretch>
            <a:fillRect/>
          </a:stretch>
        </p:blipFill>
        <p:spPr>
          <a:xfrm>
            <a:off x="777240" y="3401568"/>
            <a:ext cx="1975104" cy="265176"/>
          </a:xfrm>
          <a:prstGeom prst="rect">
            <a:avLst/>
          </a:prstGeom>
        </p:spPr>
      </p:pic>
      <p:sp>
        <p:nvSpPr>
          <p:cNvPr id="8" name="Rectangle 7"/>
          <p:cNvSpPr/>
          <p:nvPr/>
        </p:nvSpPr>
        <p:spPr>
          <a:xfrm>
            <a:off x="868680" y="4114800"/>
            <a:ext cx="5349240" cy="1810512"/>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4279392"/>
            <a:ext cx="2633472" cy="420624"/>
          </a:xfrm>
          <a:prstGeom prst="rect">
            <a:avLst/>
          </a:prstGeom>
          <a:noFill/>
        </p:spPr>
        <p:txBody>
          <a:bodyPr wrap="square" lIns="0" rIns="0" tIns="0" bIns="0" anchor="t">
            <a:noAutofit/>
          </a:bodyPr>
          <a:lstStyle/>
          <a:p>
            <a:pPr algn="l">
              <a:lnSpc>
                <a:spcPts val="2520"/>
              </a:lnSpc>
            </a:pPr>
            <a:r>
              <a:rPr sz="1800" b="1" lang="ja-JP" altLang="en-US">
                <a:solidFill>
                  <a:srgbClr val="1748B7"/>
                </a:solidFill>
                <a:latin typeface="Noto Sans JP"/>
                <a:ea typeface="Noto Sans JP"/>
              </a:rPr>
              <a:t>大きな熱浴 B：温度 T</a:t>
            </a:r>
          </a:p>
        </p:txBody>
      </p:sp>
      <p:sp>
        <p:nvSpPr>
          <p:cNvPr id="10" name="Rectangle 9"/>
          <p:cNvSpPr/>
          <p:nvPr/>
        </p:nvSpPr>
        <p:spPr>
          <a:xfrm>
            <a:off x="1060704" y="4434840"/>
            <a:ext cx="1517904"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4590288"/>
            <a:ext cx="1243584" cy="704088"/>
          </a:xfrm>
          <a:prstGeom prst="rect">
            <a:avLst/>
          </a:prstGeom>
          <a:noFill/>
        </p:spPr>
        <p:txBody>
          <a:bodyPr wrap="square" lIns="0" rIns="0" tIns="0" bIns="0" anchor="t">
            <a:noAutofit/>
          </a:bodyPr>
          <a:lstStyle/>
          <a:p>
            <a:pPr algn="l">
              <a:lnSpc>
                <a:spcPts val="2240"/>
              </a:lnSpc>
            </a:pPr>
            <a:r>
              <a:rPr sz="1600" b="0" lang="ja-JP" altLang="en-US">
                <a:solidFill>
                  <a:srgbClr val="202020"/>
                </a:solidFill>
                <a:latin typeface="Noto Sans JP"/>
                <a:ea typeface="Noto Sans JP"/>
              </a:rPr>
              <a:t>小さな系 S</a:t>
            </a:r>
          </a:p>
          <a:p>
            <a:pPr algn="l">
              <a:lnSpc>
                <a:spcPts val="2240"/>
              </a:lnSpc>
            </a:pPr>
            <a:r>
              <a:rPr sz="1600" b="0" lang="ja-JP" altLang="en-US">
                <a:solidFill>
                  <a:srgbClr val="202020"/>
                </a:solidFill>
                <a:latin typeface="Noto Sans JP"/>
                <a:ea typeface="Noto Sans JP"/>
              </a:rPr>
              <a:t>ES</a:t>
            </a:r>
          </a:p>
        </p:txBody>
      </p:sp>
      <p:sp>
        <p:nvSpPr>
          <p:cNvPr id="12" name="TextBox 11"/>
          <p:cNvSpPr txBox="1"/>
          <p:nvPr/>
        </p:nvSpPr>
        <p:spPr>
          <a:xfrm>
            <a:off x="2816352" y="4956048"/>
            <a:ext cx="3108960" cy="539496"/>
          </a:xfrm>
          <a:prstGeom prst="rect">
            <a:avLst/>
          </a:prstGeom>
          <a:noFill/>
        </p:spPr>
        <p:txBody>
          <a:bodyPr wrap="square" lIns="0" rIns="0" tIns="0" bIns="0" anchor="t">
            <a:noAutofit/>
          </a:bodyPr>
          <a:lstStyle/>
          <a:p>
            <a:pPr algn="l">
              <a:lnSpc>
                <a:spcPts val="2379"/>
              </a:lnSpc>
            </a:pPr>
            <a:r>
              <a:rPr sz="1700" b="0" lang="ja-JP" altLang="en-US">
                <a:solidFill>
                  <a:srgbClr val="1748B7"/>
                </a:solidFill>
                <a:latin typeface="Noto Sans JP"/>
                <a:ea typeface="Noto Sans JP"/>
              </a:rPr>
              <a:t>← 熱のやり取り →</a:t>
            </a:r>
          </a:p>
        </p:txBody>
      </p:sp>
      <p:sp>
        <p:nvSpPr>
          <p:cNvPr id="13" name="TextBox 12"/>
          <p:cNvSpPr txBox="1"/>
          <p:nvPr/>
        </p:nvSpPr>
        <p:spPr>
          <a:xfrm>
            <a:off x="6675120" y="1435608"/>
            <a:ext cx="4892040" cy="411480"/>
          </a:xfrm>
          <a:prstGeom prst="rect">
            <a:avLst/>
          </a:prstGeom>
          <a:noFill/>
        </p:spPr>
        <p:txBody>
          <a:bodyPr wrap="square" lIns="0" rIns="0" tIns="0" bIns="0" anchor="t">
            <a:noAutofit/>
          </a:bodyPr>
          <a:lstStyle/>
          <a:p>
            <a:pPr algn="l">
              <a:lnSpc>
                <a:spcPts val="2940"/>
              </a:lnSpc>
            </a:pPr>
            <a:r>
              <a:rPr sz="2100" b="1" lang="ja-JP" altLang="en-US">
                <a:solidFill>
                  <a:srgbClr val="1748B7"/>
                </a:solidFill>
                <a:latin typeface="Noto Sans JP"/>
                <a:ea typeface="Noto Sans JP"/>
              </a:rPr>
              <a:t>組にできる熱浴の状態数で重みが決まる</a:t>
            </a:r>
          </a:p>
        </p:txBody>
      </p:sp>
      <p:sp>
        <p:nvSpPr>
          <p:cNvPr id="14" name="TextBox 13"/>
          <p:cNvSpPr txBox="1"/>
          <p:nvPr/>
        </p:nvSpPr>
        <p:spPr>
          <a:xfrm>
            <a:off x="6675120" y="1993392"/>
            <a:ext cx="4892040" cy="1143000"/>
          </a:xfrm>
          <a:prstGeom prst="rect">
            <a:avLst/>
          </a:prstGeom>
          <a:noFill/>
        </p:spPr>
        <p:txBody>
          <a:bodyPr wrap="square" lIns="0" rIns="0" tIns="0" bIns="0" anchor="t">
            <a:noAutofit/>
          </a:bodyPr>
          <a:lstStyle/>
          <a:p>
            <a:pPr algn="l">
              <a:lnSpc>
                <a:spcPts val="2660"/>
              </a:lnSpc>
            </a:pPr>
            <a:r>
              <a:rPr sz="1900" b="0" lang="ja-JP" altLang="en-US">
                <a:solidFill>
                  <a:srgbClr val="202020"/>
                </a:solidFill>
                <a:latin typeface="Noto Sans JP"/>
                <a:ea typeface="Noto Sans JP"/>
              </a:rPr>
              <a:t>全体の許された微視的状態を等確率とする。独立な部分の状態数は掛け算。Aが2通り、Bが3通りなら、全体は6通りになる。</a:t>
            </a:r>
          </a:p>
        </p:txBody>
      </p:sp>
      <p:pic>
        <p:nvPicPr>
          <p:cNvPr id="15" name="Picture 14" descr="\Omega_{AB}=\Omega_A\Omega_B"/>
          <p:cNvPicPr>
            <a:picLocks noChangeAspect="1"/>
          </p:cNvPicPr>
          <p:nvPr/>
        </p:nvPicPr>
        <p:blipFill>
          <a:blip r:embed="rId9"/>
          <a:stretch>
            <a:fillRect/>
          </a:stretch>
        </p:blipFill>
        <p:spPr>
          <a:xfrm>
            <a:off x="6720840" y="3319272"/>
            <a:ext cx="1658112" cy="268224"/>
          </a:xfrm>
          <a:prstGeom prst="rect">
            <a:avLst/>
          </a:prstGeom>
        </p:spPr>
      </p:pic>
      <p:pic>
        <p:nvPicPr>
          <p:cNvPr id="16" name="Picture 15" descr="p_i\propto\Omega_B(E_{\rm total}-E_i)"/>
          <p:cNvPicPr>
            <a:picLocks noChangeAspect="1"/>
          </p:cNvPicPr>
          <p:nvPr/>
        </p:nvPicPr>
        <p:blipFill>
          <a:blip r:embed="rId10"/>
          <a:stretch>
            <a:fillRect/>
          </a:stretch>
        </p:blipFill>
        <p:spPr>
          <a:xfrm>
            <a:off x="6720840" y="4032504"/>
            <a:ext cx="2429256" cy="289560"/>
          </a:xfrm>
          <a:prstGeom prst="rect">
            <a:avLst/>
          </a:prstGeom>
        </p:spPr>
      </p:pic>
      <p:sp>
        <p:nvSpPr>
          <p:cNvPr id="17" name="TextBox 16"/>
          <p:cNvSpPr txBox="1"/>
          <p:nvPr/>
        </p:nvSpPr>
        <p:spPr>
          <a:xfrm>
            <a:off x="6675120" y="4882896"/>
            <a:ext cx="4892040" cy="941832"/>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iは系の一つの微視的状態。熱浴の状態数ΩBが多いほど、そのiも現れやすい。同じエネルギーの状態群とは区別する。</a:t>
            </a:r>
          </a:p>
        </p:txBody>
      </p:sp>
      <p:sp>
        <p:nvSpPr>
          <p:cNvPr id="18" name="TextBox 17"/>
          <p:cNvSpPr txBox="1"/>
          <p:nvPr/>
        </p:nvSpPr>
        <p:spPr>
          <a:xfrm>
            <a:off x="640080" y="6281928"/>
            <a:ext cx="10424160" cy="237744"/>
          </a:xfrm>
          <a:prstGeom prst="rect">
            <a:avLst/>
          </a:prstGeom>
          <a:noFill/>
        </p:spPr>
        <p:txBody>
          <a:bodyPr wrap="square" lIns="0" rIns="0" tIns="0" bIns="0" anchor="t">
            <a:noAutofit/>
          </a:bodyPr>
          <a:lstStyle/>
          <a:p>
            <a:pPr algn="l">
              <a:lnSpc>
                <a:spcPts val="1260"/>
              </a:lnSpc>
            </a:pPr>
            <a:r>
              <a:rPr sz="900" b="0" lang="ja-JP" altLang="en-US">
                <a:solidFill>
                  <a:srgbClr val="666666"/>
                </a:solidFill>
                <a:latin typeface="Noto Sans JP"/>
                <a:ea typeface="Noto Sans JP"/>
              </a:rPr>
              <a:t>説明：D. Tong, Statistical Physics, §1–2。図は既存MD理論教材の熱浴模型を再図示。</a:t>
            </a:r>
          </a:p>
        </p:txBody>
      </p:sp>
      <p:sp>
        <p:nvSpPr>
          <p:cNvPr id="19" name="TextBox 1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熱浴の状態数から、系の確率を求める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eatbath.png"/>
          <p:cNvPicPr>
            <a:picLocks noChangeAspect="1"/>
          </p:cNvPicPr>
          <p:nvPr/>
        </p:nvPicPr>
        <p:blipFill>
          <a:blip r:embed="rId3"/>
          <a:stretch>
            <a:fillRect/>
          </a:stretch>
        </p:blipFill>
        <p:spPr>
          <a:xfrm>
            <a:off x="7824826" y="1508760"/>
            <a:ext cx="2866947"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系がエネルギーEを持つと、熱浴に残るエネルギーは全体からEを引いた値。</a:t>
            </a:r>
          </a:p>
          <a:p>
            <a:pPr>
              <a:lnSpc>
                <a:spcPts val="2940"/>
              </a:lnSpc>
              <a:spcAft>
                <a:spcPts val="800"/>
              </a:spcAft>
            </a:pPr>
            <a:r>
              <a:rPr sz="2100" i="0" b="0" lang="ja-JP" altLang="en-US">
                <a:latin typeface="Noto Sans JP"/>
                <a:solidFill>
                  <a:srgbClr val="333333"/>
                </a:solidFill>
              </a:rPr>
              <a:t>実現できる熱浴の状態が多いほど、その系の状態も現れやすい。</a:t>
            </a:r>
          </a:p>
          <a:p>
            <a:pPr>
              <a:lnSpc>
                <a:spcPts val="2940"/>
              </a:lnSpc>
              <a:spcAft>
                <a:spcPts val="800"/>
              </a:spcAft>
            </a:pPr>
            <a:r>
              <a:rPr sz="2100" i="0" b="0" lang="ja-JP" altLang="en-US">
                <a:latin typeface="Noto Sans JP"/>
                <a:solidFill>
                  <a:srgbClr val="333333"/>
                </a:solidFill>
              </a:rPr>
              <a:t>大きな熱浴では温度がほぼ一定。エントロピーを一次で展開すると指数重みが得られる。</a:t>
            </a:r>
          </a:p>
          <a:p>
            <a:pPr>
              <a:lnSpc>
                <a:spcPts val="2940"/>
              </a:lnSpc>
              <a:spcAft>
                <a:spcPts val="800"/>
              </a:spcAft>
            </a:pPr>
            <a:r>
              <a:rPr sz="2100" i="0" b="0" lang="ja-JP" altLang="en-US">
                <a:latin typeface="Noto Sans JP"/>
                <a:solidFill>
                  <a:srgbClr val="333333"/>
                </a:solidFill>
              </a:rPr>
              <a:t>詳しい途中式は付録に残す。</a:t>
            </a:r>
          </a:p>
        </p:txBody>
      </p:sp>
      <p:pic>
        <p:nvPicPr>
          <p:cNvPr id="8" name="Picture 7" descr="eq.png"/>
          <p:cNvPicPr>
            <a:picLocks noChangeAspect="1"/>
          </p:cNvPicPr>
          <p:nvPr/>
        </p:nvPicPr>
        <p:blipFill>
          <a:blip r:embed="rId4"/>
          <a:stretch>
            <a:fillRect/>
          </a:stretch>
        </p:blipFill>
        <p:spPr>
          <a:xfrm>
            <a:off x="777240" y="5577840"/>
            <a:ext cx="3742944" cy="332232"/>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ボルツマン重みを足して、確率へ直す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ights.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0"/>
              </a:spcAft>
            </a:pPr>
            <a:r>
              <a:rPr sz="2100" i="0" b="0" lang="ja-JP" altLang="en-US">
                <a:latin typeface="Noto Sans JP"/>
                <a:solidFill>
                  <a:srgbClr val="333333"/>
                </a:solidFill>
              </a:rPr>
              <a:t>エネルギー差ΔEを、熱エネルギーkBTと比べる。ΔE/(kBT)が大きいほど、高い側の相対的な重みは小さくなる。</a:t>
            </a:r>
          </a:p>
          <a:p>
            <a:pPr>
              <a:lnSpc>
                <a:spcPts val="2940"/>
              </a:lnSpc>
              <a:spcAft>
                <a:spcPts val="0"/>
              </a:spcAft>
            </a:pPr>
            <a:r>
              <a:rPr sz="2100" i="0" b="0" lang="ja-JP" altLang="en-US">
                <a:latin typeface="Noto Sans JP"/>
                <a:solidFill>
                  <a:srgbClr val="333333"/>
                </a:solidFill>
              </a:rPr>
              <a:t>すべての状態の重みを足したZで割ると、確率の和は1になる。</a:t>
            </a:r>
          </a:p>
          <a:p>
            <a:pPr>
              <a:lnSpc>
                <a:spcPts val="2940"/>
              </a:lnSpc>
              <a:spcAft>
                <a:spcPts val="0"/>
              </a:spcAft>
            </a:pPr>
            <a:r>
              <a:rPr sz="2100" i="0" b="0" lang="ja-JP" altLang="en-US">
                <a:latin typeface="Noto Sans JP"/>
                <a:solidFill>
                  <a:srgbClr val="333333"/>
                </a:solidFill>
              </a:rPr>
              <a:t>βは熱エネルギーの逆数。モル単位のエネルギーではkBの代わりに気体定数Rを使う。</a:t>
            </a:r>
          </a:p>
          <a:p>
            <a:pPr>
              <a:lnSpc>
                <a:spcPts val="2940"/>
              </a:lnSpc>
              <a:spcAft>
                <a:spcPts val="0"/>
              </a:spcAft>
            </a:pPr>
            <a:r>
              <a:rPr sz="2100" i="0" b="0" lang="ja-JP" altLang="en-US">
                <a:latin typeface="Noto Sans JP"/>
                <a:solidFill>
                  <a:srgbClr val="333333"/>
                </a:solidFill>
              </a:rPr>
              <a:t>すべてのエネルギーに同じ定数を足しても確率は変わらない。</a:t>
            </a:r>
          </a:p>
        </p:txBody>
      </p:sp>
      <p:pic>
        <p:nvPicPr>
          <p:cNvPr id="8" name="Picture 7" descr="eq.png"/>
          <p:cNvPicPr>
            <a:picLocks noChangeAspect="1"/>
          </p:cNvPicPr>
          <p:nvPr/>
        </p:nvPicPr>
        <p:blipFill>
          <a:blip r:embed="rId4"/>
          <a:stretch>
            <a:fillRect/>
          </a:stretch>
        </p:blipFill>
        <p:spPr>
          <a:xfrm>
            <a:off x="777240" y="5577840"/>
            <a:ext cx="5263896" cy="838200"/>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 name="図 2">
            <a:extLst>
              <a:ext uri="{FF2B5EF4-FFF2-40B4-BE49-F238E27FC236}">
                <a16:creationId xmlns:a16="http://schemas.microsoft.com/office/drawing/2014/main" id="{44EA4EDE-E731-4B42-BFD9-55ABBBF3EEFD}"/>
              </a:ext>
            </a:extLst>
          </p:cNvPr>
          <p:cNvPicPr>
            <a:picLocks noChangeAspect="1"/>
          </p:cNvPicPr>
          <p:nvPr/>
        </p:nvPicPr>
        <p:blipFill>
          <a:blip r:embed="rId2"/>
          <a:stretch>
            <a:fillRect/>
          </a:stretch>
        </p:blipFill>
        <p:spPr>
          <a:xfrm>
            <a:off x="0" y="2401486"/>
            <a:ext cx="12191694" cy="2429874"/>
          </a:xfrm>
          <a:prstGeom prst="rect">
            <a:avLst/>
          </a:prstGeom>
        </p:spPr>
      </p:pic>
      <p:sp>
        <p:nvSpPr>
          <p:cNvPr id="5" name="タイトル 3">
            <a:extLst>
              <a:ext uri="{FF2B5EF4-FFF2-40B4-BE49-F238E27FC236}">
                <a16:creationId xmlns:a16="http://schemas.microsoft.com/office/drawing/2014/main" id="{12DBC482-B860-604B-B481-447FABB6CAA7}"/>
              </a:ext>
            </a:extLst>
          </p:cNvPr>
          <p:cNvSpPr txBox="1">
            <a:spLocks/>
          </p:cNvSpPr>
          <p:nvPr/>
        </p:nvSpPr>
        <p:spPr>
          <a:xfrm>
            <a:off x="442988" y="261474"/>
            <a:ext cx="11491668" cy="1633675"/>
          </a:xfrm>
          <a:prstGeom prst="rect">
            <a:avLst/>
          </a:prstGeom>
        </p:spPr>
        <p:txBody>
          <a:bodyPr wrap="square">
            <a:noAutofit/>
          </a:bodyPr>
          <a:lstStyle>
            <a:lvl1pPr algn="ctr" defTabSz="457200" rtl="0" eaLnBrk="1" latinLnBrk="0" hangingPunct="1">
              <a:spcBef>
                <a:spcPct val="0"/>
              </a:spcBef>
              <a:buNone/>
              <a:defRPr kumimoji="1" sz="4400" kern="1200" lang="ja-JP" altLang="en-US">
                <a:solidFill>
                  <a:schemeClr val="tx1"/>
                </a:solidFill>
                <a:latin typeface="+mj-lt"/>
                <a:ea typeface="+mj-ea"/>
                <a:cs typeface="+mj-cs"/>
              </a:defRPr>
            </a:lvl1pPr>
          </a:lstStyle>
          <a:p>
            <a:pPr>
              <a:lnSpc>
                <a:spcPts val="3779"/>
              </a:lnSpc>
              <a:spcAft>
                <a:spcPts val="0"/>
              </a:spcAft>
            </a:pPr>
            <a:r>
              <a:rPr sz="2700" i="0" b="1" lang="ja-JP" altLang="en-US">
                <a:latin typeface="Noto Sans JP"/>
              </a:rPr>
              <a:t>同じ温度で、エネルギー準位の間隔を比べる</a:t>
            </a:r>
          </a:p>
        </p:txBody>
      </p:sp>
      <p:sp>
        <p:nvSpPr>
          <p:cNvPr id="6" name="正方形/長方形 5">
            <a:extLst>
              <a:ext uri="{FF2B5EF4-FFF2-40B4-BE49-F238E27FC236}">
                <a16:creationId xmlns:a16="http://schemas.microsoft.com/office/drawing/2014/main" id="{2E2C1A3C-F570-C841-9BB2-A4560EAA4822}"/>
              </a:ext>
            </a:extLst>
          </p:cNvPr>
          <p:cNvSpPr/>
          <p:nvPr/>
        </p:nvSpPr>
        <p:spPr>
          <a:xfrm>
            <a:off x="198145" y="4831360"/>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正方形/長方形 6">
            <a:extLst>
              <a:ext uri="{FF2B5EF4-FFF2-40B4-BE49-F238E27FC236}">
                <a16:creationId xmlns:a16="http://schemas.microsoft.com/office/drawing/2014/main" id="{E470E276-2315-3541-9B8B-B0FD80B44BB2}"/>
              </a:ext>
            </a:extLst>
          </p:cNvPr>
          <p:cNvSpPr/>
          <p:nvPr/>
        </p:nvSpPr>
        <p:spPr>
          <a:xfrm>
            <a:off x="759660" y="5518542"/>
            <a:ext cx="10971105" cy="400110"/>
          </a:xfrm>
          <a:prstGeom prst="rect">
            <a:avLst/>
          </a:prstGeom>
        </p:spPr>
        <p:txBody>
          <a:bodyPr wrap="none">
            <a:spAutoFit/>
          </a:bodyPr>
          <a:lstStyle/>
          <a:p>
            <a:r>
              <a:rPr lang="ja-JP" altLang="en-US" sz="2000"/>
              <a:t>同じ温度で、個々の微視的状態の確率比はエネルギー差で決まる。群の確率には状態数も効く。</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4" name="図 3">
            <a:extLst>
              <a:ext uri="{FF2B5EF4-FFF2-40B4-BE49-F238E27FC236}">
                <a16:creationId xmlns:a16="http://schemas.microsoft.com/office/drawing/2014/main" id="{1722F089-292F-2948-AC8C-F1B925DEBBFD}"/>
              </a:ext>
            </a:extLst>
          </p:cNvPr>
          <p:cNvPicPr>
            <a:picLocks noChangeAspect="1"/>
          </p:cNvPicPr>
          <p:nvPr/>
        </p:nvPicPr>
        <p:blipFill>
          <a:blip r:embed="rId2"/>
          <a:stretch>
            <a:fillRect/>
          </a:stretch>
        </p:blipFill>
        <p:spPr>
          <a:xfrm>
            <a:off x="0" y="2373507"/>
            <a:ext cx="12191694" cy="2270014"/>
          </a:xfrm>
          <a:prstGeom prst="rect">
            <a:avLst/>
          </a:prstGeom>
        </p:spPr>
      </p:pic>
      <p:sp>
        <p:nvSpPr>
          <p:cNvPr id="5" name="タイトル 3">
            <a:extLst>
              <a:ext uri="{FF2B5EF4-FFF2-40B4-BE49-F238E27FC236}">
                <a16:creationId xmlns:a16="http://schemas.microsoft.com/office/drawing/2014/main" id="{434BED4B-5BC4-8747-85D5-CB0A3C2FB927}"/>
              </a:ext>
            </a:extLst>
          </p:cNvPr>
          <p:cNvSpPr txBox="1">
            <a:spLocks/>
          </p:cNvSpPr>
          <p:nvPr/>
        </p:nvSpPr>
        <p:spPr>
          <a:xfrm>
            <a:off x="442988" y="585207"/>
            <a:ext cx="11491668" cy="1243594"/>
          </a:xfrm>
          <a:prstGeom prst="rect">
            <a:avLst/>
          </a:prstGeom>
        </p:spPr>
        <p:txBody>
          <a:bodyPr wrap="square">
            <a:noAutofit/>
          </a:bodyPr>
          <a:lstStyle>
            <a:lvl1pPr algn="ctr" defTabSz="457200" rtl="0" eaLnBrk="1" latinLnBrk="0" hangingPunct="1">
              <a:spcBef>
                <a:spcPct val="0"/>
              </a:spcBef>
              <a:buNone/>
              <a:defRPr kumimoji="1" sz="4400" kern="1200" lang="ja-JP" altLang="en-US">
                <a:solidFill>
                  <a:schemeClr val="tx1"/>
                </a:solidFill>
                <a:latin typeface="+mj-lt"/>
                <a:ea typeface="+mj-ea"/>
                <a:cs typeface="+mj-cs"/>
              </a:defRPr>
            </a:lvl1pPr>
          </a:lstStyle>
          <a:p>
            <a:pPr>
              <a:lnSpc>
                <a:spcPts val="3779"/>
              </a:lnSpc>
              <a:spcAft>
                <a:spcPts val="0"/>
              </a:spcAft>
            </a:pPr>
            <a:r>
              <a:rPr sz="2700" i="0" b="1" lang="ja-JP" altLang="en-US">
                <a:latin typeface="Noto Sans JP"/>
              </a:rPr>
              <a:t>温度を上げると、高いエネルギーの重みが増す</a:t>
            </a:r>
          </a:p>
        </p:txBody>
      </p:sp>
      <p:sp>
        <p:nvSpPr>
          <p:cNvPr id="6" name="正方形/長方形 5">
            <a:extLst>
              <a:ext uri="{FF2B5EF4-FFF2-40B4-BE49-F238E27FC236}">
                <a16:creationId xmlns:a16="http://schemas.microsoft.com/office/drawing/2014/main" id="{7E09BF13-F596-C048-9DEF-3F5F3F9B0924}"/>
              </a:ext>
            </a:extLst>
          </p:cNvPr>
          <p:cNvSpPr/>
          <p:nvPr/>
        </p:nvSpPr>
        <p:spPr>
          <a:xfrm>
            <a:off x="258725" y="4643521"/>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正方形/長方形 6">
            <a:extLst>
              <a:ext uri="{FF2B5EF4-FFF2-40B4-BE49-F238E27FC236}">
                <a16:creationId xmlns:a16="http://schemas.microsoft.com/office/drawing/2014/main" id="{95F0B4DB-4142-0746-BA47-C33B80E81114}"/>
              </a:ext>
            </a:extLst>
          </p:cNvPr>
          <p:cNvSpPr/>
          <p:nvPr/>
        </p:nvSpPr>
        <p:spPr>
          <a:xfrm>
            <a:off x="1452051" y="5336798"/>
            <a:ext cx="8679936" cy="400110"/>
          </a:xfrm>
          <a:prstGeom prst="rect">
            <a:avLst/>
          </a:prstGeom>
        </p:spPr>
        <p:txBody>
          <a:bodyPr wrap="square">
            <a:spAutoFit/>
          </a:bodyPr>
          <a:lstStyle/>
          <a:p>
            <a:pPr>
              <a:lnSpc>
                <a:spcPts val="2379"/>
              </a:lnSpc>
              <a:spcAft>
                <a:spcPts val="0"/>
              </a:spcAft>
            </a:pPr>
            <a:r>
              <a:rPr sz="1700" i="0" lang="ja-JP" altLang="en-US">
                <a:latin typeface="Noto Sans JP"/>
              </a:rPr>
              <a:t>温度を上げると、高いエネルギーの状態も現れやすくなる。</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 name="図 2">
            <a:extLst>
              <a:ext uri="{FF2B5EF4-FFF2-40B4-BE49-F238E27FC236}">
                <a16:creationId xmlns:a16="http://schemas.microsoft.com/office/drawing/2014/main" id="{025EA1A7-A6A8-7C47-AB25-C5B873E91E63}"/>
              </a:ext>
            </a:extLst>
          </p:cNvPr>
          <p:cNvPicPr>
            <a:picLocks noChangeAspect="1"/>
          </p:cNvPicPr>
          <p:nvPr/>
        </p:nvPicPr>
        <p:blipFill>
          <a:blip r:embed="rId2"/>
          <a:stretch>
            <a:fillRect/>
          </a:stretch>
        </p:blipFill>
        <p:spPr>
          <a:xfrm>
            <a:off x="1399746" y="1658002"/>
            <a:ext cx="9690754" cy="4243988"/>
          </a:xfrm>
          <a:prstGeom prst="rect">
            <a:avLst/>
          </a:prstGeom>
        </p:spPr>
      </p:pic>
      <p:sp>
        <p:nvSpPr>
          <p:cNvPr id="4" name="タイトル 3">
            <a:extLst>
              <a:ext uri="{FF2B5EF4-FFF2-40B4-BE49-F238E27FC236}">
                <a16:creationId xmlns:a16="http://schemas.microsoft.com/office/drawing/2014/main" id="{D15150D5-FEA0-894D-BE15-AB5257DE6B3A}"/>
              </a:ext>
            </a:extLst>
          </p:cNvPr>
          <p:cNvSpPr txBox="1">
            <a:spLocks/>
          </p:cNvSpPr>
          <p:nvPr/>
        </p:nvSpPr>
        <p:spPr>
          <a:xfrm>
            <a:off x="442988" y="136525"/>
            <a:ext cx="11491668" cy="1243594"/>
          </a:xfrm>
          <a:prstGeom prst="rect">
            <a:avLst/>
          </a:prstGeom>
        </p:spPr>
        <p:txBody>
          <a:bodyPr wrap="square">
            <a:noAutofit/>
          </a:bodyPr>
          <a:lstStyle>
            <a:lvl1pPr algn="ctr" defTabSz="457200" rtl="0" eaLnBrk="1" latinLnBrk="0" hangingPunct="1">
              <a:spcBef>
                <a:spcPct val="0"/>
              </a:spcBef>
              <a:buNone/>
              <a:defRPr kumimoji="1" sz="4400" kern="1200" lang="ja-JP" altLang="en-US">
                <a:solidFill>
                  <a:schemeClr val="tx1"/>
                </a:solidFill>
                <a:latin typeface="+mj-lt"/>
                <a:ea typeface="+mj-ea"/>
                <a:cs typeface="+mj-cs"/>
              </a:defRPr>
            </a:lvl1pPr>
          </a:lstStyle>
          <a:p>
            <a:pPr>
              <a:lnSpc>
                <a:spcPts val="3779"/>
              </a:lnSpc>
              <a:spcAft>
                <a:spcPts val="0"/>
              </a:spcAft>
            </a:pPr>
            <a:r>
              <a:rPr sz="2700" i="0" b="1" lang="ja-JP" altLang="en-US">
                <a:latin typeface="Noto Sans JP"/>
              </a:rPr>
              <a:t>折り畳みと温度：二状態の模型</a:t>
            </a:r>
          </a:p>
        </p:txBody>
      </p:sp>
      <p:sp>
        <p:nvSpPr>
          <p:cNvPr id="5" name="正方形/長方形 4">
            <a:extLst>
              <a:ext uri="{FF2B5EF4-FFF2-40B4-BE49-F238E27FC236}">
                <a16:creationId xmlns:a16="http://schemas.microsoft.com/office/drawing/2014/main" id="{13A32213-1D6C-3446-BA3D-34A9F674EC1A}"/>
              </a:ext>
            </a:extLst>
          </p:cNvPr>
          <p:cNvSpPr/>
          <p:nvPr/>
        </p:nvSpPr>
        <p:spPr>
          <a:xfrm>
            <a:off x="1051285" y="5956240"/>
            <a:ext cx="9972994" cy="400110"/>
          </a:xfrm>
          <a:prstGeom prst="rect">
            <a:avLst/>
          </a:prstGeom>
        </p:spPr>
        <p:txBody>
          <a:bodyPr wrap="square">
            <a:spAutoFit/>
          </a:bodyPr>
          <a:lstStyle/>
          <a:p>
            <a:pPr>
              <a:lnSpc>
                <a:spcPts val="2379"/>
              </a:lnSpc>
              <a:spcAft>
                <a:spcPts val="0"/>
              </a:spcAft>
            </a:pPr>
            <a:r>
              <a:rPr sz="1700" i="0" lang="ja-JP" altLang="en-US">
                <a:latin typeface="Noto Sans JP"/>
              </a:rPr>
              <a:t>この二状態の模型では、高温でほどけた群の割合が増える。</a:t>
            </a:r>
          </a:p>
        </p:txBody>
      </p:sp>
      <p:sp>
        <p:nvSpPr>
          <p:cNvPr id="6" name="正方形/長方形 5">
            <a:extLst>
              <a:ext uri="{FF2B5EF4-FFF2-40B4-BE49-F238E27FC236}">
                <a16:creationId xmlns:a16="http://schemas.microsoft.com/office/drawing/2014/main" id="{29F90BD1-C067-B14F-BE68-617EC7FDC18A}"/>
              </a:ext>
            </a:extLst>
          </p:cNvPr>
          <p:cNvSpPr/>
          <p:nvPr/>
        </p:nvSpPr>
        <p:spPr>
          <a:xfrm>
            <a:off x="7785771" y="1288670"/>
            <a:ext cx="3172871" cy="338554"/>
          </a:xfrm>
          <a:prstGeom prst="rect">
            <a:avLst/>
          </a:prstGeom>
        </p:spPr>
        <p:txBody>
          <a:bodyPr wrap="square">
            <a:spAutoFit/>
          </a:bodyPr>
          <a:lstStyle/>
          <a:p>
            <a:r>
              <a:rPr lang="ja-JP" altLang="en-US" sz="800" dirty="0"/>
              <a:t>J. </a:t>
            </a:r>
            <a:r>
              <a:rPr lang="ja-JP" altLang="en-US" sz="800" dirty="0" err="1"/>
              <a:t>Kuriyan</a:t>
            </a:r>
            <a:r>
              <a:rPr lang="ja-JP" altLang="en-US" sz="800" dirty="0"/>
              <a:t>, B. </a:t>
            </a:r>
            <a:r>
              <a:rPr lang="ja-JP" altLang="en-US" sz="800" dirty="0" err="1"/>
              <a:t>Konforti</a:t>
            </a:r>
            <a:r>
              <a:rPr lang="ja-JP" altLang="en-US" sz="800" dirty="0"/>
              <a:t>, and D. </a:t>
            </a:r>
            <a:r>
              <a:rPr lang="ja-JP" altLang="en-US" sz="800" dirty="0" err="1"/>
              <a:t>Wemmer</a:t>
            </a:r>
            <a:r>
              <a:rPr lang="ja-JP" altLang="en-US" sz="800" dirty="0"/>
              <a:t>, </a:t>
            </a:r>
            <a:br>
              <a:rPr lang="ja-JP" altLang="en-US" sz="800" dirty="0"/>
            </a:br>
            <a:r>
              <a:rPr lang="ja-JP" altLang="en-US" sz="800" dirty="0"/>
              <a:t>“</a:t>
            </a:r>
            <a:r>
              <a:rPr lang="ja-JP" altLang="en-US" sz="800" i="1" dirty="0"/>
              <a:t>The molecules of life” </a:t>
            </a:r>
            <a:r>
              <a:rPr lang="ja-JP" altLang="en-US" sz="800" dirty="0"/>
              <a:t> (Garland Science 2012)</a:t>
            </a:r>
            <a:endParaRPr lang="ja-JP" altLang="en-US" sz="800" dirty="0">
              <a:effectLst/>
            </a:endParaRPr>
          </a:p>
        </p:txBody>
      </p:sp>
      <p:sp>
        <p:nvSpPr>
          <p:cNvPr id="7" name="TextBox 6"/>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室温の熱エネルギーと、確率比を計算する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モル単位のエネルギーなら、熱エネルギーはRTで表す。</a:t>
            </a:r>
          </a:p>
          <a:p>
            <a:pPr>
              <a:lnSpc>
                <a:spcPts val="2940"/>
              </a:lnSpc>
              <a:spcAft>
                <a:spcPts val="800"/>
              </a:spcAft>
            </a:pPr>
            <a:r>
              <a:rPr sz="2100" i="0" b="0" lang="ja-JP" altLang="en-US">
                <a:latin typeface="Noto Sans JP"/>
                <a:solidFill>
                  <a:srgbClr val="333333"/>
                </a:solidFill>
              </a:rPr>
              <a:t>R=8.314 J mol⁻¹ K⁻¹、T=300 Kより、RT≈2.49 kJ/mol。</a:t>
            </a:r>
          </a:p>
          <a:p>
            <a:pPr>
              <a:lnSpc>
                <a:spcPts val="2940"/>
              </a:lnSpc>
              <a:spcAft>
                <a:spcPts val="800"/>
              </a:spcAft>
            </a:pPr>
            <a:r>
              <a:rPr sz="2100" i="0" b="0" lang="ja-JP" altLang="en-US">
                <a:latin typeface="Noto Sans JP"/>
                <a:solidFill>
                  <a:srgbClr val="333333"/>
                </a:solidFill>
              </a:rPr>
              <a:t>二つの状態の差が5.0 kJ/molなら、高い側と低い側の確率比は約0.135。</a:t>
            </a:r>
          </a:p>
          <a:p>
            <a:pPr>
              <a:lnSpc>
                <a:spcPts val="2940"/>
              </a:lnSpc>
              <a:spcAft>
                <a:spcPts val="800"/>
              </a:spcAft>
            </a:pPr>
            <a:r>
              <a:rPr sz="2100" i="0" b="0" lang="ja-JP" altLang="en-US">
                <a:latin typeface="Noto Sans JP"/>
                <a:solidFill>
                  <a:srgbClr val="333333"/>
                </a:solidFill>
              </a:rPr>
              <a:t>各状態が一つずつなら、高い側の確率は約11.9%。確率比と確率そのものを区別する。</a:t>
            </a:r>
          </a:p>
        </p:txBody>
      </p:sp>
      <p:pic>
        <p:nvPicPr>
          <p:cNvPr id="10" name="Picture 9" descr="two_states.png"/>
          <p:cNvPicPr>
            <a:picLocks noChangeAspect="1"/>
          </p:cNvPicPr>
          <p:nvPr/>
        </p:nvPicPr>
        <p:blipFill>
          <a:blip r:embed="rId5"/>
          <a:stretch>
            <a:fillRect/>
          </a:stretch>
        </p:blipFill>
        <p:spPr>
          <a:xfrm>
            <a:off x="6858000" y="1927842"/>
            <a:ext cx="4709160" cy="3596674"/>
          </a:xfrm>
          <a:prstGeom prst="rect">
            <a:avLst/>
          </a:prstGeom>
        </p:spPr>
      </p:pic>
      <p:pic>
        <p:nvPicPr>
          <p:cNvPr id="11" name="Picture 10" descr="P_B/P_A=e^{-5000/(8.314\times300)}\simeq0.135"/>
          <p:cNvPicPr>
            <a:picLocks noChangeAspect="1"/>
          </p:cNvPicPr>
          <p:nvPr/>
        </p:nvPicPr>
        <p:blipFill>
          <a:blip r:embed="rId6"/>
          <a:stretch>
            <a:fillRect/>
          </a:stretch>
        </p:blipFill>
        <p:spPr>
          <a:xfrm>
            <a:off x="777240" y="4919472"/>
            <a:ext cx="4169663" cy="335280"/>
          </a:xfrm>
          <a:prstGeom prst="rect">
            <a:avLst/>
          </a:prstGeom>
        </p:spPr>
      </p:pic>
      <p:pic>
        <p:nvPicPr>
          <p:cNvPr id="12" name="Picture 11" descr="P_B=\frac{0.135}{1+0.135}\simeq0.119"/>
          <p:cNvPicPr>
            <a:picLocks noChangeAspect="1"/>
          </p:cNvPicPr>
          <p:nvPr/>
        </p:nvPicPr>
        <p:blipFill>
          <a:blip r:embed="rId7"/>
          <a:stretch>
            <a:fillRect/>
          </a:stretch>
        </p:blipFill>
        <p:spPr>
          <a:xfrm>
            <a:off x="777240" y="5605272"/>
            <a:ext cx="2968752" cy="600456"/>
          </a:xfrm>
          <a:prstGeom prst="rect">
            <a:avLst/>
          </a:prstGeom>
        </p:spPr>
      </p:pic>
      <p:sp>
        <p:nvSpPr>
          <p:cNvPr id="13" name="TextBox 12"/>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温度は、エネルギー差の効き方を変える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9.png"/>
          <p:cNvPicPr>
            <a:picLocks noChangeAspect="1"/>
          </p:cNvPicPr>
          <p:nvPr/>
        </p:nvPicPr>
        <p:blipFill>
          <a:blip r:embed="rId3"/>
          <a:stretch>
            <a:fillRect/>
          </a:stretch>
        </p:blipFill>
        <p:spPr>
          <a:xfrm>
            <a:off x="6949440" y="1508760"/>
            <a:ext cx="4617720" cy="409418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低温：同じエネルギー差でも確率比は小さくなり、低エネルギー側が優勢。</a:t>
            </a:r>
          </a:p>
          <a:p>
            <a:pPr>
              <a:lnSpc>
                <a:spcPts val="2940"/>
              </a:lnSpc>
              <a:spcAft>
                <a:spcPts val="800"/>
              </a:spcAft>
            </a:pPr>
            <a:r>
              <a:rPr sz="2100" i="0" b="0" lang="ja-JP" altLang="en-US">
                <a:latin typeface="Noto Sans JP"/>
                <a:solidFill>
                  <a:srgbClr val="333333"/>
                </a:solidFill>
              </a:rPr>
              <a:t>高温：差の影響が弱まり、多くの状態が現れる。</a:t>
            </a:r>
          </a:p>
          <a:p>
            <a:pPr>
              <a:lnSpc>
                <a:spcPts val="2940"/>
              </a:lnSpc>
              <a:spcAft>
                <a:spcPts val="800"/>
              </a:spcAft>
            </a:pPr>
            <a:r>
              <a:rPr sz="2100" i="0" b="0" lang="ja-JP" altLang="en-US">
                <a:latin typeface="Noto Sans JP"/>
                <a:solidFill>
                  <a:srgbClr val="333333"/>
                </a:solidFill>
              </a:rPr>
              <a:t>温度の上昇は「すべて同じ構造になる」ことではない。</a:t>
            </a:r>
          </a:p>
          <a:p>
            <a:pPr>
              <a:lnSpc>
                <a:spcPts val="2940"/>
              </a:lnSpc>
              <a:spcAft>
                <a:spcPts val="800"/>
              </a:spcAft>
            </a:pPr>
            <a:r>
              <a:rPr sz="2100" i="0" b="0" lang="ja-JP" altLang="en-US">
                <a:latin typeface="Noto Sans JP"/>
                <a:solidFill>
                  <a:srgbClr val="333333"/>
                </a:solidFill>
              </a:rPr>
              <a:t>同じ状態数なら高温で確率が近づく。群の状態数が違えば群の確率は等しくならない。</a:t>
            </a:r>
          </a:p>
        </p:txBody>
      </p:sp>
      <p:pic>
        <p:nvPicPr>
          <p:cNvPr id="8" name="Picture 7" descr="eq.png"/>
          <p:cNvPicPr>
            <a:picLocks noChangeAspect="1"/>
          </p:cNvPicPr>
          <p:nvPr/>
        </p:nvPicPr>
        <p:blipFill>
          <a:blip r:embed="rId4"/>
          <a:stretch>
            <a:fillRect/>
          </a:stretch>
        </p:blipFill>
        <p:spPr>
          <a:xfrm>
            <a:off x="777240" y="5577840"/>
            <a:ext cx="4888992" cy="682752"/>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状態数が8倍なら、重みも8個分ある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states.png"/>
          <p:cNvPicPr>
            <a:picLocks noChangeAspect="1"/>
          </p:cNvPicPr>
          <p:nvPr/>
        </p:nvPicPr>
        <p:blipFill>
          <a:blip r:embed="rId3"/>
          <a:stretch>
            <a:fillRect/>
          </a:stretch>
        </p:blipFill>
        <p:spPr>
          <a:xfrm>
            <a:off x="6949440" y="1508760"/>
            <a:ext cx="4617720" cy="3717065"/>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群A：エネルギー0、状態数1。</a:t>
            </a:r>
          </a:p>
          <a:p>
            <a:pPr>
              <a:lnSpc>
                <a:spcPts val="2940"/>
              </a:lnSpc>
              <a:spcAft>
                <a:spcPts val="800"/>
              </a:spcAft>
            </a:pPr>
            <a:r>
              <a:rPr sz="2100" i="0" b="0" lang="ja-JP" altLang="en-US">
                <a:latin typeface="Noto Sans JP"/>
                <a:solidFill>
                  <a:srgbClr val="333333"/>
                </a:solidFill>
              </a:rPr>
              <a:t>群B：エネルギー2、状態数8。</a:t>
            </a:r>
          </a:p>
          <a:p>
            <a:pPr>
              <a:lnSpc>
                <a:spcPts val="2940"/>
              </a:lnSpc>
              <a:spcAft>
                <a:spcPts val="800"/>
              </a:spcAft>
            </a:pPr>
            <a:r>
              <a:rPr sz="2100" i="0" b="0" lang="ja-JP" altLang="en-US">
                <a:latin typeface="Noto Sans JP"/>
                <a:solidFill>
                  <a:srgbClr val="333333"/>
                </a:solidFill>
              </a:rPr>
              <a:t>kBT=1なら、BとAの確率比は8e⁻²≈1.083。</a:t>
            </a:r>
          </a:p>
          <a:p>
            <a:pPr>
              <a:lnSpc>
                <a:spcPts val="2940"/>
              </a:lnSpc>
              <a:spcAft>
                <a:spcPts val="800"/>
              </a:spcAft>
            </a:pPr>
            <a:r>
              <a:rPr sz="2100" i="0" b="0" lang="ja-JP" altLang="en-US">
                <a:latin typeface="Noto Sans JP"/>
                <a:solidFill>
                  <a:srgbClr val="333333"/>
                </a:solidFill>
              </a:rPr>
              <a:t>各状態はBの方が不利でも、群としてはBが約52%を占める。</a:t>
            </a:r>
          </a:p>
          <a:p>
            <a:pPr>
              <a:lnSpc>
                <a:spcPts val="2940"/>
              </a:lnSpc>
              <a:spcAft>
                <a:spcPts val="800"/>
              </a:spcAft>
            </a:pPr>
            <a:r>
              <a:rPr sz="2100" i="0" b="0" lang="ja-JP" altLang="en-US">
                <a:latin typeface="Noto Sans JP"/>
                <a:solidFill>
                  <a:srgbClr val="333333"/>
                </a:solidFill>
              </a:rPr>
              <a:t>これは縮退を持つ二群の模型で、実際のタンパク質の定量モデルではない。</a:t>
            </a:r>
          </a:p>
        </p:txBody>
      </p:sp>
      <p:pic>
        <p:nvPicPr>
          <p:cNvPr id="8" name="Picture 7" descr="eq.png"/>
          <p:cNvPicPr>
            <a:picLocks noChangeAspect="1"/>
          </p:cNvPicPr>
          <p:nvPr/>
        </p:nvPicPr>
        <p:blipFill>
          <a:blip r:embed="rId4"/>
          <a:stretch>
            <a:fillRect/>
          </a:stretch>
        </p:blipFill>
        <p:spPr>
          <a:xfrm>
            <a:off x="777240" y="5577840"/>
            <a:ext cx="2785872" cy="673608"/>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エントロピーは、状態の多さを数える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entropy.png"/>
          <p:cNvPicPr>
            <a:picLocks noChangeAspect="1"/>
          </p:cNvPicPr>
          <p:nvPr/>
        </p:nvPicPr>
        <p:blipFill>
          <a:blip r:embed="rId3"/>
          <a:stretch>
            <a:fillRect/>
          </a:stretch>
        </p:blipFill>
        <p:spPr>
          <a:xfrm>
            <a:off x="6949440" y="1508760"/>
            <a:ext cx="4617720" cy="4126473"/>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同じエネルギーを持つg個の状態が等確率なら、S=kB ln g。</a:t>
            </a:r>
          </a:p>
          <a:p>
            <a:pPr>
              <a:lnSpc>
                <a:spcPts val="2940"/>
              </a:lnSpc>
              <a:spcAft>
                <a:spcPts val="800"/>
              </a:spcAft>
            </a:pPr>
            <a:r>
              <a:rPr sz="2100" i="0" b="0" lang="ja-JP" altLang="en-US">
                <a:latin typeface="Noto Sans JP"/>
                <a:solidFill>
                  <a:srgbClr val="333333"/>
                </a:solidFill>
              </a:rPr>
              <a:t>独立な系の状態数は掛け算になるため、対数でエントロピーは足し算になる。</a:t>
            </a:r>
          </a:p>
          <a:p>
            <a:pPr>
              <a:lnSpc>
                <a:spcPts val="2940"/>
              </a:lnSpc>
              <a:spcAft>
                <a:spcPts val="800"/>
              </a:spcAft>
            </a:pPr>
            <a:r>
              <a:rPr sz="2100" i="0" b="0" lang="ja-JP" altLang="en-US">
                <a:latin typeface="Noto Sans JP"/>
                <a:solidFill>
                  <a:srgbClr val="333333"/>
                </a:solidFill>
              </a:rPr>
              <a:t>一般の確率分布では、各状態の確率を重みにして平均する。</a:t>
            </a:r>
          </a:p>
          <a:p>
            <a:pPr>
              <a:lnSpc>
                <a:spcPts val="2940"/>
              </a:lnSpc>
              <a:spcAft>
                <a:spcPts val="800"/>
              </a:spcAft>
            </a:pPr>
            <a:r>
              <a:rPr sz="2100" i="0" b="0" lang="ja-JP" altLang="en-US">
                <a:latin typeface="Noto Sans JP"/>
                <a:solidFill>
                  <a:srgbClr val="333333"/>
                </a:solidFill>
              </a:rPr>
              <a:t>構造の見た目の複雑さとは別の定義。何を状態と数えるかを明確にする。</a:t>
            </a:r>
          </a:p>
        </p:txBody>
      </p:sp>
      <p:pic>
        <p:nvPicPr>
          <p:cNvPr id="8" name="Picture 7" descr="eq.png"/>
          <p:cNvPicPr>
            <a:picLocks noChangeAspect="1"/>
          </p:cNvPicPr>
          <p:nvPr/>
        </p:nvPicPr>
        <p:blipFill>
          <a:blip r:embed="rId4"/>
          <a:stretch>
            <a:fillRect/>
          </a:stretch>
        </p:blipFill>
        <p:spPr>
          <a:xfrm>
            <a:off x="777240" y="5577840"/>
            <a:ext cx="6047232" cy="621792"/>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自由エネルギーは、エネルギーと状態数を合わせる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freeenergy.png"/>
          <p:cNvPicPr>
            <a:picLocks noChangeAspect="1"/>
          </p:cNvPicPr>
          <p:nvPr/>
        </p:nvPicPr>
        <p:blipFill>
          <a:blip r:embed="rId3"/>
          <a:stretch>
            <a:fillRect/>
          </a:stretch>
        </p:blipFill>
        <p:spPr>
          <a:xfrm>
            <a:off x="6949440" y="1508760"/>
            <a:ext cx="4617720" cy="3965946"/>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0"/>
              </a:spcAft>
            </a:pPr>
            <a:r>
              <a:rPr sz="2100" i="0" b="0" lang="ja-JP" altLang="en-US">
                <a:latin typeface="Noto Sans JP"/>
                <a:solidFill>
                  <a:srgbClr val="333333"/>
                </a:solidFill>
              </a:rPr>
              <a:t>Helmholtz自由エネルギーはF=〈E〉−TS。群内が等エネルギーなら〈E〉=Eとなる。</a:t>
            </a:r>
          </a:p>
          <a:p>
            <a:pPr>
              <a:lnSpc>
                <a:spcPts val="2940"/>
              </a:lnSpc>
              <a:spcAft>
                <a:spcPts val="0"/>
              </a:spcAft>
            </a:pPr>
            <a:r>
              <a:rPr sz="2100" i="0" b="0" lang="ja-JP" altLang="en-US">
                <a:latin typeface="Noto Sans JP"/>
                <a:solidFill>
                  <a:srgbClr val="333333"/>
                </a:solidFill>
              </a:rPr>
              <a:t>群Bの状態数が多いほど、−TSの項がBを有利にする。</a:t>
            </a:r>
          </a:p>
          <a:p>
            <a:pPr>
              <a:lnSpc>
                <a:spcPts val="2940"/>
              </a:lnSpc>
              <a:spcAft>
                <a:spcPts val="0"/>
              </a:spcAft>
            </a:pPr>
            <a:r>
              <a:rPr sz="2100" i="0" b="0" lang="ja-JP" altLang="en-US">
                <a:latin typeface="Noto Sans JP"/>
                <a:solidFill>
                  <a:srgbClr val="333333"/>
                </a:solidFill>
              </a:rPr>
              <a:t>温度が変わると、同じエネルギー差でも優勢な群が入れ替わりうる。</a:t>
            </a:r>
          </a:p>
          <a:p>
            <a:pPr>
              <a:lnSpc>
                <a:spcPts val="2940"/>
              </a:lnSpc>
              <a:spcAft>
                <a:spcPts val="0"/>
              </a:spcAft>
            </a:pPr>
            <a:r>
              <a:rPr sz="2100" i="0" b="0" lang="ja-JP" altLang="en-US">
                <a:latin typeface="Noto Sans JP"/>
                <a:solidFill>
                  <a:srgbClr val="333333"/>
                </a:solidFill>
              </a:rPr>
              <a:t>ここでは温度・体積一定。圧力一定ではGibbs自由エネルギーを使う。</a:t>
            </a:r>
          </a:p>
        </p:txBody>
      </p:sp>
      <p:pic>
        <p:nvPicPr>
          <p:cNvPr id="8" name="Picture 7" descr="eq.png"/>
          <p:cNvPicPr>
            <a:picLocks noChangeAspect="1"/>
          </p:cNvPicPr>
          <p:nvPr/>
        </p:nvPicPr>
        <p:blipFill>
          <a:blip r:embed="rId4"/>
          <a:stretch>
            <a:fillRect/>
          </a:stretch>
        </p:blipFill>
        <p:spPr>
          <a:xfrm>
            <a:off x="777240" y="5577840"/>
            <a:ext cx="6166104" cy="335280"/>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256032"/>
            <a:ext cx="10972800" cy="274320"/>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熱平衡と確率分布</a:t>
            </a:r>
          </a:p>
        </p:txBody>
      </p:sp>
      <p:sp>
        <p:nvSpPr>
          <p:cNvPr id="3" name="TextBox 2"/>
          <p:cNvSpPr txBox="1"/>
          <p:nvPr/>
        </p:nvSpPr>
        <p:spPr>
          <a:xfrm>
            <a:off x="612648" y="576072"/>
            <a:ext cx="10972800" cy="585216"/>
          </a:xfrm>
          <a:prstGeom prst="rect">
            <a:avLst/>
          </a:prstGeom>
          <a:noFill/>
        </p:spPr>
        <p:txBody>
          <a:bodyPr wrap="square" lIns="0" rIns="0" tIns="0" bIns="0" anchor="t">
            <a:noAutofit/>
          </a:bodyPr>
          <a:lstStyle/>
          <a:p>
            <a:pPr algn="l">
              <a:lnSpc>
                <a:spcPts val="4059"/>
              </a:lnSpc>
            </a:pPr>
            <a:r>
              <a:rPr sz="2900" b="1" lang="ja-JP" altLang="en-US">
                <a:solidFill>
                  <a:srgbClr val="202020"/>
                </a:solidFill>
                <a:latin typeface="Noto Sans JP"/>
                <a:ea typeface="Noto Sans JP"/>
              </a:rPr>
              <a:t>構造群の確率比から、自由エネルギー差を求める</a:t>
            </a:r>
          </a:p>
        </p:txBody>
      </p:sp>
      <p:sp>
        <p:nvSpPr>
          <p:cNvPr id="4" name="Rectangle 3"/>
          <p:cNvSpPr/>
          <p:nvPr/>
        </p:nvSpPr>
        <p:spPr>
          <a:xfrm>
            <a:off x="612648" y="1207008"/>
            <a:ext cx="10972800" cy="12801"/>
          </a:xfrm>
          <a:prstGeom prst="rect">
            <a:avLst/>
          </a:prstGeom>
          <a:solidFill>
            <a:srgbClr val="1748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5897880" cy="960120"/>
          </a:xfrm>
          <a:prstGeom prst="rect">
            <a:avLst/>
          </a:prstGeom>
          <a:noFill/>
        </p:spPr>
        <p:txBody>
          <a:bodyPr wrap="square" lIns="0" rIns="0" tIns="0" bIns="0" anchor="t">
            <a:noAutofit/>
          </a:bodyPr>
          <a:lstStyle/>
          <a:p>
            <a:pPr algn="l">
              <a:lnSpc>
                <a:spcPts val="2940"/>
              </a:lnSpc>
            </a:pPr>
            <a:r>
              <a:rPr sz="2100" b="0" lang="ja-JP" altLang="en-US">
                <a:solidFill>
                  <a:srgbClr val="202020"/>
                </a:solidFill>
                <a:latin typeface="Noto Sans JP"/>
                <a:ea typeface="Noto Sans JP"/>
              </a:rPr>
              <a:t>群AとBについて、属する状態の重みをそれぞれ足す。状態の数と各状態のエネルギーが、両方とも確率に反映される。</a:t>
            </a:r>
          </a:p>
        </p:txBody>
      </p:sp>
      <p:pic>
        <p:nvPicPr>
          <p:cNvPr id="6" name="Picture 5" descr="Z_A=\sum_{i\in A}e^{-\beta E_i},\quad F_A=-k_BT\ln Z_A"/>
          <p:cNvPicPr>
            <a:picLocks noChangeAspect="1"/>
          </p:cNvPicPr>
          <p:nvPr/>
        </p:nvPicPr>
        <p:blipFill>
          <a:blip r:embed="rId9"/>
          <a:stretch>
            <a:fillRect/>
          </a:stretch>
        </p:blipFill>
        <p:spPr>
          <a:xfrm>
            <a:off x="777240" y="2688336"/>
            <a:ext cx="4355592" cy="624840"/>
          </a:xfrm>
          <a:prstGeom prst="rect">
            <a:avLst/>
          </a:prstGeom>
        </p:spPr>
      </p:pic>
      <p:pic>
        <p:nvPicPr>
          <p:cNvPr id="7" name="Picture 6" descr="F_B-F_A=-k_BT\ln\frac{Z_B}{Z_A}=-k_BT\ln\frac{P_B}{P_A}"/>
          <p:cNvPicPr>
            <a:picLocks noChangeAspect="1"/>
          </p:cNvPicPr>
          <p:nvPr/>
        </p:nvPicPr>
        <p:blipFill>
          <a:blip r:embed="rId10"/>
          <a:stretch>
            <a:fillRect/>
          </a:stretch>
        </p:blipFill>
        <p:spPr>
          <a:xfrm>
            <a:off x="777240" y="3703320"/>
            <a:ext cx="4715256" cy="670560"/>
          </a:xfrm>
          <a:prstGeom prst="rect">
            <a:avLst/>
          </a:prstGeom>
        </p:spPr>
      </p:pic>
      <p:sp>
        <p:nvSpPr>
          <p:cNvPr id="8" name="TextBox 7"/>
          <p:cNvSpPr txBox="1"/>
          <p:nvPr/>
        </p:nvSpPr>
        <p:spPr>
          <a:xfrm>
            <a:off x="731520" y="4800600"/>
            <a:ext cx="5852160" cy="1042415"/>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右の橙線は、Bの状態数が8倍の場合。個々の状態のエネルギーが高くても、温度が十分高ければBの群全体が優勢になる。</a:t>
            </a:r>
          </a:p>
          <a:p>
            <a:pPr algn="l">
              <a:lnSpc>
                <a:spcPts val="2520"/>
              </a:lnSpc>
            </a:pPr>
            <a:r>
              <a:rPr sz="1800" b="0" lang="ja-JP" altLang="en-US">
                <a:solidFill>
                  <a:srgbClr val="202020"/>
                </a:solidFill>
                <a:latin typeface="Noto Sans JP"/>
                <a:ea typeface="Noto Sans JP"/>
              </a:rPr>
              <a:t>座標の確率密度を比べる場合は、座標の数え方も揃える。</a:t>
            </a:r>
          </a:p>
        </p:txBody>
      </p:sp>
      <p:pic>
        <p:nvPicPr>
          <p:cNvPr id="9" name="Picture 8" descr="image.png"/>
          <p:cNvPicPr>
            <a:picLocks noChangeAspect="1"/>
          </p:cNvPicPr>
          <p:nvPr/>
        </p:nvPicPr>
        <p:blipFill>
          <a:blip r:embed="rId8"/>
          <a:stretch>
            <a:fillRect/>
          </a:stretch>
        </p:blipFill>
        <p:spPr>
          <a:xfrm>
            <a:off x="6903720" y="1590237"/>
            <a:ext cx="4663440" cy="4134724"/>
          </a:xfrm>
          <a:prstGeom prst="rect">
            <a:avLst/>
          </a:prstGeom>
        </p:spPr>
      </p:pic>
      <p:sp>
        <p:nvSpPr>
          <p:cNvPr id="10" name="TextBox 9"/>
          <p:cNvSpPr txBox="1"/>
          <p:nvPr/>
        </p:nvSpPr>
        <p:spPr>
          <a:xfrm>
            <a:off x="640080" y="6281928"/>
            <a:ext cx="10424160" cy="237744"/>
          </a:xfrm>
          <a:prstGeom prst="rect">
            <a:avLst/>
          </a:prstGeom>
          <a:noFill/>
        </p:spPr>
        <p:txBody>
          <a:bodyPr wrap="square" lIns="0" rIns="0" tIns="0" bIns="0" anchor="t">
            <a:noAutofit/>
          </a:bodyPr>
          <a:lstStyle/>
          <a:p>
            <a:pPr algn="l">
              <a:lnSpc>
                <a:spcPts val="1260"/>
              </a:lnSpc>
            </a:pPr>
            <a:r>
              <a:rPr sz="900" b="0" lang="ja-JP" altLang="en-US">
                <a:solidFill>
                  <a:srgbClr val="666666"/>
                </a:solidFill>
                <a:latin typeface="Noto Sans JP"/>
                <a:ea typeface="Noto Sans JP"/>
              </a:rPr>
              <a:t>説明：D. Tong, Statistical Physics, §1–2。位置と運動量の分離は付録冒頭へ。</a:t>
            </a:r>
          </a:p>
        </p:txBody>
      </p:sp>
      <p:sp>
        <p:nvSpPr>
          <p:cNvPr id="11" name="TextBox 10"/>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一般の構造群では、群内の重みをすべて足す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ights.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各群に含まれる構造のエネルギーは、実際には同じとは限らない。</a:t>
            </a:r>
          </a:p>
          <a:p>
            <a:pPr>
              <a:lnSpc>
                <a:spcPts val="2940"/>
              </a:lnSpc>
              <a:spcAft>
                <a:spcPts val="800"/>
              </a:spcAft>
            </a:pPr>
            <a:r>
              <a:rPr sz="2100" i="0" b="0" lang="ja-JP" altLang="en-US">
                <a:latin typeface="Noto Sans JP"/>
                <a:solidFill>
                  <a:srgbClr val="333333"/>
                </a:solidFill>
              </a:rPr>
              <a:t>群Aの分配関数は、Aに属するすべての状態の指数重みの和。</a:t>
            </a:r>
          </a:p>
          <a:p>
            <a:pPr>
              <a:lnSpc>
                <a:spcPts val="2940"/>
              </a:lnSpc>
              <a:spcAft>
                <a:spcPts val="800"/>
              </a:spcAft>
            </a:pPr>
            <a:r>
              <a:rPr sz="2100" i="0" b="0" lang="ja-JP" altLang="en-US">
                <a:latin typeface="Noto Sans JP"/>
                <a:solidFill>
                  <a:srgbClr val="333333"/>
                </a:solidFill>
              </a:rPr>
              <a:t>群の自由エネルギー差は、群の確率比から定義できる。</a:t>
            </a:r>
          </a:p>
          <a:p>
            <a:pPr>
              <a:lnSpc>
                <a:spcPts val="2940"/>
              </a:lnSpc>
              <a:spcAft>
                <a:spcPts val="800"/>
              </a:spcAft>
            </a:pPr>
            <a:r>
              <a:rPr sz="2100" i="0" b="0" lang="ja-JP" altLang="en-US">
                <a:latin typeface="Noto Sans JP"/>
                <a:solidFill>
                  <a:srgbClr val="333333"/>
                </a:solidFill>
              </a:rPr>
              <a:t>確率密度を使うときは、座標の刻み幅や測度をそろえる。</a:t>
            </a:r>
          </a:p>
        </p:txBody>
      </p:sp>
      <p:pic>
        <p:nvPicPr>
          <p:cNvPr id="8" name="Picture 7" descr="eq.png"/>
          <p:cNvPicPr>
            <a:picLocks noChangeAspect="1"/>
          </p:cNvPicPr>
          <p:nvPr/>
        </p:nvPicPr>
        <p:blipFill>
          <a:blip r:embed="rId4"/>
          <a:stretch>
            <a:fillRect/>
          </a:stretch>
        </p:blipFill>
        <p:spPr>
          <a:xfrm>
            <a:off x="777240" y="5577840"/>
            <a:ext cx="7644383" cy="624840"/>
          </a:xfrm>
          <a:prstGeom prst="rect">
            <a:avLst/>
          </a:prstGeom>
        </p:spPr>
      </p:pic>
      <p:sp>
        <p:nvSpPr>
          <p:cNvPr id="9" name="TextBox 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4" name="タイトル 3">
            <a:extLst>
              <a:ext uri="{FF2B5EF4-FFF2-40B4-BE49-F238E27FC236}">
                <a16:creationId xmlns:a16="http://schemas.microsoft.com/office/drawing/2014/main" id="{D15150D5-FEA0-894D-BE15-AB5257DE6B3A}"/>
              </a:ext>
            </a:extLst>
          </p:cNvPr>
          <p:cNvSpPr txBox="1">
            <a:spLocks/>
          </p:cNvSpPr>
          <p:nvPr/>
        </p:nvSpPr>
        <p:spPr>
          <a:xfrm>
            <a:off x="442988" y="495676"/>
            <a:ext cx="11491668" cy="697785"/>
          </a:xfrm>
          <a:prstGeom prst="rect">
            <a:avLst/>
          </a:prstGeom>
        </p:spPr>
        <p:txBody>
          <a:bodyPr wrap="square">
            <a:noAutofit/>
          </a:bodyPr>
          <a:lstStyle>
            <a:lvl1pPr algn="ctr" defTabSz="457200" rtl="0" eaLnBrk="1" latinLnBrk="0" hangingPunct="1">
              <a:spcBef>
                <a:spcPct val="0"/>
              </a:spcBef>
              <a:buNone/>
              <a:defRPr kumimoji="1" sz="4400" kern="1200" lang="ja-JP" altLang="en-US">
                <a:solidFill>
                  <a:schemeClr val="tx1"/>
                </a:solidFill>
                <a:latin typeface="+mj-lt"/>
                <a:ea typeface="+mj-ea"/>
                <a:cs typeface="+mj-cs"/>
              </a:defRPr>
            </a:lvl1pPr>
          </a:lstStyle>
          <a:p>
            <a:pPr>
              <a:lnSpc>
                <a:spcPts val="3779"/>
              </a:lnSpc>
              <a:spcAft>
                <a:spcPts val="0"/>
              </a:spcAft>
            </a:pPr>
            <a:r>
              <a:rPr sz="2700" i="0" b="1" lang="ja-JP" altLang="en-US">
                <a:latin typeface="Noto Sans JP"/>
              </a:rPr>
              <a:t>ほどけた構造には、多くの微視的状態がある</a:t>
            </a:r>
          </a:p>
        </p:txBody>
      </p:sp>
      <p:cxnSp>
        <p:nvCxnSpPr>
          <p:cNvPr id="10" name="直線矢印コネクタ 9">
            <a:extLst>
              <a:ext uri="{FF2B5EF4-FFF2-40B4-BE49-F238E27FC236}">
                <a16:creationId xmlns:a16="http://schemas.microsoft.com/office/drawing/2014/main" id="{680BB2D1-28C1-5D40-8480-A8F63A703370}"/>
              </a:ext>
            </a:extLst>
          </p:cNvPr>
          <p:cNvCxnSpPr/>
          <p:nvPr/>
        </p:nvCxnSpPr>
        <p:spPr>
          <a:xfrm flipV="1">
            <a:off x="3367955" y="1828800"/>
            <a:ext cx="0" cy="3851910"/>
          </a:xfrm>
          <a:prstGeom prst="straightConnector1">
            <a:avLst/>
          </a:prstGeom>
          <a:ln w="5715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1" name="直線矢印コネクタ 10">
            <a:extLst>
              <a:ext uri="{FF2B5EF4-FFF2-40B4-BE49-F238E27FC236}">
                <a16:creationId xmlns:a16="http://schemas.microsoft.com/office/drawing/2014/main" id="{D484FAC5-458D-A34F-BEFA-762FAAD63386}"/>
              </a:ext>
            </a:extLst>
          </p:cNvPr>
          <p:cNvCxnSpPr>
            <a:cxnSpLocks/>
          </p:cNvCxnSpPr>
          <p:nvPr/>
        </p:nvCxnSpPr>
        <p:spPr>
          <a:xfrm>
            <a:off x="2839648" y="5273040"/>
            <a:ext cx="5831694" cy="0"/>
          </a:xfrm>
          <a:prstGeom prst="straightConnector1">
            <a:avLst/>
          </a:prstGeom>
          <a:ln w="5715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テキスト ボックス 13">
            <a:extLst>
              <a:ext uri="{FF2B5EF4-FFF2-40B4-BE49-F238E27FC236}">
                <a16:creationId xmlns:a16="http://schemas.microsoft.com/office/drawing/2014/main" id="{18904569-70C6-0043-B9F1-BD8E02392541}"/>
              </a:ext>
            </a:extLst>
          </p:cNvPr>
          <p:cNvSpPr txBox="1"/>
          <p:nvPr/>
        </p:nvSpPr>
        <p:spPr>
          <a:xfrm rot="16200000">
            <a:off x="997851" y="3267642"/>
            <a:ext cx="2488397" cy="646331"/>
          </a:xfrm>
          <a:prstGeom prst="rect">
            <a:avLst/>
          </a:prstGeom>
          <a:noFill/>
        </p:spPr>
        <p:txBody>
          <a:bodyPr wrap="none" rtlCol="0">
            <a:spAutoFit/>
          </a:bodyPr>
          <a:lstStyle/>
          <a:p>
            <a:r>
              <a:rPr kumimoji="1" lang="ja-JP" altLang="en-US" sz="3600" dirty="0"/>
              <a:t>energy </a:t>
            </a:r>
            <a:r>
              <a:rPr kumimoji="1" lang="ja-JP" altLang="en-US" sz="3600" i="1" dirty="0"/>
              <a:t>U</a:t>
            </a:r>
            <a:endParaRPr kumimoji="1" lang="ja-JP" altLang="en-US" sz="3600" i="1"/>
          </a:p>
        </p:txBody>
      </p:sp>
      <p:cxnSp>
        <p:nvCxnSpPr>
          <p:cNvPr id="16" name="直線コネクタ 15">
            <a:extLst>
              <a:ext uri="{FF2B5EF4-FFF2-40B4-BE49-F238E27FC236}">
                <a16:creationId xmlns:a16="http://schemas.microsoft.com/office/drawing/2014/main" id="{E455C8F2-6F08-DE46-A778-8C4CC2B2B7EC}"/>
              </a:ext>
            </a:extLst>
          </p:cNvPr>
          <p:cNvCxnSpPr/>
          <p:nvPr/>
        </p:nvCxnSpPr>
        <p:spPr>
          <a:xfrm>
            <a:off x="4419489" y="490347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EF9FB2EB-5953-474B-9BDF-9BBC046EA900}"/>
              </a:ext>
            </a:extLst>
          </p:cNvPr>
          <p:cNvCxnSpPr/>
          <p:nvPr/>
        </p:nvCxnSpPr>
        <p:spPr>
          <a:xfrm>
            <a:off x="4406789" y="477544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326F2CCE-51E3-3843-BEA2-7F8B4F218E70}"/>
              </a:ext>
            </a:extLst>
          </p:cNvPr>
          <p:cNvCxnSpPr/>
          <p:nvPr/>
        </p:nvCxnSpPr>
        <p:spPr>
          <a:xfrm>
            <a:off x="4406789" y="421307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692AAF69-0ADB-E84B-911C-AC2A9A6CFDA8}"/>
              </a:ext>
            </a:extLst>
          </p:cNvPr>
          <p:cNvCxnSpPr/>
          <p:nvPr/>
        </p:nvCxnSpPr>
        <p:spPr>
          <a:xfrm>
            <a:off x="4368690" y="3623912"/>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20" name="直線コネクタ 19">
            <a:extLst>
              <a:ext uri="{FF2B5EF4-FFF2-40B4-BE49-F238E27FC236}">
                <a16:creationId xmlns:a16="http://schemas.microsoft.com/office/drawing/2014/main" id="{59F3D0EA-8859-4C4A-A252-DA5487858421}"/>
              </a:ext>
            </a:extLst>
          </p:cNvPr>
          <p:cNvCxnSpPr/>
          <p:nvPr/>
        </p:nvCxnSpPr>
        <p:spPr>
          <a:xfrm>
            <a:off x="4368690" y="315691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CC3E6187-3622-6B4C-AB2F-947215226876}"/>
              </a:ext>
            </a:extLst>
          </p:cNvPr>
          <p:cNvCxnSpPr/>
          <p:nvPr/>
        </p:nvCxnSpPr>
        <p:spPr>
          <a:xfrm>
            <a:off x="4368690" y="304642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5687A045-9075-B649-8D8B-4E423B27B840}"/>
              </a:ext>
            </a:extLst>
          </p:cNvPr>
          <p:cNvCxnSpPr/>
          <p:nvPr/>
        </p:nvCxnSpPr>
        <p:spPr>
          <a:xfrm>
            <a:off x="4368690" y="293593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655D0B4C-DE09-7141-A99C-12C00DFA4CCF}"/>
              </a:ext>
            </a:extLst>
          </p:cNvPr>
          <p:cNvCxnSpPr/>
          <p:nvPr/>
        </p:nvCxnSpPr>
        <p:spPr>
          <a:xfrm>
            <a:off x="4368690" y="282544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189A8291-D1D5-1F42-8A96-4DB9DAF1A6A9}"/>
              </a:ext>
            </a:extLst>
          </p:cNvPr>
          <p:cNvCxnSpPr/>
          <p:nvPr/>
        </p:nvCxnSpPr>
        <p:spPr>
          <a:xfrm>
            <a:off x="4368690" y="271495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C9A81443-449D-7749-91C4-83E14823575F}"/>
              </a:ext>
            </a:extLst>
          </p:cNvPr>
          <p:cNvCxnSpPr/>
          <p:nvPr/>
        </p:nvCxnSpPr>
        <p:spPr>
          <a:xfrm>
            <a:off x="4368690" y="260446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79846CD0-9027-584A-BF3B-F60A4CD5F9E5}"/>
              </a:ext>
            </a:extLst>
          </p:cNvPr>
          <p:cNvCxnSpPr/>
          <p:nvPr/>
        </p:nvCxnSpPr>
        <p:spPr>
          <a:xfrm>
            <a:off x="4368690" y="249397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B0085823-AAA7-1A4B-AA25-DCB27DC995B4}"/>
              </a:ext>
            </a:extLst>
          </p:cNvPr>
          <p:cNvCxnSpPr/>
          <p:nvPr/>
        </p:nvCxnSpPr>
        <p:spPr>
          <a:xfrm>
            <a:off x="4368690" y="238348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EFE9809-87B3-D84A-B9CD-AC2C8AD9BA21}"/>
              </a:ext>
            </a:extLst>
          </p:cNvPr>
          <p:cNvCxnSpPr/>
          <p:nvPr/>
        </p:nvCxnSpPr>
        <p:spPr>
          <a:xfrm>
            <a:off x="4368690" y="2272990"/>
            <a:ext cx="2697412"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EB2B5A9E-86F3-004A-A68C-67A8568C3483}"/>
              </a:ext>
            </a:extLst>
          </p:cNvPr>
          <p:cNvSpPr txBox="1"/>
          <p:nvPr/>
        </p:nvSpPr>
        <p:spPr>
          <a:xfrm>
            <a:off x="7544012" y="2522785"/>
            <a:ext cx="4488382" cy="461665"/>
          </a:xfrm>
          <a:prstGeom prst="rect">
            <a:avLst/>
          </a:prstGeom>
          <a:noFill/>
        </p:spPr>
        <p:txBody>
          <a:bodyPr wrap="none" rtlCol="0">
            <a:spAutoFit/>
          </a:bodyPr>
          <a:lstStyle/>
          <a:p>
            <a:r>
              <a:rPr kumimoji="1" lang="ja-JP" altLang="en-US" sz="2400"/>
              <a:t>ほどけた状態</a:t>
            </a:r>
            <a:r>
              <a:rPr kumimoji="1" lang="ja-JP" altLang="en-US" sz="2400" dirty="0"/>
              <a:t> (Unfolded)</a:t>
            </a:r>
            <a:endParaRPr kumimoji="1" lang="ja-JP" altLang="en-US" sz="2400"/>
          </a:p>
        </p:txBody>
      </p:sp>
      <p:sp>
        <p:nvSpPr>
          <p:cNvPr id="38" name="テキスト ボックス 37">
            <a:extLst>
              <a:ext uri="{FF2B5EF4-FFF2-40B4-BE49-F238E27FC236}">
                <a16:creationId xmlns:a16="http://schemas.microsoft.com/office/drawing/2014/main" id="{51235A82-AF1D-E041-BAAE-EED468DE4CD0}"/>
              </a:ext>
            </a:extLst>
          </p:cNvPr>
          <p:cNvSpPr txBox="1"/>
          <p:nvPr/>
        </p:nvSpPr>
        <p:spPr>
          <a:xfrm>
            <a:off x="7544012" y="4613743"/>
            <a:ext cx="4540787" cy="461665"/>
          </a:xfrm>
          <a:prstGeom prst="rect">
            <a:avLst/>
          </a:prstGeom>
          <a:noFill/>
        </p:spPr>
        <p:txBody>
          <a:bodyPr wrap="none" rtlCol="0">
            <a:spAutoFit/>
          </a:bodyPr>
          <a:lstStyle/>
          <a:p>
            <a:r>
              <a:rPr kumimoji="1" lang="ja-JP" altLang="en-US" sz="2400"/>
              <a:t>折れ畳んだ状態</a:t>
            </a:r>
            <a:r>
              <a:rPr kumimoji="1" lang="ja-JP" altLang="en-US" sz="2400" dirty="0"/>
              <a:t> (Folded)</a:t>
            </a:r>
            <a:endParaRPr kumimoji="1" lang="ja-JP" altLang="en-US" sz="2400"/>
          </a:p>
        </p:txBody>
      </p:sp>
      <p:sp>
        <p:nvSpPr>
          <p:cNvPr id="39" name="右中かっこ 38">
            <a:extLst>
              <a:ext uri="{FF2B5EF4-FFF2-40B4-BE49-F238E27FC236}">
                <a16:creationId xmlns:a16="http://schemas.microsoft.com/office/drawing/2014/main" id="{F9300309-C660-9E4A-B266-DF34F1DE887D}"/>
              </a:ext>
            </a:extLst>
          </p:cNvPr>
          <p:cNvSpPr/>
          <p:nvPr/>
        </p:nvSpPr>
        <p:spPr>
          <a:xfrm>
            <a:off x="7116901" y="2114550"/>
            <a:ext cx="472428" cy="123444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40" name="右中かっこ 39">
            <a:extLst>
              <a:ext uri="{FF2B5EF4-FFF2-40B4-BE49-F238E27FC236}">
                <a16:creationId xmlns:a16="http://schemas.microsoft.com/office/drawing/2014/main" id="{A5731066-B275-CC48-8CFF-EBC3204F11E0}"/>
              </a:ext>
            </a:extLst>
          </p:cNvPr>
          <p:cNvSpPr/>
          <p:nvPr/>
        </p:nvSpPr>
        <p:spPr>
          <a:xfrm>
            <a:off x="7132141" y="4636485"/>
            <a:ext cx="472428" cy="41618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42" name="TextBox 41"/>
          <p:cNvSpPr txBox="1"/>
          <p:nvPr/>
        </p:nvSpPr>
        <p:spPr>
          <a:xfrm>
            <a:off x="731520" y="5879592"/>
            <a:ext cx="10881360" cy="484632"/>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各横線は一つの微視的状態。群の確率は、その群にある横線すべてのボルツマン重みの和。</a:t>
            </a:r>
          </a:p>
        </p:txBody>
      </p:sp>
      <p:sp>
        <p:nvSpPr>
          <p:cNvPr id="43" name="TextBox 42"/>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構造の安定性と、変化する速さを分ける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ll.png"/>
          <p:cNvPicPr>
            <a:picLocks noChangeAspect="1"/>
          </p:cNvPicPr>
          <p:nvPr/>
        </p:nvPicPr>
        <p:blipFill>
          <a:blip r:embed="rId3"/>
          <a:stretch>
            <a:fillRect/>
          </a:stretch>
        </p:blipFill>
        <p:spPr>
          <a:xfrm>
            <a:off x="6949440" y="1508760"/>
            <a:ext cx="4617720" cy="409827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谷の重みは、平衡での現れやすさを決める。</a:t>
            </a:r>
          </a:p>
          <a:p>
            <a:pPr>
              <a:lnSpc>
                <a:spcPts val="2940"/>
              </a:lnSpc>
              <a:spcAft>
                <a:spcPts val="800"/>
              </a:spcAft>
            </a:pPr>
            <a:r>
              <a:rPr sz="2100" i="0" b="0" lang="ja-JP" altLang="en-US">
                <a:latin typeface="Noto Sans JP"/>
                <a:solidFill>
                  <a:srgbClr val="333333"/>
                </a:solidFill>
              </a:rPr>
              <a:t>谷の間の障壁は、行き来のしにくさに関わる。</a:t>
            </a:r>
          </a:p>
          <a:p>
            <a:pPr>
              <a:lnSpc>
                <a:spcPts val="2940"/>
              </a:lnSpc>
              <a:spcAft>
                <a:spcPts val="800"/>
              </a:spcAft>
            </a:pPr>
            <a:r>
              <a:rPr sz="2100" i="0" b="0" lang="ja-JP" altLang="en-US">
                <a:latin typeface="Noto Sans JP"/>
                <a:solidFill>
                  <a:srgbClr val="333333"/>
                </a:solidFill>
              </a:rPr>
              <a:t>低い自由エネルギーの構造が、短い観測時間で必ず見つかるとは限らない。</a:t>
            </a:r>
          </a:p>
          <a:p>
            <a:pPr>
              <a:lnSpc>
                <a:spcPts val="2940"/>
              </a:lnSpc>
              <a:spcAft>
                <a:spcPts val="800"/>
              </a:spcAft>
            </a:pPr>
            <a:r>
              <a:rPr sz="2100" i="0" b="0" lang="ja-JP" altLang="en-US">
                <a:latin typeface="Noto Sans JP"/>
                <a:solidFill>
                  <a:srgbClr val="333333"/>
                </a:solidFill>
              </a:rPr>
              <a:t>次回は、分布を計算するための移動と受理の規則を学ぶ。</a:t>
            </a:r>
          </a:p>
        </p:txBody>
      </p:sp>
      <p:sp>
        <p:nvSpPr>
          <p:cNvPr id="9" name="TextBox 8"/>
          <p:cNvSpPr txBox="1"/>
          <p:nvPr/>
        </p:nvSpPr>
        <p:spPr>
          <a:xfrm>
            <a:off x="731520" y="4800600"/>
            <a:ext cx="5852160" cy="804672"/>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右はポテンシャルU(x)の模型。各谷の確率は、谷の深さだけでなく、その範囲のexp[−U/(kBT)]を積分して決める。</a:t>
            </a:r>
          </a:p>
        </p:txBody>
      </p:sp>
      <p:sp>
        <p:nvSpPr>
          <p:cNvPr id="10" name="TextBox 9"/>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予測構造・最小化・熱平衡は異なる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AIの予測：学習済みモデルから座標候補を得る。</a:t>
            </a:r>
          </a:p>
          <a:p>
            <a:pPr>
              <a:lnSpc>
                <a:spcPts val="2940"/>
              </a:lnSpc>
              <a:spcAft>
                <a:spcPts val="800"/>
              </a:spcAft>
            </a:pPr>
            <a:r>
              <a:rPr sz="2100" i="0" b="0" lang="ja-JP" altLang="en-US">
                <a:latin typeface="Noto Sans JP"/>
                <a:solidFill>
                  <a:srgbClr val="333333"/>
                </a:solidFill>
              </a:rPr>
              <a:t>エネルギー最小化：力を手掛かりに近くの極小へ進む。</a:t>
            </a:r>
          </a:p>
          <a:p>
            <a:pPr>
              <a:lnSpc>
                <a:spcPts val="2940"/>
              </a:lnSpc>
              <a:spcAft>
                <a:spcPts val="800"/>
              </a:spcAft>
            </a:pPr>
            <a:r>
              <a:rPr sz="2100" i="0" b="0" lang="ja-JP" altLang="en-US">
                <a:latin typeface="Noto Sans JP"/>
                <a:solidFill>
                  <a:srgbClr val="333333"/>
                </a:solidFill>
              </a:rPr>
              <a:t>熱平衡の標本化：温度に応じた重みで多くの構造を集める。</a:t>
            </a:r>
          </a:p>
          <a:p>
            <a:pPr>
              <a:lnSpc>
                <a:spcPts val="2940"/>
              </a:lnSpc>
              <a:spcAft>
                <a:spcPts val="800"/>
              </a:spcAft>
            </a:pPr>
            <a:r>
              <a:rPr sz="2100" i="0" b="0" lang="ja-JP" altLang="en-US">
                <a:latin typeface="Noto Sans JP"/>
                <a:solidFill>
                  <a:srgbClr val="333333"/>
                </a:solidFill>
              </a:rPr>
              <a:t>pLDDT、ポテンシャルエネルギー、自由エネルギーを同じ指標として比較しない。</a:t>
            </a:r>
          </a:p>
        </p:txBody>
      </p:sp>
      <p:sp>
        <p:nvSpPr>
          <p:cNvPr id="9" name="Rectangle 8"/>
          <p:cNvSpPr/>
          <p:nvPr/>
        </p:nvSpPr>
        <p:spPr>
          <a:xfrm>
            <a:off x="6995160" y="1645920"/>
            <a:ext cx="4434840" cy="1014984"/>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746504"/>
            <a:ext cx="4069080" cy="301752"/>
          </a:xfrm>
          <a:prstGeom prst="rect">
            <a:avLst/>
          </a:prstGeom>
          <a:noFill/>
        </p:spPr>
        <p:txBody>
          <a:bodyPr wrap="square" lIns="0" rIns="0" tIns="0" bIns="0" anchor="t">
            <a:noAutofit/>
          </a:bodyPr>
          <a:lstStyle/>
          <a:p>
            <a:pPr algn="l">
              <a:lnSpc>
                <a:spcPts val="2660"/>
              </a:lnSpc>
            </a:pPr>
            <a:r>
              <a:rPr sz="1900" b="1" lang="ja-JP" altLang="en-US">
                <a:solidFill>
                  <a:srgbClr val="1748B7"/>
                </a:solidFill>
                <a:latin typeface="Noto Sans JP"/>
                <a:ea typeface="Noto Sans JP"/>
              </a:rPr>
              <a:t>構造予測</a:t>
            </a:r>
          </a:p>
        </p:txBody>
      </p:sp>
      <p:sp>
        <p:nvSpPr>
          <p:cNvPr id="11" name="TextBox 10"/>
          <p:cNvSpPr txBox="1"/>
          <p:nvPr/>
        </p:nvSpPr>
        <p:spPr>
          <a:xfrm>
            <a:off x="7178040" y="2194560"/>
            <a:ext cx="4069080" cy="411480"/>
          </a:xfrm>
          <a:prstGeom prst="rect">
            <a:avLst/>
          </a:prstGeom>
          <a:noFill/>
        </p:spPr>
        <p:txBody>
          <a:bodyPr wrap="square" lIns="0" rIns="0" tIns="0" bIns="0" anchor="t">
            <a:noAutofit/>
          </a:bodyPr>
          <a:lstStyle/>
          <a:p>
            <a:pPr algn="l">
              <a:lnSpc>
                <a:spcPts val="2240"/>
              </a:lnSpc>
            </a:pPr>
            <a:r>
              <a:rPr sz="1600" b="0" lang="ja-JP" altLang="en-US">
                <a:solidFill>
                  <a:srgbClr val="202020"/>
                </a:solidFill>
                <a:latin typeface="Noto Sans JP"/>
                <a:ea typeface="Noto Sans JP"/>
              </a:rPr>
              <a:t>入力条件 → 学習済みモデル → 座標候補</a:t>
            </a:r>
          </a:p>
        </p:txBody>
      </p:sp>
      <p:sp>
        <p:nvSpPr>
          <p:cNvPr id="12" name="Rectangle 11"/>
          <p:cNvSpPr/>
          <p:nvPr/>
        </p:nvSpPr>
        <p:spPr>
          <a:xfrm>
            <a:off x="6995160" y="2971800"/>
            <a:ext cx="4434840" cy="1014984"/>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3072384"/>
            <a:ext cx="4069080" cy="301752"/>
          </a:xfrm>
          <a:prstGeom prst="rect">
            <a:avLst/>
          </a:prstGeom>
          <a:noFill/>
        </p:spPr>
        <p:txBody>
          <a:bodyPr wrap="square" lIns="0" rIns="0" tIns="0" bIns="0" anchor="t">
            <a:noAutofit/>
          </a:bodyPr>
          <a:lstStyle/>
          <a:p>
            <a:pPr algn="l">
              <a:lnSpc>
                <a:spcPts val="2660"/>
              </a:lnSpc>
            </a:pPr>
            <a:r>
              <a:rPr sz="1900" b="1" lang="ja-JP" altLang="en-US">
                <a:solidFill>
                  <a:srgbClr val="1748B7"/>
                </a:solidFill>
                <a:latin typeface="Noto Sans JP"/>
                <a:ea typeface="Noto Sans JP"/>
              </a:rPr>
              <a:t>エネルギー最小化</a:t>
            </a:r>
          </a:p>
        </p:txBody>
      </p:sp>
      <p:sp>
        <p:nvSpPr>
          <p:cNvPr id="14" name="TextBox 13"/>
          <p:cNvSpPr txBox="1"/>
          <p:nvPr/>
        </p:nvSpPr>
        <p:spPr>
          <a:xfrm>
            <a:off x="7178040" y="3520440"/>
            <a:ext cx="4069080" cy="411480"/>
          </a:xfrm>
          <a:prstGeom prst="rect">
            <a:avLst/>
          </a:prstGeom>
          <a:noFill/>
        </p:spPr>
        <p:txBody>
          <a:bodyPr wrap="square" lIns="0" rIns="0" tIns="0" bIns="0" anchor="t">
            <a:noAutofit/>
          </a:bodyPr>
          <a:lstStyle/>
          <a:p>
            <a:pPr algn="l">
              <a:lnSpc>
                <a:spcPts val="2240"/>
              </a:lnSpc>
            </a:pPr>
            <a:r>
              <a:rPr sz="1600" b="0" lang="ja-JP" altLang="en-US">
                <a:solidFill>
                  <a:srgbClr val="202020"/>
                </a:solidFill>
                <a:latin typeface="Noto Sans JP"/>
                <a:ea typeface="Noto Sans JP"/>
              </a:rPr>
              <a:t>初期座標 → 力の方向へ更新 → 近くの極小</a:t>
            </a:r>
          </a:p>
        </p:txBody>
      </p:sp>
      <p:sp>
        <p:nvSpPr>
          <p:cNvPr id="15" name="Rectangle 14"/>
          <p:cNvSpPr/>
          <p:nvPr/>
        </p:nvSpPr>
        <p:spPr>
          <a:xfrm>
            <a:off x="6995160" y="4297680"/>
            <a:ext cx="4434840" cy="1014984"/>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4398264"/>
            <a:ext cx="4069080" cy="301752"/>
          </a:xfrm>
          <a:prstGeom prst="rect">
            <a:avLst/>
          </a:prstGeom>
          <a:noFill/>
        </p:spPr>
        <p:txBody>
          <a:bodyPr wrap="square" lIns="0" rIns="0" tIns="0" bIns="0" anchor="t">
            <a:noAutofit/>
          </a:bodyPr>
          <a:lstStyle/>
          <a:p>
            <a:pPr algn="l">
              <a:lnSpc>
                <a:spcPts val="2660"/>
              </a:lnSpc>
            </a:pPr>
            <a:r>
              <a:rPr sz="1900" b="1" lang="ja-JP" altLang="en-US">
                <a:solidFill>
                  <a:srgbClr val="1748B7"/>
                </a:solidFill>
                <a:latin typeface="Noto Sans JP"/>
                <a:ea typeface="Noto Sans JP"/>
              </a:rPr>
              <a:t>熱平衡の標本化</a:t>
            </a:r>
          </a:p>
        </p:txBody>
      </p:sp>
      <p:sp>
        <p:nvSpPr>
          <p:cNvPr id="17" name="TextBox 16"/>
          <p:cNvSpPr txBox="1"/>
          <p:nvPr/>
        </p:nvSpPr>
        <p:spPr>
          <a:xfrm>
            <a:off x="7178040" y="4846320"/>
            <a:ext cx="4069080" cy="411480"/>
          </a:xfrm>
          <a:prstGeom prst="rect">
            <a:avLst/>
          </a:prstGeom>
          <a:noFill/>
        </p:spPr>
        <p:txBody>
          <a:bodyPr wrap="square" lIns="0" rIns="0" tIns="0" bIns="0" anchor="t">
            <a:noAutofit/>
          </a:bodyPr>
          <a:lstStyle/>
          <a:p>
            <a:pPr algn="l">
              <a:lnSpc>
                <a:spcPts val="2240"/>
              </a:lnSpc>
            </a:pPr>
            <a:r>
              <a:rPr sz="1600" b="0" lang="ja-JP" altLang="en-US">
                <a:solidFill>
                  <a:srgbClr val="202020"/>
                </a:solidFill>
                <a:latin typeface="Noto Sans JP"/>
                <a:ea typeface="Noto Sans JP"/>
              </a:rPr>
              <a:t>温度と力場 → 多数の配置 → 分布と平均</a:t>
            </a:r>
          </a:p>
        </p:txBody>
      </p:sp>
      <p:sp>
        <p:nvSpPr>
          <p:cNvPr id="18" name="TextBox 1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演習：温度・エネルギー差・状態数を動かす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9.png"/>
          <p:cNvPicPr>
            <a:picLocks noChangeAspect="1"/>
          </p:cNvPicPr>
          <p:nvPr/>
        </p:nvPicPr>
        <p:blipFill>
          <a:blip r:embed="rId3"/>
          <a:stretch>
            <a:fillRect/>
          </a:stretch>
        </p:blipFill>
        <p:spPr>
          <a:xfrm>
            <a:off x="6949440" y="1508760"/>
            <a:ext cx="4617720" cy="409418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0"/>
              </a:spcAft>
            </a:pPr>
            <a:r>
              <a:rPr sz="2100" i="0" b="0" lang="ja-JP" altLang="en-US">
                <a:latin typeface="Noto Sans JP"/>
                <a:solidFill>
                  <a:srgbClr val="333333"/>
                </a:solidFill>
              </a:rPr>
              <a:t>操作教材「09_温度と状態数.html」をブラウザで開く。インストールは不要。</a:t>
            </a:r>
          </a:p>
          <a:p>
            <a:pPr>
              <a:lnSpc>
                <a:spcPts val="2940"/>
              </a:lnSpc>
              <a:spcAft>
                <a:spcPts val="0"/>
              </a:spcAft>
            </a:pPr>
            <a:r>
              <a:rPr sz="2100" i="0" b="0" lang="ja-JP" altLang="en-US">
                <a:latin typeface="Noto Sans JP"/>
                <a:solidFill>
                  <a:srgbClr val="333333"/>
                </a:solidFill>
              </a:rPr>
              <a:t>温度、BとAのエネルギー差、Bの状態数を一つずつ変える。</a:t>
            </a:r>
          </a:p>
          <a:p>
            <a:pPr>
              <a:lnSpc>
                <a:spcPts val="2940"/>
              </a:lnSpc>
              <a:spcAft>
                <a:spcPts val="0"/>
              </a:spcAft>
            </a:pPr>
            <a:r>
              <a:rPr sz="2100" i="0" b="0" lang="ja-JP" altLang="en-US">
                <a:latin typeface="Noto Sans JP"/>
                <a:solidFill>
                  <a:srgbClr val="333333"/>
                </a:solidFill>
              </a:rPr>
              <a:t>各状態の重み、群の確率、自由エネルギー差を同時に読む。</a:t>
            </a:r>
          </a:p>
          <a:p>
            <a:pPr>
              <a:lnSpc>
                <a:spcPts val="2940"/>
              </a:lnSpc>
              <a:spcAft>
                <a:spcPts val="0"/>
              </a:spcAft>
            </a:pPr>
            <a:r>
              <a:rPr sz="2100" i="0" b="0" lang="ja-JP" altLang="en-US">
                <a:latin typeface="Noto Sans JP"/>
                <a:solidFill>
                  <a:srgbClr val="333333"/>
                </a:solidFill>
              </a:rPr>
              <a:t>演習20分を目安。採点・提出なし。</a:t>
            </a:r>
          </a:p>
          <a:p>
            <a:pPr>
              <a:lnSpc>
                <a:spcPts val="2940"/>
              </a:lnSpc>
              <a:spcAft>
                <a:spcPts val="0"/>
              </a:spcAft>
            </a:pPr>
            <a:r>
              <a:rPr sz="2100" i="0" b="0" lang="ja-JP" altLang="en-US">
                <a:latin typeface="Noto Sans JP"/>
                <a:solidFill>
                  <a:srgbClr val="333333"/>
                </a:solidFill>
              </a:rPr>
              <a:t>仮定：各群の中は等エネルギーで、各微視的状態を1通りとして数える。</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低エネルギーと、多くの状態を合わせて判断する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9.png"/>
          <p:cNvPicPr>
            <a:picLocks noChangeAspect="1"/>
          </p:cNvPicPr>
          <p:nvPr/>
        </p:nvPicPr>
        <p:blipFill>
          <a:blip r:embed="rId3"/>
          <a:stretch>
            <a:fillRect/>
          </a:stretch>
        </p:blipFill>
        <p:spPr>
          <a:xfrm>
            <a:off x="6949440" y="1508760"/>
            <a:ext cx="4617720" cy="409418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940"/>
              </a:lnSpc>
              <a:spcAft>
                <a:spcPts val="800"/>
              </a:spcAft>
            </a:pPr>
            <a:r>
              <a:rPr sz="2100" i="0" b="0" lang="ja-JP" altLang="en-US">
                <a:latin typeface="Noto Sans JP"/>
                <a:solidFill>
                  <a:srgbClr val="333333"/>
                </a:solidFill>
              </a:rPr>
              <a:t>力場から原子配置のエネルギーと力を計算する。</a:t>
            </a:r>
          </a:p>
          <a:p>
            <a:pPr>
              <a:lnSpc>
                <a:spcPts val="2940"/>
              </a:lnSpc>
              <a:spcAft>
                <a:spcPts val="800"/>
              </a:spcAft>
            </a:pPr>
            <a:r>
              <a:rPr sz="2100" i="0" b="0" lang="ja-JP" altLang="en-US">
                <a:latin typeface="Noto Sans JP"/>
                <a:solidFill>
                  <a:srgbClr val="333333"/>
                </a:solidFill>
              </a:rPr>
              <a:t>熱平衡では指数重みを規格化し、状態数を足し合わせる。</a:t>
            </a:r>
          </a:p>
          <a:p>
            <a:pPr>
              <a:lnSpc>
                <a:spcPts val="2940"/>
              </a:lnSpc>
              <a:spcAft>
                <a:spcPts val="800"/>
              </a:spcAft>
            </a:pPr>
            <a:r>
              <a:rPr sz="2100" i="0" b="0" lang="ja-JP" altLang="en-US">
                <a:latin typeface="Noto Sans JP"/>
                <a:solidFill>
                  <a:srgbClr val="333333"/>
                </a:solidFill>
              </a:rPr>
              <a:t>冒頭の結論：一つの低エネルギー構造だけでは、構造群の安定性は決まらない。</a:t>
            </a:r>
          </a:p>
          <a:p>
            <a:pPr>
              <a:lnSpc>
                <a:spcPts val="2940"/>
              </a:lnSpc>
              <a:spcAft>
                <a:spcPts val="800"/>
              </a:spcAft>
            </a:pPr>
            <a:r>
              <a:rPr sz="2100" i="0" b="0" lang="ja-JP" altLang="en-US">
                <a:latin typeface="Noto Sans JP"/>
                <a:solidFill>
                  <a:srgbClr val="333333"/>
                </a:solidFill>
              </a:rPr>
              <a:t>次回は分配関数を直接計算せず、分布から標本を集める方法へ進む。</a:t>
            </a:r>
          </a:p>
        </p:txBody>
      </p:sp>
      <p:sp>
        <p:nvSpPr>
          <p:cNvPr id="8" name="TextBox 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256032"/>
            <a:ext cx="10972800" cy="274320"/>
          </a:xfrm>
          <a:prstGeom prst="rect">
            <a:avLst/>
          </a:prstGeom>
          <a:noFill/>
        </p:spPr>
        <p:txBody>
          <a:bodyPr wrap="square" lIns="0" rIns="0" tIns="0" bIns="0" anchor="t">
            <a:noAutofit/>
          </a:bodyPr>
          <a:lstStyle/>
          <a:p>
            <a:pPr algn="l">
              <a:lnSpc>
                <a:spcPts val="2240"/>
              </a:lnSpc>
            </a:pPr>
            <a:r>
              <a:rPr sz="1600" b="1" lang="ja-JP" altLang="en-US">
                <a:solidFill>
                  <a:srgbClr val="1748B7"/>
                </a:solidFill>
                <a:latin typeface="Noto Sans JP"/>
                <a:ea typeface="Noto Sans JP"/>
              </a:rPr>
              <a:t>付録</a:t>
            </a:r>
          </a:p>
        </p:txBody>
      </p:sp>
      <p:sp>
        <p:nvSpPr>
          <p:cNvPr id="3" name="TextBox 2"/>
          <p:cNvSpPr txBox="1"/>
          <p:nvPr/>
        </p:nvSpPr>
        <p:spPr>
          <a:xfrm>
            <a:off x="612648" y="576072"/>
            <a:ext cx="10972800" cy="585216"/>
          </a:xfrm>
          <a:prstGeom prst="rect">
            <a:avLst/>
          </a:prstGeom>
          <a:noFill/>
        </p:spPr>
        <p:txBody>
          <a:bodyPr wrap="square" lIns="0" rIns="0" tIns="0" bIns="0" anchor="t">
            <a:noAutofit/>
          </a:bodyPr>
          <a:lstStyle/>
          <a:p>
            <a:pPr algn="l">
              <a:lnSpc>
                <a:spcPts val="4059"/>
              </a:lnSpc>
            </a:pPr>
            <a:r>
              <a:rPr sz="2900" b="1" lang="ja-JP" altLang="en-US">
                <a:solidFill>
                  <a:srgbClr val="202020"/>
                </a:solidFill>
                <a:latin typeface="Noto Sans JP"/>
                <a:ea typeface="Noto Sans JP"/>
              </a:rPr>
              <a:t>付録：力場の補足と、熱平衡の導出</a:t>
            </a:r>
          </a:p>
        </p:txBody>
      </p:sp>
      <p:sp>
        <p:nvSpPr>
          <p:cNvPr id="4" name="Rectangle 3"/>
          <p:cNvSpPr/>
          <p:nvPr/>
        </p:nvSpPr>
        <p:spPr>
          <a:xfrm>
            <a:off x="612648" y="1207008"/>
            <a:ext cx="10972800" cy="12801"/>
          </a:xfrm>
          <a:prstGeom prst="rect">
            <a:avLst/>
          </a:prstGeom>
          <a:solidFill>
            <a:srgbClr val="1748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08760"/>
            <a:ext cx="5120640" cy="402336"/>
          </a:xfrm>
          <a:prstGeom prst="rect">
            <a:avLst/>
          </a:prstGeom>
          <a:noFill/>
        </p:spPr>
        <p:txBody>
          <a:bodyPr wrap="square" lIns="0" rIns="0" tIns="0" bIns="0" anchor="t">
            <a:noAutofit/>
          </a:bodyPr>
          <a:lstStyle/>
          <a:p>
            <a:pPr algn="l">
              <a:lnSpc>
                <a:spcPts val="3079"/>
              </a:lnSpc>
            </a:pPr>
            <a:r>
              <a:rPr sz="2200" b="1" lang="ja-JP" altLang="en-US">
                <a:solidFill>
                  <a:srgbClr val="1748B7"/>
                </a:solidFill>
                <a:latin typeface="Noto Sans JP"/>
                <a:ea typeface="Noto Sans JP"/>
              </a:rPr>
              <a:t>必要な箇所から読み直す</a:t>
            </a:r>
          </a:p>
        </p:txBody>
      </p:sp>
      <p:sp>
        <p:nvSpPr>
          <p:cNvPr id="6" name="TextBox 5"/>
          <p:cNvSpPr txBox="1"/>
          <p:nvPr/>
        </p:nvSpPr>
        <p:spPr>
          <a:xfrm>
            <a:off x="731520" y="2130552"/>
            <a:ext cx="5120640" cy="2286000"/>
          </a:xfrm>
          <a:prstGeom prst="rect">
            <a:avLst/>
          </a:prstGeom>
          <a:noFill/>
        </p:spPr>
        <p:txBody>
          <a:bodyPr wrap="square" lIns="0" rIns="0" tIns="0" bIns="0" anchor="t">
            <a:noAutofit/>
          </a:bodyPr>
          <a:lstStyle/>
          <a:p>
            <a:pPr algn="l">
              <a:lnSpc>
                <a:spcPts val="2940"/>
              </a:lnSpc>
            </a:pPr>
            <a:r>
              <a:rPr sz="2100" b="0" lang="ja-JP" altLang="en-US">
                <a:solidFill>
                  <a:srgbClr val="202020"/>
                </a:solidFill>
                <a:latin typeface="Noto Sans JP"/>
                <a:ea typeface="Noto Sans JP"/>
              </a:rPr>
              <a:t>41–46頁：力場の関数形・割当・検証</a:t>
            </a:r>
          </a:p>
          <a:p>
            <a:pPr algn="l">
              <a:lnSpc>
                <a:spcPts val="2940"/>
              </a:lnSpc>
            </a:pPr>
            <a:r>
              <a:rPr sz="2100" b="0" lang="ja-JP" altLang="en-US">
                <a:solidFill>
                  <a:srgbClr val="202020"/>
                </a:solidFill>
                <a:latin typeface="Noto Sans JP"/>
                <a:ea typeface="Noto Sans JP"/>
              </a:rPr>
              <a:t>47–50頁：確率、熱浴、分配関数</a:t>
            </a:r>
          </a:p>
          <a:p>
            <a:pPr algn="l">
              <a:lnSpc>
                <a:spcPts val="2940"/>
              </a:lnSpc>
            </a:pPr>
            <a:r>
              <a:rPr sz="2100" b="0" lang="ja-JP" altLang="en-US">
                <a:solidFill>
                  <a:srgbClr val="202020"/>
                </a:solidFill>
                <a:latin typeface="Noto Sans JP"/>
                <a:ea typeface="Noto Sans JP"/>
              </a:rPr>
              <a:t>51–52頁：運動量分布と等分配</a:t>
            </a:r>
          </a:p>
          <a:p>
            <a:pPr algn="l">
              <a:lnSpc>
                <a:spcPts val="2940"/>
              </a:lnSpc>
            </a:pPr>
            <a:r>
              <a:rPr sz="2100" b="0" lang="ja-JP" altLang="en-US">
                <a:solidFill>
                  <a:srgbClr val="202020"/>
                </a:solidFill>
                <a:latin typeface="Noto Sans JP"/>
                <a:ea typeface="Noto Sans JP"/>
              </a:rPr>
              <a:t>53–54頁：出典と参考文献</a:t>
            </a:r>
          </a:p>
        </p:txBody>
      </p:sp>
      <p:sp>
        <p:nvSpPr>
          <p:cNvPr id="7" name="TextBox 6"/>
          <p:cNvSpPr txBox="1"/>
          <p:nvPr/>
        </p:nvSpPr>
        <p:spPr>
          <a:xfrm>
            <a:off x="731520" y="4709160"/>
            <a:ext cx="5120640" cy="1097280"/>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右：古典的なエネルギーが、位置と運動量の和に分かれる場合。拘束のない直交座標から出発し、運動量を全範囲で積分する。</a:t>
            </a:r>
          </a:p>
        </p:txBody>
      </p:sp>
      <p:sp>
        <p:nvSpPr>
          <p:cNvPr id="8" name="TextBox 7"/>
          <p:cNvSpPr txBox="1"/>
          <p:nvPr/>
        </p:nvSpPr>
        <p:spPr>
          <a:xfrm>
            <a:off x="6355080" y="1508760"/>
            <a:ext cx="5212080" cy="402336"/>
          </a:xfrm>
          <a:prstGeom prst="rect">
            <a:avLst/>
          </a:prstGeom>
          <a:noFill/>
        </p:spPr>
        <p:txBody>
          <a:bodyPr wrap="square" lIns="0" rIns="0" tIns="0" bIns="0" anchor="t">
            <a:noAutofit/>
          </a:bodyPr>
          <a:lstStyle/>
          <a:p>
            <a:pPr algn="l">
              <a:lnSpc>
                <a:spcPts val="3079"/>
              </a:lnSpc>
            </a:pPr>
            <a:r>
              <a:rPr sz="2200" b="1" lang="ja-JP" altLang="en-US">
                <a:solidFill>
                  <a:srgbClr val="1748B7"/>
                </a:solidFill>
                <a:latin typeface="Noto Sans JP"/>
                <a:ea typeface="Noto Sans JP"/>
              </a:rPr>
              <a:t>位置の分布だけを取り出す</a:t>
            </a:r>
          </a:p>
        </p:txBody>
      </p:sp>
      <p:pic>
        <p:nvPicPr>
          <p:cNvPr id="9" name="Picture 8" descr="H(\mathbf r,\mathbf p)=U(\mathbf r)+\sum_a\frac{p_a^2}{2m_a}"/>
          <p:cNvPicPr>
            <a:picLocks noChangeAspect="1"/>
          </p:cNvPicPr>
          <p:nvPr/>
        </p:nvPicPr>
        <p:blipFill>
          <a:blip r:embed="rId3"/>
          <a:stretch>
            <a:fillRect/>
          </a:stretch>
        </p:blipFill>
        <p:spPr>
          <a:xfrm>
            <a:off x="6355080" y="2194560"/>
            <a:ext cx="3212592" cy="810768"/>
          </a:xfrm>
          <a:prstGeom prst="rect">
            <a:avLst/>
          </a:prstGeom>
        </p:spPr>
      </p:pic>
      <p:pic>
        <p:nvPicPr>
          <p:cNvPr id="10" name="Picture 9" descr="\rho(\mathbf r,\mathbf p)\propto e^{-\beta U(\mathbf r)}\prod_a e^{-\beta p_a^2/(2m_a)}"/>
          <p:cNvPicPr>
            <a:picLocks noChangeAspect="1"/>
          </p:cNvPicPr>
          <p:nvPr/>
        </p:nvPicPr>
        <p:blipFill>
          <a:blip r:embed="rId4"/>
          <a:stretch>
            <a:fillRect/>
          </a:stretch>
        </p:blipFill>
        <p:spPr>
          <a:xfrm>
            <a:off x="6355080" y="3191256"/>
            <a:ext cx="3864864" cy="624840"/>
          </a:xfrm>
          <a:prstGeom prst="rect">
            <a:avLst/>
          </a:prstGeom>
        </p:spPr>
      </p:pic>
      <p:pic>
        <p:nvPicPr>
          <p:cNvPr id="11" name="Picture 10" descr="\rho(\mathbf r)\propto e^{-\beta U(\mathbf r)}"/>
          <p:cNvPicPr>
            <a:picLocks noChangeAspect="1"/>
          </p:cNvPicPr>
          <p:nvPr/>
        </p:nvPicPr>
        <p:blipFill>
          <a:blip r:embed="rId5"/>
          <a:stretch>
            <a:fillRect/>
          </a:stretch>
        </p:blipFill>
        <p:spPr>
          <a:xfrm>
            <a:off x="6355080" y="4370832"/>
            <a:ext cx="1749552" cy="332232"/>
          </a:xfrm>
          <a:prstGeom prst="rect">
            <a:avLst/>
          </a:prstGeom>
        </p:spPr>
      </p:pic>
      <p:sp>
        <p:nvSpPr>
          <p:cNvPr id="12" name="TextBox 11"/>
          <p:cNvSpPr txBox="1"/>
          <p:nvPr/>
        </p:nvSpPr>
        <p:spPr>
          <a:xfrm>
            <a:off x="6355080" y="5166360"/>
            <a:ext cx="5212080" cy="713232"/>
          </a:xfrm>
          <a:prstGeom prst="rect">
            <a:avLst/>
          </a:prstGeom>
          <a:noFill/>
        </p:spPr>
        <p:txBody>
          <a:bodyPr wrap="square" lIns="0" rIns="0" tIns="0" bIns="0" anchor="t">
            <a:noAutofit/>
          </a:bodyPr>
          <a:lstStyle/>
          <a:p>
            <a:pPr algn="l">
              <a:lnSpc>
                <a:spcPts val="2520"/>
              </a:lnSpc>
            </a:pPr>
            <a:r>
              <a:rPr sz="1800" b="0" lang="ja-JP" altLang="en-US">
                <a:solidFill>
                  <a:srgbClr val="202020"/>
                </a:solidFill>
                <a:latin typeface="Noto Sans JP"/>
                <a:ea typeface="Noto Sans JP"/>
              </a:rPr>
              <a:t>rは位置、pは運動量、aは成分、maは質量。運動量の積分は位置によらない因子となり、規格化で消える。</a:t>
            </a:r>
          </a:p>
        </p:txBody>
      </p:sp>
      <p:sp>
        <p:nvSpPr>
          <p:cNvPr id="13" name="TextBox 12"/>
          <p:cNvSpPr txBox="1"/>
          <p:nvPr/>
        </p:nvSpPr>
        <p:spPr>
          <a:xfrm>
            <a:off x="640080" y="6281928"/>
            <a:ext cx="10424160" cy="237744"/>
          </a:xfrm>
          <a:prstGeom prst="rect">
            <a:avLst/>
          </a:prstGeom>
          <a:noFill/>
        </p:spPr>
        <p:txBody>
          <a:bodyPr wrap="square" lIns="0" rIns="0" tIns="0" bIns="0" anchor="t">
            <a:noAutofit/>
          </a:bodyPr>
          <a:lstStyle/>
          <a:p>
            <a:pPr algn="l">
              <a:lnSpc>
                <a:spcPts val="1260"/>
              </a:lnSpc>
            </a:pPr>
            <a:r>
              <a:rPr sz="900" b="0" lang="ja-JP" altLang="en-US">
                <a:solidFill>
                  <a:srgbClr val="666666"/>
                </a:solidFill>
                <a:latin typeface="Noto Sans JP"/>
                <a:ea typeface="Noto Sans JP"/>
              </a:rPr>
              <a:t>D. Tong, Statistical Physics, §1–2。本文の構造群の議論と、運動量の導出を分けて配置。</a:t>
            </a:r>
          </a:p>
        </p:txBody>
      </p:sp>
      <p:sp>
        <p:nvSpPr>
          <p:cNvPr id="14" name="TextBox 13"/>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化学環境の分類とパラメータの転用可能性</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化学構造からパラメータを割り当てる</a:t>
            </a:r>
          </a:p>
        </p:txBody>
      </p:sp>
      <p:pic>
        <p:nvPicPr>
          <p:cNvPr id="7" name="Picture 6" descr="\mathcal G\longmapsto\{t_i,t_{ij},t_{ijk},t_{ijkl}\}\longmapsto\mathbf p"/>
          <p:cNvPicPr>
            <a:picLocks noChangeAspect="1"/>
          </p:cNvPicPr>
          <p:nvPr/>
        </p:nvPicPr>
        <p:blipFill>
          <a:blip r:embed="rId3"/>
          <a:stretch>
            <a:fillRect/>
          </a:stretch>
        </p:blipFill>
        <p:spPr>
          <a:xfrm>
            <a:off x="609904" y="1729371"/>
            <a:ext cx="3352800" cy="363728"/>
          </a:xfrm>
          <a:prstGeom prst="rect">
            <a:avLst/>
          </a:prstGeom>
        </p:spPr>
      </p:pic>
      <p:sp>
        <p:nvSpPr>
          <p:cNvPr id="8" name="TextBox 7"/>
          <p:cNvSpPr txBox="1"/>
          <p:nvPr/>
        </p:nvSpPr>
        <p:spPr>
          <a:xfrm>
            <a:off x="609904" y="2193683"/>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G は元素、結合次数、形式電荷などを含む分子グラフ。原子タイプや相互作用タイプは、パラメータを共有する化学環境の分類である。</a:t>
            </a:r>
          </a:p>
        </p:txBody>
      </p:sp>
      <p:sp>
        <p:nvSpPr>
          <p:cNvPr id="9" name="TextBox 8"/>
          <p:cNvSpPr txBox="1"/>
          <p:nvPr/>
        </p:nvSpPr>
        <p:spPr>
          <a:xfrm>
            <a:off x="609904" y="3462058"/>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分類を細かくすれば表現力は増すが、各タイプを制約する参照データが減り、不確かさが大きくなる。共有の範囲が転用可能性を左右する。</a:t>
            </a:r>
          </a:p>
        </p:txBody>
      </p:sp>
      <p:sp>
        <p:nvSpPr>
          <p:cNvPr id="10" name="TextBox 9"/>
          <p:cNvSpPr txBox="1"/>
          <p:nvPr/>
        </p:nvSpPr>
        <p:spPr>
          <a:xfrm>
            <a:off x="609904" y="4730432"/>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既存力場の割当は分類規則の適用、力場開発は分類・関数形・数値の推定であり、異なる作業である。</a:t>
            </a:r>
          </a:p>
        </p:txBody>
      </p:sp>
      <p:sp>
        <p:nvSpPr>
          <p:cNvPr id="11" name="TextBox 10"/>
          <p:cNvSpPr txBox="1"/>
          <p:nvPr/>
        </p:nvSpPr>
        <p:spPr>
          <a:xfrm>
            <a:off x="6242151" y="1280160"/>
            <a:ext cx="5339638" cy="415815"/>
          </a:xfrm>
          <a:prstGeom prst="rect">
            <a:avLst/>
          </a:prstGeom>
          <a:noFill/>
        </p:spPr>
        <p:txBody>
          <a:bodyPr wrap="square" lIns="0" rIns="0" tIns="0" bIns="0" anchor="t">
            <a:noAutofit/>
          </a:bodyPr>
          <a:lstStyle/>
          <a:p>
            <a:pPr algn="l">
              <a:lnSpc>
                <a:spcPts val="2302"/>
              </a:lnSpc>
            </a:pPr>
            <a:r>
              <a:rPr sz="1886" b="1" lang="ja-JP" altLang="en-US">
                <a:solidFill>
                  <a:srgbClr val="0017C1"/>
                </a:solidFill>
                <a:latin typeface="Noto Sans JP"/>
                <a:ea typeface="Noto Sans JP"/>
              </a:rPr>
              <a:t>直接的な化学環境の指定</a:t>
            </a:r>
          </a:p>
        </p:txBody>
      </p:sp>
      <p:sp>
        <p:nvSpPr>
          <p:cNvPr id="12" name="TextBox 11"/>
          <p:cNvSpPr txBox="1"/>
          <p:nvPr/>
        </p:nvSpPr>
        <p:spPr>
          <a:xfrm>
            <a:off x="6242151" y="1718835"/>
            <a:ext cx="5339638" cy="930676"/>
          </a:xfrm>
          <a:prstGeom prst="rect">
            <a:avLst/>
          </a:prstGeom>
          <a:noFill/>
        </p:spPr>
        <p:txBody>
          <a:bodyPr wrap="square" lIns="0" rIns="0" tIns="0" bIns="0" anchor="t">
            <a:noAutofit/>
          </a:bodyPr>
          <a:lstStyle/>
          <a:p>
            <a:pPr algn="l">
              <a:lnSpc>
                <a:spcPts val="2166"/>
              </a:lnSpc>
            </a:pPr>
            <a:r>
              <a:rPr sz="1775" b="0" lang="ja-JP" altLang="en-US">
                <a:solidFill>
                  <a:srgbClr val="333333"/>
                </a:solidFill>
                <a:latin typeface="Noto Sans JP"/>
                <a:ea typeface="Noto Sans JP"/>
              </a:rPr>
              <a:t>OpenFFのSMIRNOFF形式では、原子タイプを介さず、化学部分構造のパターンから結合・角度などの項へ直接パラメータを割り当てる。</a:t>
            </a:r>
          </a:p>
        </p:txBody>
      </p:sp>
      <p:sp>
        <p:nvSpPr>
          <p:cNvPr id="13" name="TextBox 12"/>
          <p:cNvSpPr txBox="1"/>
          <p:nvPr/>
        </p:nvSpPr>
        <p:spPr>
          <a:xfrm>
            <a:off x="6242151" y="2672372"/>
            <a:ext cx="5339638" cy="930676"/>
          </a:xfrm>
          <a:prstGeom prst="rect">
            <a:avLst/>
          </a:prstGeom>
          <a:noFill/>
        </p:spPr>
        <p:txBody>
          <a:bodyPr wrap="square" lIns="0" rIns="0" tIns="0" bIns="0" anchor="t">
            <a:noAutofit/>
          </a:bodyPr>
          <a:lstStyle/>
          <a:p>
            <a:pPr algn="l">
              <a:lnSpc>
                <a:spcPts val="2166"/>
              </a:lnSpc>
            </a:pPr>
            <a:r>
              <a:rPr sz="1775" b="0" lang="ja-JP" altLang="en-US">
                <a:solidFill>
                  <a:srgbClr val="333333"/>
                </a:solidFill>
                <a:latin typeface="Noto Sans JP"/>
                <a:ea typeface="Noto Sans JP"/>
              </a:rPr>
              <a:t>プロトン化、互変異性、芳香族性の認識が変われば、同じ原子座標でも割当結果が変わる。座標ファイルだけでモデルは定義できない。</a:t>
            </a:r>
          </a:p>
        </p:txBody>
      </p:sp>
      <p:pic>
        <p:nvPicPr>
          <p:cNvPr id="14" name="Picture 13" descr="\Delta U\simeq\sum_j\frac{\partial U}{\partial p_j}\Delta p_j"/>
          <p:cNvPicPr>
            <a:picLocks noChangeAspect="1"/>
          </p:cNvPicPr>
          <p:nvPr/>
        </p:nvPicPr>
        <p:blipFill>
          <a:blip r:embed="rId4"/>
          <a:stretch>
            <a:fillRect/>
          </a:stretch>
        </p:blipFill>
        <p:spPr>
          <a:xfrm>
            <a:off x="6242151" y="3625908"/>
            <a:ext cx="2013712" cy="753872"/>
          </a:xfrm>
          <a:prstGeom prst="rect">
            <a:avLst/>
          </a:prstGeom>
        </p:spPr>
      </p:pic>
      <p:sp>
        <p:nvSpPr>
          <p:cNvPr id="15" name="TextBox 14"/>
          <p:cNvSpPr txBox="1"/>
          <p:nvPr/>
        </p:nvSpPr>
        <p:spPr>
          <a:xfrm>
            <a:off x="6242151" y="4480364"/>
            <a:ext cx="5339638" cy="1205849"/>
          </a:xfrm>
          <a:prstGeom prst="rect">
            <a:avLst/>
          </a:prstGeom>
          <a:noFill/>
        </p:spPr>
        <p:txBody>
          <a:bodyPr wrap="square" lIns="0" rIns="0" tIns="0" bIns="0" anchor="t">
            <a:noAutofit/>
          </a:bodyPr>
          <a:lstStyle/>
          <a:p>
            <a:pPr algn="l">
              <a:lnSpc>
                <a:spcPts val="2166"/>
              </a:lnSpc>
            </a:pPr>
            <a:r>
              <a:rPr sz="1775" b="0" lang="ja-JP" altLang="en-US">
                <a:solidFill>
                  <a:srgbClr val="333333"/>
                </a:solidFill>
                <a:latin typeface="Noto Sans JP"/>
                <a:ea typeface="Noto Sans JP"/>
              </a:rPr>
              <a:t>パラメータの変更が影響する構造は、その項の感度で決まる。異なる力場から数値を移す際は、定義・単位・調整時の非結合規約まで一致させる。</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開発例：Boothroyd et al., JCTC 19, 3251–3275 (2023), OpenFF Sage。感度の式は本教材。</a:t>
            </a:r>
          </a:p>
        </p:txBody>
      </p:sp>
      <p:sp>
        <p:nvSpPr>
          <p:cNvPr id="17" name="TextBox 16"/>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Morseポテンシャルに見る非調和性</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解離極限を持つ結合ポテンシャル</a:t>
            </a:r>
          </a:p>
        </p:txBody>
      </p:sp>
      <p:pic>
        <p:nvPicPr>
          <p:cNvPr id="7" name="Picture 6" descr="U_M(x)=D_e(1-e^{-ax})^2,\qquad x=b-b_0"/>
          <p:cNvPicPr>
            <a:picLocks noChangeAspect="1"/>
          </p:cNvPicPr>
          <p:nvPr/>
        </p:nvPicPr>
        <p:blipFill>
          <a:blip r:embed="rId3"/>
          <a:stretch>
            <a:fillRect/>
          </a:stretch>
        </p:blipFill>
        <p:spPr>
          <a:xfrm>
            <a:off x="609904" y="1729371"/>
            <a:ext cx="4659376" cy="349504"/>
          </a:xfrm>
          <a:prstGeom prst="rect">
            <a:avLst/>
          </a:prstGeom>
        </p:spPr>
      </p:pic>
      <p:pic>
        <p:nvPicPr>
          <p:cNvPr id="8" name="Picture 7" descr="U_M=D_ea^2x^2-D_ea^3x^3+\frac7{12}D_ea^4x^4+O(x^5)"/>
          <p:cNvPicPr>
            <a:picLocks noChangeAspect="1"/>
          </p:cNvPicPr>
          <p:nvPr/>
        </p:nvPicPr>
        <p:blipFill>
          <a:blip r:embed="rId4"/>
          <a:stretch>
            <a:fillRect/>
          </a:stretch>
        </p:blipFill>
        <p:spPr>
          <a:xfrm>
            <a:off x="609904" y="2179459"/>
            <a:ext cx="5236464" cy="573024"/>
          </a:xfrm>
          <a:prstGeom prst="rect">
            <a:avLst/>
          </a:prstGeom>
        </p:spPr>
      </p:pic>
      <p:pic>
        <p:nvPicPr>
          <p:cNvPr id="9" name="Picture 8" descr="k_b=2D_ea^2,\qquad U_M^{\prime\prime\prime}(0)=-6D_ea^3"/>
          <p:cNvPicPr>
            <a:picLocks noChangeAspect="1"/>
          </p:cNvPicPr>
          <p:nvPr/>
        </p:nvPicPr>
        <p:blipFill>
          <a:blip r:embed="rId5"/>
          <a:stretch>
            <a:fillRect/>
          </a:stretch>
        </p:blipFill>
        <p:spPr>
          <a:xfrm>
            <a:off x="609904" y="2853067"/>
            <a:ext cx="4078224" cy="392176"/>
          </a:xfrm>
          <a:prstGeom prst="rect">
            <a:avLst/>
          </a:prstGeom>
        </p:spPr>
      </p:pic>
      <p:sp>
        <p:nvSpPr>
          <p:cNvPr id="10" name="TextBox 9"/>
          <p:cNvSpPr txBox="1"/>
          <p:nvPr/>
        </p:nvSpPr>
        <p:spPr>
          <a:xfrm>
            <a:off x="609904" y="3345827"/>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D_e は井戸の深さ、a は逆長さ。三次項が伸長側と圧縮側の非対称性を生み、同じ局所曲率でも解離極限は調和項と異なる。</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力と近似の有効範囲</a:t>
            </a:r>
          </a:p>
        </p:txBody>
      </p:sp>
      <p:pic>
        <p:nvPicPr>
          <p:cNvPr id="12" name="Picture 11" descr="F_M=-2aD_e(e^{-ax}-e^{-2ax})"/>
          <p:cNvPicPr>
            <a:picLocks noChangeAspect="1"/>
          </p:cNvPicPr>
          <p:nvPr/>
        </p:nvPicPr>
        <p:blipFill>
          <a:blip r:embed="rId6"/>
          <a:stretch>
            <a:fillRect/>
          </a:stretch>
        </p:blipFill>
        <p:spPr>
          <a:xfrm>
            <a:off x="6242151" y="1729371"/>
            <a:ext cx="3259328" cy="349504"/>
          </a:xfrm>
          <a:prstGeom prst="rect">
            <a:avLst/>
          </a:prstGeom>
        </p:spPr>
      </p:pic>
      <p:pic>
        <p:nvPicPr>
          <p:cNvPr id="13" name="Picture 12" descr="x\to\infty:\quad U_M\to D_e,\quad F_M\to0"/>
          <p:cNvPicPr>
            <a:picLocks noChangeAspect="1"/>
          </p:cNvPicPr>
          <p:nvPr/>
        </p:nvPicPr>
        <p:blipFill>
          <a:blip r:embed="rId7"/>
          <a:stretch>
            <a:fillRect/>
          </a:stretch>
        </p:blipFill>
        <p:spPr>
          <a:xfrm>
            <a:off x="6242151" y="2179459"/>
            <a:ext cx="3917696" cy="296672"/>
          </a:xfrm>
          <a:prstGeom prst="rect">
            <a:avLst/>
          </a:prstGeom>
        </p:spPr>
      </p:pic>
      <p:sp>
        <p:nvSpPr>
          <p:cNvPr id="14" name="TextBox 13"/>
          <p:cNvSpPr txBox="1"/>
          <p:nvPr/>
        </p:nvSpPr>
        <p:spPr>
          <a:xfrm>
            <a:off x="6242151" y="2576715"/>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調和近似の相対的な三次補正はおよそ |ax|。|ax|≪1 が局所展開を用いる目安となる。</a:t>
            </a:r>
          </a:p>
        </p:txBody>
      </p:sp>
      <p:sp>
        <p:nvSpPr>
          <p:cNvPr id="15" name="TextBox 14"/>
          <p:cNvSpPr txBox="1"/>
          <p:nvPr/>
        </p:nvSpPr>
        <p:spPr>
          <a:xfrm>
            <a:off x="6242151" y="327491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結合の伸長に伴う軟化は表現できるが、電子状態・結合次数・周囲の結合再編成まではこの一項で記述できない。</a:t>
            </a:r>
          </a:p>
        </p:txBody>
      </p:sp>
      <p:sp>
        <p:nvSpPr>
          <p:cNvPr id="16" name="TextBox 15"/>
          <p:cNvSpPr txBox="1"/>
          <p:nvPr/>
        </p:nvSpPr>
        <p:spPr>
          <a:xfrm>
            <a:off x="6242151" y="4258195"/>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調和振動の一致だけでは、解離エネルギーや大変形の応答は決まらない。参照データが制約する領域を区別する。</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原著：Morse, Phys. Rev. 34, 57–64 (1929)。関数形：GROMACS 2026.0。Taylor展開は本教材。</a:t>
            </a:r>
          </a:p>
        </p:txBody>
      </p:sp>
      <p:sp>
        <p:nvSpPr>
          <p:cNvPr id="18" name="TextBox 1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Fourier二面角項と一般化トルク</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394743"/>
          </a:xfrm>
          <a:prstGeom prst="rect">
            <a:avLst/>
          </a:prstGeom>
          <a:noFill/>
        </p:spPr>
        <p:txBody>
          <a:bodyPr wrap="square" lIns="0" rIns="0" tIns="0" bIns="0" anchor="t">
            <a:noAutofit/>
          </a:bodyPr>
          <a:lstStyle/>
          <a:p>
            <a:pPr algn="l">
              <a:lnSpc>
                <a:spcPts val="2136"/>
              </a:lnSpc>
            </a:pPr>
            <a:r>
              <a:rPr sz="1750" b="1" lang="ja-JP" altLang="en-US">
                <a:solidFill>
                  <a:srgbClr val="0017C1"/>
                </a:solidFill>
                <a:latin typeface="Noto Sans JP"/>
                <a:ea typeface="Noto Sans JP"/>
              </a:rPr>
              <a:t>振幅・位相による表現</a:t>
            </a:r>
          </a:p>
        </p:txBody>
      </p:sp>
      <p:pic>
        <p:nvPicPr>
          <p:cNvPr id="7" name="Picture 6" descr="U_\phi=\sum_n\frac{V_n}{2}[1+\cos(n\phi-\gamma_n)]"/>
          <p:cNvPicPr>
            <a:picLocks noChangeAspect="1"/>
          </p:cNvPicPr>
          <p:nvPr/>
        </p:nvPicPr>
        <p:blipFill>
          <a:blip r:embed="rId3"/>
          <a:stretch>
            <a:fillRect/>
          </a:stretch>
        </p:blipFill>
        <p:spPr>
          <a:xfrm>
            <a:off x="609904" y="1697763"/>
            <a:ext cx="3239008" cy="668528"/>
          </a:xfrm>
          <a:prstGeom prst="rect">
            <a:avLst/>
          </a:prstGeom>
        </p:spPr>
      </p:pic>
      <p:pic>
        <p:nvPicPr>
          <p:cNvPr id="8" name="Picture 7" descr="a_n=\frac{V_n}{2}\cos\gamma_n,\qquad b_n=\frac{V_n}{2}\sin\gamma_n"/>
          <p:cNvPicPr>
            <a:picLocks noChangeAspect="1"/>
          </p:cNvPicPr>
          <p:nvPr/>
        </p:nvPicPr>
        <p:blipFill>
          <a:blip r:embed="rId4"/>
          <a:stretch>
            <a:fillRect/>
          </a:stretch>
        </p:blipFill>
        <p:spPr>
          <a:xfrm>
            <a:off x="609904" y="2466875"/>
            <a:ext cx="3769359" cy="554736"/>
          </a:xfrm>
          <a:prstGeom prst="rect">
            <a:avLst/>
          </a:prstGeom>
        </p:spPr>
      </p:pic>
      <p:sp>
        <p:nvSpPr>
          <p:cNvPr id="9" name="TextBox 8"/>
          <p:cNvSpPr txBox="1"/>
          <p:nvPr/>
        </p:nvSpPr>
        <p:spPr>
          <a:xfrm>
            <a:off x="609904" y="3122195"/>
            <a:ext cx="5339638" cy="871179"/>
          </a:xfrm>
          <a:prstGeom prst="rect">
            <a:avLst/>
          </a:prstGeom>
          <a:noFill/>
        </p:spPr>
        <p:txBody>
          <a:bodyPr wrap="square" lIns="0" rIns="0" tIns="0" bIns="0" anchor="t">
            <a:noAutofit/>
          </a:bodyPr>
          <a:lstStyle/>
          <a:p>
            <a:pPr algn="l">
              <a:lnSpc>
                <a:spcPts val="2010"/>
              </a:lnSpc>
            </a:pPr>
            <a:r>
              <a:rPr sz="1647" b="0" lang="ja-JP" altLang="en-US">
                <a:solidFill>
                  <a:srgbClr val="333333"/>
                </a:solidFill>
                <a:latin typeface="Noto Sans JP"/>
                <a:ea typeface="Noto Sans JP"/>
              </a:rPr>
              <a:t>V_n は単独成分の最大値と最小値の差。複数成分を足したときの障壁は、各 V_n の単純な和ではない。</a:t>
            </a:r>
          </a:p>
        </p:txBody>
      </p:sp>
      <p:sp>
        <p:nvSpPr>
          <p:cNvPr id="11" name="TextBox 10"/>
          <p:cNvSpPr txBox="1"/>
          <p:nvPr/>
        </p:nvSpPr>
        <p:spPr>
          <a:xfrm>
            <a:off x="609904" y="5808459"/>
            <a:ext cx="5339638" cy="264744"/>
          </a:xfrm>
          <a:prstGeom prst="rect">
            <a:avLst/>
          </a:prstGeom>
          <a:noFill/>
        </p:spPr>
        <p:txBody>
          <a:bodyPr wrap="square" lIns="0" rIns="0" tIns="0" bIns="0" anchor="t">
            <a:noAutofit/>
          </a:bodyPr>
          <a:lstStyle/>
          <a:p>
            <a:pPr>
              <a:lnSpc>
                <a:spcPts val="1679"/>
              </a:lnSpc>
              <a:spcAft>
                <a:spcPts val="0"/>
              </a:spcAft>
            </a:pPr>
            <a:r>
              <a:rPr sz="1200" i="0" b="0" lang="ja-JP" altLang="en-US">
                <a:latin typeface="Noto Sans JP"/>
                <a:solidFill>
                  <a:srgbClr val="666666"/>
                </a:solidFill>
              </a:rPr>
              <a:t>位相γn = 0の例。同じ振幅でも、周期数で谷の数が変わる。</a:t>
            </a:r>
          </a:p>
        </p:txBody>
      </p:sp>
      <p:sp>
        <p:nvSpPr>
          <p:cNvPr id="12" name="TextBox 11"/>
          <p:cNvSpPr txBox="1"/>
          <p:nvPr/>
        </p:nvSpPr>
        <p:spPr>
          <a:xfrm>
            <a:off x="6242151" y="1280160"/>
            <a:ext cx="5339638" cy="421083"/>
          </a:xfrm>
          <a:prstGeom prst="rect">
            <a:avLst/>
          </a:prstGeom>
          <a:noFill/>
        </p:spPr>
        <p:txBody>
          <a:bodyPr wrap="square" lIns="0" rIns="0" tIns="0" bIns="0" anchor="t">
            <a:noAutofit/>
          </a:bodyPr>
          <a:lstStyle/>
          <a:p>
            <a:pPr algn="l">
              <a:lnSpc>
                <a:spcPts val="2343"/>
              </a:lnSpc>
            </a:pPr>
            <a:r>
              <a:rPr sz="1920" b="1" lang="ja-JP" altLang="en-US">
                <a:solidFill>
                  <a:srgbClr val="0017C1"/>
                </a:solidFill>
                <a:latin typeface="Noto Sans JP"/>
                <a:ea typeface="Noto Sans JP"/>
              </a:rPr>
              <a:t>エネルギーの微分から回転方向の力へ</a:t>
            </a:r>
          </a:p>
        </p:txBody>
      </p:sp>
      <p:pic>
        <p:nvPicPr>
          <p:cNvPr id="13" name="Picture 12" descr="\tau_\phi=-\frac{\partial U_\phi}{\partial\phi}=\sum_n\frac{nV_n}{2}\sin(n\phi-\gamma_n)"/>
          <p:cNvPicPr>
            <a:picLocks noChangeAspect="1"/>
          </p:cNvPicPr>
          <p:nvPr/>
        </p:nvPicPr>
        <p:blipFill>
          <a:blip r:embed="rId6"/>
          <a:stretch>
            <a:fillRect/>
          </a:stretch>
        </p:blipFill>
        <p:spPr>
          <a:xfrm>
            <a:off x="6242151" y="1724103"/>
            <a:ext cx="4124960" cy="786384"/>
          </a:xfrm>
          <a:prstGeom prst="rect">
            <a:avLst/>
          </a:prstGeom>
        </p:spPr>
      </p:pic>
      <p:pic>
        <p:nvPicPr>
          <p:cNvPr id="14" name="Picture 13" descr="\mathbf F_i^{(\phi)}=\tau_\phi\nabla_i\phi"/>
          <p:cNvPicPr>
            <a:picLocks noChangeAspect="1"/>
          </p:cNvPicPr>
          <p:nvPr/>
        </p:nvPicPr>
        <p:blipFill>
          <a:blip r:embed="rId7"/>
          <a:stretch>
            <a:fillRect/>
          </a:stretch>
        </p:blipFill>
        <p:spPr>
          <a:xfrm>
            <a:off x="6242151" y="2611071"/>
            <a:ext cx="1534160" cy="461264"/>
          </a:xfrm>
          <a:prstGeom prst="rect">
            <a:avLst/>
          </a:prstGeom>
        </p:spPr>
      </p:pic>
      <p:sp>
        <p:nvSpPr>
          <p:cNvPr id="15" name="TextBox 14"/>
          <p:cNvSpPr txBox="1"/>
          <p:nvPr/>
        </p:nvSpPr>
        <p:spPr>
          <a:xfrm>
            <a:off x="6242151" y="3172919"/>
            <a:ext cx="5339638" cy="665419"/>
          </a:xfrm>
          <a:prstGeom prst="rect">
            <a:avLst/>
          </a:prstGeom>
          <a:noFill/>
        </p:spPr>
        <p:txBody>
          <a:bodyPr wrap="square" lIns="0" rIns="0" tIns="0" bIns="0" anchor="t">
            <a:noAutofit/>
          </a:bodyPr>
          <a:lstStyle/>
          <a:p>
            <a:pPr algn="l">
              <a:lnSpc>
                <a:spcPts val="2205"/>
              </a:lnSpc>
            </a:pPr>
            <a:r>
              <a:rPr sz="1807" b="0" lang="ja-JP" altLang="en-US">
                <a:solidFill>
                  <a:srgbClr val="333333"/>
                </a:solidFill>
                <a:latin typeface="Noto Sans JP"/>
                <a:ea typeface="Noto Sans JP"/>
              </a:rPr>
              <a:t>τ_φ は二面角に共役な一般化力。原子に働くCartesian力へ変換するには ∇ᵢφ を掛ける。</a:t>
            </a:r>
          </a:p>
        </p:txBody>
      </p:sp>
      <p:sp>
        <p:nvSpPr>
          <p:cNvPr id="16" name="TextBox 15"/>
          <p:cNvSpPr txBox="1"/>
          <p:nvPr/>
        </p:nvSpPr>
        <p:spPr>
          <a:xfrm>
            <a:off x="6242151" y="3861198"/>
            <a:ext cx="5339638" cy="1225682"/>
          </a:xfrm>
          <a:prstGeom prst="rect">
            <a:avLst/>
          </a:prstGeom>
          <a:noFill/>
        </p:spPr>
        <p:txBody>
          <a:bodyPr wrap="square" lIns="0" rIns="0" tIns="0" bIns="0" anchor="t">
            <a:noAutofit/>
          </a:bodyPr>
          <a:lstStyle/>
          <a:p>
            <a:pPr algn="l">
              <a:lnSpc>
                <a:spcPts val="2205"/>
              </a:lnSpc>
            </a:pPr>
            <a:r>
              <a:rPr sz="1807" b="0" lang="ja-JP" altLang="en-US">
                <a:solidFill>
                  <a:srgbClr val="333333"/>
                </a:solidFill>
                <a:latin typeface="Noto Sans JP"/>
                <a:ea typeface="Noto Sans JP"/>
              </a:rPr>
              <a:t>高い周期数では、エネルギー振幅が同じでも勾配は n、曲率は n² に比例して増える。エネルギーの残差だけでは力の誤差を評価できない。</a:t>
            </a:r>
          </a:p>
        </p:txBody>
      </p:sp>
      <p:sp>
        <p:nvSpPr>
          <p:cNvPr id="17" name="TextBox 16"/>
          <p:cNvSpPr txBox="1"/>
          <p:nvPr/>
        </p:nvSpPr>
        <p:spPr>
          <a:xfrm>
            <a:off x="6242151" y="5109740"/>
            <a:ext cx="5339638" cy="945550"/>
          </a:xfrm>
          <a:prstGeom prst="rect">
            <a:avLst/>
          </a:prstGeom>
          <a:noFill/>
        </p:spPr>
        <p:txBody>
          <a:bodyPr wrap="square" lIns="0" rIns="0" tIns="0" bIns="0" anchor="t">
            <a:noAutofit/>
          </a:bodyPr>
          <a:lstStyle/>
          <a:p>
            <a:pPr algn="l">
              <a:lnSpc>
                <a:spcPts val="2205"/>
              </a:lnSpc>
            </a:pPr>
            <a:r>
              <a:rPr sz="1807" b="0" lang="ja-JP" altLang="en-US">
                <a:solidFill>
                  <a:srgbClr val="333333"/>
                </a:solidFill>
                <a:latin typeface="Noto Sans JP"/>
                <a:ea typeface="Noto Sans JP"/>
              </a:rPr>
              <a:t>自由な位相を持つ当てはめでは、まず a_n、b_n を線形係数として求め、振幅・位相へ変換する方法が使える。</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関数形・規約：GROMACS 2026.0 Reference Manual, Bonded / Non-bonded interactions。式変形と考察は本教材。</a:t>
            </a:r>
          </a:p>
        </p:txBody>
      </p:sp>
      <p:pic>
        <p:nvPicPr>
          <p:cNvPr id="20" name="Picture 19" descr="torsion_wide.png"/>
          <p:cNvPicPr>
            <a:picLocks noChangeAspect="1"/>
          </p:cNvPicPr>
          <p:nvPr/>
        </p:nvPicPr>
        <p:blipFill>
          <a:blip r:embed="rId8"/>
          <a:stretch>
            <a:fillRect/>
          </a:stretch>
        </p:blipFill>
        <p:spPr>
          <a:xfrm>
            <a:off x="900782" y="4069080"/>
            <a:ext cx="4745539" cy="1773936"/>
          </a:xfrm>
          <a:prstGeom prst="rect">
            <a:avLst/>
          </a:prstGeom>
        </p:spPr>
      </p:pic>
      <p:sp>
        <p:nvSpPr>
          <p:cNvPr id="21" name="TextBox 20"/>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面外変形と二次元補正：improperとCMAP</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局所的な平面性・立体配置の記述</a:t>
            </a:r>
          </a:p>
        </p:txBody>
      </p:sp>
      <p:pic>
        <p:nvPicPr>
          <p:cNvPr id="7" name="Picture 6" descr="U_{\rm imp}=\frac12k_\xi\,\Delta\xi^2"/>
          <p:cNvPicPr>
            <a:picLocks noChangeAspect="1"/>
          </p:cNvPicPr>
          <p:nvPr/>
        </p:nvPicPr>
        <p:blipFill>
          <a:blip r:embed="rId3"/>
          <a:stretch>
            <a:fillRect/>
          </a:stretch>
        </p:blipFill>
        <p:spPr>
          <a:xfrm>
            <a:off x="609904" y="1729371"/>
            <a:ext cx="1912112" cy="587248"/>
          </a:xfrm>
          <a:prstGeom prst="rect">
            <a:avLst/>
          </a:prstGeom>
        </p:spPr>
      </p:pic>
      <p:sp>
        <p:nvSpPr>
          <p:cNvPr id="8" name="TextBox 7"/>
          <p:cNvSpPr txBox="1"/>
          <p:nvPr/>
        </p:nvSpPr>
        <p:spPr>
          <a:xfrm>
            <a:off x="609904" y="241720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ξ は指定した原子順序から定義する面外変形の角度。調和型では基準角近傍の差を用い、周期の分岐を適切に処理する。</a:t>
            </a:r>
          </a:p>
        </p:txBody>
      </p:sp>
      <p:sp>
        <p:nvSpPr>
          <p:cNvPr id="9" name="TextBox 8"/>
          <p:cNvSpPr txBox="1"/>
          <p:nvPr/>
        </p:nvSpPr>
        <p:spPr>
          <a:xfrm>
            <a:off x="609904" y="3400488"/>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平面性や立体配置を保つ目的で使うが、proper二面角とは原子の選び方が異なる。周期型improperを使う力場もあり、規約は統一されていない。</a:t>
            </a:r>
          </a:p>
        </p:txBody>
      </p:sp>
      <p:sp>
        <p:nvSpPr>
          <p:cNvPr id="10" name="TextBox 9"/>
          <p:cNvSpPr txBox="1"/>
          <p:nvPr/>
        </p:nvSpPr>
        <p:spPr>
          <a:xfrm>
            <a:off x="609904" y="4668862"/>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平面構造からの変形は局所的な電子構造に関わるため、非結合項だけで十分に制約されるとは限らない。</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二つの主鎖二面角を同時に補正する</a:t>
            </a:r>
          </a:p>
        </p:txBody>
      </p:sp>
      <p:pic>
        <p:nvPicPr>
          <p:cNvPr id="12" name="Picture 11" descr="U(\phi,\psi)=U_{\rm base}(\phi,\psi)+C(\phi,\psi)"/>
          <p:cNvPicPr>
            <a:picLocks noChangeAspect="1"/>
          </p:cNvPicPr>
          <p:nvPr/>
        </p:nvPicPr>
        <p:blipFill>
          <a:blip r:embed="rId4"/>
          <a:stretch>
            <a:fillRect/>
          </a:stretch>
        </p:blipFill>
        <p:spPr>
          <a:xfrm>
            <a:off x="6242151" y="1729371"/>
            <a:ext cx="3700272" cy="321056"/>
          </a:xfrm>
          <a:prstGeom prst="rect">
            <a:avLst/>
          </a:prstGeom>
        </p:spPr>
      </p:pic>
      <p:pic>
        <p:nvPicPr>
          <p:cNvPr id="13" name="Picture 12" descr="\frac{\partial^2 C}{\partial\phi\partial\psi}\ne0\quad\text{in general}"/>
          <p:cNvPicPr>
            <a:picLocks noChangeAspect="1"/>
          </p:cNvPicPr>
          <p:nvPr/>
        </p:nvPicPr>
        <p:blipFill>
          <a:blip r:embed="rId5"/>
          <a:stretch>
            <a:fillRect/>
          </a:stretch>
        </p:blipFill>
        <p:spPr>
          <a:xfrm>
            <a:off x="6242151" y="2151011"/>
            <a:ext cx="2647696" cy="717296"/>
          </a:xfrm>
          <a:prstGeom prst="rect">
            <a:avLst/>
          </a:prstGeom>
        </p:spPr>
      </p:pic>
      <p:sp>
        <p:nvSpPr>
          <p:cNvPr id="14" name="TextBox 13"/>
          <p:cNvSpPr txBox="1"/>
          <p:nvPr/>
        </p:nvSpPr>
        <p:spPr>
          <a:xfrm>
            <a:off x="6242151" y="296889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CMAPは周期的な二次元格子上の補正を補間する。独立した一次元関数 f(φ)+g(ψ) では表せない結合を含められる。</a:t>
            </a:r>
          </a:p>
        </p:txBody>
      </p:sp>
      <p:sp>
        <p:nvSpPr>
          <p:cNvPr id="15" name="TextBox 14"/>
          <p:cNvSpPr txBox="1"/>
          <p:nvPr/>
        </p:nvSpPr>
        <p:spPr>
          <a:xfrm>
            <a:off x="6242151" y="3952176"/>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補正は採用した電荷・非結合項・基底の二面角項を前提とする。同じCを異なる基底モデルへ足しても同じエネルギー面にはならない。</a:t>
            </a:r>
          </a:p>
        </p:txBody>
      </p:sp>
      <p:sp>
        <p:nvSpPr>
          <p:cNvPr id="16" name="TextBox 15"/>
          <p:cNvSpPr txBox="1"/>
          <p:nvPr/>
        </p:nvSpPr>
        <p:spPr>
          <a:xfrm>
            <a:off x="6242151" y="5220550"/>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格子上の値だけでなく補間された勾配の連続性が、安定なMDに必要となる。</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原著：MacKerell, Feig &amp; Brooks, JACS 126, 698–699 (2004)。規約：GROMACS 2026.0。</a:t>
            </a:r>
          </a:p>
        </p:txBody>
      </p:sp>
      <p:sp>
        <p:nvSpPr>
          <p:cNvPr id="18" name="TextBox 1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独立検証と転用可能性の評価</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化学環境単位でデータを分離する</a:t>
            </a:r>
          </a:p>
        </p:txBody>
      </p:sp>
      <p:sp>
        <p:nvSpPr>
          <p:cNvPr id="7" name="TextBox 6"/>
          <p:cNvSpPr txBox="1"/>
          <p:nvPr/>
        </p:nvSpPr>
        <p:spPr>
          <a:xfrm>
            <a:off x="609904" y="172937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訓練データは係数の推定、検証データは関数形・重み・正則化の選択、最終評価データは選択後の予測性能の測定に使う。</a:t>
            </a:r>
          </a:p>
        </p:txBody>
      </p:sp>
      <p:sp>
        <p:nvSpPr>
          <p:cNvPr id="8" name="TextBox 7"/>
          <p:cNvSpPr txBox="1"/>
          <p:nvPr/>
        </p:nvSpPr>
        <p:spPr>
          <a:xfrm>
            <a:off x="609904" y="2712656"/>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同一分子の隣接スキャン点を分割しただけでは、新しい化学環境への転用を評価できない。分子・骨格・官能基・電荷状態に基づく分割を検討する。</a:t>
            </a:r>
          </a:p>
        </p:txBody>
      </p:sp>
      <p:sp>
        <p:nvSpPr>
          <p:cNvPr id="10" name="TextBox 9"/>
          <p:cNvSpPr txBox="1"/>
          <p:nvPr/>
        </p:nvSpPr>
        <p:spPr>
          <a:xfrm>
            <a:off x="609904" y="5820283"/>
            <a:ext cx="5339638" cy="283337"/>
          </a:xfrm>
          <a:prstGeom prst="rect">
            <a:avLst/>
          </a:prstGeom>
          <a:noFill/>
        </p:spPr>
        <p:txBody>
          <a:bodyPr wrap="square" lIns="0" rIns="0" tIns="0" bIns="0" anchor="t">
            <a:noAutofit/>
          </a:bodyPr>
          <a:lstStyle/>
          <a:p>
            <a:pPr algn="l">
              <a:lnSpc>
                <a:spcPts val="1403"/>
              </a:lnSpc>
            </a:pPr>
            <a:r>
              <a:rPr sz="1150" b="0" lang="ja-JP" altLang="en-US">
                <a:solidFill>
                  <a:srgbClr val="666666"/>
                </a:solidFill>
                <a:latin typeface="Noto Sans JP"/>
                <a:ea typeface="Noto Sans JP"/>
              </a:rPr>
              <a:t>推定とモデル選択から独立した評価データを確保する。</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改善を複数の指標で判断する</a:t>
            </a:r>
          </a:p>
        </p:txBody>
      </p:sp>
      <p:pic>
        <p:nvPicPr>
          <p:cNvPr id="12" name="Picture 11" descr="{\rm RMSE}=\sqrt{\frac1M\sum_m(y_m-y_m^{\rm ref})^2}"/>
          <p:cNvPicPr>
            <a:picLocks noChangeAspect="1"/>
          </p:cNvPicPr>
          <p:nvPr/>
        </p:nvPicPr>
        <p:blipFill>
          <a:blip r:embed="rId4"/>
          <a:stretch>
            <a:fillRect/>
          </a:stretch>
        </p:blipFill>
        <p:spPr>
          <a:xfrm>
            <a:off x="6242151" y="1729371"/>
            <a:ext cx="3551936" cy="857504"/>
          </a:xfrm>
          <a:prstGeom prst="rect">
            <a:avLst/>
          </a:prstGeom>
        </p:spPr>
      </p:pic>
      <p:sp>
        <p:nvSpPr>
          <p:cNvPr id="13" name="TextBox 12"/>
          <p:cNvSpPr txBox="1"/>
          <p:nvPr/>
        </p:nvSpPr>
        <p:spPr>
          <a:xfrm>
            <a:off x="6242151" y="2687459"/>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集約指標に加え、化学種別の偏り、最大誤差、外れ値、統計的不確かさを示す。平均的な改善の陰で特定の官能基が悪化する場合がある。</a:t>
            </a:r>
          </a:p>
        </p:txBody>
      </p:sp>
      <p:sp>
        <p:nvSpPr>
          <p:cNvPr id="14" name="TextBox 13"/>
          <p:cNvSpPr txBox="1"/>
          <p:nvPr/>
        </p:nvSpPr>
        <p:spPr>
          <a:xfrm>
            <a:off x="6242151" y="395583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局所的なQM精度、凝縮相の物性、溶液中の配座分布は別々に評価する。訓練範囲外では入力構造とモデルの適用範囲を明示する。</a:t>
            </a:r>
          </a:p>
        </p:txBody>
      </p:sp>
      <p:sp>
        <p:nvSpPr>
          <p:cNvPr id="15" name="TextBox 14"/>
          <p:cNvSpPr txBox="1"/>
          <p:nvPr/>
        </p:nvSpPr>
        <p:spPr>
          <a:xfrm>
            <a:off x="6242151" y="4939118"/>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予測の改善とサンプリングの改善を混同せず、同じ条件で十分に収束した比較を行う。</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最適化の参考：Wang, Martínez &amp; Pande, J. Phys. Chem. Lett. 5, 1885–1891 (2014), ForceBalance。導出は本教材。 独立検証の実例：Boothroyd et al., OpenFF Sage (2023)。</a:t>
            </a:r>
          </a:p>
        </p:txBody>
      </p:sp>
      <p:sp>
        <p:nvSpPr>
          <p:cNvPr id="18" name="Rectangle 17"/>
          <p:cNvSpPr/>
          <p:nvPr/>
        </p:nvSpPr>
        <p:spPr>
          <a:xfrm>
            <a:off x="731520" y="4526280"/>
            <a:ext cx="1481328" cy="941832"/>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99432"/>
            <a:ext cx="1335024" cy="320040"/>
          </a:xfrm>
          <a:prstGeom prst="rect">
            <a:avLst/>
          </a:prstGeom>
          <a:noFill/>
        </p:spPr>
        <p:txBody>
          <a:bodyPr wrap="square" lIns="0" rIns="0" tIns="0" bIns="0" anchor="t">
            <a:noAutofit/>
          </a:bodyPr>
          <a:lstStyle/>
          <a:p>
            <a:pPr algn="l">
              <a:lnSpc>
                <a:spcPts val="2100"/>
              </a:lnSpc>
            </a:pPr>
            <a:r>
              <a:rPr sz="1500" b="1" lang="ja-JP" altLang="en-US">
                <a:solidFill>
                  <a:srgbClr val="1748B7"/>
                </a:solidFill>
                <a:latin typeface="Noto Sans JP"/>
                <a:ea typeface="Noto Sans JP"/>
              </a:rPr>
              <a:t>訓練データ</a:t>
            </a:r>
          </a:p>
        </p:txBody>
      </p:sp>
      <p:sp>
        <p:nvSpPr>
          <p:cNvPr id="20" name="TextBox 19"/>
          <p:cNvSpPr txBox="1"/>
          <p:nvPr/>
        </p:nvSpPr>
        <p:spPr>
          <a:xfrm>
            <a:off x="804672" y="5010912"/>
            <a:ext cx="1335024" cy="356616"/>
          </a:xfrm>
          <a:prstGeom prst="rect">
            <a:avLst/>
          </a:prstGeom>
          <a:noFill/>
        </p:spPr>
        <p:txBody>
          <a:bodyPr wrap="square" lIns="0" rIns="0" tIns="0" bIns="0" anchor="t">
            <a:noAutofit/>
          </a:bodyPr>
          <a:lstStyle/>
          <a:p>
            <a:pPr algn="l">
              <a:lnSpc>
                <a:spcPts val="1679"/>
              </a:lnSpc>
            </a:pPr>
            <a:r>
              <a:rPr sz="1200" b="0" lang="ja-JP" altLang="en-US">
                <a:solidFill>
                  <a:srgbClr val="202020"/>
                </a:solidFill>
                <a:latin typeface="Noto Sans JP"/>
                <a:ea typeface="Noto Sans JP"/>
              </a:rPr>
              <a:t>係数を推定</a:t>
            </a:r>
          </a:p>
        </p:txBody>
      </p:sp>
      <p:sp>
        <p:nvSpPr>
          <p:cNvPr id="21" name="Rectangle 20"/>
          <p:cNvSpPr/>
          <p:nvPr/>
        </p:nvSpPr>
        <p:spPr>
          <a:xfrm>
            <a:off x="2542032" y="4526280"/>
            <a:ext cx="1481328" cy="941832"/>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15184" y="4599432"/>
            <a:ext cx="1335024" cy="320040"/>
          </a:xfrm>
          <a:prstGeom prst="rect">
            <a:avLst/>
          </a:prstGeom>
          <a:noFill/>
        </p:spPr>
        <p:txBody>
          <a:bodyPr wrap="square" lIns="0" rIns="0" tIns="0" bIns="0" anchor="t">
            <a:noAutofit/>
          </a:bodyPr>
          <a:lstStyle/>
          <a:p>
            <a:pPr algn="l">
              <a:lnSpc>
                <a:spcPts val="2100"/>
              </a:lnSpc>
            </a:pPr>
            <a:r>
              <a:rPr sz="1500" b="1" lang="ja-JP" altLang="en-US">
                <a:solidFill>
                  <a:srgbClr val="1748B7"/>
                </a:solidFill>
                <a:latin typeface="Noto Sans JP"/>
                <a:ea typeface="Noto Sans JP"/>
              </a:rPr>
              <a:t>検証データ</a:t>
            </a:r>
          </a:p>
        </p:txBody>
      </p:sp>
      <p:sp>
        <p:nvSpPr>
          <p:cNvPr id="23" name="TextBox 22"/>
          <p:cNvSpPr txBox="1"/>
          <p:nvPr/>
        </p:nvSpPr>
        <p:spPr>
          <a:xfrm>
            <a:off x="2615184" y="5010912"/>
            <a:ext cx="1335024" cy="356616"/>
          </a:xfrm>
          <a:prstGeom prst="rect">
            <a:avLst/>
          </a:prstGeom>
          <a:noFill/>
        </p:spPr>
        <p:txBody>
          <a:bodyPr wrap="square" lIns="0" rIns="0" tIns="0" bIns="0" anchor="t">
            <a:noAutofit/>
          </a:bodyPr>
          <a:lstStyle/>
          <a:p>
            <a:pPr algn="l">
              <a:lnSpc>
                <a:spcPts val="1679"/>
              </a:lnSpc>
            </a:pPr>
            <a:r>
              <a:rPr sz="1200" b="0" lang="ja-JP" altLang="en-US">
                <a:solidFill>
                  <a:srgbClr val="202020"/>
                </a:solidFill>
                <a:latin typeface="Noto Sans JP"/>
                <a:ea typeface="Noto Sans JP"/>
              </a:rPr>
              <a:t>関数形などを選択</a:t>
            </a:r>
          </a:p>
        </p:txBody>
      </p:sp>
      <p:sp>
        <p:nvSpPr>
          <p:cNvPr id="24" name="Rectangle 23"/>
          <p:cNvSpPr/>
          <p:nvPr/>
        </p:nvSpPr>
        <p:spPr>
          <a:xfrm>
            <a:off x="4352544" y="4526280"/>
            <a:ext cx="1481328" cy="941832"/>
          </a:xfrm>
          <a:prstGeom prst="rect">
            <a:avLst/>
          </a:prstGeom>
          <a:solidFill>
            <a:srgbClr val="ED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4599432"/>
            <a:ext cx="1335024" cy="320040"/>
          </a:xfrm>
          <a:prstGeom prst="rect">
            <a:avLst/>
          </a:prstGeom>
          <a:noFill/>
        </p:spPr>
        <p:txBody>
          <a:bodyPr wrap="square" lIns="0" rIns="0" tIns="0" bIns="0" anchor="t">
            <a:noAutofit/>
          </a:bodyPr>
          <a:lstStyle/>
          <a:p>
            <a:pPr algn="l">
              <a:lnSpc>
                <a:spcPts val="2100"/>
              </a:lnSpc>
            </a:pPr>
            <a:r>
              <a:rPr sz="1500" b="1" lang="ja-JP" altLang="en-US">
                <a:solidFill>
                  <a:srgbClr val="1748B7"/>
                </a:solidFill>
                <a:latin typeface="Noto Sans JP"/>
                <a:ea typeface="Noto Sans JP"/>
              </a:rPr>
              <a:t>評価データ</a:t>
            </a:r>
          </a:p>
        </p:txBody>
      </p:sp>
      <p:sp>
        <p:nvSpPr>
          <p:cNvPr id="26" name="TextBox 25"/>
          <p:cNvSpPr txBox="1"/>
          <p:nvPr/>
        </p:nvSpPr>
        <p:spPr>
          <a:xfrm>
            <a:off x="4425696" y="5010912"/>
            <a:ext cx="1335024" cy="356616"/>
          </a:xfrm>
          <a:prstGeom prst="rect">
            <a:avLst/>
          </a:prstGeom>
          <a:noFill/>
        </p:spPr>
        <p:txBody>
          <a:bodyPr wrap="square" lIns="0" rIns="0" tIns="0" bIns="0" anchor="t">
            <a:noAutofit/>
          </a:bodyPr>
          <a:lstStyle/>
          <a:p>
            <a:pPr algn="l">
              <a:lnSpc>
                <a:spcPts val="1679"/>
              </a:lnSpc>
            </a:pPr>
            <a:r>
              <a:rPr sz="1200" b="0" lang="ja-JP" altLang="en-US">
                <a:solidFill>
                  <a:srgbClr val="202020"/>
                </a:solidFill>
                <a:latin typeface="Noto Sans JP"/>
                <a:ea typeface="Noto Sans JP"/>
              </a:rPr>
              <a:t>最終性能を測定</a:t>
            </a:r>
          </a:p>
        </p:txBody>
      </p:sp>
      <p:sp>
        <p:nvSpPr>
          <p:cNvPr id="27" name="TextBox 26"/>
          <p:cNvSpPr txBox="1"/>
          <p:nvPr/>
        </p:nvSpPr>
        <p:spPr>
          <a:xfrm>
            <a:off x="2221992" y="4800600"/>
            <a:ext cx="292608" cy="320040"/>
          </a:xfrm>
          <a:prstGeom prst="rect">
            <a:avLst/>
          </a:prstGeom>
          <a:noFill/>
        </p:spPr>
        <p:txBody>
          <a:bodyPr wrap="square" lIns="0" rIns="0" tIns="0" bIns="0" anchor="t">
            <a:noAutofit/>
          </a:bodyPr>
          <a:lstStyle/>
          <a:p>
            <a:pPr algn="l">
              <a:lnSpc>
                <a:spcPts val="2379"/>
              </a:lnSpc>
            </a:pPr>
            <a:r>
              <a:rPr sz="1700" b="1" lang="ja-JP" altLang="en-US">
                <a:solidFill>
                  <a:srgbClr val="1748B7"/>
                </a:solidFill>
                <a:latin typeface="Noto Sans JP"/>
                <a:ea typeface="Noto Sans JP"/>
              </a:rPr>
              <a:t>→</a:t>
            </a:r>
          </a:p>
        </p:txBody>
      </p:sp>
      <p:sp>
        <p:nvSpPr>
          <p:cNvPr id="28" name="TextBox 27"/>
          <p:cNvSpPr txBox="1"/>
          <p:nvPr/>
        </p:nvSpPr>
        <p:spPr>
          <a:xfrm>
            <a:off x="4023360" y="4800600"/>
            <a:ext cx="292608" cy="320040"/>
          </a:xfrm>
          <a:prstGeom prst="rect">
            <a:avLst/>
          </a:prstGeom>
          <a:noFill/>
        </p:spPr>
        <p:txBody>
          <a:bodyPr wrap="square" lIns="0" rIns="0" tIns="0" bIns="0" anchor="t">
            <a:noAutofit/>
          </a:bodyPr>
          <a:lstStyle/>
          <a:p>
            <a:pPr algn="l">
              <a:lnSpc>
                <a:spcPts val="2379"/>
              </a:lnSpc>
            </a:pPr>
            <a:r>
              <a:rPr sz="1700" b="1" lang="ja-JP" altLang="en-US">
                <a:solidFill>
                  <a:srgbClr val="1748B7"/>
                </a:solidFill>
                <a:latin typeface="Noto Sans JP"/>
                <a:ea typeface="Noto Sans JP"/>
              </a:rPr>
              <a:t>→</a:t>
            </a:r>
          </a:p>
        </p:txBody>
      </p:sp>
      <p:sp>
        <p:nvSpPr>
          <p:cNvPr id="29" name="TextBox 2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AMBER・CHARMM・OPLSの初期の設計課題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巨大分子へ適用できる共通基盤</a:t>
            </a:r>
          </a:p>
        </p:txBody>
      </p:sp>
      <p:sp>
        <p:nvSpPr>
          <p:cNvPr id="7" name="TextBox 6"/>
          <p:cNvSpPr txBox="1"/>
          <p:nvPr/>
        </p:nvSpPr>
        <p:spPr>
          <a:xfrm>
            <a:off x="609904" y="1729371"/>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CHARMM（Brooksら、1983）は、経験的エネルギー関数の下で最小化・振動・MDなどを扱う計算体系を示した。プログラムと個別のパラメータ版は区別する。</a:t>
            </a:r>
          </a:p>
        </p:txBody>
      </p:sp>
      <p:sp>
        <p:nvSpPr>
          <p:cNvPr id="8" name="TextBox 7"/>
          <p:cNvSpPr txBox="1"/>
          <p:nvPr/>
        </p:nvSpPr>
        <p:spPr>
          <a:xfrm>
            <a:off x="609904" y="2997746"/>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Weinerら（1984）のAMBER力場は、タンパク質と核酸へ適用する関数形とパラメータ体系を整備した。</a:t>
            </a:r>
          </a:p>
        </p:txBody>
      </p:sp>
      <p:sp>
        <p:nvSpPr>
          <p:cNvPr id="9" name="TextBox 8"/>
          <p:cNvSpPr txBox="1"/>
          <p:nvPr/>
        </p:nvSpPr>
        <p:spPr>
          <a:xfrm>
            <a:off x="609904" y="398103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共通の項と化学環境の分類を使うことで、多数の残基・分子に同じ計算規則を適用できるようになった。</a:t>
            </a:r>
          </a:p>
        </p:txBody>
      </p:sp>
      <p:sp>
        <p:nvSpPr>
          <p:cNvPr id="10" name="TextBox 9"/>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電荷の再現性と液体の熱力学</a:t>
            </a:r>
          </a:p>
        </p:txBody>
      </p:sp>
      <p:sp>
        <p:nvSpPr>
          <p:cNvPr id="11" name="TextBox 10"/>
          <p:cNvSpPr txBox="1"/>
          <p:nvPr/>
        </p:nvSpPr>
        <p:spPr>
          <a:xfrm>
            <a:off x="6242151" y="1729371"/>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Baylyら（1993）のRESPは、外部ESPからの電荷推定の不安定性に抑制を導入した。Cornellら（1995）はタンパク質・核酸・有機分子の体系へ展開した。</a:t>
            </a:r>
          </a:p>
        </p:txBody>
      </p:sp>
      <p:sp>
        <p:nvSpPr>
          <p:cNvPr id="12" name="TextBox 11"/>
          <p:cNvSpPr txBox="1"/>
          <p:nvPr/>
        </p:nvSpPr>
        <p:spPr>
          <a:xfrm>
            <a:off x="6242151" y="2997746"/>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OPLS-AA（Jorgensenら、1996）は、有機分子の構造・配座エネルギーと液体物性を用いて全原子モデルを開発・検証した。</a:t>
            </a:r>
          </a:p>
        </p:txBody>
      </p:sp>
      <p:sp>
        <p:nvSpPr>
          <p:cNvPr id="13" name="TextBox 12"/>
          <p:cNvSpPr txBox="1"/>
          <p:nvPr/>
        </p:nvSpPr>
        <p:spPr>
          <a:xfrm>
            <a:off x="6242151" y="398103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各系統で非結合の組合せ則や1–4規約も異なる。二面角やLJの係数だけを横断的に比較しても、全モデルの違いは説明できない。</a:t>
            </a:r>
          </a:p>
        </p:txBody>
      </p:sp>
      <p:sp>
        <p:nvSpPr>
          <p:cNvPr id="14" name="TextBox 13"/>
          <p:cNvSpPr txBox="1"/>
          <p:nvPr/>
        </p:nvSpPr>
        <p:spPr>
          <a:xfrm>
            <a:off x="6242151" y="4964315"/>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パラメータの転用では、調整の前提となる電荷、除外規則、分子表現を維持する。</a:t>
            </a:r>
          </a:p>
        </p:txBody>
      </p:sp>
      <p:sp>
        <p:nvSpPr>
          <p:cNvPr id="15" name="TextBox 14"/>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原著：Brooks et al., JCC (1983)／Weiner et al., JACS (1984)／Bayly et al. (1993)／Cornell et al. (1995)／Jorgensen et al. (1996)。</a:t>
            </a:r>
          </a:p>
        </p:txBody>
      </p:sp>
      <p:sp>
        <p:nvSpPr>
          <p:cNvPr id="16" name="TextBox 15"/>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付録｜熱平衡と確率分布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確率は、排他的な可能性を全部足すと1になる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nSpc>
                <a:spcPts val="2660"/>
              </a:lnSpc>
              <a:spcAft>
                <a:spcPts val="0"/>
              </a:spcAft>
            </a:pPr>
            <a:r>
              <a:rPr sz="1900" i="0" b="1" lang="ja-JP" altLang="en-US">
                <a:latin typeface="Noto Sans JP"/>
                <a:solidFill>
                  <a:srgbClr val="0017C1"/>
                </a:solidFill>
              </a:rPr>
              <a:t>離散状態の確率と平均</a:t>
            </a:r>
          </a:p>
        </p:txBody>
      </p:sp>
      <p:sp>
        <p:nvSpPr>
          <p:cNvPr id="7" name="TextBox 6"/>
          <p:cNvSpPr txBox="1"/>
          <p:nvPr/>
        </p:nvSpPr>
        <p:spPr>
          <a:xfrm>
            <a:off x="609904"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説明用の三状態A・B・Cが確率0.5、0.3、0.2で現れるとする。一回にはどれか一つだけが現れる。</a:t>
            </a:r>
          </a:p>
        </p:txBody>
      </p:sp>
      <p:pic>
        <p:nvPicPr>
          <p:cNvPr id="8" name="Picture 7" descr="p_A+p_B+p_C=1"/>
          <p:cNvPicPr>
            <a:picLocks noChangeAspect="1"/>
          </p:cNvPicPr>
          <p:nvPr/>
        </p:nvPicPr>
        <p:blipFill>
          <a:blip r:embed="rId3"/>
          <a:stretch>
            <a:fillRect/>
          </a:stretch>
        </p:blipFill>
        <p:spPr>
          <a:xfrm>
            <a:off x="609904" y="3015564"/>
            <a:ext cx="2133600" cy="294640"/>
          </a:xfrm>
          <a:prstGeom prst="rect">
            <a:avLst/>
          </a:prstGeom>
        </p:spPr>
      </p:pic>
      <p:sp>
        <p:nvSpPr>
          <p:cNvPr id="9" name="TextBox 8"/>
          <p:cNvSpPr txBox="1"/>
          <p:nvPr/>
        </p:nvSpPr>
        <p:spPr>
          <a:xfrm>
            <a:off x="609904" y="3410788"/>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AとBをまとめた集合の確率は0.8。状態の集合へ移るときは、その中の確率を足す。</a:t>
            </a:r>
          </a:p>
        </p:txBody>
      </p:sp>
      <p:pic>
        <p:nvPicPr>
          <p:cNvPr id="10" name="Picture 9" descr="\langle a\rangle=\sum_i p_i a_i"/>
          <p:cNvPicPr>
            <a:picLocks noChangeAspect="1"/>
          </p:cNvPicPr>
          <p:nvPr/>
        </p:nvPicPr>
        <p:blipFill>
          <a:blip r:embed="rId4"/>
          <a:stretch>
            <a:fillRect/>
          </a:stretch>
        </p:blipFill>
        <p:spPr>
          <a:xfrm>
            <a:off x="609904" y="4108983"/>
            <a:ext cx="1556512" cy="619760"/>
          </a:xfrm>
          <a:prstGeom prst="rect">
            <a:avLst/>
          </a:prstGeom>
        </p:spPr>
      </p:pic>
      <p:sp>
        <p:nvSpPr>
          <p:cNvPr id="11" name="TextBox 10"/>
          <p:cNvSpPr txBox="1"/>
          <p:nvPr/>
        </p:nvSpPr>
        <p:spPr>
          <a:xfrm>
            <a:off x="609904" y="4829327"/>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aが各状態で0、1、2なら平均は0×0.5+1×0.3+2×0.2=0.7。山括弧は分布に従う平均。</a:t>
            </a:r>
          </a:p>
        </p:txBody>
      </p:sp>
      <p:sp>
        <p:nvSpPr>
          <p:cNvPr id="12" name="TextBox 11"/>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連続した位置では、確率密度を使う</a:t>
            </a:r>
          </a:p>
        </p:txBody>
      </p:sp>
      <p:sp>
        <p:nvSpPr>
          <p:cNvPr id="13" name="TextBox 12"/>
          <p:cNvSpPr txBox="1"/>
          <p:nvPr/>
        </p:nvSpPr>
        <p:spPr>
          <a:xfrm>
            <a:off x="6242151" y="1729371"/>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位置xが実数なら、ちょうど一点の確率ではなく、小さな幅の中へ入る確率を扱う。</a:t>
            </a:r>
          </a:p>
        </p:txBody>
      </p:sp>
      <p:pic>
        <p:nvPicPr>
          <p:cNvPr id="14" name="Picture 13" descr="P(x\le X&lt;x+\mathrm dx)\simeq \rho(x)\,\mathrm dx"/>
          <p:cNvPicPr>
            <a:picLocks noChangeAspect="1"/>
          </p:cNvPicPr>
          <p:nvPr/>
        </p:nvPicPr>
        <p:blipFill>
          <a:blip r:embed="rId5"/>
          <a:stretch>
            <a:fillRect/>
          </a:stretch>
        </p:blipFill>
        <p:spPr>
          <a:xfrm>
            <a:off x="6242151" y="2427566"/>
            <a:ext cx="3490976" cy="319024"/>
          </a:xfrm>
          <a:prstGeom prst="rect">
            <a:avLst/>
          </a:prstGeom>
        </p:spPr>
      </p:pic>
      <p:pic>
        <p:nvPicPr>
          <p:cNvPr id="15" name="Picture 14" descr="\int\rho(x)\,\mathrm dx=1,\qquad\langle a\rangle=\int a(x)\rho(x)\,\mathrm dx"/>
          <p:cNvPicPr>
            <a:picLocks noChangeAspect="1"/>
          </p:cNvPicPr>
          <p:nvPr/>
        </p:nvPicPr>
        <p:blipFill>
          <a:blip r:embed="rId6"/>
          <a:stretch>
            <a:fillRect/>
          </a:stretch>
        </p:blipFill>
        <p:spPr>
          <a:xfrm>
            <a:off x="6242151" y="2847174"/>
            <a:ext cx="4821936" cy="705104"/>
          </a:xfrm>
          <a:prstGeom prst="rect">
            <a:avLst/>
          </a:prstGeom>
        </p:spPr>
      </p:pic>
      <p:sp>
        <p:nvSpPr>
          <p:cNvPr id="16" name="TextBox 15"/>
          <p:cNvSpPr txBox="1"/>
          <p:nvPr/>
        </p:nvSpPr>
        <p:spPr>
          <a:xfrm>
            <a:off x="6242151" y="3652862"/>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密度ρの単位は位置の逆数。密度の高さが1を超えても、全体の面積が1ならよい。分布の横軸と幅を必ず確認する。</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説明の参考：D. Tong, Statistical Physics, §1–2（Cambridge）（章末に書誌・リンク）</a:t>
            </a:r>
          </a:p>
        </p:txBody>
      </p:sp>
      <p:sp>
        <p:nvSpPr>
          <p:cNvPr id="18" name="TextBox 1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付録｜熱平衡と確率分布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対数は、掛け算を足し算に変える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nSpc>
                <a:spcPts val="2660"/>
              </a:lnSpc>
              <a:spcAft>
                <a:spcPts val="0"/>
              </a:spcAft>
            </a:pPr>
            <a:r>
              <a:rPr sz="1900" i="0" b="1" lang="ja-JP" altLang="en-US">
                <a:latin typeface="Noto Sans JP"/>
                <a:solidFill>
                  <a:srgbClr val="0017C1"/>
                </a:solidFill>
              </a:rPr>
              <a:t>独立な系のエントロピーは加算できる</a:t>
            </a:r>
          </a:p>
        </p:txBody>
      </p:sp>
      <p:sp>
        <p:nvSpPr>
          <p:cNvPr id="7" name="TextBox 6"/>
          <p:cNvSpPr txBox="1"/>
          <p:nvPr/>
        </p:nvSpPr>
        <p:spPr>
          <a:xfrm>
            <a:off x="609904" y="172937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自然対数lnは、指数関数expの逆。exp(a+b)=exp(a)exp(b)より、ln(ab)=ln a+ln bとなる。</a:t>
            </a:r>
          </a:p>
        </p:txBody>
      </p:sp>
      <p:pic>
        <p:nvPicPr>
          <p:cNvPr id="8" name="Picture 7" descr="S=k_{\rm B}\ln\Omega,\qquad S_{AB}=S_A+S_B"/>
          <p:cNvPicPr>
            <a:picLocks noChangeAspect="1"/>
          </p:cNvPicPr>
          <p:nvPr/>
        </p:nvPicPr>
        <p:blipFill>
          <a:blip r:embed="rId3"/>
          <a:stretch>
            <a:fillRect/>
          </a:stretch>
        </p:blipFill>
        <p:spPr>
          <a:xfrm>
            <a:off x="609904" y="2712656"/>
            <a:ext cx="3755136" cy="308864"/>
          </a:xfrm>
          <a:prstGeom prst="rect">
            <a:avLst/>
          </a:prstGeom>
        </p:spPr>
      </p:pic>
      <p:sp>
        <p:nvSpPr>
          <p:cNvPr id="9" name="TextBox 8"/>
          <p:cNvSpPr txBox="1"/>
          <p:nvPr/>
        </p:nvSpPr>
        <p:spPr>
          <a:xfrm>
            <a:off x="609904" y="312210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このSをエントロピーと呼ぶ。ここでは可能な状態数を数える量であり、「乱雑さ」だけで意味を済ませない。</a:t>
            </a:r>
          </a:p>
        </p:txBody>
      </p:sp>
      <p:sp>
        <p:nvSpPr>
          <p:cNvPr id="10" name="TextBox 9"/>
          <p:cNvSpPr txBox="1"/>
          <p:nvPr/>
        </p:nvSpPr>
        <p:spPr>
          <a:xfrm>
            <a:off x="609904" y="4105389"/>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k_Bはボルツマン定数。Sの単位はJ/K。状態数の掛け算を、足せる量へ変換している。</a:t>
            </a:r>
          </a:p>
        </p:txBody>
      </p:sp>
      <p:sp>
        <p:nvSpPr>
          <p:cNvPr id="11" name="TextBox 10"/>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温度は、エネルギーを増やしたときの状態数の増え方</a:t>
            </a:r>
          </a:p>
        </p:txBody>
      </p:sp>
      <p:sp>
        <p:nvSpPr>
          <p:cNvPr id="12" name="TextBox 11"/>
          <p:cNvSpPr txBox="1"/>
          <p:nvPr/>
        </p:nvSpPr>
        <p:spPr>
          <a:xfrm>
            <a:off x="6242151" y="2032279"/>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小さいエネルギーδEをAからBへ移す。全体のエントロピーの変化を一次まで書く。</a:t>
            </a:r>
          </a:p>
        </p:txBody>
      </p:sp>
      <p:pic>
        <p:nvPicPr>
          <p:cNvPr id="13" name="Picture 12" descr="\delta S_{\rm total}=\left(-\frac{\partial S_A}{\partial E_A}+\frac{\partial S_B}{\partial E_B}\right)\delta E"/>
          <p:cNvPicPr>
            <a:picLocks noChangeAspect="1"/>
          </p:cNvPicPr>
          <p:nvPr/>
        </p:nvPicPr>
        <p:blipFill>
          <a:blip r:embed="rId4"/>
          <a:stretch>
            <a:fillRect/>
          </a:stretch>
        </p:blipFill>
        <p:spPr>
          <a:xfrm>
            <a:off x="6242151" y="2730474"/>
            <a:ext cx="3352800" cy="696976"/>
          </a:xfrm>
          <a:prstGeom prst="rect">
            <a:avLst/>
          </a:prstGeom>
        </p:spPr>
      </p:pic>
      <p:sp>
        <p:nvSpPr>
          <p:cNvPr id="14" name="TextBox 13"/>
          <p:cNvSpPr txBox="1"/>
          <p:nvPr/>
        </p:nvSpPr>
        <p:spPr>
          <a:xfrm>
            <a:off x="6242151" y="3528034"/>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最も状態数の多い平衡では、両者の傾きが等しい。この傾きが温度の逆数になる。</a:t>
            </a:r>
          </a:p>
        </p:txBody>
      </p:sp>
      <p:pic>
        <p:nvPicPr>
          <p:cNvPr id="15" name="Picture 14" descr="\left(\frac{\partial S}{\partial E}\right)_{V,N}=\frac1T"/>
          <p:cNvPicPr>
            <a:picLocks noChangeAspect="1"/>
          </p:cNvPicPr>
          <p:nvPr/>
        </p:nvPicPr>
        <p:blipFill>
          <a:blip r:embed="rId5"/>
          <a:stretch>
            <a:fillRect/>
          </a:stretch>
        </p:blipFill>
        <p:spPr>
          <a:xfrm>
            <a:off x="6242151" y="4226229"/>
            <a:ext cx="1658112" cy="721360"/>
          </a:xfrm>
          <a:prstGeom prst="rect">
            <a:avLst/>
          </a:prstGeom>
        </p:spPr>
      </p:pic>
      <p:sp>
        <p:nvSpPr>
          <p:cNvPr id="16" name="TextBox 15"/>
          <p:cNvSpPr txBox="1"/>
          <p:nvPr/>
        </p:nvSpPr>
        <p:spPr>
          <a:xfrm>
            <a:off x="6242151" y="504817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体積と粒子数を固定した微分。温度はエネルギーの単位そのものではなく、エネルギー交換の平衡を決める量。</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説明の参考：D. Tong, Statistical Physics, §1–2（Cambridge）（章末に書誌・リンク）</a:t>
            </a:r>
          </a:p>
        </p:txBody>
      </p:sp>
      <p:sp>
        <p:nvSpPr>
          <p:cNvPr id="18" name="TextBox 17"/>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付録｜熱平衡と確率分布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大きな熱浴のエントロピーを一次で近似する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05279"/>
          </a:xfrm>
          <a:prstGeom prst="rect">
            <a:avLst/>
          </a:prstGeom>
          <a:noFill/>
        </p:spPr>
        <p:txBody>
          <a:bodyPr wrap="square" lIns="0" rIns="0" tIns="0" bIns="0" anchor="t">
            <a:noAutofit/>
          </a:bodyPr>
          <a:lstStyle/>
          <a:p>
            <a:pPr>
              <a:lnSpc>
                <a:spcPts val="2660"/>
              </a:lnSpc>
              <a:spcAft>
                <a:spcPts val="0"/>
              </a:spcAft>
            </a:pPr>
            <a:r>
              <a:rPr sz="1900" i="0" b="1" lang="ja-JP" altLang="en-US">
                <a:latin typeface="Noto Sans JP"/>
                <a:solidFill>
                  <a:srgbClr val="0017C1"/>
                </a:solidFill>
              </a:rPr>
              <a:t>熱浴の温度を一定とみなす近似</a:t>
            </a:r>
          </a:p>
        </p:txBody>
      </p:sp>
      <p:sp>
        <p:nvSpPr>
          <p:cNvPr id="7" name="TextBox 6"/>
          <p:cNvSpPr txBox="1"/>
          <p:nvPr/>
        </p:nvSpPr>
        <p:spPr>
          <a:xfrm>
            <a:off x="609904" y="1708299"/>
            <a:ext cx="5339638" cy="635670"/>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熱浴のエネルギー変化は、その全エネルギーに比べて小さい。Taylor展開で一次まで残す。</a:t>
            </a:r>
          </a:p>
        </p:txBody>
      </p:sp>
      <p:pic>
        <p:nvPicPr>
          <p:cNvPr id="8" name="Picture 7" descr="S_B(E_{\rm total}-E_i)\simeq S_B(E_{\rm total})-E_i\left.\frac{\partial S_B}{\partial E_B}\right|_{E_{\rm total}}"/>
          <p:cNvPicPr>
            <a:picLocks noChangeAspect="1"/>
          </p:cNvPicPr>
          <p:nvPr/>
        </p:nvPicPr>
        <p:blipFill>
          <a:blip r:embed="rId3"/>
          <a:stretch>
            <a:fillRect/>
          </a:stretch>
        </p:blipFill>
        <p:spPr>
          <a:xfrm>
            <a:off x="609904" y="2366830"/>
            <a:ext cx="4480560" cy="725424"/>
          </a:xfrm>
          <a:prstGeom prst="rect">
            <a:avLst/>
          </a:prstGeom>
        </p:spPr>
      </p:pic>
      <p:pic>
        <p:nvPicPr>
          <p:cNvPr id="9" name="Picture 8" descr="S_B(E_{\rm total}-E_i)\simeq S_B(E_{\rm total})-E_i/T"/>
          <p:cNvPicPr>
            <a:picLocks noChangeAspect="1"/>
          </p:cNvPicPr>
          <p:nvPr/>
        </p:nvPicPr>
        <p:blipFill>
          <a:blip r:embed="rId4"/>
          <a:stretch>
            <a:fillRect/>
          </a:stretch>
        </p:blipFill>
        <p:spPr>
          <a:xfrm>
            <a:off x="609904" y="3192838"/>
            <a:ext cx="3730752" cy="304800"/>
          </a:xfrm>
          <a:prstGeom prst="rect">
            <a:avLst/>
          </a:prstGeom>
        </p:spPr>
      </p:pic>
      <p:sp>
        <p:nvSpPr>
          <p:cNvPr id="10" name="TextBox 9"/>
          <p:cNvSpPr txBox="1"/>
          <p:nvPr/>
        </p:nvSpPr>
        <p:spPr>
          <a:xfrm>
            <a:off x="609904" y="3598222"/>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二次項の大きさは熱浴の有限な熱容量に関係する。十分大きな熱浴では、系へ熱を渡してもTを一定としてよい。</a:t>
            </a:r>
          </a:p>
        </p:txBody>
      </p:sp>
      <p:pic>
        <p:nvPicPr>
          <p:cNvPr id="11" name="Picture 10" descr="\frac{\partial^2S_B}{\partial E_B^2}=-\frac1{T^2C_B}"/>
          <p:cNvPicPr>
            <a:picLocks noChangeAspect="1"/>
          </p:cNvPicPr>
          <p:nvPr/>
        </p:nvPicPr>
        <p:blipFill>
          <a:blip r:embed="rId5"/>
          <a:stretch>
            <a:fillRect/>
          </a:stretch>
        </p:blipFill>
        <p:spPr>
          <a:xfrm>
            <a:off x="609904" y="4522010"/>
            <a:ext cx="1727200" cy="772160"/>
          </a:xfrm>
          <a:prstGeom prst="rect">
            <a:avLst/>
          </a:prstGeom>
        </p:spPr>
      </p:pic>
      <p:sp>
        <p:nvSpPr>
          <p:cNvPr id="12" name="TextBox 11"/>
          <p:cNvSpPr txBox="1"/>
          <p:nvPr/>
        </p:nvSpPr>
        <p:spPr>
          <a:xfrm>
            <a:off x="609904" y="5394754"/>
            <a:ext cx="5339638" cy="635670"/>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二次項は−Eᵢ²/(2T²C_B)。C_Bが大きい極限で一次の近似が正当化される。</a:t>
            </a:r>
          </a:p>
        </p:txBody>
      </p:sp>
      <p:sp>
        <p:nvSpPr>
          <p:cNvPr id="13" name="TextBox 12"/>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指数へ戻すと、Boltzmannの重みが出る</a:t>
            </a:r>
          </a:p>
        </p:txBody>
      </p:sp>
      <p:pic>
        <p:nvPicPr>
          <p:cNvPr id="14" name="Picture 13" descr="\Omega_B(E_{\rm total}-E_i)\simeq e^{S_B(E_{\rm total})/k_{\rm B}}e^{-E_i/(k_{\rm B}T)}"/>
          <p:cNvPicPr>
            <a:picLocks noChangeAspect="1"/>
          </p:cNvPicPr>
          <p:nvPr/>
        </p:nvPicPr>
        <p:blipFill>
          <a:blip r:embed="rId6"/>
          <a:stretch>
            <a:fillRect/>
          </a:stretch>
        </p:blipFill>
        <p:spPr>
          <a:xfrm>
            <a:off x="6242151" y="1729371"/>
            <a:ext cx="4484624" cy="367792"/>
          </a:xfrm>
          <a:prstGeom prst="rect">
            <a:avLst/>
          </a:prstGeom>
        </p:spPr>
      </p:pic>
      <p:sp>
        <p:nvSpPr>
          <p:cNvPr id="15" name="TextBox 14"/>
          <p:cNvSpPr txBox="1"/>
          <p:nvPr/>
        </p:nvSpPr>
        <p:spPr>
          <a:xfrm>
            <a:off x="6242151" y="2197747"/>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最初の因子はiに依存しないので、確率の比では消える。β=1/(k_BT)と略記する。</a:t>
            </a:r>
          </a:p>
        </p:txBody>
      </p:sp>
      <p:pic>
        <p:nvPicPr>
          <p:cNvPr id="16" name="Picture 15" descr="p_i=\frac{e^{-\beta E_i}}{Z},\qquad Z=\sum_j e^{-\beta E_j}"/>
          <p:cNvPicPr>
            <a:picLocks noChangeAspect="1"/>
          </p:cNvPicPr>
          <p:nvPr/>
        </p:nvPicPr>
        <p:blipFill>
          <a:blip r:embed="rId7"/>
          <a:stretch>
            <a:fillRect/>
          </a:stretch>
        </p:blipFill>
        <p:spPr>
          <a:xfrm>
            <a:off x="6242151" y="2895942"/>
            <a:ext cx="3462528" cy="829056"/>
          </a:xfrm>
          <a:prstGeom prst="rect">
            <a:avLst/>
          </a:prstGeom>
        </p:spPr>
      </p:pic>
      <p:sp>
        <p:nvSpPr>
          <p:cNvPr id="17" name="TextBox 16"/>
          <p:cNvSpPr txBox="1"/>
          <p:nvPr/>
        </p:nvSpPr>
        <p:spPr>
          <a:xfrm>
            <a:off x="6242151" y="3825582"/>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Zは全部の重みを足して、確率の和を1にする分配関数。これがカノニカル分布。エネルギーの低い一状態ほど重みは大きい。</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説明の参考：D. Tong, Statistical Physics, §1–2（Cambridge）（章末に書誌・リンク）</a:t>
            </a:r>
          </a:p>
        </p:txBody>
      </p:sp>
      <p:sp>
        <p:nvSpPr>
          <p:cNvPr id="19" name="TextBox 18"/>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付録｜熱平衡と確率分布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059"/>
              </a:lnSpc>
              <a:spcAft>
                <a:spcPts val="0"/>
              </a:spcAft>
            </a:pPr>
            <a:r>
              <a:rPr sz="2900" i="0" b="1" lang="ja-JP" altLang="en-US">
                <a:latin typeface="Noto Sans JP"/>
                <a:solidFill>
                  <a:srgbClr val="1A1A1A"/>
                </a:solidFill>
              </a:rPr>
              <a:t>分配関数の対数から、平均と揺らぎを求める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nSpc>
                <a:spcPts val="2800"/>
              </a:lnSpc>
              <a:spcAft>
                <a:spcPts val="0"/>
              </a:spcAft>
            </a:pPr>
            <a:r>
              <a:rPr sz="2000" i="0" b="1" lang="ja-JP" altLang="en-US">
                <a:latin typeface="Noto Sans JP"/>
                <a:solidFill>
                  <a:srgbClr val="0017C1"/>
                </a:solidFill>
              </a:rPr>
              <a:t>−∂ ln Z / ∂β が平均エネルギー</a:t>
            </a:r>
          </a:p>
        </p:txBody>
      </p:sp>
      <p:pic>
        <p:nvPicPr>
          <p:cNvPr id="7" name="Picture 6" descr="\frac{\partial Z}{\partial\beta}=\sum_i(-E_i)e^{-\beta E_i}"/>
          <p:cNvPicPr>
            <a:picLocks noChangeAspect="1"/>
          </p:cNvPicPr>
          <p:nvPr/>
        </p:nvPicPr>
        <p:blipFill>
          <a:blip r:embed="rId3"/>
          <a:stretch>
            <a:fillRect/>
          </a:stretch>
        </p:blipFill>
        <p:spPr>
          <a:xfrm>
            <a:off x="609904" y="2032279"/>
            <a:ext cx="2292096" cy="735584"/>
          </a:xfrm>
          <a:prstGeom prst="rect">
            <a:avLst/>
          </a:prstGeom>
        </p:spPr>
      </p:pic>
      <p:pic>
        <p:nvPicPr>
          <p:cNvPr id="8" name="Picture 7" descr="-\frac{\partial\ln Z}{\partial\beta}=-\frac1Z\frac{\partial Z}{\partial\beta}=\sum_i p_iE_i=\langle E\rangle"/>
          <p:cNvPicPr>
            <a:picLocks noChangeAspect="1"/>
          </p:cNvPicPr>
          <p:nvPr/>
        </p:nvPicPr>
        <p:blipFill>
          <a:blip r:embed="rId4"/>
          <a:stretch>
            <a:fillRect/>
          </a:stretch>
        </p:blipFill>
        <p:spPr>
          <a:xfrm>
            <a:off x="609904" y="2868447"/>
            <a:ext cx="4082288" cy="735584"/>
          </a:xfrm>
          <a:prstGeom prst="rect">
            <a:avLst/>
          </a:prstGeom>
        </p:spPr>
      </p:pic>
      <p:sp>
        <p:nvSpPr>
          <p:cNvPr id="9" name="TextBox 8"/>
          <p:cNvSpPr txBox="1"/>
          <p:nvPr/>
        </p:nvSpPr>
        <p:spPr>
          <a:xfrm>
            <a:off x="609904" y="3704615"/>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指数の微分でE_iが前へ出てくる。エネルギー準位自体がβに依存しない条件で計算した。</a:t>
            </a:r>
          </a:p>
        </p:txBody>
      </p:sp>
      <p:sp>
        <p:nvSpPr>
          <p:cNvPr id="10" name="TextBox 9"/>
          <p:cNvSpPr txBox="1"/>
          <p:nvPr/>
        </p:nvSpPr>
        <p:spPr>
          <a:xfrm>
            <a:off x="609904" y="4687900"/>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Zは単なる割り算の係数ではなく、平衡の平均値をまとめて持っている。</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もう一度微分すると、揺らぎが現れる</a:t>
            </a:r>
          </a:p>
        </p:txBody>
      </p:sp>
      <p:pic>
        <p:nvPicPr>
          <p:cNvPr id="12" name="Picture 11" descr="\frac{\partial^2\ln Z}{\partial\beta^2}=\frac{Z^{\prime\prime}}Z-\left(\frac{Z^{\prime}}Z\right)^2=\langle E^2\rangle-\langle E\rangle^2"/>
          <p:cNvPicPr>
            <a:picLocks noChangeAspect="1"/>
          </p:cNvPicPr>
          <p:nvPr/>
        </p:nvPicPr>
        <p:blipFill>
          <a:blip r:embed="rId5"/>
          <a:stretch>
            <a:fillRect/>
          </a:stretch>
        </p:blipFill>
        <p:spPr>
          <a:xfrm>
            <a:off x="6242151" y="1729371"/>
            <a:ext cx="4328160" cy="796544"/>
          </a:xfrm>
          <a:prstGeom prst="rect">
            <a:avLst/>
          </a:prstGeom>
        </p:spPr>
      </p:pic>
      <p:pic>
        <p:nvPicPr>
          <p:cNvPr id="13" name="Picture 12" descr="\operatorname{Var}(E)=-\frac{\partial\langle E\rangle}{\partial\beta}=k_{\rm B}T^2 C_V"/>
          <p:cNvPicPr>
            <a:picLocks noChangeAspect="1"/>
          </p:cNvPicPr>
          <p:nvPr/>
        </p:nvPicPr>
        <p:blipFill>
          <a:blip r:embed="rId6"/>
          <a:stretch>
            <a:fillRect/>
          </a:stretch>
        </p:blipFill>
        <p:spPr>
          <a:xfrm>
            <a:off x="6242151" y="2626499"/>
            <a:ext cx="3289808" cy="690880"/>
          </a:xfrm>
          <a:prstGeom prst="rect">
            <a:avLst/>
          </a:prstGeom>
        </p:spPr>
      </p:pic>
      <p:sp>
        <p:nvSpPr>
          <p:cNvPr id="14" name="TextBox 13"/>
          <p:cNvSpPr txBox="1"/>
          <p:nvPr/>
        </p:nvSpPr>
        <p:spPr>
          <a:xfrm>
            <a:off x="6242151" y="341796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Varは平均からのずれの二乗の平均。C_V=∂〈E〉/∂Tは、体積一定で温度を上げるのに必要な熱の大きさ。</a:t>
            </a:r>
          </a:p>
        </p:txBody>
      </p:sp>
      <p:sp>
        <p:nvSpPr>
          <p:cNvPr id="15" name="TextBox 14"/>
          <p:cNvSpPr txBox="1"/>
          <p:nvPr/>
        </p:nvSpPr>
        <p:spPr>
          <a:xfrm>
            <a:off x="6242151" y="440124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最後の等式はdT/dβ=−k_BT²を連鎖律で使った。NVTではエネルギーが揺らぐこと自体が正しい。</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説明の参考：D. Tong, Statistical Physics, §1–2（Cambridge）（章末に書誌・リンク）</a:t>
            </a:r>
          </a:p>
        </p:txBody>
      </p:sp>
      <p:sp>
        <p:nvSpPr>
          <p:cNvPr id="17" name="TextBox 16"/>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付録｜熱平衡と確率分布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一成分の運動量は、釣鐘形の分布になる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352600"/>
          </a:xfrm>
          <a:prstGeom prst="rect">
            <a:avLst/>
          </a:prstGeom>
          <a:noFill/>
        </p:spPr>
        <p:txBody>
          <a:bodyPr wrap="square" lIns="0" rIns="0" tIns="0" bIns="0" anchor="t">
            <a:noAutofit/>
          </a:bodyPr>
          <a:lstStyle/>
          <a:p>
            <a:pPr>
              <a:lnSpc>
                <a:spcPts val="2660"/>
              </a:lnSpc>
              <a:spcAft>
                <a:spcPts val="0"/>
              </a:spcAft>
            </a:pPr>
            <a:r>
              <a:rPr sz="1900" i="0" b="1" lang="ja-JP" altLang="en-US">
                <a:latin typeface="Noto Sans JP"/>
                <a:solidFill>
                  <a:srgbClr val="0017C1"/>
                </a:solidFill>
              </a:rPr>
              <a:t>運動エネルギーの二次式から正規分布へ</a:t>
            </a:r>
          </a:p>
        </p:txBody>
      </p:sp>
      <p:pic>
        <p:nvPicPr>
          <p:cNvPr id="7" name="Picture 6" descr="\rho(p)=\sqrt{\frac{\beta}{2\pi m}}\exp\left(-\frac{\beta p^2}{2m}\right)"/>
          <p:cNvPicPr>
            <a:picLocks noChangeAspect="1"/>
          </p:cNvPicPr>
          <p:nvPr/>
        </p:nvPicPr>
        <p:blipFill>
          <a:blip r:embed="rId3"/>
          <a:stretch>
            <a:fillRect/>
          </a:stretch>
        </p:blipFill>
        <p:spPr>
          <a:xfrm>
            <a:off x="609904" y="1655620"/>
            <a:ext cx="2582672" cy="662432"/>
          </a:xfrm>
          <a:prstGeom prst="rect">
            <a:avLst/>
          </a:prstGeom>
        </p:spPr>
      </p:pic>
      <p:sp>
        <p:nvSpPr>
          <p:cNvPr id="8" name="TextBox 7"/>
          <p:cNvSpPr txBox="1"/>
          <p:nvPr/>
        </p:nvSpPr>
        <p:spPr>
          <a:xfrm>
            <a:off x="609904" y="2418636"/>
            <a:ext cx="5339638" cy="536508"/>
          </a:xfrm>
          <a:prstGeom prst="rect">
            <a:avLst/>
          </a:prstGeom>
          <a:noFill/>
        </p:spPr>
        <p:txBody>
          <a:bodyPr wrap="square" lIns="0" rIns="0" tIns="0" bIns="0" anchor="t">
            <a:noAutofit/>
          </a:bodyPr>
          <a:lstStyle/>
          <a:p>
            <a:pPr algn="l">
              <a:lnSpc>
                <a:spcPts val="1698"/>
              </a:lnSpc>
            </a:pPr>
            <a:r>
              <a:rPr sz="1391" b="0" lang="ja-JP" altLang="en-US">
                <a:solidFill>
                  <a:srgbClr val="333333"/>
                </a:solidFill>
                <a:latin typeface="Noto Sans JP"/>
                <a:ea typeface="Noto Sans JP"/>
              </a:rPr>
              <a:t>平均は0。正負どちらへ進むかに偏りがなく、絶対値が大きい運動量ほど出現しにくい。</a:t>
            </a:r>
          </a:p>
        </p:txBody>
      </p:sp>
      <p:sp>
        <p:nvSpPr>
          <p:cNvPr id="9" name="TextBox 8"/>
          <p:cNvSpPr txBox="1"/>
          <p:nvPr/>
        </p:nvSpPr>
        <p:spPr>
          <a:xfrm>
            <a:off x="609904" y="2978005"/>
            <a:ext cx="5339638" cy="536508"/>
          </a:xfrm>
          <a:prstGeom prst="rect">
            <a:avLst/>
          </a:prstGeom>
          <a:noFill/>
        </p:spPr>
        <p:txBody>
          <a:bodyPr wrap="square" lIns="0" rIns="0" tIns="0" bIns="0" anchor="t">
            <a:noAutofit/>
          </a:bodyPr>
          <a:lstStyle/>
          <a:p>
            <a:pPr algn="l">
              <a:lnSpc>
                <a:spcPts val="1698"/>
              </a:lnSpc>
            </a:pPr>
            <a:r>
              <a:rPr sz="1391" b="0" lang="ja-JP" altLang="en-US">
                <a:solidFill>
                  <a:srgbClr val="333333"/>
                </a:solidFill>
                <a:latin typeface="Noto Sans JP"/>
                <a:ea typeface="Noto Sans JP"/>
              </a:rPr>
              <a:t>幅は√(mk_BT)。速度v=p/mの幅は√(k_BT/m)なので、同じ温度でも軽い原子の方が速い。</a:t>
            </a:r>
          </a:p>
        </p:txBody>
      </p:sp>
      <p:sp>
        <p:nvSpPr>
          <p:cNvPr id="10" name="TextBox 9"/>
          <p:cNvSpPr txBox="1"/>
          <p:nvPr/>
        </p:nvSpPr>
        <p:spPr>
          <a:xfrm>
            <a:off x="609904" y="3537374"/>
            <a:ext cx="5339638" cy="536508"/>
          </a:xfrm>
          <a:prstGeom prst="rect">
            <a:avLst/>
          </a:prstGeom>
          <a:noFill/>
        </p:spPr>
        <p:txBody>
          <a:bodyPr wrap="square" lIns="0" rIns="0" tIns="0" bIns="0" anchor="t">
            <a:noAutofit/>
          </a:bodyPr>
          <a:lstStyle/>
          <a:p>
            <a:pPr>
              <a:lnSpc>
                <a:spcPts val="2100"/>
              </a:lnSpc>
              <a:spcAft>
                <a:spcPts val="0"/>
              </a:spcAft>
            </a:pPr>
            <a:r>
              <a:rPr sz="1500" i="0" b="0" lang="ja-JP" altLang="en-US">
                <a:latin typeface="Noto Sans JP"/>
                <a:solidFill>
                  <a:srgbClr val="333333"/>
                </a:solidFill>
              </a:rPr>
              <a:t>ここで示すのは運動量・速度の各一成分の分布。三次元の速さ|v|の分布には、同じ速さを持つ方向の数が掛かる。</a:t>
            </a:r>
          </a:p>
        </p:txBody>
      </p:sp>
      <p:sp>
        <p:nvSpPr>
          <p:cNvPr id="12" name="TextBox 11"/>
          <p:cNvSpPr txBox="1"/>
          <p:nvPr/>
        </p:nvSpPr>
        <p:spPr>
          <a:xfrm>
            <a:off x="609904" y="5843247"/>
            <a:ext cx="5339638" cy="239953"/>
          </a:xfrm>
          <a:prstGeom prst="rect">
            <a:avLst/>
          </a:prstGeom>
          <a:noFill/>
        </p:spPr>
        <p:txBody>
          <a:bodyPr wrap="square" lIns="0" rIns="0" tIns="0" bIns="0" anchor="t">
            <a:noAutofit/>
          </a:bodyPr>
          <a:lstStyle/>
          <a:p>
            <a:pPr>
              <a:lnSpc>
                <a:spcPts val="1679"/>
              </a:lnSpc>
              <a:spcAft>
                <a:spcPts val="0"/>
              </a:spcAft>
            </a:pPr>
            <a:r>
              <a:rPr sz="1200" i="0" b="0" lang="ja-JP" altLang="en-US">
                <a:latin typeface="Noto Sans JP"/>
                <a:solidFill>
                  <a:srgbClr val="666666"/>
                </a:solidFill>
              </a:rPr>
              <a:t>温度が高いほど、運動量の一成分の分布が広がる。</a:t>
            </a:r>
          </a:p>
        </p:txBody>
      </p:sp>
      <p:sp>
        <p:nvSpPr>
          <p:cNvPr id="13" name="TextBox 12"/>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Gaussian積分を微分して、等分配を導く</a:t>
            </a:r>
          </a:p>
        </p:txBody>
      </p:sp>
      <p:sp>
        <p:nvSpPr>
          <p:cNvPr id="14" name="TextBox 13"/>
          <p:cNvSpPr txBox="1"/>
          <p:nvPr/>
        </p:nvSpPr>
        <p:spPr>
          <a:xfrm>
            <a:off x="6242151" y="1729371"/>
            <a:ext cx="5339638" cy="675335"/>
          </a:xfrm>
          <a:prstGeom prst="rect">
            <a:avLst/>
          </a:prstGeom>
          <a:noFill/>
        </p:spPr>
        <p:txBody>
          <a:bodyPr wrap="square" lIns="0" rIns="0" tIns="0" bIns="0" anchor="t">
            <a:noAutofit/>
          </a:bodyPr>
          <a:lstStyle/>
          <a:p>
            <a:pPr>
              <a:lnSpc>
                <a:spcPts val="2574"/>
              </a:lnSpc>
              <a:spcAft>
                <a:spcPts val="0"/>
              </a:spcAft>
            </a:pPr>
            <a:r>
              <a:rPr sz="1839" i="0" b="0" lang="ja-JP" altLang="en-US">
                <a:latin typeface="Noto Sans JP"/>
                <a:solidFill>
                  <a:srgbClr val="333333"/>
                </a:solidFill>
              </a:rPr>
              <a:t>a=β/(2m)&gt;0と置く。正規分布の規格化に使うガウス積分を利用する。</a:t>
            </a:r>
          </a:p>
        </p:txBody>
      </p:sp>
      <p:pic>
        <p:nvPicPr>
          <p:cNvPr id="15" name="Picture 14" descr="I(a)=\int_{-\infty}^{\infty}e^{-ap^2}\,\mathrm dp=\sqrt{\pi/a}"/>
          <p:cNvPicPr>
            <a:picLocks noChangeAspect="1"/>
          </p:cNvPicPr>
          <p:nvPr/>
        </p:nvPicPr>
        <p:blipFill>
          <a:blip r:embed="rId5"/>
          <a:stretch>
            <a:fillRect/>
          </a:stretch>
        </p:blipFill>
        <p:spPr>
          <a:xfrm>
            <a:off x="6242151" y="2427566"/>
            <a:ext cx="3560064" cy="782320"/>
          </a:xfrm>
          <a:prstGeom prst="rect">
            <a:avLst/>
          </a:prstGeom>
        </p:spPr>
      </p:pic>
      <p:pic>
        <p:nvPicPr>
          <p:cNvPr id="16" name="Picture 15" descr="-I^{\prime}(a)=\int p^2e^{-ap^2}\,\mathrm dp=\frac{\sqrt\pi}{2a^{3/2}}"/>
          <p:cNvPicPr>
            <a:picLocks noChangeAspect="1"/>
          </p:cNvPicPr>
          <p:nvPr/>
        </p:nvPicPr>
        <p:blipFill>
          <a:blip r:embed="rId6"/>
          <a:stretch>
            <a:fillRect/>
          </a:stretch>
        </p:blipFill>
        <p:spPr>
          <a:xfrm>
            <a:off x="6242151" y="3310470"/>
            <a:ext cx="3783584" cy="782320"/>
          </a:xfrm>
          <a:prstGeom prst="rect">
            <a:avLst/>
          </a:prstGeom>
        </p:spPr>
      </p:pic>
      <p:pic>
        <p:nvPicPr>
          <p:cNvPr id="17" name="Picture 16" descr="\langle p^2\rangle=\frac{-I^{\prime}(a)}{I(a)}=\frac1{2a}=mk_{\rm B}T"/>
          <p:cNvPicPr>
            <a:picLocks noChangeAspect="1"/>
          </p:cNvPicPr>
          <p:nvPr/>
        </p:nvPicPr>
        <p:blipFill>
          <a:blip r:embed="rId7"/>
          <a:stretch>
            <a:fillRect/>
          </a:stretch>
        </p:blipFill>
        <p:spPr>
          <a:xfrm>
            <a:off x="6242151" y="4193374"/>
            <a:ext cx="3468624" cy="713232"/>
          </a:xfrm>
          <a:prstGeom prst="rect">
            <a:avLst/>
          </a:prstGeom>
        </p:spPr>
      </p:pic>
      <p:sp>
        <p:nvSpPr>
          <p:cNvPr id="18" name="TextBox 17"/>
          <p:cNvSpPr txBox="1"/>
          <p:nvPr/>
        </p:nvSpPr>
        <p:spPr>
          <a:xfrm>
            <a:off x="6242151" y="5007190"/>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積分の微分を中へ入れると−p²が出る。Gaussianの減衰により積分は収束する。</a:t>
            </a:r>
          </a:p>
        </p:txBody>
      </p:sp>
      <p:sp>
        <p:nvSpPr>
          <p:cNvPr id="19" name="TextBox 18"/>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説明の参考：D. Tong, Statistical Physics, §1–2（Cambridge）（章末に書誌・リンク）</a:t>
            </a:r>
          </a:p>
        </p:txBody>
      </p:sp>
      <p:pic>
        <p:nvPicPr>
          <p:cNvPr id="21" name="Picture 20" descr="momentum_wide.png"/>
          <p:cNvPicPr>
            <a:picLocks noChangeAspect="1"/>
          </p:cNvPicPr>
          <p:nvPr/>
        </p:nvPicPr>
        <p:blipFill>
          <a:blip r:embed="rId8"/>
          <a:stretch>
            <a:fillRect/>
          </a:stretch>
        </p:blipFill>
        <p:spPr>
          <a:xfrm>
            <a:off x="976493" y="4151376"/>
            <a:ext cx="4630693" cy="1737359"/>
          </a:xfrm>
          <a:prstGeom prst="rect">
            <a:avLst/>
          </a:prstGeom>
        </p:spPr>
      </p:pic>
      <p:sp>
        <p:nvSpPr>
          <p:cNvPr id="22" name="TextBox 21"/>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付録｜熱平衡と確率分布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二次形式の一自由度に、平均kBT/2が入る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nSpc>
                <a:spcPts val="2660"/>
              </a:lnSpc>
              <a:spcAft>
                <a:spcPts val="0"/>
              </a:spcAft>
            </a:pPr>
            <a:r>
              <a:rPr sz="1900" i="0" b="1" lang="ja-JP" altLang="en-US">
                <a:latin typeface="Noto Sans JP"/>
                <a:solidFill>
                  <a:srgbClr val="0017C1"/>
                </a:solidFill>
              </a:rPr>
              <a:t>運動エネルギーの平均を自由度で数える</a:t>
            </a:r>
          </a:p>
        </p:txBody>
      </p:sp>
      <p:pic>
        <p:nvPicPr>
          <p:cNvPr id="7" name="Picture 6" descr="\left\langle\frac{p^2}{2m}\right\rangle=\frac12k_{\rm B}T,\qquad\langle K\rangle=\frac f2 k_{\rm B}T"/>
          <p:cNvPicPr>
            <a:picLocks noChangeAspect="1"/>
          </p:cNvPicPr>
          <p:nvPr/>
        </p:nvPicPr>
        <p:blipFill>
          <a:blip r:embed="rId3"/>
          <a:stretch>
            <a:fillRect/>
          </a:stretch>
        </p:blipFill>
        <p:spPr>
          <a:xfrm>
            <a:off x="609904" y="2032279"/>
            <a:ext cx="3917696" cy="678688"/>
          </a:xfrm>
          <a:prstGeom prst="rect">
            <a:avLst/>
          </a:prstGeom>
        </p:spPr>
      </p:pic>
      <p:sp>
        <p:nvSpPr>
          <p:cNvPr id="8" name="TextBox 7"/>
          <p:cNvSpPr txBox="1"/>
          <p:nvPr/>
        </p:nvSpPr>
        <p:spPr>
          <a:xfrm>
            <a:off x="609904" y="281155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fは独立に動ける運動量成分の数、すなわち自由度。古典的な平衡分布と、二乗で入る運動エネルギーを仮定した。</a:t>
            </a:r>
          </a:p>
        </p:txBody>
      </p:sp>
      <p:sp>
        <p:nvSpPr>
          <p:cNvPr id="9" name="TextBox 8"/>
          <p:cNvSpPr txBox="1"/>
          <p:nvPr/>
        </p:nvSpPr>
        <p:spPr>
          <a:xfrm>
            <a:off x="609904" y="3794836"/>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量子効果が重要な高振動数のモードまで、現実で必ずこの平均になるわけではない。本教材の古典MDモデル内の関係である。</a:t>
            </a:r>
          </a:p>
        </p:txBody>
      </p:sp>
      <p:sp>
        <p:nvSpPr>
          <p:cNvPr id="10" name="TextBox 9"/>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自由度は、原子数の3倍とは限らない</a:t>
            </a:r>
          </a:p>
        </p:txBody>
      </p:sp>
      <p:sp>
        <p:nvSpPr>
          <p:cNvPr id="11" name="TextBox 10"/>
          <p:cNvSpPr txBox="1"/>
          <p:nvPr/>
        </p:nvSpPr>
        <p:spPr>
          <a:xfrm>
            <a:off x="6242151" y="172937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N原子の三次元位置には3N個の成分がある。独立な結合長拘束を一つ加えると、独立に動ける方向が一つ減る。</a:t>
            </a:r>
          </a:p>
        </p:txBody>
      </p:sp>
      <p:pic>
        <p:nvPicPr>
          <p:cNvPr id="12" name="Picture 11" descr="f=3N-N_c-N_{\rm removed}"/>
          <p:cNvPicPr>
            <a:picLocks noChangeAspect="1"/>
          </p:cNvPicPr>
          <p:nvPr/>
        </p:nvPicPr>
        <p:blipFill>
          <a:blip r:embed="rId4"/>
          <a:stretch>
            <a:fillRect/>
          </a:stretch>
        </p:blipFill>
        <p:spPr>
          <a:xfrm>
            <a:off x="6242151" y="2712656"/>
            <a:ext cx="2889504" cy="314960"/>
          </a:xfrm>
          <a:prstGeom prst="rect">
            <a:avLst/>
          </a:prstGeom>
        </p:spPr>
      </p:pic>
      <p:sp>
        <p:nvSpPr>
          <p:cNvPr id="13" name="TextBox 12"/>
          <p:cNvSpPr txBox="1"/>
          <p:nvPr/>
        </p:nvSpPr>
        <p:spPr>
          <a:xfrm>
            <a:off x="6242151" y="312820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N_cは独立な拘束数。全体の重心並進を止めれば通常3を引く。孤立分子の回転を除く場合は別に数える。</a:t>
            </a:r>
          </a:p>
        </p:txBody>
      </p:sp>
      <p:sp>
        <p:nvSpPr>
          <p:cNvPr id="14" name="TextBox 13"/>
          <p:cNvSpPr txBox="1"/>
          <p:nvPr/>
        </p:nvSpPr>
        <p:spPr>
          <a:xfrm>
            <a:off x="6242151" y="4111485"/>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例：3原子の剛体水1分子は、三つの距離拘束で9−3=6自由度。重心並進も除けば回転の3自由度。</a:t>
            </a:r>
          </a:p>
        </p:txBody>
      </p:sp>
      <p:sp>
        <p:nvSpPr>
          <p:cNvPr id="15" name="TextBox 14"/>
          <p:cNvSpPr txBox="1"/>
          <p:nvPr/>
        </p:nvSpPr>
        <p:spPr>
          <a:xfrm>
            <a:off x="6242151" y="509477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周期境界の液体で、系全体の回転3を自動的に引くわけではない。実装の拘束と除去操作に合わせる。</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gn="l">
              <a:lnSpc>
                <a:spcPts val="1035"/>
              </a:lnSpc>
            </a:pPr>
            <a:r>
              <a:rPr sz="900" b="0" lang="ja-JP" altLang="en-US">
                <a:solidFill>
                  <a:srgbClr val="666666"/>
                </a:solidFill>
                <a:latin typeface="Noto Sans JP"/>
                <a:ea typeface="Noto Sans JP"/>
              </a:rPr>
              <a:t>説明の参考：D. Tong, Statistical Physics, §1–2（Cambridge）／説明の参考：GROMACS 2026.0, Molecular Dynamics, Temperature coupling（章末に書誌・リンク）</a:t>
            </a:r>
          </a:p>
        </p:txBody>
      </p:sp>
      <p:sp>
        <p:nvSpPr>
          <p:cNvPr id="17" name="TextBox 16"/>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付録｜力場</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059"/>
              </a:lnSpc>
              <a:spcAft>
                <a:spcPts val="0"/>
              </a:spcAft>
            </a:pPr>
            <a:r>
              <a:rPr sz="2900" i="0" b="1" lang="ja-JP" altLang="en-US">
                <a:latin typeface="Noto Sans JP"/>
                <a:solidFill>
                  <a:srgbClr val="1A1A1A"/>
                </a:solidFill>
              </a:rPr>
              <a:t>参考文献：力場とその検証</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417320"/>
            <a:ext cx="5303062" cy="87096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3"/>
              </a:rPr>
              <a:t>説明・実装の参考：eChem developers. eChem book, RESP charges（電荷抑制の式、反復解法と等価電荷制約）。Web資料、版の記載なし。</a:t>
            </a:r>
          </a:p>
        </p:txBody>
      </p:sp>
      <p:sp>
        <p:nvSpPr>
          <p:cNvPr id="7" name="TextBox 6"/>
          <p:cNvSpPr txBox="1"/>
          <p:nvPr/>
        </p:nvSpPr>
        <p:spPr>
          <a:xfrm>
            <a:off x="609904" y="2361438"/>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4"/>
              </a:rPr>
              <a:t>原著：Morse PM. Diatomic Molecules According to the Wave Mechanics. II. Vibrational Levels. Phys. Rev. 34, 57–64 (1929). DOI: 10.1103/PhysRev.34.57.</a:t>
            </a:r>
          </a:p>
        </p:txBody>
      </p:sp>
      <p:sp>
        <p:nvSpPr>
          <p:cNvPr id="8" name="TextBox 7"/>
          <p:cNvSpPr txBox="1"/>
          <p:nvPr/>
        </p:nvSpPr>
        <p:spPr>
          <a:xfrm>
            <a:off x="609904" y="3537966"/>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5"/>
              </a:rPr>
              <a:t>CMAP原著：MacKerell AD Jr, Feig M, Brooks CL III. Improved treatment of the protein backbone in empirical force fields. J. Am. Chem. Soc. 126, 698–699 (2004). DOI: 10.1021/ja036959e.</a:t>
            </a:r>
          </a:p>
        </p:txBody>
      </p:sp>
      <p:sp>
        <p:nvSpPr>
          <p:cNvPr id="9" name="TextBox 8"/>
          <p:cNvSpPr txBox="1"/>
          <p:nvPr/>
        </p:nvSpPr>
        <p:spPr>
          <a:xfrm>
            <a:off x="609904" y="4714494"/>
            <a:ext cx="5303062" cy="87096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6"/>
              </a:rPr>
              <a:t>説明の参考：GROMACS developers. GROMACS 2026.0 Reference Manual, Bonded interactions（結合・角度・二面角・CMAP）.</a:t>
            </a:r>
          </a:p>
        </p:txBody>
      </p:sp>
      <p:sp>
        <p:nvSpPr>
          <p:cNvPr id="10" name="TextBox 9"/>
          <p:cNvSpPr txBox="1"/>
          <p:nvPr/>
        </p:nvSpPr>
        <p:spPr>
          <a:xfrm>
            <a:off x="6278727" y="1417320"/>
            <a:ext cx="5303062" cy="87096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7"/>
              </a:rPr>
              <a:t>説明の参考：GROMACS developers. GROMACS 2026.0 Reference Manual, Non-bonded interactions（LJ・クーロン・組合せ則）.</a:t>
            </a:r>
          </a:p>
        </p:txBody>
      </p:sp>
      <p:sp>
        <p:nvSpPr>
          <p:cNvPr id="11" name="TextBox 10"/>
          <p:cNvSpPr txBox="1"/>
          <p:nvPr/>
        </p:nvSpPr>
        <p:spPr>
          <a:xfrm>
            <a:off x="6278727" y="2361438"/>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8"/>
              </a:rPr>
              <a:t>手法・説明：Wang LP, Martínez TJ, Pande VS. Building Force Fields: An Automatic, Systematic, and Reproducible Approach. J. Phys. Chem. Lett. 5, 1885–1891 (2014). DOI: 10.1021/jz500737m.</a:t>
            </a:r>
          </a:p>
        </p:txBody>
      </p:sp>
      <p:sp>
        <p:nvSpPr>
          <p:cNvPr id="12" name="TextBox 11"/>
          <p:cNvSpPr txBox="1"/>
          <p:nvPr/>
        </p:nvSpPr>
        <p:spPr>
          <a:xfrm>
            <a:off x="6278727" y="3537966"/>
            <a:ext cx="5303062" cy="133578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9"/>
              </a:rPr>
              <a:t>手法：Bayly CI, Cieplak P, Cornell W, Kollman PA. A well-behaved electrostatic potential based method using charge restraints for deriving atomic charges: the RESP model. J. Phys. Chem. 97, 10269–10280 (1993). DOI: 10.1021/j100142a004.</a:t>
            </a:r>
          </a:p>
        </p:txBody>
      </p:sp>
      <p:sp>
        <p:nvSpPr>
          <p:cNvPr id="13" name="TextBox 12"/>
          <p:cNvSpPr txBox="1"/>
          <p:nvPr/>
        </p:nvSpPr>
        <p:spPr>
          <a:xfrm>
            <a:off x="609904" y="6217920"/>
            <a:ext cx="10971885" cy="228600"/>
          </a:xfrm>
          <a:prstGeom prst="rect">
            <a:avLst/>
          </a:prstGeom>
          <a:noFill/>
        </p:spPr>
        <p:txBody>
          <a:bodyPr wrap="square" lIns="0" rIns="0" tIns="0" bIns="0" anchor="t">
            <a:noAutofit/>
          </a:bodyPr>
          <a:lstStyle/>
          <a:p>
            <a:pPr algn="l">
              <a:lnSpc>
                <a:spcPts val="1550"/>
              </a:lnSpc>
            </a:pPr>
            <a:r>
              <a:rPr sz="1000" b="0" lang="ja-JP" altLang="en-US">
                <a:solidFill>
                  <a:srgbClr val="666666"/>
                </a:solidFill>
                <a:latin typeface="Noto Sans JP"/>
                <a:ea typeface="Noto Sans JP"/>
              </a:rPr>
              <a:t>出典確認：2026-10-09〜10。項目をクリックすると原文を開く。</a:t>
            </a:r>
          </a:p>
        </p:txBody>
      </p:sp>
      <p:sp>
        <p:nvSpPr>
          <p:cNvPr id="14" name="TextBox 13"/>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240"/>
              </a:lnSpc>
              <a:spcAft>
                <a:spcPts val="0"/>
              </a:spcAft>
            </a:pPr>
            <a:r>
              <a:rPr sz="1600" i="0" b="1" lang="ja-JP" altLang="en-US">
                <a:latin typeface="Noto Sans JP"/>
                <a:solidFill>
                  <a:srgbClr val="0017C1"/>
                </a:solidFill>
              </a:rPr>
              <a:t>付録｜熱平衡と確率分布</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4059"/>
              </a:lnSpc>
              <a:spcAft>
                <a:spcPts val="0"/>
              </a:spcAft>
            </a:pPr>
            <a:r>
              <a:rPr sz="2900" i="0" b="1" lang="ja-JP" altLang="en-US">
                <a:latin typeface="Noto Sans JP"/>
                <a:solidFill>
                  <a:srgbClr val="1A1A1A"/>
                </a:solidFill>
              </a:rPr>
              <a:t>参考文献：確率分布と熱平衡</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417320"/>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3"/>
              </a:rPr>
              <a:t>説明・導出の参考：David Tong. Statistical Physics, §1.2–1.3（状態数・温度・カノニカル分布）, §2（古典気体）. Cambridge lecture notes. 参照：2026-10-09.</a:t>
            </a:r>
          </a:p>
        </p:txBody>
      </p:sp>
      <p:sp>
        <p:nvSpPr>
          <p:cNvPr id="7" name="TextBox 6"/>
          <p:cNvSpPr txBox="1"/>
          <p:nvPr/>
        </p:nvSpPr>
        <p:spPr>
          <a:xfrm>
            <a:off x="609904" y="2593848"/>
            <a:ext cx="5303062" cy="87096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4"/>
              </a:rPr>
              <a:t>説明の参考：GROMACS developers. GROMACS 2026.0 Reference Manual, Molecular Dynamics, Temperature coupling. 参照：2026-10-09.</a:t>
            </a:r>
          </a:p>
        </p:txBody>
      </p:sp>
      <p:sp>
        <p:nvSpPr>
          <p:cNvPr id="8" name="TextBox 7"/>
          <p:cNvSpPr txBox="1"/>
          <p:nvPr/>
        </p:nvSpPr>
        <p:spPr>
          <a:xfrm>
            <a:off x="609904" y="3537966"/>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5"/>
              </a:rPr>
              <a:t>原著：Andersen HC. Molecular dynamics simulations at constant pressure and/or temperature. J. Chem. Phys. 72, 2384–2393 (1980). DOI: 10.1063/1.439486.</a:t>
            </a:r>
          </a:p>
        </p:txBody>
      </p:sp>
      <p:sp>
        <p:nvSpPr>
          <p:cNvPr id="9" name="TextBox 8"/>
          <p:cNvSpPr txBox="1"/>
          <p:nvPr/>
        </p:nvSpPr>
        <p:spPr>
          <a:xfrm>
            <a:off x="609904" y="4714494"/>
            <a:ext cx="5303062" cy="87096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6"/>
              </a:rPr>
              <a:t>原著：Berendsen HJC et al. Molecular dynamics with coupling to an external bath. J. Chem. Phys. 81, 3684–3690 (1984). DOI: 10.1063/1.448118.</a:t>
            </a:r>
          </a:p>
        </p:txBody>
      </p:sp>
      <p:sp>
        <p:nvSpPr>
          <p:cNvPr id="10" name="TextBox 9"/>
          <p:cNvSpPr txBox="1"/>
          <p:nvPr/>
        </p:nvSpPr>
        <p:spPr>
          <a:xfrm>
            <a:off x="6278727" y="1417320"/>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7"/>
              </a:rPr>
              <a:t>原著：Nosé S. A unified formulation of the constant temperature molecular dynamics methods. J. Chem. Phys. 81, 511–519 (1984). DOI: 10.1063/1.447334.</a:t>
            </a:r>
          </a:p>
        </p:txBody>
      </p:sp>
      <p:sp>
        <p:nvSpPr>
          <p:cNvPr id="11" name="TextBox 10"/>
          <p:cNvSpPr txBox="1"/>
          <p:nvPr/>
        </p:nvSpPr>
        <p:spPr>
          <a:xfrm>
            <a:off x="6278727" y="2593848"/>
            <a:ext cx="5303062" cy="87096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8"/>
              </a:rPr>
              <a:t>原著：Hoover WG. Canonical dynamics: Equilibrium phase-space distributions. Phys. Rev. A 31, 1695–1697 (1985). DOI: 10.1103/PhysRevA.31.1695.</a:t>
            </a:r>
          </a:p>
        </p:txBody>
      </p:sp>
      <p:sp>
        <p:nvSpPr>
          <p:cNvPr id="12" name="TextBox 11"/>
          <p:cNvSpPr txBox="1"/>
          <p:nvPr/>
        </p:nvSpPr>
        <p:spPr>
          <a:xfrm>
            <a:off x="6278727" y="3537966"/>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9"/>
              </a:rPr>
              <a:t>原著：Martyna GJ, Klein ML, Tuckerman M. Nosé–Hoover chains: The canonical ensemble via continuous dynamics. J. Chem. Phys. 97, 2635–2643 (1992). DOI: 10.1063/1.463940.</a:t>
            </a:r>
          </a:p>
        </p:txBody>
      </p:sp>
      <p:sp>
        <p:nvSpPr>
          <p:cNvPr id="13" name="TextBox 12"/>
          <p:cNvSpPr txBox="1"/>
          <p:nvPr/>
        </p:nvSpPr>
        <p:spPr>
          <a:xfrm>
            <a:off x="6278727" y="4714494"/>
            <a:ext cx="5303062" cy="1103376"/>
          </a:xfrm>
          <a:prstGeom prst="rect">
            <a:avLst/>
          </a:prstGeom>
          <a:noFill/>
        </p:spPr>
        <p:txBody>
          <a:bodyPr wrap="square" lIns="0" rIns="0" tIns="0" bIns="0" anchor="t">
            <a:noAutofit/>
          </a:bodyPr>
          <a:lstStyle/>
          <a:p>
            <a:pPr algn="l">
              <a:lnSpc>
                <a:spcPts val="2000"/>
              </a:lnSpc>
              <a:spcAft>
                <a:spcPts val="0"/>
              </a:spcAft>
            </a:pPr>
            <a:r>
              <a:rPr sz="1400" b="0" lang="ja-JP" altLang="en-US">
                <a:solidFill>
                  <a:srgbClr val="333333"/>
                </a:solidFill>
                <a:latin typeface="Noto Sans JP"/>
                <a:ea typeface="Noto Sans JP"/>
                <a:hlinkClick r:id="rId10"/>
              </a:rPr>
              <a:t>原著：Bussi G, Donadio D, Parrinello M. Canonical sampling through velocity rescaling. J. Chem. Phys. 126, 014101 (2007). DOI: 10.1063/1.2408420. 著者公開稿も参照.</a:t>
            </a:r>
          </a:p>
        </p:txBody>
      </p:sp>
      <p:sp>
        <p:nvSpPr>
          <p:cNvPr id="14" name="TextBox 13"/>
          <p:cNvSpPr txBox="1"/>
          <p:nvPr/>
        </p:nvSpPr>
        <p:spPr>
          <a:xfrm>
            <a:off x="609904" y="6217920"/>
            <a:ext cx="10971885" cy="228600"/>
          </a:xfrm>
          <a:prstGeom prst="rect">
            <a:avLst/>
          </a:prstGeom>
          <a:noFill/>
        </p:spPr>
        <p:txBody>
          <a:bodyPr wrap="square" lIns="0" rIns="0" tIns="0" bIns="0" anchor="t">
            <a:noAutofit/>
          </a:bodyPr>
          <a:lstStyle/>
          <a:p>
            <a:pPr algn="l">
              <a:lnSpc>
                <a:spcPts val="1550"/>
              </a:lnSpc>
            </a:pPr>
            <a:r>
              <a:rPr sz="1000" b="0" lang="ja-JP" altLang="en-US">
                <a:solidFill>
                  <a:srgbClr val="666666"/>
                </a:solidFill>
                <a:latin typeface="Noto Sans JP"/>
                <a:ea typeface="Noto Sans JP"/>
              </a:rPr>
              <a:t>出典確認：2026-10-09〜10。項目をクリックすると原文を開く。</a:t>
            </a:r>
          </a:p>
        </p:txBody>
      </p:sp>
      <p:sp>
        <p:nvSpPr>
          <p:cNvPr id="15" name="TextBox 14"/>
          <p:cNvSpPr txBox="1"/>
          <p:nvPr/>
        </p:nvSpPr>
        <p:spPr>
          <a:xfrm>
            <a:off x="11109960" y="6537960"/>
            <a:ext cx="502920" cy="201168"/>
          </a:xfrm>
          <a:prstGeom prst="rect">
            <a:avLst/>
          </a:prstGeom>
          <a:noFill/>
        </p:spPr>
        <p:txBody>
          <a:bodyPr wrap="square" lIns="0" rIns="0" tIns="0" bIns="0" anchor="t">
            <a:noAutofit/>
          </a:bodyPr>
          <a:lstStyle/>
          <a:p>
            <a:pPr algn="l">
              <a:lnSpc>
                <a:spcPts val="1400"/>
              </a:lnSpc>
            </a:pPr>
            <a:r>
              <a:rPr sz="1000" b="0" lang="ja-JP" altLang="en-US">
                <a:solidFill>
                  <a:srgbClr val="202020"/>
                </a:solidFill>
                <a:latin typeface="Noto Sans JP"/>
                <a:ea typeface="Noto Sans JP"/>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第09回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