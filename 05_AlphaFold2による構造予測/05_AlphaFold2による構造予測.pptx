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第5回はAlphaFold 2による構造予測です。前回学んだAttentionを、相同配列の表と残基対の表へ広げます。構造を数値で表す方法を必要な場所で確認し、内部表現から原子の位置を生成する流れを追います。後半の演習ではColabFoldを使い、ユビキチンを予測して結果の信頼度を読み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今日は配列から三次元配置を作る計算の流れを理解します。最初に答えを示すと、相同配列から作るMSAと残基の対の表現を更新し、最後に残基ごとの位置と向きを求める、という流れです。モデルは構造の誤差から学習済みで、演習では推論を行います。予測には不確かさがあるので、原子座標だけでなく信頼度も読みます。このページの流れを最後のまとめでも確認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導入と従来法を短く説明し、中心の時間はEvoformerと構造生成に使います。距離行列は共進化の前、内部座標と局所フレームはStructure Moduleの前で説明します。詳しい古典的手法とAttentionの復習は付録です。演習20分はColabFoldの操作と結果の観察に使い、採点や提出はありません。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アミノ酸の配列から、そのタンパク質がとる立体構造を計算で求めることを、構造予測といいます。なぜ構造を知りたいのでしょうか。タンパク質の構造は、そのタンパク質がどう動き、何と結合し、どんなしくみではたらくのかを考える出発点になります。薬を設計するときにも、標的となるタンパク質の形が必要です。ところが、配列が分かっていても実験構造がまだ決まっていないタンパク質は多くあります。右の図は、構造のデータベースである PDB に、毎年登録される構造の数です。赤い棒が X 線結晶構造解析、緑が電子顕微鏡によるものです。着実に増えてはいますが、配列を読む速さにはとても追いつきません。そこで、計算で構造を予測して、このギャップを埋めようというのが、構造予測の目的で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全原子は側鎖の向きや衝突まで評価できますが、水素の付加や命名の違いを処理する必要があります。主鎖N–Cα–C–Oはペプチド面の向きも残します。</a:t>
            </a:r>
          </a:p>
          <a:p/>
          <a:p>
            <a:r>
              <a:rPr lang="ja-JP" altLang="en-US">
                <a:ea typeface="Noto Sans JP"/>
              </a:rPr>
              <a:t>Cαだけなら原子対応が簡単で高速です。一方、同じCα配置から複数の側鎖配置が生じ、ペプチド面や水素結合を一意には決められません。</a:t>
            </a:r>
          </a:p>
          <a:p/>
          <a:p>
            <a:r>
              <a:rPr lang="ja-JP" altLang="en-US">
                <a:ea typeface="Noto Sans JP"/>
              </a:rPr>
              <a:t>入力がCαだけの生成モデルを全原子へ復元した場合、復元器の誤差も最終指標に含まれます。生成器と復元器を分けて評価します。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図はProtein Actions日本語版の図11.1です。まず配列アラインメントによって、既知構造のどの残基が予測対象のどの残基に対応するかを決めます。テンプレートの骨格を使い、配列の違いに合わせて側鎖や挿入・欠失の部分を組み直します。一つの候補で決めず、複数の候補を作ってエネルギーやモデル評価のスコアで比べ、精密化します。図のTMスコアは参照構造に対する近さです。正解構造が未知の本番予測ではこの値を直接使えないため、利用可能なモデル評価のスコアで候補を選びます。要件を満たさなければ、テンプレートやアラインメントから見直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全原子対の距離を並べると、構造を重ね合わせなくても比較できます。回転は長さを保ち、並進は差を取ると消えるためです。</a:t>
            </a:r>
          </a:p>
          <a:p/>
          <a:p>
            <a:r>
              <a:rPr lang="ja-JP" altLang="en-US">
                <a:ea typeface="Noto Sans JP"/>
              </a:rPr>
              <a:t>距離行列はN×Nですが、成分は独立ではありません。三角不等式や三次元へ埋め込める条件があり、任意の対称行列が分子構造になるわけではありません。</a:t>
            </a:r>
          </a:p>
          <a:p/>
          <a:p>
            <a:r>
              <a:rPr lang="ja-JP" altLang="en-US">
                <a:ea typeface="Noto Sans JP"/>
              </a:rPr>
              <a:t>距離は鏡映でも変わりません。キラリティを保つには、符号付き体積や二面角など向きの情報を加えます。接触マップはさらに閾値化するので情報を失います。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MSAは多重配列アラインメントの略です。共通祖先に由来する相同配列を集め、対応すると推定される残基を同じ列へそろえます。図は説明用に作った短い配列です。左には長さの異なる配列があり、右では必要な場所へギャップを入れています。各行は一本の配列、各列は対応する位置です。四列目の横棒はアミノ酸ではなく、その行で対応する残基がないことを示します。五列目はすべてアラニンで保存されています。六列目にはチロシンとフェニルアラニンがあり、置換のある位置です。列番号はギャップを含むため、元の配列の残基番号とは一致しない場合があります。整列した表があると、一つの位置の保存だけでなく、二つの位置の変化の組み合わせを調べられます。次のページでは、この組み合わせと構造の接触との関係を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次は、AlphaFold につながるいちばん大事な考え方、共進化です。テンプレートの構造がわからなくても、進化的に近い生物から、ターゲットに似た配列がたくさん見つかることがあります。それらを並べたものを、マルチプルシーケンスアラインメント、略して MSA と呼びます。MSA の列 i と列 j を見比べて、i でアミノ酸が変わるときに j でも変わっているなら、i と j は共変異している、といいます。なぜそうなるのでしょうか。i と j が立体構造で接していると、i が大きなアミノ酸に変わったとき、j が小さなアミノ酸に変わらないと、ぶつかってしまいます。そのため、接している残基の対は、いっしょに変わりやすいのです。右の図のように、共変異する対を見つけ、それを接触の制約として使えば、構造を組み立てることができます。この方法の例が EVfold です。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ただし、相関があれば必ず接している、とはいえません。残基 i と k が接していて、k と j も接しているとします。すると、i と j は接していなくても、k を通して見かけの相関が出てしまいます。これが間接的な相関です。列どうしの相関をそのまま測る相互情報量では、この間接的な相関も拾ってしまいます。直接結合分析、略して DCA は、すべての列を同時に考えることで、間接的な相関を取り除き、直接の結合だけを取り出します。右の図は、Ras というタンパク質での比較です。灰色が本当の接触、青が相互情報量、赤が DCA で予測した接触です。DCA のほうが、配列上で離れた接触まで、広く当てられていることがわかります。ただし、どちらの方法も、十分な数の似た配列がないとうまくいきません。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MSA から何の前提もなしに共進化を見つける、相互情報量や DCA のような統計の方法には、限界があります。配列の数が有限であることによる揺らぎや、進化の中で偶然に起きた変異が混ざってしまうからです。そこで、構造がわかっているタンパク質を使って、どんなときに間違えやすいのかを、前もってモデルに学ばせます。正解のついたデータでモデルを学習させるこの方法を、教師あり学習と呼びます。既知の構造から正解の接触マップを作り、MSA から予測した接触マップと比べることで、どの対で偽陽性になり、どの接触を見落としたかを学ばせます。右の図は、その違いを模式的に描いたものです。左下が DCA のような統計の方法、右上が畳み込みニューラルネットワークによる予測です。青が正しく当てた接触、赤が偽陽性、灰色が見落としです。実際に、畳み込みニューラルネットワークを使った DeepContact は、DCA の一種である CCMPred より偽陽性が少なく、正確でした。</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DeepMind が最初に作った AlphaFold 1 は、2018 年の CASP13 で総合 1 位になりました。ネットワークには、CNN の層をとても深く重ねられるように工夫した、ResNet を使っています。新しかったのは、出力です。それまでのモデルは、残基どうしが接しているかどうかの接触マップを予測していました。AlphaFold 1 は、それより情報の多い、残基どうしの距離の分布、つまり距離ヒストグラムと、主鎖の二面角の分布を予測します。立体構造は、右の図のように、後処理で作ります。予測した分布を、第11章の統計的ポテンシャルと同じ考え方でエネルギーに直し、そのエネルギーがいちばん低くなる構造を、勾配降下法で探します。左下の補足の式は、その考え方を簡単に書いたものです。予測された分布の中で起こりやすい距離ほど、エネルギーが低く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ここから第3部、AlphaFold 2 のしくみです。2020 年の CASP14 で、AlphaFold 2 は再び 1 位になり、実験に迫る精度を出しました。まず、AlphaFold 1 の何が限界だったのかを見ます。理由は2つです。1つ目は、CNN が局所しか見ないことです。CNN は小さなフィルタを積み重ねて、少しずつ広い範囲を見るので、配列上で遠く離れた残基どうしの関係は、間接的にしか捉えられません。2つ目は、エンドツーエンドでないことです。エンドツーエンドとは、入力の配列から出力の立体構造までを、一つのモデルで直接予測することです。下の図の上の段のように、AlphaFold 1 は、ネットワークの外の後処理で構造を作るので、最終的な構造の誤差を、ネットワークの学習に戻せません。下の段の AlphaFold 2 は、構造まで一つのネットワークで出すので、構造の誤差から、すべてのパラメータを学習できます。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AlphaFold 2 は、これらの課題を解くために、ネットワークの形から作り直したモデルです。AlQuraishi は、AlphaFold 2 を、精巧なタペストリーのようだとたとえました。たくさんの工夫が織り込まれているからです。その工夫の多くは、帰納バイアスと呼ばれるものです。帰納バイアスとは、モデルの中に前もって組み込んでおく仮定のことです。たとえば CNN の畳み込みは、模様が平行に移動しても同じように見つけられるという仮定を、しくみとしてもっています。AlphaFold 2 は、自然言語処理で生まれたトランスフォーマーと、その中心にある注意機構を使い、CNN の局所性の問題を解きました。そのうえで、表に並べたように、タンパク質の構造が満たすべき性質を、注意機構の中に帰納バイアスとして組み込んでいます。この表の項目を、これから一つずつ見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各位置でQueryとKeyの内積をとり、キーの次元の平方根で割ります。参照先の方向にsoftmaxをかけると、重みは正で、行ごとの合計が1になります。その重みでValueを足し合わせます。情報を集める位置と参照する位置は役割が異なり、注意の表は一般に対称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全体像の図です。入力は予測したい配列と、相同配列を整列したMSA、そして任意のテンプレートです。MSAの各マスにも、残基対の各マスにも、複数の成分を持つベクトルを置きます。MSA表現の軸は配列、残基位置、特徴の三つです。ペア表現の軸は二つの残基位置と特徴です。図では特徴の軸が省略されています。ペア表現は距離を一つ書いた表とは違い、学習の途中で更新する内部表現で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同じ全体図の中で、計算する二つの部分に注目します。EvoformerはMSA表現とペア表現をやり取りし、48のブロックで更新します。Structure Moduleはその情報を使い、残基の位置と向きを更新して原子座標を作ります。最後の出力を再び入力に戻すのがリサイクリングです。これは学習し直すことでも、実時間の分子運動を進めることでもありません。演習では初回の計算後に3回戻す設定にし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距離行列とペア表現はどちらも残基の対の表ですが、一マスの意味が違います。距離行列の一マスは、座標から計算した一つの距離です。ペア表現の一マスは、学習で更新する特徴ベクトルです。その成分をそのまま距離や接触確率とは読めません。一般に方向性もあり、iとjを交換して同じベクトルになる保証はありません。Evoformerはこの表とMSAの表の間で情報をやり取りし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Evoformer の1つのブロックの中を見ます。AlphaFold 2 の中で、いちばん計算量が多く、パラメータも多い部分です。図の上の段が MSA 表現、下の段がペア表現の流れです。前半では、MSA 表現を更新します。行方向の自己注意機構と、列方向の自己注意機構を順に使います。行方向の注意には、下のペア表現から矢印が伸びていて、ペア表現の情報がバイアスとして入ります。後半では、ペア表現を更新します。まず、外積の平均という計算で、MSA 表現の共進化の情報をペア表現に送り込みます。そのあと、三角乗法更新と三角自己注意機構で、残基の対の関係が三角形として矛盾しないように整えます。このブロックを 48 回重ねます。ブロックごとにパラメータは別々です。次のスライドから、それぞれの計算を見ていきます。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MSAの行は配列、列は残基位置です。行方向では一本の配列内で情報を集めます。このときペア表現を線形変換したバイアスを、QueryとKeyの内積へ加えます。近い残基ほど必ず重みが大きくなるという固定規則ではありません。どの関係が役立つかは学習されます。列方向では同じ位置を相同配列間で比較し、保存と変異の特徴を取り出します。行と列に分けることで、全マス間の注意より計算量を抑え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ペア表現の更新に移ります。最初に、MSA 表現の共進化の情報を、ペア表現に送り込みます。配列 s の i 番目と j 番目の残基の特徴ベクトルを、それぞれ線形変換して、縦ベクトル a と b を作ります。その外積、つまり a と b の転置の積は、2つのベクトルの成分どうしのすべての積を並べた行列です。これをすべての配列について平均し、ペア表現の i j の要素に足します。これが第11章の DCA とどうつながるかを、左下の補足で確かめます。もし a と b が、そのマスのアミノ酸の種類を表す、1か所だけが 1 のベクトルだとすると、外積の平均は、列 i にアミノ酸 a、列 j にアミノ酸 b が同時に現れる頻度になります。DCA や相互情報量が使う、対の頻度そのものです。AlphaFold 2 では、a と b を学習で作るので、この共分散の計算をより一般化したものになっています。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次に、ペア表現を、幾何学的に矛盾しないように整えます。右の図のように、3つの残基 i、j、k があるとき、i と k、j と k の関係がわかっていれば、i と j の関係もかなり絞り込めるはずです。たとえば距離なら、i と j の距離は、i と k の距離と、j と k の距離の和を超えられません。これが三角不等式です。AlphaFold 2 では、この性質を意識した、三角乗法更新と三角自己注意機構という部品で、ペア表現を更新します。三角自己注意機構では、対 i j のクエリと、対 i k のキーで重みを計算するとき、もう一辺にあたる対 j k から作ったバイアスを足します。残基 k を仲立ちに、i から出ていく向きで考えるので、スターティング・ノードの計算と呼びます。逆向きのエンディング・ノードの計算も別に行います。こうして、残基の対の関係が、三角形としてありえる配置と矛盾しないように、という帰納バイアスが入っています。ただし三角不等式を厳密に満たすよう射影する処理ではありません。学習された特徴ベクトルを三つの残基の関係で更新する仕組みで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三次元座標の代わりに、結合長、結合角、二面角を使います。主鎖ではφがN–Cα、ψがCα–C、ωがペプチド結合周りの回転を表します。</a:t>
            </a:r>
          </a:p>
          <a:p/>
          <a:p>
            <a:r>
              <a:rPr lang="ja-JP" altLang="en-US">
                <a:ea typeface="Noto Sans JP"/>
              </a:rPr>
              <a:t>結合長と結合角を固定する近似では、主な自由度を二面角へ集中できます。ただし自由度を減らすことと、実際の振動が存在しないことは異なります。</a:t>
            </a:r>
          </a:p>
          <a:p/>
          <a:p>
            <a:r>
              <a:rPr lang="ja-JP" altLang="en-US">
                <a:ea typeface="Noto Sans JP"/>
              </a:rPr>
              <a:t>ループでは両端が骨格に結び付いています。角度を独立にサンプリングすると、最後の残基が終端へ戻らないことがあります。閉鎖条件は位置と向きの制約です。</a:t>
            </a:r>
          </a:p>
          <a:p/>
          <a:p>
            <a:r>
              <a:rPr lang="ja-JP" altLang="en-US">
                <a:ea typeface="Noto Sans JP"/>
              </a:rPr>
              <a:t>ここでθのゼロ方向は、前の三原子から作るe2です。e3=e1×e2で右手系を固定すると、次頁の符号付き二面角と一致します。三原子が一直線、または結合長がゼロならこの基底は定義できません。</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Cαを原点、C方向を第1軸にします。N方向から第1軸成分を除いて第2軸を作り、外積で右手系の第3軸を作ります。</a:t>
            </a:r>
          </a:p>
          <a:p/>
          <a:p>
            <a:r>
              <a:rPr lang="ja-JP" altLang="en-US">
                <a:ea typeface="Noto Sans JP"/>
              </a:rPr>
              <a:t>全体の座標が回転しても、同じ残基の座標系で見た相対位置は変わりません。局所座標系を使う誤差は、骨格のどこから相手を見ているかを保持できます。</a:t>
            </a:r>
          </a:p>
          <a:p/>
          <a:p>
            <a:r>
              <a:rPr lang="ja-JP" altLang="en-US">
                <a:ea typeface="Noto Sans JP"/>
              </a:rPr>
              <a:t>N、Cα、Cが一直線に近いと基底が不安定になります。入力の結合形状を先に検査し、欠損原子のある残基はマスクします。</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不変な表現は全体の回転・並進を無視します。比較用の距離やスカラーの性質予測に便利です。同変な出力は、入力を回すと同じように回ります。</a:t>
            </a:r>
          </a:p>
          <a:p/>
          <a:p>
            <a:r>
              <a:rPr lang="ja-JP" altLang="en-US">
                <a:ea typeface="Noto Sans JP"/>
              </a:rPr>
              <a:t>回転を無視することと、内部変形を無視することは違います。例えばループを骨格に対して回すと内部配置が変わるので、検出すべき変化です。</a:t>
            </a:r>
          </a:p>
          <a:p/>
          <a:p>
            <a:r>
              <a:rPr lang="ja-JP" altLang="en-US">
                <a:ea typeface="Noto Sans JP"/>
              </a:rPr>
              <a:t>左右の鏡像まで同じとするO(3)不変量か、正しい回転だけを除くSO(3)/SE(3)かを明示します。タンパク質ではキラリティを区別する必要があります。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後半の Structure Module です。Evoformer で得た、クエリ配列の行の表現、これをシングル表現と呼びます、とペア表現から、原子の座標を直接作ります。ここで AlphaFold 2 は、残基ガスという独特の表し方を使います。各残基の、窒素、アルファ炭素、カルボニル炭素の3つの原子を、一つの硬い三角形とみなします。この三角形の向きと位置を、回転行列 R i と並進ベクトル t i で表します。この組を局所フレームと呼びます。最初は、すべての残基の回転を単位行列、位置を原点に置きます。全部が一点に集まっているので、ブラックホール初期化と呼ばれます。そこから、回転と並進を少しずつ繰り返して、三角形を動かしていきます。このとき、隣の残基とのペプチド結合はつなぎません。つながった形になることは、学習で身につけさせます。各残基を独立に動かせるので、二面角で表すときのように、誤差が鎖に沿って積み重なることが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Structure Module の中心は、Invariant Point Attention、略して IPA です。シングル表現を注意機構で更新する部品です。式は、大きく2つの部分からできています。前半は、これまでと同じ、クエリとキーの内積と、ペア表現からのバイアスです。後半が IPA の独自な部分です。各残基から、3次元空間の中の点としてクエリとキーを作り、それぞれの残基の局所フレームで動かしてから、その間の距離を測ります。距離が近いほど重みが大きくなるように、足すのではなく引いています。大事なのは、この重みが、タンパク質全体を回転させたり平行移動させたりしても変わらないことです。左下の補足のように、全体を同じだけ動かすと、2つの点の差には回転だけがかかり、回転は長さを変えないからです。そのため、モデルは、向きや位置を変えても同じ構造だということを、データから学ぶ必要が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残基iの座標系で原子jを表し、予測構造と参照構造で比較します。分子全体を同じように回しても値は変わりません。</a:t>
            </a:r>
          </a:p>
          <a:p/>
          <a:p>
            <a:r>
              <a:rPr lang="ja-JP" altLang="en-US">
                <a:ea typeface="Noto Sans JP"/>
              </a:rPr>
              <a:t>フレームの向き自体も評価に入るため、Cαの位置だけの距離とは異なる情報を持ちます。遠い誤差の影響を制限するクランプが使われることがあります。</a:t>
            </a:r>
          </a:p>
          <a:p/>
          <a:p>
            <a:r>
              <a:rPr lang="ja-JP" altLang="en-US">
                <a:ea typeface="Noto Sans JP"/>
              </a:rPr>
              <a:t>下の式はFAPEの考え方を示す簡略形です。AlphaFoldの損失では適用するフレーム・原子・マスクなどの仕様も重要で、抗体評価へ使う場合は定義を固定します。</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Structure Module の1つのブロックでは、IPA でシングル表現を更新したあと、それを使って各残基の局所フレームを更新し、さらに浅い ResNet で主鎖と側鎖の二面角を予測します。このブロックを 8 回繰り返して、少しずつ物理的に正しい構造に近づけていきます。こちらは、すべてのブロックで同じパラメータを使います。最後に、局所フレームと二面角から、水素を除く重原子の座標を計算します。同時に、pLDDT という、残基ごとの予測の信頼度も出します。モデルが、どの部分に自信をもっているかがわかります。右の図の構造の色が、その信頼度を表しています。そして、予測した構造を、もう一度 Evoformer の入力に戻して、全体を繰り返します。これがリサイクリングです。一度では見つからなかった、残基のあいだの幾何学的な関係を見つけるのに役立つと考えられています。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pLDDTは残基ごとの局所的な信頼度です。PAEは、一方の残基の局所フレームを基準にしたときの、もう一方の位置の予測誤差です。両方とも正解構造を使って測った今回の実測誤差ではなく、モデル自身の予測です。右の模式例では二つの領域の内部は確かでも、領域同士の配置は不確かです。その場合は各領域のpLDDTが高くても、領域をまたぐPAEが大きくなります。図は説明用で、今回のユビキチンの出力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第4部では、AlphaFold 2 のその後を見ます。AlphaFold 2 は、構造生物学を大きく変えました。DeepMind と、ヨーロッパのバイオインフォマティクス研究所は、ヒトをはじめ多くの生物のタンパク質の予測構造を、AlphaFold DB として無償で公開しました。ソースコードも、自由に使えるライセンスで公開され、世界中で使われ、改良されています。一方で、限界もあります。1つ目は、精度が MSA の質に強く依存することです。似た配列が少ないタンパク質では精度が下がり、MSA を作る計算にも時間がかかります。2つ目は、原著のモデルは単量体向けであることです。複合体はAlphaFold-MultimerやAlphaFold 3などの別のモデルで扱います。3つ目は、最も確からしい一つの静的な構造を予測するので、機能に欠かせない構造の変化や揺らぎを捉えにくいことです。このほか、変異の影響の精密な予測や、翻訳後修飾をもつタンパク質の扱いも残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こうした限界を越えるための研究が、たくさん出てきました。表に主なものをまとめます。複合体については、DeepMind 自身が AlphaFold-Multimer を作り、複合体でも高い精度を出しました。計算時間と使いやすさについては、ColabFold が、高速な配列検索の MMseqs2 と、Google Colaboratory というクラウドの環境を使って、手軽に予測できるようにしました。Baker の研究室の RoseTTAFold は、配列、残基対、三次元構造の三つの表現を連携させる別のモデルです。Meta の ESMFold は、巨大なタンパク質言語モデルを使い、MSA なしで一本の配列から構造を予測します。とても速いのですが、精度では MSA を使う方法に及ばないこともあります。一つの構造しか出ない問題には、MSA の一部だけを使ったり、配列をクラスタに分けたりして、複数の構造を出させる試みがあります。そして AlphaFold 3 は、DNA、RNA、低分子、イオンとの複合体まで予測でき、構造を作る部分に拡散モデルを使っています。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今日の流れをまとめます。配列を集めてMSAを作り、MSA表現と残基対の表現をEvoformerでやり取りします。次に局所フレームを使って、残基の位置と向きをStructure Moduleで更新し、二面角と合わせて重原子座標を生成します。学習では実験構造との誤差がこの経路を通して伝わります。信頼度を読むときには、局所のpLDDTと相対配置のPAEを区別します。構造の予測だけで安定性や動きが分かったことにはなりません。この流れが冒頭に示した、配列から三次元配置への変換です。</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演習では授業リポジトリのリンクから直接Colabを開きます。ユビキチンの76残基をあらかじめ入力してあります。T4のGPUを選んで、すべてのセルを実行してください。テンプレートは使わず、相同配列のMSAを検索します。学習済みモデルは5種類を使い、リサイクリングは3回、Amberによる構造緩和は省きます。初回の準備と待ち時間は環境に依存します。これは既知のユビキチンを使った操作と解釈の練習であり、未知のタンパク質に対する性能を評価する実験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まず構造を回転して、ヘリックスとシートを観察します。色を配列順にすると鎖の進み方を追えます。信頼度の色へ戻し、低い箇所と残基番号をグラフで対応させます。PAEは距離ではなく予測誤差です。最後にモデルの順位を切り替え、構造がどれくらい一致しているかを見ます。同じ予測モデル群が一致しても、独立した実験の証拠にはなりません。計算結果はZIPで保存できます。notebook自体をダウンロードして開き直す必要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これは2026年10月11日に、授業用のノートブックをT4で実行した結果です。五つのモデルの曲線はよく重なっています。最上位モデルの平均値は約95.9ですが、最後の76番目の残基では約52.9まで下がっています。大部分が高信頼でも、すべての残基が同じように確かだとはいえません。ここで示しているのは予測された信頼度であり、実験構造から求めた実測の誤差ではありません。配布した入力をそのまま実行すれば同様の傾向を観察できますが、検索データベースや実行環境の変更によって値が完全には一致しない場合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ea typeface="Noto Sans JP"/>
              </a:rPr>
              <a:t>ここからは独習用の付録です。古典的手法、Attentionの復習、設計の仕組みを収録しています。講義本編で省いた導出や背景を確認するときに使ってください。ColabDesignの詳しい扱いは第7回へつながります。</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ここで言葉をそろえておきます。構造を予測したいタンパク質をターゲット、そのアミノ酸配列をクエリ配列と呼びます。構造予測のいちばん基本になる考え方は、配列が似ていれば構造も似ている、ということです。そこで、ターゲットに配列が似ていて、構造がすでにわかっているタンパク質を探します。これをテンプレートと呼びます。テンプレートの構造をもとにターゲットの構造を組み立てる方法が、ホモロジーモデリング、日本語では相同性モデリングです。似た配列が見つからないときは、スレッディングという方法で、配列を既知の折り畳みに当てはめてみます。また、物理法則にしたがう分子シミュレーションで、何もないところから折り畳ませる方法もありますが、今のところ小さなタンパク質に限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ホモロジーモデリングがうまくいくには、4つのことが必要です。良いテンプレートを見つけること、良い配列アラインメントを得ること、天然に近い構造とそうでない構造を見分けられるスコア関数を用意すること、そして天然に近い構造にたどり着くまで十分に構造を探すことです。どれくらい似ていれば良いテンプレートといえるかは、配列同一性、つまり並べたときに同じアミノ酸が並ぶ位置の割合で決まります。右の図のように、配列同一性が 35% 以上あれば、ホモロジーモデリングはよく働きます。20% から 35% のあいだはトワイライトゾーンと呼ばれ、信頼性が下がります。25% を下回る遠い関係では、構造を推論するのは難しくなります。ただし、これらの数値は目安であり、配列長や整列の質、対象の構造にも依存します。配列同一性だけで成功と失敗を区切れるわけで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構造予測では、まず、どこがヘリックスでどこがストランドかという二次構造を調べることがよくあります。構造がわかっているタンパク質なら、左の DSSP というソフトウェアで、水素結合のパターンから二次構造を割り当てられます。結果は、H がアルファヘリックス、E がベータストランド、というように、8種類の文字の列で表されます。構造がわからないときは、右の PSIPRED のような予測サーバーに配列を送ると、二次構造を予測してくれます。PSIPRED はニューラルネットワークを使っていて、似た配列の情報も使うと、正解率は最大で 80% ほどになります。図の水色の棒の高さは、予測の確かさを表しています。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二次構造の代わりに、もっと細かい断片、フラグメントを集めて構造を組み立てる方法もあります。ターゲットの配列を、9残基ずつ、少しずつずらしながら区切ります。それぞれの9残基の配列で PDB を検索し、似た配列をもつ断片の主鎖の角度を借りてきます。ただし、硬い断片をでたらめにつなぐだけでは、ぶつかり合ったりして、天然に近い構造にはなりません。そこで、断片をつなぎ替えながら構造を広く探し、スコアで評価して、天然に近い構造を見つけます。この方法は David Baker たちが開発し、Rosetta という予測プログラムの中心になっています。Baker は、この功績で、AlphaFold の開発者とともに 2024 年のノーベル化学賞を受賞しました。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似た配列がまったく見つからないときでも、全体の折り畳みの形なら推測できることがあります。これがフォールド認識、またはスレッディングです。まず、ターゲットがとりそうな折り畳みの候補を、PDB からいくつか選びます。教科書ではこれを動物園と呼んでいます。次に、ターゲットの配列を、それぞれの構造に糸を通すように当てはめ、どれくらいよく合うかをスコアで比べます。右の図では、配列の疎水性の残基を赤、極性の残基を水色の文字のマスで表し、マスの色で、構造の中で埋もれた位置を赤、表面の位置を水色で示しています。3つ目の折り畳みでは、疎水性の残基がすべて埋もれた位置に入るので、これがいちばん合う折り畳みです。ただし、正しい折り畳みが候補の中に入っていなければ、当てることはできません。また、挿入や欠失の扱い方や、スコア関数の良し悪しにも左右されます。</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構造を予測するには、天然の構造とそうでない構造を見分けるスコア関数が必要です。物理的なエネルギー関数を使うと計算が重すぎるので、PDB の統計から作る、統計的ポテンシャルがよく使われます。例として、ある種類のアミノ酸の二面角ファイの分布を考えます。角度を10度ごとのビンに分け、PDB で i 番目のビンに入った数を m i と数えます。全体の数 M で割れば、確率 p i が得られます。この確率を、ランダムな場合の確率 p i ゼロとの比にして対数をとり、マイナスを付けたものが統計的ポテンシャルです。式 11.1 です。右の図のように、よく現れる角度ほどエネルギーが低くなります。なぜこの形なのかは、左下の補足のとおりです。統計力学のボルツマン分布では、確率はエネルギーの指数関数で決まるので、それを逆に解くと、エネルギーは確率の対数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同じ考え方で、どの種類のアミノ酸どうしが接しやすいかを表すのが、接触ポテンシャルです。宮沢さんと Jernigan が開発しました。20種類のアミノ酸の、20かける20の表を用意します。表は対称なので、異なる対は 210 種類です。PDB の構造で、側鎖の中心どうしが 6.8 オングストローム以内にある対を接触として数え、確率に直してから、式 11.3 でエネルギーにします。右の表はその一部です。値がマイナスに大きいほど、その対はよく接しています。フェニルアラニンやロイシンのような疎水性のアミノ酸どうしは、強く引き合い、リシンどうしのような電荷をもつものどうしは、ほとんど引き合いません。疎水性の引力がいちばん強いことが、統計からわかります。なお、対数をとってエネルギーにするのは、エネルギーなら、局所と非局所の寄与を足し算で合わせられるからです。ただし、これは本当の自由エネルギーではなく、RT はほかの項との釣り合いを調整するパラメータとして扱います。</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データベースに頼らず、原子レベルの物理法則だけで構造を予測する方法もあります。この方法には、3つの良いところがあります。データベースが足りない膜タンパク質などにも使えること、配列アラインメントが要らないこと、そして、構造だけでなく、動きや構造変化、結合のしかた、自由エネルギーまでわかることです。ただし、計算にとても時間がかかります。右の図は、D. E. Shaw たちが、分子動力学シミュレーション専用の計算機 Anton を使って、12種類の小さなタンパク質を折り畳ませた結果です。棒の長さは、計算でできた構造と実験の構造とのずれで、多くは 2 オングストローム以下でした。このように、小さなタンパク質なら、物理シミュレーションで構造を予測できるようになってきました。</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予測方法の良し悪しは、どうやって比べればよいでしょうか。1994 年に、J. Moult が CASP という、コミュニティ全体のコンテストを始めました。構造がまだ公開されていないタンパク質の配列が出題され、参加者は構造を予測します。あとで実験の構造が公開されると、予測がどれくらい当たっていたかが評価されます。答えを伏せたまま予測するので、ブラインドテストと呼ばれます。2年ごとに開かれ、予測の方法はこの場で磨かれてきました。教科書の第11章が書かれた時点では、正確に予測できるのは、小さく、水に溶け、一つのドメインからなり、良いテンプレートがあるタンパク質に限られていました。右の年表のように、この状況を一変させたのが、2018 年の AlphaFold 1 と、2020 年の AlphaFold 2 です。ここからは、そこに至る道筋を見ていきます。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ここから第2部です。共進化から構造を作るとき、何が問題になるのかを見ます。共進化から接触しそうな対を見つけたら、その対が接するような束縛をかけて、分子動力学やモンテカルロ法、フラグメント組み立てで構造を最適化します。このとき問題になるのが、偽陽性、つまり本当は共変異していないのに、共変異していると判定してしまった対です。偽陽性の対に、接しなさいという束縛をかけると、構造が壊れてしまい、予測の精度は一気に下がります。では、正しく判定するには、似た配列が何本あれば十分でしょうか。Ovchinnikov たちは、有効配列数 N f という指標が、予測の精度とよく相関することを見つけました。似すぎた配列を一つにまとめて数えた配列の数を、配列の長さの平方根で割ったものです。彼らは、メタゲノム解析で配列を大量に集めて N f を増やし、構造が未知だった 1297 のファミリーの構造を高い精度で予測しました。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畳み込みニューラルネットワーク、略して CNN は、画像のような格子状のデータから模様を見つけるのが得意なモデルです。中心になるのは畳み込み層です。フィルタと呼ぶ小さな模様の検出器を、画像全体の上でずらしながら、重なった部分との積和を計算します。式のとおり、入力 I とフィルタ K の積を足し合わせます。画像の一部がフィルタの模様に似ているほど、値が大きくなります。フィルタの中身は、データから学習で決まります。一つのフィルタを画像全体で使い回すので、学習が効率的で、模様がどこにあっても見つけられます。次のプーリング層は、小さな領域の最大値だけを残して、データを縮めます。右の図のように、1層目で縦や横の短い線を見つけ、縮めたあとの2層目で、それらを組み合わせた角を見つける、というように、層を重ねるほど大きな模様を捉えます。構造予測では、MSA などの特徴量を2次元の画像にして入力し、接触マップを2次元の画像として出力します。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AlphaFold 1 が予測した距離ヒストグラムの結果を見ます。例は、CASP13 で出題された T0955 というタンパク質です。左は、実験の構造で、29番目の残基からほかの残基までの距離です。緑は 8 オングストローム以内で接している対、青は接していない対です。右は、AlphaFold 1 が出す距離ヒストグラムの形を、模式的に描いたものです。横軸が距離、赤い線が実験の構造での距離です。論文で注目してほしいのは、青の、接していない対です。たとえば 19番、24番、32番などは接していないのに、予測したヒストグラムの山が、正しい距離にぴったり合っていました。多くの研究者は、進化で保存される構造の情報は、直接接する距離に限られるだろうと考えていました。AlphaFold 1 は、共進化の情報に、もっと遠い距離の関係まで含まれていることを示したのです。また、接している、いないを決め打ちしなくてよいので、偽陽性による失敗も避けられます。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注意機構は、トランスフォーマーの中心にあるしくみです。右の図のように、CNN が決まった大きさの窓で局所を見るのに対して、注意機構は、系列のすべての要素を一度に見渡し、関係の深い要素に強く注意を向けます。注意機構では、系列の一つ一つの要素、トークンを、3種類のベクトルに変えます。学習で決まる3つの行列を掛けて、クエリ、キー、バリューを作ります。静電相互作用にたとえてみます。正の電荷をもつ残基のクエリは、負の電荷の相手はどこか、という質問です。キーは、その質問に答えるための索引で、負の電荷をもつ残基のキーが、この質問に強く反応するように学習されます。バリューは、反応したときに実際に受け取る中身で、このたとえでは、安定になるというエネルギーの情報です。</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先ほどの位置ごとの計算を行列にまとめたものです。QueryとKeyの転置の積は、すべての位置の組のスコアを表します。softmaxは一行ずつ計算し、Valueの行列を掛けます。スケールの平方根は内積の分散を調節するためのものです。第4回の具体的な数値例と同じ計算が、MSAと残基対の更新に使われます。</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実際には、注意機構をもう少し強力にして使います。一つの注意機構では、捉えられる関係が限られます。そこで、複数の注意機構を並べて同時に計算します。これをマルチヘッドアテンションと呼びます。異なる射影によって、いろいろな関係を同時に学べます。ただし、特定のヘッドを特定の物理相互作用へ対応づけるには別の検証が必要です。さらに、CNN が層を重ねるのと同じように、注意機構を含むブロックを何層も重ねて、複雑な依存関係を表します。下の表に、CNN と注意機構の違いをまとめました。注意機構は、一つの層で全体を見渡せる代わりに、系列の長さの2乗の重みを計算するので、計算量が大きくなります。ただし、計算を並列にしやすいので、GPU でまとめて計算できます。</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ltLang="en-US">
                <a:latin typeface="Noto Sans JP"/>
              </a:rPr>
              <a:t>このスライドは、教科書にない補足です。タンパク質の設計に使われる ColabDesign が、AlphaFold 2 をどう使っているかを紹介します。構造予測は、配列から構造を求めます。設計はその逆で、望みの構造や性質をもつ配列を探します。ColabDesign は、AlphaFold 2 が微分できるネットワークであることを利用します。配列を、各位置で20種類のアミノ酸がそれぞれどれくらいの確率かという、連続的な表として表します。これを AlphaFold 2 に入れて、構造と信頼度を予測させます。予測の結果から、設計の目標とのずれを損失関数として計算し、その勾配をネットワークの中を逆にたどって配列まで戻し、配列を少しずつ更新します。AlphaFold 2 自体のパラメータは変えません。損失には、今日出てきた pLDDT や、距離ヒストグラム、それに残基の位置の予測誤差を表す PAE などを使います。つまり、AlphaFold 2 の出力の意味がわかっていると、ColabDesign で何を最適化しているのかがわかります。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7.png"/><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3.png"/><Relationship Id="rId4" Type="http://schemas.openxmlformats.org/officeDocument/2006/relationships/image" Target="../media/image5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55.png"/><Relationship Id="rId4" Type="http://schemas.openxmlformats.org/officeDocument/2006/relationships/image" Target="../media/image5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6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6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6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5.png"/><Relationship Id="rId4" Type="http://schemas.openxmlformats.org/officeDocument/2006/relationships/image" Target="../media/image6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6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73.png"/><Relationship Id="rId4" Type="http://schemas.openxmlformats.org/officeDocument/2006/relationships/image" Target="../media/image7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7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7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7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78.png"/><Relationship Id="rId4" Type="http://schemas.openxmlformats.org/officeDocument/2006/relationships/image" Target="../media/image7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8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81.png"/><Relationship Id="rId4" Type="http://schemas.openxmlformats.org/officeDocument/2006/relationships/image" Target="../media/image8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8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1417320"/>
            <a:ext cx="5852160" cy="329184"/>
          </a:xfrm>
          <a:prstGeom prst="rect">
            <a:avLst/>
          </a:prstGeom>
          <a:noFill/>
        </p:spPr>
        <p:txBody>
          <a:bodyPr wrap="square" lIns="0" rIns="0" tIns="0" bIns="0" anchor="t">
            <a:noAutofit/>
          </a:bodyPr>
          <a:lstStyle/>
          <a:p>
            <a:pPr algn="l">
              <a:lnSpc>
                <a:spcPts val="1680"/>
              </a:lnSpc>
            </a:pPr>
            <a:r>
              <a:rPr sz="1400" b="1" lang="ja-JP" altLang="en-US">
                <a:solidFill>
                  <a:srgbClr val="0017C1"/>
                </a:solidFill>
                <a:latin typeface="Noto Sans JP"/>
                <a:ea typeface="Noto Sans JP"/>
              </a:rPr>
              <a:t>生命情報工学特論　第05回</a:t>
            </a:r>
          </a:p>
        </p:txBody>
      </p:sp>
      <p:sp>
        <p:nvSpPr>
          <p:cNvPr id="3" name="TextBox 2"/>
          <p:cNvSpPr txBox="1"/>
          <p:nvPr/>
        </p:nvSpPr>
        <p:spPr>
          <a:xfrm>
            <a:off x="822960" y="1828800"/>
            <a:ext cx="5852160" cy="1188720"/>
          </a:xfrm>
          <a:prstGeom prst="rect">
            <a:avLst/>
          </a:prstGeom>
          <a:noFill/>
        </p:spPr>
        <p:txBody>
          <a:bodyPr wrap="square" lIns="0" rIns="0" tIns="0" bIns="0" anchor="t">
            <a:noAutofit/>
          </a:bodyPr>
          <a:lstStyle/>
          <a:p>
            <a:pPr algn="l">
              <a:lnSpc>
                <a:spcPts val="4200"/>
              </a:lnSpc>
            </a:pPr>
            <a:r>
              <a:rPr sz="3400" b="1" lang="ja-JP" altLang="en-US">
                <a:solidFill>
                  <a:srgbClr val="1A1A1A"/>
                </a:solidFill>
                <a:latin typeface="Noto Sans JP"/>
                <a:ea typeface="Noto Sans JP"/>
              </a:rPr>
              <a:t>AlphaFold 2 による
構造予測</a:t>
            </a:r>
          </a:p>
        </p:txBody>
      </p:sp>
      <p:sp>
        <p:nvSpPr>
          <p:cNvPr id="4" name="TextBox 3"/>
          <p:cNvSpPr txBox="1"/>
          <p:nvPr/>
        </p:nvSpPr>
        <p:spPr>
          <a:xfrm>
            <a:off x="822960" y="3273552"/>
            <a:ext cx="5669280" cy="1280160"/>
          </a:xfrm>
          <a:prstGeom prst="rect">
            <a:avLst/>
          </a:prstGeom>
          <a:noFill/>
        </p:spPr>
        <p:txBody>
          <a:bodyPr wrap="square" lIns="0" rIns="0" tIns="0" bIns="0" anchor="t">
            <a:noAutofit/>
          </a:bodyPr>
          <a:lstStyle/>
          <a:p>
            <a:pPr algn="l">
              <a:lnSpc>
                <a:spcPts val="2790"/>
              </a:lnSpc>
            </a:pPr>
            <a:r>
              <a:rPr sz="1800" b="0" lang="ja-JP" altLang="en-US">
                <a:solidFill>
                  <a:srgbClr val="4D4D4D"/>
                </a:solidFill>
                <a:latin typeface="Noto Sans JP"/>
                <a:ea typeface="Noto Sans JP"/>
              </a:rPr>
              <a:t>アミノ酸配列から立体構造を予測する</a:t>
            </a:r>
          </a:p>
          <a:p>
            <a:pPr algn="l">
              <a:lnSpc>
                <a:spcPts val="2790"/>
              </a:lnSpc>
            </a:pPr>
            <a:r>
              <a:rPr sz="1800" b="0" lang="ja-JP" altLang="en-US">
                <a:solidFill>
                  <a:srgbClr val="4D4D4D"/>
                </a:solidFill>
                <a:latin typeface="Noto Sans JP"/>
                <a:ea typeface="Noto Sans JP"/>
              </a:rPr>
              <a:t>構造表現・予測の仕組み・ColabFold演習</a:t>
            </a:r>
          </a:p>
        </p:txBody>
      </p:sp>
      <p:cxnSp>
        <p:nvCxnSpPr>
          <p:cNvPr id="5" name="Connector 4"/>
          <p:cNvCxnSpPr/>
          <p:nvPr/>
        </p:nvCxnSpPr>
        <p:spPr>
          <a:xfrm>
            <a:off x="822960" y="4892040"/>
            <a:ext cx="5212080" cy="0"/>
          </a:xfrm>
          <a:prstGeom prst="line">
            <a:avLst/>
          </a:prstGeom>
          <a:ln w="12700">
            <a:solidFill>
              <a:srgbClr val="CCCCC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5029200"/>
            <a:ext cx="5486400" cy="320040"/>
          </a:xfrm>
          <a:prstGeom prst="rect">
            <a:avLst/>
          </a:prstGeom>
          <a:noFill/>
        </p:spPr>
        <p:txBody>
          <a:bodyPr wrap="square" lIns="0" rIns="0" tIns="0" bIns="0" anchor="t">
            <a:noAutofit/>
          </a:bodyPr>
          <a:lstStyle/>
          <a:p>
            <a:pPr algn="l">
              <a:lnSpc>
                <a:spcPts val="1920"/>
              </a:lnSpc>
            </a:pPr>
            <a:r>
              <a:rPr sz="1600" b="1" lang="ja-JP" altLang="en-US">
                <a:solidFill>
                  <a:srgbClr val="1A1A1A"/>
                </a:solidFill>
                <a:latin typeface="Noto Sans JP"/>
                <a:ea typeface="Noto Sans JP"/>
              </a:rPr>
              <a:t>松永 康佑</a:t>
            </a:r>
          </a:p>
        </p:txBody>
      </p:sp>
      <p:sp>
        <p:nvSpPr>
          <p:cNvPr id="7" name="TextBox 6"/>
          <p:cNvSpPr txBox="1"/>
          <p:nvPr/>
        </p:nvSpPr>
        <p:spPr>
          <a:xfrm>
            <a:off x="822960" y="5394960"/>
            <a:ext cx="5486400" cy="548640"/>
          </a:xfrm>
          <a:prstGeom prst="rect">
            <a:avLst/>
          </a:prstGeom>
          <a:noFill/>
        </p:spPr>
        <p:txBody>
          <a:bodyPr wrap="square" lIns="0" rIns="0" tIns="0" bIns="0" anchor="t">
            <a:noAutofit/>
          </a:bodyPr>
          <a:lstStyle/>
          <a:p>
            <a:pPr algn="l">
              <a:lnSpc>
                <a:spcPts val="1439"/>
              </a:lnSpc>
            </a:pPr>
            <a:r>
              <a:rPr sz="1200" b="0" lang="ja-JP" altLang="en-US">
                <a:solidFill>
                  <a:srgbClr val="666666"/>
                </a:solidFill>
                <a:latin typeface="Noto Sans JP"/>
                <a:ea typeface="Noto Sans JP"/>
              </a:rPr>
              <a:t>埼玉大学 大学院理工学研究科</a:t>
            </a:r>
          </a:p>
          <a:p>
            <a:pPr algn="l">
              <a:lnSpc>
                <a:spcPts val="1439"/>
              </a:lnSpc>
            </a:pPr>
            <a:r>
              <a:rPr sz="1200" b="0" lang="ja-JP" altLang="en-US">
                <a:solidFill>
                  <a:srgbClr val="666666"/>
                </a:solidFill>
                <a:latin typeface="Noto Sans JP"/>
                <a:ea typeface="Noto Sans JP"/>
              </a:rPr>
              <a:t>理化学研究所 計算科学研究センター ｜ 2026年10月31日（オンデマンド）</a:t>
            </a:r>
          </a:p>
        </p:txBody>
      </p:sp>
      <p:pic>
        <p:nvPicPr>
          <p:cNvPr id="8" name="Picture 7" descr="af2_arch.png"/>
          <p:cNvPicPr>
            <a:picLocks noChangeAspect="1"/>
          </p:cNvPicPr>
          <p:nvPr/>
        </p:nvPicPr>
        <p:blipFill>
          <a:blip r:embed="rId3"/>
          <a:stretch>
            <a:fillRect/>
          </a:stretch>
        </p:blipFill>
        <p:spPr>
          <a:xfrm>
            <a:off x="6766560" y="1737360"/>
            <a:ext cx="4846320" cy="1644648"/>
          </a:xfrm>
          <a:prstGeom prst="rect">
            <a:avLst/>
          </a:prstGeom>
        </p:spPr>
      </p:pic>
      <p:sp>
        <p:nvSpPr>
          <p:cNvPr id="9" name="TextBox 8"/>
          <p:cNvSpPr txBox="1"/>
          <p:nvPr/>
        </p:nvSpPr>
        <p:spPr>
          <a:xfrm>
            <a:off x="6766560" y="3427727"/>
            <a:ext cx="4846320" cy="274320"/>
          </a:xfrm>
          <a:prstGeom prst="rect">
            <a:avLst/>
          </a:prstGeom>
          <a:noFill/>
        </p:spPr>
        <p:txBody>
          <a:bodyPr wrap="square" lIns="0" rIns="0" tIns="0" bIns="0" anchor="t">
            <a:noAutofit/>
          </a:bodyPr>
          <a:lstStyle/>
          <a:p>
            <a:pPr algn="ctr">
              <a:lnSpc>
                <a:spcPts val="1200"/>
              </a:lnSpc>
            </a:pPr>
            <a:r>
              <a:rPr sz="1000" b="0" lang="ja-JP" altLang="en-US">
                <a:solidFill>
                  <a:srgbClr val="666666"/>
                </a:solidFill>
                <a:latin typeface="Noto Sans JP"/>
                <a:ea typeface="Noto Sans JP"/>
              </a:rPr>
              <a:t>図：Jumper ら, Nature 596:583 (2021) Fig. 1e を切り出し（CC BY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今日の内容</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配列の情報を、三次元の配置へ変換する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 / 36</a:t>
            </a:r>
          </a:p>
        </p:txBody>
      </p:sp>
      <p:sp>
        <p:nvSpPr>
          <p:cNvPr id="6" name="Rectangle 5"/>
          <p:cNvSpPr/>
          <p:nvPr/>
        </p:nvSpPr>
        <p:spPr>
          <a:xfrm>
            <a:off x="640080" y="2103120"/>
            <a:ext cx="3383280" cy="141732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212848"/>
            <a:ext cx="310896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配列とMSA</a:t>
            </a:r>
          </a:p>
        </p:txBody>
      </p:sp>
      <p:sp>
        <p:nvSpPr>
          <p:cNvPr id="8" name="TextBox 7"/>
          <p:cNvSpPr txBox="1"/>
          <p:nvPr/>
        </p:nvSpPr>
        <p:spPr>
          <a:xfrm>
            <a:off x="777240" y="2770632"/>
            <a:ext cx="3063240" cy="60350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相同配列の保存・変異</a:t>
            </a:r>
          </a:p>
        </p:txBody>
      </p:sp>
      <p:sp>
        <p:nvSpPr>
          <p:cNvPr id="9" name="TextBox 8"/>
          <p:cNvSpPr txBox="1"/>
          <p:nvPr/>
        </p:nvSpPr>
        <p:spPr>
          <a:xfrm>
            <a:off x="4096511" y="2596896"/>
            <a:ext cx="320040" cy="457200"/>
          </a:xfrm>
          <a:prstGeom prst="rect">
            <a:avLst/>
          </a:prstGeom>
          <a:noFill/>
        </p:spPr>
        <p:txBody>
          <a:bodyPr wrap="square" lIns="0" rIns="0" tIns="0" bIns="0" anchor="t">
            <a:noAutofit/>
          </a:bodyPr>
          <a:lstStyle/>
          <a:p>
            <a:pPr algn="l">
              <a:lnSpc>
                <a:spcPts val="3359"/>
              </a:lnSpc>
            </a:pPr>
            <a:r>
              <a:rPr sz="2400" b="0" lang="ja-JP" altLang="en-US">
                <a:solidFill>
                  <a:srgbClr val="333333"/>
                </a:solidFill>
                <a:latin typeface="Noto Sans JP"/>
                <a:ea typeface="Noto Sans JP"/>
              </a:rPr>
              <a:t>→</a:t>
            </a:r>
          </a:p>
        </p:txBody>
      </p:sp>
      <p:sp>
        <p:nvSpPr>
          <p:cNvPr id="10" name="Rectangle 9"/>
          <p:cNvSpPr/>
          <p:nvPr/>
        </p:nvSpPr>
        <p:spPr>
          <a:xfrm>
            <a:off x="4434840" y="2103120"/>
            <a:ext cx="3383280" cy="141732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0" y="2212848"/>
            <a:ext cx="310896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Evoformer</a:t>
            </a:r>
          </a:p>
        </p:txBody>
      </p:sp>
      <p:sp>
        <p:nvSpPr>
          <p:cNvPr id="12" name="TextBox 11"/>
          <p:cNvSpPr txBox="1"/>
          <p:nvPr/>
        </p:nvSpPr>
        <p:spPr>
          <a:xfrm>
            <a:off x="4572000" y="2770632"/>
            <a:ext cx="3063240" cy="60350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MSA表現とペア表現を更新</a:t>
            </a:r>
          </a:p>
        </p:txBody>
      </p:sp>
      <p:sp>
        <p:nvSpPr>
          <p:cNvPr id="13" name="TextBox 12"/>
          <p:cNvSpPr txBox="1"/>
          <p:nvPr/>
        </p:nvSpPr>
        <p:spPr>
          <a:xfrm>
            <a:off x="7891272" y="2596896"/>
            <a:ext cx="320040" cy="457200"/>
          </a:xfrm>
          <a:prstGeom prst="rect">
            <a:avLst/>
          </a:prstGeom>
          <a:noFill/>
        </p:spPr>
        <p:txBody>
          <a:bodyPr wrap="square" lIns="0" rIns="0" tIns="0" bIns="0" anchor="t">
            <a:noAutofit/>
          </a:bodyPr>
          <a:lstStyle/>
          <a:p>
            <a:pPr algn="l">
              <a:lnSpc>
                <a:spcPts val="3359"/>
              </a:lnSpc>
            </a:pPr>
            <a:r>
              <a:rPr sz="2400" b="0" lang="ja-JP" altLang="en-US">
                <a:solidFill>
                  <a:srgbClr val="333333"/>
                </a:solidFill>
                <a:latin typeface="Noto Sans JP"/>
                <a:ea typeface="Noto Sans JP"/>
              </a:rPr>
              <a:t>→</a:t>
            </a:r>
          </a:p>
        </p:txBody>
      </p:sp>
      <p:sp>
        <p:nvSpPr>
          <p:cNvPr id="14" name="Rectangle 13"/>
          <p:cNvSpPr/>
          <p:nvPr/>
        </p:nvSpPr>
        <p:spPr>
          <a:xfrm>
            <a:off x="8229600" y="2103120"/>
            <a:ext cx="3383280" cy="1417320"/>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66760" y="2212848"/>
            <a:ext cx="3108960" cy="36576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Structure Module</a:t>
            </a:r>
          </a:p>
        </p:txBody>
      </p:sp>
      <p:sp>
        <p:nvSpPr>
          <p:cNvPr id="16" name="TextBox 15"/>
          <p:cNvSpPr txBox="1"/>
          <p:nvPr/>
        </p:nvSpPr>
        <p:spPr>
          <a:xfrm>
            <a:off x="8366760" y="2770632"/>
            <a:ext cx="3063240" cy="603504"/>
          </a:xfrm>
          <a:prstGeom prst="rect">
            <a:avLst/>
          </a:prstGeom>
          <a:noFill/>
        </p:spPr>
        <p:txBody>
          <a:bodyPr wrap="square" lIns="0" rIns="0" tIns="0" bIns="0" anchor="t">
            <a:noAutofit/>
          </a:bodyPr>
          <a:lstStyle/>
          <a:p>
            <a:pPr algn="l">
              <a:lnSpc>
                <a:spcPts val="2379"/>
              </a:lnSpc>
            </a:pPr>
            <a:r>
              <a:rPr sz="1700" b="0" lang="ja-JP" altLang="en-US">
                <a:solidFill>
                  <a:srgbClr val="333333"/>
                </a:solidFill>
                <a:latin typeface="Noto Sans JP"/>
                <a:ea typeface="Noto Sans JP"/>
              </a:rPr>
              <a:t>局所フレームから原子座標</a:t>
            </a:r>
          </a:p>
        </p:txBody>
      </p:sp>
      <p:sp>
        <p:nvSpPr>
          <p:cNvPr id="17" name="TextBox 16"/>
          <p:cNvSpPr txBox="1"/>
          <p:nvPr/>
        </p:nvSpPr>
        <p:spPr>
          <a:xfrm>
            <a:off x="685800" y="1371600"/>
            <a:ext cx="10789920" cy="502920"/>
          </a:xfrm>
          <a:prstGeom prst="rect">
            <a:avLst/>
          </a:prstGeom>
          <a:noFill/>
        </p:spPr>
        <p:txBody>
          <a:bodyPr wrap="square" lIns="0" rIns="0" tIns="0" bIns="0" anchor="t">
            <a:noAutofit/>
          </a:bodyPr>
          <a:lstStyle/>
          <a:p>
            <a:pPr algn="l">
              <a:lnSpc>
                <a:spcPts val="3219"/>
              </a:lnSpc>
            </a:pPr>
            <a:r>
              <a:rPr sz="2300" b="1" lang="ja-JP" altLang="en-US">
                <a:solidFill>
                  <a:srgbClr val="333333"/>
                </a:solidFill>
                <a:latin typeface="Noto Sans JP"/>
                <a:ea typeface="Noto Sans JP"/>
              </a:rPr>
              <a:t>AlphaFold 2 は、既知の配列・構造から学んだ関係と、三次元幾何の性質を組み合わせる。</a:t>
            </a:r>
          </a:p>
        </p:txBody>
      </p:sp>
      <p:sp>
        <p:nvSpPr>
          <p:cNvPr id="18" name="TextBox 17"/>
          <p:cNvSpPr txBox="1"/>
          <p:nvPr/>
        </p:nvSpPr>
        <p:spPr>
          <a:xfrm>
            <a:off x="685800" y="3867912"/>
            <a:ext cx="10789920" cy="86868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MSA：進化的に関係のある複数の配列を、対応する位置が同じ列になるように整列した表。</a:t>
            </a:r>
          </a:p>
          <a:p>
            <a:pPr algn="l">
              <a:lnSpc>
                <a:spcPts val="2940"/>
              </a:lnSpc>
            </a:pPr>
            <a:r>
              <a:rPr sz="2100" b="0" lang="ja-JP" altLang="en-US">
                <a:solidFill>
                  <a:srgbClr val="333333"/>
                </a:solidFill>
                <a:latin typeface="Noto Sans JP"/>
                <a:ea typeface="Noto Sans JP"/>
              </a:rPr>
              <a:t>出力：原子座標と予測の信頼度。折り畳みの時間経過を計算するものではない。</a:t>
            </a:r>
          </a:p>
        </p:txBody>
      </p:sp>
      <p:sp>
        <p:nvSpPr>
          <p:cNvPr id="19" name="TextBox 18"/>
          <p:cNvSpPr txBox="1"/>
          <p:nvPr/>
        </p:nvSpPr>
        <p:spPr>
          <a:xfrm>
            <a:off x="685800" y="5148072"/>
            <a:ext cx="10789920" cy="795528"/>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第03回の構造観察 → 第04回のAttention → 今回の構造予測。</a:t>
            </a:r>
          </a:p>
          <a:p>
            <a:pPr algn="l">
              <a:lnSpc>
                <a:spcPts val="2940"/>
              </a:lnSpc>
            </a:pPr>
            <a:r>
              <a:rPr sz="2100" b="0" lang="ja-JP" altLang="en-US">
                <a:solidFill>
                  <a:srgbClr val="333333"/>
                </a:solidFill>
                <a:latin typeface="Noto Sans JP"/>
                <a:ea typeface="Noto Sans JP"/>
              </a:rPr>
              <a:t>演習では、同じユビキチンを配列から予測して、構造と信頼度を対応させる。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講義の流れ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表現の更新から構造生成までを追う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 / 36</a:t>
            </a:r>
          </a:p>
        </p:txBody>
      </p:sp>
      <p:sp>
        <p:nvSpPr>
          <p:cNvPr id="6" name="TextBox 5"/>
          <p:cNvSpPr txBox="1"/>
          <p:nvPr/>
        </p:nvSpPr>
        <p:spPr>
          <a:xfrm>
            <a:off x="685800" y="1463040"/>
            <a:ext cx="10789920" cy="393192"/>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構造予測の出発点</a:t>
            </a:r>
          </a:p>
        </p:txBody>
      </p:sp>
      <p:sp>
        <p:nvSpPr>
          <p:cNvPr id="7" name="TextBox 6"/>
          <p:cNvSpPr txBox="1"/>
          <p:nvPr/>
        </p:nvSpPr>
        <p:spPr>
          <a:xfrm>
            <a:off x="685800" y="1938528"/>
            <a:ext cx="10789920" cy="5486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座標・距離行列、相同配列と共進化、AF1からAF2への変化。</a:t>
            </a:r>
          </a:p>
        </p:txBody>
      </p:sp>
      <p:sp>
        <p:nvSpPr>
          <p:cNvPr id="8" name="TextBox 7"/>
          <p:cNvSpPr txBox="1"/>
          <p:nvPr/>
        </p:nvSpPr>
        <p:spPr>
          <a:xfrm>
            <a:off x="685800" y="2606040"/>
            <a:ext cx="10789920" cy="393192"/>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Evoformer</a:t>
            </a:r>
          </a:p>
        </p:txBody>
      </p:sp>
      <p:sp>
        <p:nvSpPr>
          <p:cNvPr id="9" name="TextBox 8"/>
          <p:cNvSpPr txBox="1"/>
          <p:nvPr/>
        </p:nvSpPr>
        <p:spPr>
          <a:xfrm>
            <a:off x="685800" y="3081528"/>
            <a:ext cx="10789920" cy="5486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MSA表現とペア表現、行と列のAttention、外積の平均、三角形の更新。</a:t>
            </a:r>
          </a:p>
        </p:txBody>
      </p:sp>
      <p:sp>
        <p:nvSpPr>
          <p:cNvPr id="10" name="TextBox 9"/>
          <p:cNvSpPr txBox="1"/>
          <p:nvPr/>
        </p:nvSpPr>
        <p:spPr>
          <a:xfrm>
            <a:off x="685800" y="3749039"/>
            <a:ext cx="10789920" cy="393192"/>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Structure Module</a:t>
            </a:r>
          </a:p>
        </p:txBody>
      </p:sp>
      <p:sp>
        <p:nvSpPr>
          <p:cNvPr id="11" name="TextBox 10"/>
          <p:cNvSpPr txBox="1"/>
          <p:nvPr/>
        </p:nvSpPr>
        <p:spPr>
          <a:xfrm>
            <a:off x="685800" y="4224527"/>
            <a:ext cx="10789920" cy="5486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二面角・局所座標系、IPA、学習時の誤差、リサイクリング。</a:t>
            </a:r>
          </a:p>
        </p:txBody>
      </p:sp>
      <p:sp>
        <p:nvSpPr>
          <p:cNvPr id="12" name="TextBox 11"/>
          <p:cNvSpPr txBox="1"/>
          <p:nvPr/>
        </p:nvSpPr>
        <p:spPr>
          <a:xfrm>
            <a:off x="685800" y="4892040"/>
            <a:ext cx="10789920" cy="393192"/>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信頼度とまとめ</a:t>
            </a:r>
          </a:p>
        </p:txBody>
      </p:sp>
      <p:sp>
        <p:nvSpPr>
          <p:cNvPr id="13" name="TextBox 12"/>
          <p:cNvSpPr txBox="1"/>
          <p:nvPr/>
        </p:nvSpPr>
        <p:spPr>
          <a:xfrm>
            <a:off x="685800" y="5367527"/>
            <a:ext cx="10789920" cy="54864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pLDDT・PAE、予測で分かることと分からないこと。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配列はわかっても、構造はわかっていない</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4 / 36</a:t>
            </a:r>
          </a:p>
        </p:txBody>
      </p:sp>
      <p:sp>
        <p:nvSpPr>
          <p:cNvPr id="6" name="Rounded Rectangle 5"/>
          <p:cNvSpPr/>
          <p:nvPr/>
        </p:nvSpPr>
        <p:spPr>
          <a:xfrm>
            <a:off x="609904" y="1371600"/>
            <a:ext cx="5852160" cy="1382395"/>
          </a:xfrm>
          <a:prstGeom prst="roundRect">
            <a:avLst>
              <a:gd name="adj" fmla="val 793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構造を知りたい理由</a:t>
            </a:r>
          </a:p>
        </p:txBody>
      </p:sp>
      <p:sp>
        <p:nvSpPr>
          <p:cNvPr id="8" name="TextBox 7"/>
          <p:cNvSpPr txBox="1"/>
          <p:nvPr/>
        </p:nvSpPr>
        <p:spPr>
          <a:xfrm>
            <a:off x="774496" y="1922907"/>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構造は、タンパク質の動き、結合する相手、はたらくしくみ、薬の設計を考える出発点になる。</a:t>
            </a:r>
          </a:p>
        </p:txBody>
      </p:sp>
      <p:sp>
        <p:nvSpPr>
          <p:cNvPr id="9" name="Rounded Rectangle 8"/>
          <p:cNvSpPr/>
          <p:nvPr/>
        </p:nvSpPr>
        <p:spPr>
          <a:xfrm>
            <a:off x="609904" y="2936875"/>
            <a:ext cx="5852160" cy="2140331"/>
          </a:xfrm>
          <a:prstGeom prst="roundRect">
            <a:avLst>
              <a:gd name="adj" fmla="val 5126"/>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4496" y="3101467"/>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配列と構造のギャップ</a:t>
            </a:r>
          </a:p>
        </p:txBody>
      </p:sp>
      <p:sp>
        <p:nvSpPr>
          <p:cNvPr id="11" name="TextBox 10"/>
          <p:cNvSpPr txBox="1"/>
          <p:nvPr/>
        </p:nvSpPr>
        <p:spPr>
          <a:xfrm>
            <a:off x="774496" y="3488182"/>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配列が分かっていても、実験構造がまだ決まっていないタンパク質は多い。</a:t>
            </a:r>
          </a:p>
        </p:txBody>
      </p:sp>
      <p:sp>
        <p:nvSpPr>
          <p:cNvPr id="12" name="TextBox 11"/>
          <p:cNvSpPr txBox="1"/>
          <p:nvPr/>
        </p:nvSpPr>
        <p:spPr>
          <a:xfrm>
            <a:off x="774496" y="4246118"/>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構造を実験で決めるには時間と費用がかかる。計算で予測できれば、このギャップを埋められる。</a:t>
            </a:r>
          </a:p>
        </p:txBody>
      </p:sp>
      <p:sp>
        <p:nvSpPr>
          <p:cNvPr id="13" name="Rounded Rectangle 12"/>
          <p:cNvSpPr/>
          <p:nvPr/>
        </p:nvSpPr>
        <p:spPr>
          <a:xfrm>
            <a:off x="609904" y="5260086"/>
            <a:ext cx="5852160" cy="916940"/>
          </a:xfrm>
          <a:prstGeom prst="roundRect">
            <a:avLst>
              <a:gd name="adj" fmla="val 11966"/>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496" y="5424677"/>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PDB（Protein Data Bank）：実験で決めた立体構造を集めた公開データベース</a:t>
            </a:r>
          </a:p>
        </p:txBody>
      </p:sp>
      <p:pic>
        <p:nvPicPr>
          <p:cNvPr id="15" name="Picture 14" descr="pdb_growth.png"/>
          <p:cNvPicPr>
            <a:picLocks noChangeAspect="1"/>
          </p:cNvPicPr>
          <p:nvPr/>
        </p:nvPicPr>
        <p:blipFill>
          <a:blip r:embed="rId3"/>
          <a:stretch>
            <a:fillRect/>
          </a:stretch>
        </p:blipFill>
        <p:spPr>
          <a:xfrm>
            <a:off x="6736384" y="1371600"/>
            <a:ext cx="4845405" cy="4063888"/>
          </a:xfrm>
          <a:prstGeom prst="rect">
            <a:avLst/>
          </a:prstGeom>
        </p:spPr>
      </p:pic>
      <p:sp>
        <p:nvSpPr>
          <p:cNvPr id="16" name="TextBox 15"/>
          <p:cNvSpPr txBox="1"/>
          <p:nvPr/>
        </p:nvSpPr>
        <p:spPr>
          <a:xfrm>
            <a:off x="6736384" y="5481208"/>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その年に PDB で公開された構造の数（RCSB PDB の集計、2025 年まで）</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全原子・主鎖・Cαは異なる解像度</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5 / 36</a:t>
            </a:r>
          </a:p>
        </p:txBody>
      </p:sp>
      <p:pic>
        <p:nvPicPr>
          <p:cNvPr id="6" name="Picture 5" descr="nmr.png"/>
          <p:cNvPicPr>
            <a:picLocks noChangeAspect="1"/>
          </p:cNvPicPr>
          <p:nvPr/>
        </p:nvPicPr>
        <p:blipFill>
          <a:blip r:embed="rId3"/>
          <a:srcRect/>
          <a:stretch>
            <a:fillRect/>
          </a:stretch>
        </p:blipFill>
        <p:spPr>
          <a:xfrm>
            <a:off x="6872008" y="1389888"/>
            <a:ext cx="4050207" cy="4389120"/>
          </a:xfrm>
          <a:prstGeom prst="rect">
            <a:avLst/>
          </a:prstGeom>
        </p:spPr>
      </p:pic>
      <p:sp>
        <p:nvSpPr>
          <p:cNvPr id="7" name="TextBox 6"/>
          <p:cNvSpPr txBox="1"/>
          <p:nvPr/>
        </p:nvSpPr>
        <p:spPr>
          <a:xfrm>
            <a:off x="594360" y="1723643"/>
            <a:ext cx="5349240" cy="938784"/>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全原子は側鎖の向きや衝突まで評価できますが、水素の付加や命名の違いを処理する必要があります。主鎖N–Cα–C–Oはペプチド面の向きも残します。</a:t>
            </a:r>
          </a:p>
        </p:txBody>
      </p:sp>
      <p:sp>
        <p:nvSpPr>
          <p:cNvPr id="8" name="TextBox 7"/>
          <p:cNvSpPr txBox="1"/>
          <p:nvPr/>
        </p:nvSpPr>
        <p:spPr>
          <a:xfrm>
            <a:off x="594360" y="2772155"/>
            <a:ext cx="5349240" cy="938784"/>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Cαだけなら原子対応が簡単で高速です。一方、同じCα配置から複数の側鎖配置が生じ、ペプチド面や水素結合を一意には決められません。</a:t>
            </a:r>
          </a:p>
        </p:txBody>
      </p:sp>
      <p:sp>
        <p:nvSpPr>
          <p:cNvPr id="9" name="TextBox 8"/>
          <p:cNvSpPr txBox="1"/>
          <p:nvPr/>
        </p:nvSpPr>
        <p:spPr>
          <a:xfrm>
            <a:off x="594360" y="3820667"/>
            <a:ext cx="5349240" cy="938784"/>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入力がCαだけの生成モデルを全原子へ復元した場合、復元器の誤差も最終指標に含まれます。生成器と復元器を分けて評価します。</a:t>
            </a:r>
          </a:p>
        </p:txBody>
      </p:sp>
      <p:pic>
        <p:nvPicPr>
          <p:cNvPr id="10" name="Picture 9" descr="d_{ij}=\|x_i-x_j\|_2,\qquad 1\ {\rm nm}=10\ {\mathring{\mathrm{A}}}"/>
          <p:cNvPicPr>
            <a:picLocks noChangeAspect="1"/>
          </p:cNvPicPr>
          <p:nvPr/>
        </p:nvPicPr>
        <p:blipFill>
          <a:blip r:embed="rId4"/>
          <a:stretch>
            <a:fillRect/>
          </a:stretch>
        </p:blipFill>
        <p:spPr>
          <a:xfrm>
            <a:off x="1369911" y="5323707"/>
            <a:ext cx="3798136" cy="334529"/>
          </a:xfrm>
          <a:prstGeom prst="rect">
            <a:avLst/>
          </a:prstGeom>
        </p:spPr>
      </p:pic>
      <p:sp>
        <p:nvSpPr>
          <p:cNvPr id="11" name="TextBox 10"/>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出典：RCSB PDB / wwPDB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ホモロジーモデリングの手順</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6 / 36</a:t>
            </a:r>
          </a:p>
        </p:txBody>
      </p:sp>
      <p:pic>
        <p:nvPicPr>
          <p:cNvPr id="6" name="Picture 5" descr="protein_actions_fig11_1.png"/>
          <p:cNvPicPr>
            <a:picLocks noChangeAspect="1"/>
          </p:cNvPicPr>
          <p:nvPr/>
        </p:nvPicPr>
        <p:blipFill>
          <a:blip r:embed="rId3"/>
          <a:stretch>
            <a:fillRect/>
          </a:stretch>
        </p:blipFill>
        <p:spPr>
          <a:xfrm>
            <a:off x="1349692" y="1280160"/>
            <a:ext cx="9462134" cy="4773168"/>
          </a:xfrm>
          <a:prstGeom prst="rect">
            <a:avLst/>
          </a:prstGeom>
        </p:spPr>
      </p:pic>
      <p:sp>
        <p:nvSpPr>
          <p:cNvPr id="7" name="TextBox 6"/>
          <p:cNvSpPr txBox="1"/>
          <p:nvPr/>
        </p:nvSpPr>
        <p:spPr>
          <a:xfrm>
            <a:off x="658368" y="6108192"/>
            <a:ext cx="10972800" cy="265176"/>
          </a:xfrm>
          <a:prstGeom prst="rect">
            <a:avLst/>
          </a:prstGeom>
          <a:noFill/>
        </p:spPr>
        <p:txBody>
          <a:bodyPr wrap="square" lIns="0" rIns="0" tIns="0" bIns="0" anchor="t">
            <a:noAutofit/>
          </a:bodyPr>
          <a:lstStyle/>
          <a:p>
            <a:pPr algn="l">
              <a:lnSpc>
                <a:spcPts val="1820"/>
              </a:lnSpc>
            </a:pPr>
            <a:r>
              <a:rPr sz="1300" b="0" lang="ja-JP" altLang="en-US">
                <a:solidFill>
                  <a:srgbClr val="333333"/>
                </a:solidFill>
                <a:latin typeface="Noto Sans JP"/>
                <a:ea typeface="Noto Sans JP"/>
              </a:rPr>
              <a:t>TMスコアには参照構造が必要。正解構造が未知の予測では、利用可能なモデル評価のスコアで候補を選ぶ。</a:t>
            </a:r>
          </a:p>
        </p:txBody>
      </p:sp>
      <p:sp>
        <p:nvSpPr>
          <p:cNvPr id="8" name="TextBox 7"/>
          <p:cNvSpPr txBox="1"/>
          <p:nvPr/>
        </p:nvSpPr>
        <p:spPr>
          <a:xfrm>
            <a:off x="658368" y="6419088"/>
            <a:ext cx="10515600" cy="201168"/>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出典：Bahar・Jernigan・Dill『タンパク質の動きと機能』（共立出版, 2026）図11.1。旧AlphaFold 2解説教材より再利用。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距離行列は回転と並進を取り除く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7 / 36</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全原子対の距離を並べると、構造を重ね合わせなくても比較できます。回転は長さを保ち、並進は差を取ると消えるためです。</a:t>
            </a:r>
          </a:p>
        </p:txBody>
      </p:sp>
      <p:pic>
        <p:nvPicPr>
          <p:cNvPr id="7" name="Picture 6" descr="\|(Rx_i+t)-(Rx_j+t)\|^2=(x_i-x_j)^TR^TR(x_i-x_j)=d_{ij}^2"/>
          <p:cNvPicPr>
            <a:picLocks noChangeAspect="1"/>
          </p:cNvPicPr>
          <p:nvPr/>
        </p:nvPicPr>
        <p:blipFill>
          <a:blip r:embed="rId3"/>
          <a:stretch>
            <a:fillRect/>
          </a:stretch>
        </p:blipFill>
        <p:spPr>
          <a:xfrm>
            <a:off x="3067389" y="2225204"/>
            <a:ext cx="6054172" cy="354927"/>
          </a:xfrm>
          <a:prstGeom prst="rect">
            <a:avLst/>
          </a:prstGeom>
        </p:spPr>
      </p:pic>
      <p:pic>
        <p:nvPicPr>
          <p:cNvPr id="8" name="Picture 7" descr="C_{ij}=\mathbf1[d_{ij}&lt;r_c],\quad V=\det[x_2-x_1,x_3-x_1,x_4-x_1]"/>
          <p:cNvPicPr>
            <a:picLocks noChangeAspect="1"/>
          </p:cNvPicPr>
          <p:nvPr/>
        </p:nvPicPr>
        <p:blipFill>
          <a:blip r:embed="rId4"/>
          <a:stretch>
            <a:fillRect/>
          </a:stretch>
        </p:blipFill>
        <p:spPr>
          <a:xfrm>
            <a:off x="3181619" y="2689860"/>
            <a:ext cx="5825712" cy="289653"/>
          </a:xfrm>
          <a:prstGeom prst="rect">
            <a:avLst/>
          </a:prstGeom>
        </p:spPr>
      </p:pic>
      <p:pic>
        <p:nvPicPr>
          <p:cNvPr id="9" name="Picture 8" descr="J=I-\frac1N\mathbf1\mathbf1^T,\quad B=-\frac12J(D\circ D)J=X_cX_c^T"/>
          <p:cNvPicPr>
            <a:picLocks noChangeAspect="1"/>
          </p:cNvPicPr>
          <p:nvPr/>
        </p:nvPicPr>
        <p:blipFill>
          <a:blip r:embed="rId5"/>
          <a:stretch>
            <a:fillRect/>
          </a:stretch>
        </p:blipFill>
        <p:spPr>
          <a:xfrm>
            <a:off x="3762967" y="3089241"/>
            <a:ext cx="4663017" cy="514033"/>
          </a:xfrm>
          <a:prstGeom prst="rect">
            <a:avLst/>
          </a:prstGeom>
        </p:spPr>
      </p:pic>
      <p:pic>
        <p:nvPicPr>
          <p:cNvPr id="10" name="Picture 9" descr="D_{ij}^2=B_{ii}+B_{jj}-2B_{ij},\quad B\succeq0,\quad\operatorname{rank}B\le3"/>
          <p:cNvPicPr>
            <a:picLocks noChangeAspect="1"/>
          </p:cNvPicPr>
          <p:nvPr/>
        </p:nvPicPr>
        <p:blipFill>
          <a:blip r:embed="rId6"/>
          <a:stretch>
            <a:fillRect/>
          </a:stretch>
        </p:blipFill>
        <p:spPr>
          <a:xfrm>
            <a:off x="3632418" y="3713003"/>
            <a:ext cx="4924114" cy="354927"/>
          </a:xfrm>
          <a:prstGeom prst="rect">
            <a:avLst/>
          </a:prstGeom>
        </p:spPr>
      </p:pic>
      <p:pic>
        <p:nvPicPr>
          <p:cNvPr id="11" name="Picture 10" descr="\det[r_2-r_1,r_3-r_1,r_4-r_1]\mapsto\det(R)\det[r_2-r_1,r_3-r_1,r_4-r_1]"/>
          <p:cNvPicPr>
            <a:picLocks noChangeAspect="1"/>
          </p:cNvPicPr>
          <p:nvPr/>
        </p:nvPicPr>
        <p:blipFill>
          <a:blip r:embed="rId7"/>
          <a:stretch>
            <a:fillRect/>
          </a:stretch>
        </p:blipFill>
        <p:spPr>
          <a:xfrm>
            <a:off x="2616590" y="4177659"/>
            <a:ext cx="6955770" cy="257016"/>
          </a:xfrm>
          <a:prstGeom prst="rect">
            <a:avLst/>
          </a:prstGeom>
        </p:spPr>
      </p:pic>
      <p:sp>
        <p:nvSpPr>
          <p:cNvPr id="12" name="TextBox 11"/>
          <p:cNvSpPr txBox="1"/>
          <p:nvPr/>
        </p:nvSpPr>
        <p:spPr>
          <a:xfrm>
            <a:off x="594360" y="4859909"/>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距離行列はN×Nですが、成分は独立ではありません。三角不等式や三次元へ埋め込める条件があり、任意の対称行列が分子構造になるわけではありません。</a:t>
            </a:r>
          </a:p>
        </p:txBody>
      </p:sp>
      <p:sp>
        <p:nvSpPr>
          <p:cNvPr id="13" name="TextBox 12"/>
          <p:cNvSpPr txBox="1"/>
          <p:nvPr/>
        </p:nvSpPr>
        <p:spPr>
          <a:xfrm>
            <a:off x="6231636" y="4714240"/>
            <a:ext cx="5362955" cy="1201928"/>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距離は鏡映でも変わりません。キラリティを保つには、符号付き体積や二面角など向きの情報を加えます。接触マップはさらに閾値化するので情報を失います。</a:t>
            </a:r>
          </a:p>
        </p:txBody>
      </p:sp>
      <p:sp>
        <p:nvSpPr>
          <p:cNvPr id="14" name="TextBox 13"/>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出典：Mariani et al. (2013)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構造予測とは｜MSA</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MSA：相同配列の対応する位置をそろえる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8 / 36</a:t>
            </a:r>
          </a:p>
        </p:txBody>
      </p:sp>
      <p:sp>
        <p:nvSpPr>
          <p:cNvPr id="6" name="TextBox 5"/>
          <p:cNvSpPr txBox="1"/>
          <p:nvPr/>
        </p:nvSpPr>
        <p:spPr>
          <a:xfrm>
            <a:off x="685800" y="1353312"/>
            <a:ext cx="10789920" cy="713232"/>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MSA（Multiple Sequence Alignment、多重配列アラインメント）は、共通祖先に由来する</a:t>
            </a:r>
          </a:p>
          <a:p>
            <a:pPr algn="l">
              <a:lnSpc>
                <a:spcPts val="2660"/>
              </a:lnSpc>
            </a:pPr>
            <a:r>
              <a:rPr sz="1900" b="0" lang="ja-JP" altLang="en-US">
                <a:solidFill>
                  <a:srgbClr val="333333"/>
                </a:solidFill>
                <a:latin typeface="Noto Sans JP"/>
                <a:ea typeface="Noto Sans JP"/>
              </a:rPr>
              <a:t>相同配列を集め、対応すると推定される残基が同じ列になるように整列した表。</a:t>
            </a:r>
          </a:p>
        </p:txBody>
      </p:sp>
      <p:pic>
        <p:nvPicPr>
          <p:cNvPr id="7" name="Picture 6" descr="msa_alignment.png"/>
          <p:cNvPicPr>
            <a:picLocks noChangeAspect="1"/>
          </p:cNvPicPr>
          <p:nvPr/>
        </p:nvPicPr>
        <p:blipFill>
          <a:blip r:embed="rId3"/>
          <a:stretch>
            <a:fillRect/>
          </a:stretch>
        </p:blipFill>
        <p:spPr>
          <a:xfrm>
            <a:off x="594360" y="2103120"/>
            <a:ext cx="10972800" cy="3108960"/>
          </a:xfrm>
          <a:prstGeom prst="rect">
            <a:avLst/>
          </a:prstGeom>
        </p:spPr>
      </p:pic>
      <p:sp>
        <p:nvSpPr>
          <p:cNvPr id="8" name="TextBox 7"/>
          <p:cNvSpPr txBox="1"/>
          <p:nvPr/>
        </p:nvSpPr>
        <p:spPr>
          <a:xfrm>
            <a:off x="685800" y="5376672"/>
            <a:ext cx="3337560" cy="292608"/>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ギャップ「−」</a:t>
            </a:r>
          </a:p>
        </p:txBody>
      </p:sp>
      <p:sp>
        <p:nvSpPr>
          <p:cNvPr id="9" name="TextBox 8"/>
          <p:cNvSpPr txBox="1"/>
          <p:nvPr/>
        </p:nvSpPr>
        <p:spPr>
          <a:xfrm>
            <a:off x="685800" y="5733288"/>
            <a:ext cx="3364992" cy="54864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挿入・欠失に対応する空所。</a:t>
            </a:r>
          </a:p>
          <a:p>
            <a:pPr algn="l">
              <a:lnSpc>
                <a:spcPts val="2100"/>
              </a:lnSpc>
            </a:pPr>
            <a:r>
              <a:rPr sz="1500" b="0" lang="ja-JP" altLang="en-US">
                <a:solidFill>
                  <a:srgbClr val="333333"/>
                </a:solidFill>
                <a:latin typeface="Noto Sans JP"/>
                <a:ea typeface="Noto Sans JP"/>
              </a:rPr>
              <a:t>アミノ酸ではない。</a:t>
            </a:r>
          </a:p>
        </p:txBody>
      </p:sp>
      <p:sp>
        <p:nvSpPr>
          <p:cNvPr id="10" name="TextBox 9"/>
          <p:cNvSpPr txBox="1"/>
          <p:nvPr/>
        </p:nvSpPr>
        <p:spPr>
          <a:xfrm>
            <a:off x="4434840" y="5376672"/>
            <a:ext cx="3337560" cy="292608"/>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保存された列</a:t>
            </a:r>
          </a:p>
        </p:txBody>
      </p:sp>
      <p:sp>
        <p:nvSpPr>
          <p:cNvPr id="11" name="TextBox 10"/>
          <p:cNvSpPr txBox="1"/>
          <p:nvPr/>
        </p:nvSpPr>
        <p:spPr>
          <a:xfrm>
            <a:off x="4434840" y="5733288"/>
            <a:ext cx="3364992" cy="54864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例：5列目はすべてA。</a:t>
            </a:r>
          </a:p>
          <a:p>
            <a:pPr algn="l">
              <a:lnSpc>
                <a:spcPts val="2100"/>
              </a:lnSpc>
            </a:pPr>
            <a:r>
              <a:rPr sz="1500" b="0" lang="ja-JP" altLang="en-US">
                <a:solidFill>
                  <a:srgbClr val="333333"/>
                </a:solidFill>
                <a:latin typeface="Noto Sans JP"/>
                <a:ea typeface="Noto Sans JP"/>
              </a:rPr>
              <a:t>この位置は変わりにくい。</a:t>
            </a:r>
          </a:p>
        </p:txBody>
      </p:sp>
      <p:sp>
        <p:nvSpPr>
          <p:cNvPr id="12" name="TextBox 11"/>
          <p:cNvSpPr txBox="1"/>
          <p:nvPr/>
        </p:nvSpPr>
        <p:spPr>
          <a:xfrm>
            <a:off x="8183879" y="5376672"/>
            <a:ext cx="3337560" cy="292608"/>
          </a:xfrm>
          <a:prstGeom prst="rect">
            <a:avLst/>
          </a:prstGeom>
          <a:noFill/>
        </p:spPr>
        <p:txBody>
          <a:bodyPr wrap="square" lIns="0" rIns="0" tIns="0" bIns="0" anchor="t">
            <a:noAutofit/>
          </a:bodyPr>
          <a:lstStyle/>
          <a:p>
            <a:pPr algn="l">
              <a:lnSpc>
                <a:spcPts val="2520"/>
              </a:lnSpc>
            </a:pPr>
            <a:r>
              <a:rPr sz="1800" b="1" lang="ja-JP" altLang="en-US">
                <a:solidFill>
                  <a:srgbClr val="0017C1"/>
                </a:solidFill>
                <a:latin typeface="Noto Sans JP"/>
                <a:ea typeface="Noto Sans JP"/>
              </a:rPr>
              <a:t>置換のある列</a:t>
            </a:r>
          </a:p>
        </p:txBody>
      </p:sp>
      <p:sp>
        <p:nvSpPr>
          <p:cNvPr id="13" name="TextBox 12"/>
          <p:cNvSpPr txBox="1"/>
          <p:nvPr/>
        </p:nvSpPr>
        <p:spPr>
          <a:xfrm>
            <a:off x="8183879" y="5733288"/>
            <a:ext cx="3364992" cy="54864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例：6列目はYまたはF。</a:t>
            </a:r>
          </a:p>
          <a:p>
            <a:pPr algn="l">
              <a:lnSpc>
                <a:spcPts val="2100"/>
              </a:lnSpc>
            </a:pPr>
            <a:r>
              <a:rPr sz="1500" b="0" lang="ja-JP" altLang="en-US">
                <a:solidFill>
                  <a:srgbClr val="333333"/>
                </a:solidFill>
                <a:latin typeface="Noto Sans JP"/>
                <a:ea typeface="Noto Sans JP"/>
              </a:rPr>
              <a:t>同じ列でも文字は変わりうる。</a:t>
            </a:r>
          </a:p>
        </p:txBody>
      </p:sp>
      <p:sp>
        <p:nvSpPr>
          <p:cNvPr id="14" name="TextBox 13"/>
          <p:cNvSpPr txBox="1"/>
          <p:nvPr/>
        </p:nvSpPr>
        <p:spPr>
          <a:xfrm>
            <a:off x="685800" y="6400800"/>
            <a:ext cx="10424160" cy="201168"/>
          </a:xfrm>
          <a:prstGeom prst="rect">
            <a:avLst/>
          </a:prstGeom>
          <a:noFill/>
        </p:spPr>
        <p:txBody>
          <a:bodyPr wrap="square" lIns="0" rIns="0" tIns="0" bIns="0" anchor="t">
            <a:noAutofit/>
          </a:bodyPr>
          <a:lstStyle/>
          <a:p>
            <a:pPr algn="l">
              <a:lnSpc>
                <a:spcPts val="1400"/>
              </a:lnSpc>
            </a:pPr>
            <a:r>
              <a:rPr sz="1000" b="0" lang="ja-JP" altLang="en-US">
                <a:solidFill>
                  <a:srgbClr val="333333"/>
                </a:solidFill>
                <a:latin typeface="Noto Sans JP"/>
                <a:ea typeface="Noto Sans JP"/>
              </a:rPr>
              <a:t>模式例（架空の配列）。列番号と元の残基番号は異なる場合がある。参考：EMBL-EBI, Multiple sequence alignment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共進化：同時の変異が接触の手掛かりになる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9 / 36</a:t>
            </a:r>
          </a:p>
        </p:txBody>
      </p:sp>
      <p:sp>
        <p:nvSpPr>
          <p:cNvPr id="6" name="Rounded Rectangle 5"/>
          <p:cNvSpPr/>
          <p:nvPr/>
        </p:nvSpPr>
        <p:spPr>
          <a:xfrm>
            <a:off x="609904" y="1371600"/>
            <a:ext cx="5852160" cy="4658868"/>
          </a:xfrm>
          <a:prstGeom prst="roundRect">
            <a:avLst>
              <a:gd name="adj" fmla="val 2355"/>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MSA（マルチプルシーケンスアラインメント）</a:t>
            </a:r>
          </a:p>
        </p:txBody>
      </p:sp>
      <p:sp>
        <p:nvSpPr>
          <p:cNvPr id="8" name="TextBox 7"/>
          <p:cNvSpPr txBox="1"/>
          <p:nvPr/>
        </p:nvSpPr>
        <p:spPr>
          <a:xfrm>
            <a:off x="774496" y="1922907"/>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ターゲットに似た、進化的に関係のある配列をたくさん並べたもの。</a:t>
            </a:r>
          </a:p>
        </p:txBody>
      </p:sp>
      <p:sp>
        <p:nvSpPr>
          <p:cNvPr id="9" name="TextBox 8"/>
          <p:cNvSpPr txBox="1"/>
          <p:nvPr/>
        </p:nvSpPr>
        <p:spPr>
          <a:xfrm>
            <a:off x="774496" y="264147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共変異（共進化）</a:t>
            </a:r>
          </a:p>
        </p:txBody>
      </p:sp>
      <p:sp>
        <p:nvSpPr>
          <p:cNvPr id="10" name="TextBox 9"/>
          <p:cNvSpPr txBox="1"/>
          <p:nvPr/>
        </p:nvSpPr>
        <p:spPr>
          <a:xfrm>
            <a:off x="774496" y="3028188"/>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列 </a:t>
            </a: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 でアミノ酸が変わるとき、列 </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でも変わる。</a:t>
            </a:r>
          </a:p>
        </p:txBody>
      </p:sp>
      <p:sp>
        <p:nvSpPr>
          <p:cNvPr id="11" name="TextBox 10"/>
          <p:cNvSpPr txBox="1"/>
          <p:nvPr/>
        </p:nvSpPr>
        <p:spPr>
          <a:xfrm>
            <a:off x="774496" y="3451479"/>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なぜ起こるか</a:t>
            </a:r>
          </a:p>
        </p:txBody>
      </p:sp>
      <p:sp>
        <p:nvSpPr>
          <p:cNvPr id="12" name="TextBox 11"/>
          <p:cNvSpPr txBox="1"/>
          <p:nvPr/>
        </p:nvSpPr>
        <p:spPr>
          <a:xfrm>
            <a:off x="774496" y="3838194"/>
            <a:ext cx="5522976" cy="627126"/>
          </a:xfrm>
          <a:prstGeom prst="rect">
            <a:avLst/>
          </a:prstGeom>
          <a:noFill/>
        </p:spPr>
        <p:txBody>
          <a:bodyPr wrap="square" lIns="0" rIns="0" tIns="0" bIns="0" anchor="t">
            <a:noAutofit/>
          </a:bodyPr>
          <a:lstStyle/>
          <a:p>
            <a:pPr algn="l">
              <a:lnSpc>
                <a:spcPts val="2325"/>
              </a:lnSpc>
            </a:pP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 と </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が接していると、</a:t>
            </a: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 が大きくなる変異は </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が小さくなる変異といっしょに起こりやすい。</a:t>
            </a:r>
          </a:p>
        </p:txBody>
      </p:sp>
      <p:sp>
        <p:nvSpPr>
          <p:cNvPr id="13" name="TextBox 12"/>
          <p:cNvSpPr txBox="1"/>
          <p:nvPr/>
        </p:nvSpPr>
        <p:spPr>
          <a:xfrm>
            <a:off x="774496" y="4556760"/>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使い方</a:t>
            </a:r>
          </a:p>
        </p:txBody>
      </p:sp>
      <p:sp>
        <p:nvSpPr>
          <p:cNvPr id="14" name="TextBox 13"/>
          <p:cNvSpPr txBox="1"/>
          <p:nvPr/>
        </p:nvSpPr>
        <p:spPr>
          <a:xfrm>
            <a:off x="774496" y="4943475"/>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共変異する対を接触の候補とみなし、構造を組み立てる制約に使う（EVfold）。テンプレートがない膜タンパク質にも使える。</a:t>
            </a:r>
          </a:p>
        </p:txBody>
      </p:sp>
      <p:pic>
        <p:nvPicPr>
          <p:cNvPr id="15" name="Picture 14" descr="evfold.png"/>
          <p:cNvPicPr>
            <a:picLocks noChangeAspect="1"/>
          </p:cNvPicPr>
          <p:nvPr/>
        </p:nvPicPr>
        <p:blipFill>
          <a:blip r:embed="rId3"/>
          <a:stretch>
            <a:fillRect/>
          </a:stretch>
        </p:blipFill>
        <p:spPr>
          <a:xfrm>
            <a:off x="6736384" y="1645920"/>
            <a:ext cx="4845405" cy="3634054"/>
          </a:xfrm>
          <a:prstGeom prst="rect">
            <a:avLst/>
          </a:prstGeom>
        </p:spPr>
      </p:pic>
      <p:sp>
        <p:nvSpPr>
          <p:cNvPr id="16" name="TextBox 15"/>
          <p:cNvSpPr txBox="1"/>
          <p:nvPr/>
        </p:nvSpPr>
        <p:spPr>
          <a:xfrm>
            <a:off x="6736384" y="5325693"/>
            <a:ext cx="4845405"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EVfold の考え方（模式図）</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直接の相関と間接の相関</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10 / 36</a:t>
            </a:r>
          </a:p>
        </p:txBody>
      </p:sp>
      <p:sp>
        <p:nvSpPr>
          <p:cNvPr id="6" name="Rounded Rectangle 5"/>
          <p:cNvSpPr/>
          <p:nvPr/>
        </p:nvSpPr>
        <p:spPr>
          <a:xfrm>
            <a:off x="609904" y="1371600"/>
            <a:ext cx="5852160" cy="3579240"/>
          </a:xfrm>
          <a:prstGeom prst="roundRect">
            <a:avLst>
              <a:gd name="adj" fmla="val 3065"/>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相互情報量（MI）</a:t>
            </a:r>
          </a:p>
        </p:txBody>
      </p:sp>
      <p:sp>
        <p:nvSpPr>
          <p:cNvPr id="8" name="TextBox 7"/>
          <p:cNvSpPr txBox="1"/>
          <p:nvPr/>
        </p:nvSpPr>
        <p:spPr>
          <a:xfrm>
            <a:off x="774496" y="1922907"/>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列 </a:t>
            </a: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 と列 </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の相関をそのまま測る。</a:t>
            </a:r>
          </a:p>
        </p:txBody>
      </p:sp>
      <p:pic>
        <p:nvPicPr>
          <p:cNvPr id="9" name="Picture 8" descr="\text{MI}_{ij} = \sum_{a,b} f_{ij}(a,b)\,\ln \frac{f_{ij}(a,b)}{f_{i}(a)\,f_{j}(b)}"/>
          <p:cNvPicPr>
            <a:picLocks noChangeAspect="1"/>
          </p:cNvPicPr>
          <p:nvPr/>
        </p:nvPicPr>
        <p:blipFill>
          <a:blip r:embed="rId3"/>
          <a:stretch>
            <a:fillRect/>
          </a:stretch>
        </p:blipFill>
        <p:spPr>
          <a:xfrm>
            <a:off x="774496" y="2346198"/>
            <a:ext cx="3230880" cy="694944"/>
          </a:xfrm>
          <a:prstGeom prst="rect">
            <a:avLst/>
          </a:prstGeom>
        </p:spPr>
      </p:pic>
      <p:sp>
        <p:nvSpPr>
          <p:cNvPr id="10" name="TextBox 9"/>
          <p:cNvSpPr txBox="1"/>
          <p:nvPr/>
        </p:nvSpPr>
        <p:spPr>
          <a:xfrm>
            <a:off x="774496" y="3132582"/>
            <a:ext cx="5522976" cy="548386"/>
          </a:xfrm>
          <a:prstGeom prst="rect">
            <a:avLst/>
          </a:prstGeom>
          <a:noFill/>
        </p:spPr>
        <p:txBody>
          <a:bodyPr wrap="square" lIns="0" rIns="0" tIns="0" bIns="0" anchor="t">
            <a:noAutofit/>
          </a:bodyPr>
          <a:lstStyle/>
          <a:p>
            <a:pPr algn="l">
              <a:lnSpc>
                <a:spcPts val="2015"/>
              </a:lnSpc>
            </a:pPr>
            <a:r>
              <a:rPr sz="1300" b="0" i="1" lang="ja-JP" altLang="en-US">
                <a:solidFill>
                  <a:srgbClr val="4D4D4D"/>
                </a:solidFill>
                <a:latin typeface="Cambria Math"/>
                <a:ea typeface="Noto Sans JP"/>
              </a:rPr>
              <a:t>f</a:t>
            </a:r>
            <a:r>
              <a:rPr sz="1300" b="0" i="1" baseline="-25000" lang="ja-JP" altLang="en-US">
                <a:solidFill>
                  <a:srgbClr val="4D4D4D"/>
                </a:solidFill>
                <a:latin typeface="Cambria Math"/>
                <a:ea typeface="Noto Sans JP"/>
              </a:rPr>
              <a:t>i</a:t>
            </a:r>
            <a:r>
              <a:rPr sz="1300" b="0" i="0" lang="ja-JP" altLang="en-US">
                <a:solidFill>
                  <a:srgbClr val="4D4D4D"/>
                </a:solidFill>
                <a:latin typeface="Cambria Math"/>
                <a:ea typeface="Noto Sans JP"/>
              </a:rPr>
              <a:t>(</a:t>
            </a:r>
            <a:r>
              <a:rPr sz="1300" b="0" i="1" lang="ja-JP" altLang="en-US">
                <a:solidFill>
                  <a:srgbClr val="4D4D4D"/>
                </a:solidFill>
                <a:latin typeface="Cambria Math"/>
                <a:ea typeface="Noto Sans JP"/>
              </a:rPr>
              <a:t>a</a:t>
            </a:r>
            <a:r>
              <a:rPr sz="1300" b="0" i="0" lang="ja-JP" altLang="en-US">
                <a:solidFill>
                  <a:srgbClr val="4D4D4D"/>
                </a:solidFill>
                <a:latin typeface="Cambria Math"/>
                <a:ea typeface="Noto Sans JP"/>
              </a:rPr>
              <a:t>)</a:t>
            </a:r>
            <a:r>
              <a:rPr sz="1300" b="0" lang="ja-JP" altLang="en-US">
                <a:solidFill>
                  <a:srgbClr val="4D4D4D"/>
                </a:solidFill>
                <a:latin typeface="Noto Sans JP"/>
                <a:ea typeface="Noto Sans JP"/>
              </a:rPr>
              <a:t>：列 </a:t>
            </a:r>
            <a:r>
              <a:rPr sz="1300" b="0" i="1" lang="ja-JP" altLang="en-US">
                <a:solidFill>
                  <a:srgbClr val="4D4D4D"/>
                </a:solidFill>
                <a:latin typeface="Cambria Math"/>
                <a:ea typeface="Noto Sans JP"/>
              </a:rPr>
              <a:t>i</a:t>
            </a:r>
            <a:r>
              <a:rPr sz="1300" b="0" lang="ja-JP" altLang="en-US">
                <a:solidFill>
                  <a:srgbClr val="4D4D4D"/>
                </a:solidFill>
                <a:latin typeface="Noto Sans JP"/>
                <a:ea typeface="Noto Sans JP"/>
              </a:rPr>
              <a:t> にアミノ酸 </a:t>
            </a:r>
            <a:r>
              <a:rPr sz="1300" b="0" i="1" lang="ja-JP" altLang="en-US">
                <a:solidFill>
                  <a:srgbClr val="4D4D4D"/>
                </a:solidFill>
                <a:latin typeface="Cambria Math"/>
                <a:ea typeface="Noto Sans JP"/>
              </a:rPr>
              <a:t>a</a:t>
            </a:r>
            <a:r>
              <a:rPr sz="1300" b="0" lang="ja-JP" altLang="en-US">
                <a:solidFill>
                  <a:srgbClr val="4D4D4D"/>
                </a:solidFill>
                <a:latin typeface="Noto Sans JP"/>
                <a:ea typeface="Noto Sans JP"/>
              </a:rPr>
              <a:t> が現れる頻度、</a:t>
            </a:r>
            <a:r>
              <a:rPr sz="1300" b="0" i="1" lang="ja-JP" altLang="en-US">
                <a:solidFill>
                  <a:srgbClr val="4D4D4D"/>
                </a:solidFill>
                <a:latin typeface="Cambria Math"/>
                <a:ea typeface="Noto Sans JP"/>
              </a:rPr>
              <a:t>f</a:t>
            </a:r>
            <a:r>
              <a:rPr sz="1300" b="0" i="1" baseline="-25000" lang="ja-JP" altLang="en-US">
                <a:solidFill>
                  <a:srgbClr val="4D4D4D"/>
                </a:solidFill>
                <a:latin typeface="Cambria Math"/>
                <a:ea typeface="Noto Sans JP"/>
              </a:rPr>
              <a:t>ij</a:t>
            </a:r>
            <a:r>
              <a:rPr sz="1300" b="0" i="0" lang="ja-JP" altLang="en-US">
                <a:solidFill>
                  <a:srgbClr val="4D4D4D"/>
                </a:solidFill>
                <a:latin typeface="Cambria Math"/>
                <a:ea typeface="Noto Sans JP"/>
              </a:rPr>
              <a:t>(</a:t>
            </a:r>
            <a:r>
              <a:rPr sz="1300" b="0" i="1" lang="ja-JP" altLang="en-US">
                <a:solidFill>
                  <a:srgbClr val="4D4D4D"/>
                </a:solidFill>
                <a:latin typeface="Cambria Math"/>
                <a:ea typeface="Noto Sans JP"/>
              </a:rPr>
              <a:t>a</a:t>
            </a:r>
            <a:r>
              <a:rPr sz="1300" b="0" i="0" lang="ja-JP" altLang="en-US">
                <a:solidFill>
                  <a:srgbClr val="4D4D4D"/>
                </a:solidFill>
                <a:latin typeface="Cambria Math"/>
                <a:ea typeface="Noto Sans JP"/>
              </a:rPr>
              <a:t>,</a:t>
            </a:r>
            <a:r>
              <a:rPr sz="1300" b="0" i="1" lang="ja-JP" altLang="en-US">
                <a:solidFill>
                  <a:srgbClr val="4D4D4D"/>
                </a:solidFill>
                <a:latin typeface="Cambria Math"/>
                <a:ea typeface="Noto Sans JP"/>
              </a:rPr>
              <a:t>b</a:t>
            </a:r>
            <a:r>
              <a:rPr sz="1300" b="0" i="0" lang="ja-JP" altLang="en-US">
                <a:solidFill>
                  <a:srgbClr val="4D4D4D"/>
                </a:solidFill>
                <a:latin typeface="Cambria Math"/>
                <a:ea typeface="Noto Sans JP"/>
              </a:rPr>
              <a:t>)</a:t>
            </a:r>
            <a:r>
              <a:rPr sz="1300" b="0" lang="ja-JP" altLang="en-US">
                <a:solidFill>
                  <a:srgbClr val="4D4D4D"/>
                </a:solidFill>
                <a:latin typeface="Noto Sans JP"/>
                <a:ea typeface="Noto Sans JP"/>
              </a:rPr>
              <a:t>：対の頻度（第 8 章）</a:t>
            </a:r>
          </a:p>
        </p:txBody>
      </p:sp>
      <p:sp>
        <p:nvSpPr>
          <p:cNvPr id="11" name="TextBox 10"/>
          <p:cNvSpPr txBox="1"/>
          <p:nvPr/>
        </p:nvSpPr>
        <p:spPr>
          <a:xfrm>
            <a:off x="774496" y="3772408"/>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直接結合分析（DCA）</a:t>
            </a:r>
          </a:p>
        </p:txBody>
      </p:sp>
      <p:sp>
        <p:nvSpPr>
          <p:cNvPr id="12" name="TextBox 11"/>
          <p:cNvSpPr txBox="1"/>
          <p:nvPr/>
        </p:nvSpPr>
        <p:spPr>
          <a:xfrm>
            <a:off x="774496" y="4159123"/>
            <a:ext cx="5522976" cy="627126"/>
          </a:xfrm>
          <a:prstGeom prst="rect">
            <a:avLst/>
          </a:prstGeom>
          <a:noFill/>
        </p:spPr>
        <p:txBody>
          <a:bodyPr wrap="square" lIns="0" rIns="0" tIns="0" bIns="0" anchor="t">
            <a:noAutofit/>
          </a:bodyPr>
          <a:lstStyle/>
          <a:p>
            <a:pPr algn="l">
              <a:lnSpc>
                <a:spcPts val="2325"/>
              </a:lnSpc>
            </a:pP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a:t>
            </a:r>
            <a:r>
              <a:rPr sz="1500" b="0" i="1" lang="ja-JP" altLang="en-US">
                <a:solidFill>
                  <a:srgbClr val="333333"/>
                </a:solidFill>
                <a:latin typeface="Cambria Math"/>
                <a:ea typeface="Noto Sans JP"/>
              </a:rPr>
              <a:t>k</a:t>
            </a:r>
            <a:r>
              <a:rPr sz="1500" b="0" lang="ja-JP" altLang="en-US">
                <a:solidFill>
                  <a:srgbClr val="333333"/>
                </a:solidFill>
                <a:latin typeface="Noto Sans JP"/>
                <a:ea typeface="Noto Sans JP"/>
              </a:rPr>
              <a:t>、</a:t>
            </a:r>
            <a:r>
              <a:rPr sz="1500" b="0" i="1" lang="ja-JP" altLang="en-US">
                <a:solidFill>
                  <a:srgbClr val="333333"/>
                </a:solidFill>
                <a:latin typeface="Cambria Math"/>
                <a:ea typeface="Noto Sans JP"/>
              </a:rPr>
              <a:t>k</a:t>
            </a:r>
            <a:r>
              <a:rPr sz="1500" b="0" lang="ja-JP" altLang="en-US">
                <a:solidFill>
                  <a:srgbClr val="333333"/>
                </a:solidFill>
                <a:latin typeface="Noto Sans JP"/>
                <a:ea typeface="Noto Sans JP"/>
              </a:rPr>
              <a:t>–</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の接触から生じる </a:t>
            </a:r>
            <a:r>
              <a:rPr sz="1500" b="0" i="1" lang="ja-JP" altLang="en-US">
                <a:solidFill>
                  <a:srgbClr val="333333"/>
                </a:solidFill>
                <a:latin typeface="Cambria Math"/>
                <a:ea typeface="Noto Sans JP"/>
              </a:rPr>
              <a:t>i</a:t>
            </a:r>
            <a:r>
              <a:rPr sz="1500" b="0" lang="ja-JP" altLang="en-US">
                <a:solidFill>
                  <a:srgbClr val="333333"/>
                </a:solidFill>
                <a:latin typeface="Noto Sans JP"/>
                <a:ea typeface="Noto Sans JP"/>
              </a:rPr>
              <a:t>–</a:t>
            </a:r>
            <a:r>
              <a:rPr sz="1500" b="0" i="1" lang="ja-JP" altLang="en-US">
                <a:solidFill>
                  <a:srgbClr val="333333"/>
                </a:solidFill>
                <a:latin typeface="Cambria Math"/>
                <a:ea typeface="Noto Sans JP"/>
              </a:rPr>
              <a:t>j</a:t>
            </a:r>
            <a:r>
              <a:rPr sz="1500" b="0" lang="ja-JP" altLang="en-US">
                <a:solidFill>
                  <a:srgbClr val="333333"/>
                </a:solidFill>
                <a:latin typeface="Noto Sans JP"/>
                <a:ea typeface="Noto Sans JP"/>
              </a:rPr>
              <a:t> の見かけの相関（間接的な相関）を取り除き、直接の結合だけを取り出す。</a:t>
            </a:r>
          </a:p>
        </p:txBody>
      </p:sp>
      <p:sp>
        <p:nvSpPr>
          <p:cNvPr id="13" name="Rounded Rectangle 12"/>
          <p:cNvSpPr/>
          <p:nvPr/>
        </p:nvSpPr>
        <p:spPr>
          <a:xfrm>
            <a:off x="609904" y="5042280"/>
            <a:ext cx="5852160" cy="661035"/>
          </a:xfrm>
          <a:prstGeom prst="roundRect">
            <a:avLst>
              <a:gd name="adj" fmla="val 16599"/>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496" y="5206872"/>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どちらも、似た配列が十分な数ないとうまくいかない。</a:t>
            </a:r>
          </a:p>
        </p:txBody>
      </p:sp>
      <p:pic>
        <p:nvPicPr>
          <p:cNvPr id="15" name="Picture 14" descr="marks2011_ras.png"/>
          <p:cNvPicPr>
            <a:picLocks noChangeAspect="1"/>
          </p:cNvPicPr>
          <p:nvPr/>
        </p:nvPicPr>
        <p:blipFill>
          <a:blip r:embed="rId4"/>
          <a:stretch>
            <a:fillRect/>
          </a:stretch>
        </p:blipFill>
        <p:spPr>
          <a:xfrm>
            <a:off x="7509022" y="1371600"/>
            <a:ext cx="3300130" cy="4492752"/>
          </a:xfrm>
          <a:prstGeom prst="rect">
            <a:avLst/>
          </a:prstGeom>
        </p:spPr>
      </p:pic>
      <p:sp>
        <p:nvSpPr>
          <p:cNvPr id="16" name="TextBox 15"/>
          <p:cNvSpPr txBox="1"/>
          <p:nvPr/>
        </p:nvSpPr>
        <p:spPr>
          <a:xfrm>
            <a:off x="6736384" y="5910072"/>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Ras の接触予測。灰：正解、青：MI、赤：DI（DCA）（Marks ら, PLoS One 6:e28766 (2011) Fig. 3 の右半分を切り出し、CC BY）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教師あり学習で共進化を見分ける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11 / 36</a:t>
            </a:r>
          </a:p>
        </p:txBody>
      </p:sp>
      <p:sp>
        <p:nvSpPr>
          <p:cNvPr id="6" name="Rounded Rectangle 5"/>
          <p:cNvSpPr/>
          <p:nvPr/>
        </p:nvSpPr>
        <p:spPr>
          <a:xfrm>
            <a:off x="609904" y="1371600"/>
            <a:ext cx="5852160" cy="4180713"/>
          </a:xfrm>
          <a:prstGeom prst="roundRect">
            <a:avLst>
              <a:gd name="adj" fmla="val 2624"/>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統計の方法（MI・DCA）の限界</a:t>
            </a:r>
          </a:p>
        </p:txBody>
      </p:sp>
      <p:sp>
        <p:nvSpPr>
          <p:cNvPr id="8" name="TextBox 7"/>
          <p:cNvSpPr txBox="1"/>
          <p:nvPr/>
        </p:nvSpPr>
        <p:spPr>
          <a:xfrm>
            <a:off x="774496" y="1922907"/>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配列の数が有限なための揺らぎや、進化の中で偶然に起きた変異が混ざる。</a:t>
            </a:r>
          </a:p>
        </p:txBody>
      </p:sp>
      <p:sp>
        <p:nvSpPr>
          <p:cNvPr id="9" name="TextBox 8"/>
          <p:cNvSpPr txBox="1"/>
          <p:nvPr/>
        </p:nvSpPr>
        <p:spPr>
          <a:xfrm>
            <a:off x="774496" y="264147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教師あり学習</a:t>
            </a:r>
          </a:p>
        </p:txBody>
      </p:sp>
      <p:sp>
        <p:nvSpPr>
          <p:cNvPr id="10" name="TextBox 9"/>
          <p:cNvSpPr txBox="1"/>
          <p:nvPr/>
        </p:nvSpPr>
        <p:spPr>
          <a:xfrm>
            <a:off x="774496" y="3028188"/>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正解のついたデータでモデルを前もって学習させる方法。</a:t>
            </a:r>
          </a:p>
        </p:txBody>
      </p:sp>
      <p:sp>
        <p:nvSpPr>
          <p:cNvPr id="11" name="TextBox 10"/>
          <p:cNvSpPr txBox="1"/>
          <p:nvPr/>
        </p:nvSpPr>
        <p:spPr>
          <a:xfrm>
            <a:off x="774496" y="3746754"/>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既知の構造から作った正解の接触マップと、MSA から予測した接触マップを比べ、偽陽性と見落とし（偽陰性）を学ばせる。</a:t>
            </a:r>
          </a:p>
        </p:txBody>
      </p:sp>
      <p:sp>
        <p:nvSpPr>
          <p:cNvPr id="12" name="TextBox 11"/>
          <p:cNvSpPr txBox="1"/>
          <p:nvPr/>
        </p:nvSpPr>
        <p:spPr>
          <a:xfrm>
            <a:off x="774496" y="4760595"/>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代表例は、畳み込みニューラルネットワーク（CNN）を使った方法。</a:t>
            </a:r>
          </a:p>
        </p:txBody>
      </p:sp>
      <p:pic>
        <p:nvPicPr>
          <p:cNvPr id="13" name="Picture 12" descr="contact_cnn.png"/>
          <p:cNvPicPr>
            <a:picLocks noChangeAspect="1"/>
          </p:cNvPicPr>
          <p:nvPr/>
        </p:nvPicPr>
        <p:blipFill>
          <a:blip r:embed="rId3"/>
          <a:stretch>
            <a:fillRect/>
          </a:stretch>
        </p:blipFill>
        <p:spPr>
          <a:xfrm>
            <a:off x="6912711" y="1371600"/>
            <a:ext cx="4492752" cy="4492752"/>
          </a:xfrm>
          <a:prstGeom prst="rect">
            <a:avLst/>
          </a:prstGeom>
        </p:spPr>
      </p:pic>
      <p:sp>
        <p:nvSpPr>
          <p:cNvPr id="14" name="TextBox 13"/>
          <p:cNvSpPr txBox="1"/>
          <p:nvPr/>
        </p:nvSpPr>
        <p:spPr>
          <a:xfrm>
            <a:off x="6736384" y="5910072"/>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左下：統計の方法（DCA）、右上：CNN。青：正解、赤：偽陽性、灰：見落とし（模式図）</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1：距離の分布を予測する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12 / 36</a:t>
            </a:r>
          </a:p>
        </p:txBody>
      </p:sp>
      <p:sp>
        <p:nvSpPr>
          <p:cNvPr id="6" name="Rounded Rectangle 5"/>
          <p:cNvSpPr/>
          <p:nvPr/>
        </p:nvSpPr>
        <p:spPr>
          <a:xfrm>
            <a:off x="609904" y="1371600"/>
            <a:ext cx="5852160" cy="2484882"/>
          </a:xfrm>
          <a:prstGeom prst="roundRect">
            <a:avLst>
              <a:gd name="adj" fmla="val 4415"/>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AlphaFold 1（2018 年、CASP13 で 1 位）</a:t>
            </a:r>
          </a:p>
        </p:txBody>
      </p:sp>
      <p:sp>
        <p:nvSpPr>
          <p:cNvPr id="8" name="TextBox 7"/>
          <p:cNvSpPr txBox="1"/>
          <p:nvPr/>
        </p:nvSpPr>
        <p:spPr>
          <a:xfrm>
            <a:off x="774496" y="1922907"/>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ネットワーク：CNN の層を深く重ねられるようにした ResNet</a:t>
            </a:r>
          </a:p>
        </p:txBody>
      </p:sp>
      <p:sp>
        <p:nvSpPr>
          <p:cNvPr id="9" name="TextBox 8"/>
          <p:cNvSpPr txBox="1"/>
          <p:nvPr/>
        </p:nvSpPr>
        <p:spPr>
          <a:xfrm>
            <a:off x="774496" y="2641473"/>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出力：残基間の距離分布（Cβ 原子間、Gly は Cα）と主鎖の二面角の分布</a:t>
            </a:r>
          </a:p>
        </p:txBody>
      </p:sp>
      <p:sp>
        <p:nvSpPr>
          <p:cNvPr id="10" name="TextBox 9"/>
          <p:cNvSpPr txBox="1"/>
          <p:nvPr/>
        </p:nvSpPr>
        <p:spPr>
          <a:xfrm>
            <a:off x="774496" y="3360039"/>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学習：PDB の構造（重複を除いたもの）で教師あり学習</a:t>
            </a:r>
          </a:p>
        </p:txBody>
      </p:sp>
      <p:sp>
        <p:nvSpPr>
          <p:cNvPr id="11" name="Rounded Rectangle 10"/>
          <p:cNvSpPr/>
          <p:nvPr/>
        </p:nvSpPr>
        <p:spPr>
          <a:xfrm>
            <a:off x="609904" y="3947921"/>
            <a:ext cx="5852160" cy="2172588"/>
          </a:xfrm>
          <a:prstGeom prst="roundRect">
            <a:avLst>
              <a:gd name="adj" fmla="val 505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11251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補足：後処理の考え方（簡略化）</a:t>
            </a:r>
          </a:p>
        </p:txBody>
      </p:sp>
      <p:pic>
        <p:nvPicPr>
          <p:cNvPr id="13" name="Picture 12" descr="V(\mathbf{x}) = -\sum_{i&lt;j} \ln p_{ij}\left(d_{ij}(\mathbf{x})\right) - \sum_{i} \ln p_{i}\left(\phi_{i}, \psi_{i}\right)"/>
          <p:cNvPicPr>
            <a:picLocks noChangeAspect="1"/>
          </p:cNvPicPr>
          <p:nvPr/>
        </p:nvPicPr>
        <p:blipFill>
          <a:blip r:embed="rId3"/>
          <a:stretch>
            <a:fillRect/>
          </a:stretch>
        </p:blipFill>
        <p:spPr>
          <a:xfrm>
            <a:off x="774496" y="4499228"/>
            <a:ext cx="3570224" cy="475488"/>
          </a:xfrm>
          <a:prstGeom prst="rect">
            <a:avLst/>
          </a:prstGeom>
        </p:spPr>
      </p:pic>
      <p:pic>
        <p:nvPicPr>
          <p:cNvPr id="14" name="Picture 13" descr="\mathbf{x} \leftarrow \mathbf{x} - \eta\, \nabla V(\mathbf{x})"/>
          <p:cNvPicPr>
            <a:picLocks noChangeAspect="1"/>
          </p:cNvPicPr>
          <p:nvPr/>
        </p:nvPicPr>
        <p:blipFill>
          <a:blip r:embed="rId4"/>
          <a:stretch>
            <a:fillRect/>
          </a:stretch>
        </p:blipFill>
        <p:spPr>
          <a:xfrm>
            <a:off x="774496" y="5066156"/>
            <a:ext cx="1511808" cy="249935"/>
          </a:xfrm>
          <a:prstGeom prst="rect">
            <a:avLst/>
          </a:prstGeom>
        </p:spPr>
      </p:pic>
      <p:sp>
        <p:nvSpPr>
          <p:cNvPr id="15" name="TextBox 14"/>
          <p:cNvSpPr txBox="1"/>
          <p:nvPr/>
        </p:nvSpPr>
        <p:spPr>
          <a:xfrm>
            <a:off x="774496" y="5407532"/>
            <a:ext cx="5522976" cy="548386"/>
          </a:xfrm>
          <a:prstGeom prst="rect">
            <a:avLst/>
          </a:prstGeom>
          <a:noFill/>
        </p:spPr>
        <p:txBody>
          <a:bodyPr wrap="square" lIns="0" rIns="0" tIns="0" bIns="0" anchor="t">
            <a:noAutofit/>
          </a:bodyPr>
          <a:lstStyle/>
          <a:p>
            <a:pPr algn="l">
              <a:lnSpc>
                <a:spcPts val="2015"/>
              </a:lnSpc>
            </a:pPr>
            <a:r>
              <a:rPr sz="1300" b="0" lang="ja-JP" altLang="en-US">
                <a:solidFill>
                  <a:srgbClr val="4D4D4D"/>
                </a:solidFill>
                <a:latin typeface="Noto Sans JP"/>
                <a:ea typeface="Noto Sans JP"/>
              </a:rPr>
              <a:t>予測した分布を統計的ポテンシャルに直し、勾配降下法で最小化する。</a:t>
            </a:r>
          </a:p>
        </p:txBody>
      </p:sp>
      <p:pic>
        <p:nvPicPr>
          <p:cNvPr id="16" name="Picture 15" descr="sch_af1.png"/>
          <p:cNvPicPr>
            <a:picLocks noChangeAspect="1"/>
          </p:cNvPicPr>
          <p:nvPr/>
        </p:nvPicPr>
        <p:blipFill>
          <a:blip r:embed="rId5"/>
          <a:stretch>
            <a:fillRect/>
          </a:stretch>
        </p:blipFill>
        <p:spPr>
          <a:xfrm>
            <a:off x="6736384" y="1371600"/>
            <a:ext cx="4845405" cy="4845405"/>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1 の 2 つの限界</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13 / 36</a:t>
            </a:r>
          </a:p>
        </p:txBody>
      </p:sp>
      <p:sp>
        <p:nvSpPr>
          <p:cNvPr id="6" name="Rounded Rectangle 5"/>
          <p:cNvSpPr/>
          <p:nvPr/>
        </p:nvSpPr>
        <p:spPr>
          <a:xfrm>
            <a:off x="609904" y="1371600"/>
            <a:ext cx="5348782" cy="1638299"/>
          </a:xfrm>
          <a:prstGeom prst="roundRect">
            <a:avLst>
              <a:gd name="adj" fmla="val 6697"/>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① CNN の局所性</a:t>
            </a:r>
          </a:p>
        </p:txBody>
      </p:sp>
      <p:sp>
        <p:nvSpPr>
          <p:cNvPr id="8" name="TextBox 7"/>
          <p:cNvSpPr txBox="1"/>
          <p:nvPr/>
        </p:nvSpPr>
        <p:spPr>
          <a:xfrm>
            <a:off x="774496" y="1922907"/>
            <a:ext cx="5019598"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小さなフィルタを積み重ねて少しずつ広く見るので、配列上で遠く離れた残基の関係は間接的にしか捉えられない。</a:t>
            </a:r>
          </a:p>
        </p:txBody>
      </p:sp>
      <p:sp>
        <p:nvSpPr>
          <p:cNvPr id="9" name="Rounded Rectangle 8"/>
          <p:cNvSpPr/>
          <p:nvPr/>
        </p:nvSpPr>
        <p:spPr>
          <a:xfrm>
            <a:off x="6233007" y="1371600"/>
            <a:ext cx="5348782" cy="1343025"/>
          </a:xfrm>
          <a:prstGeom prst="roundRect">
            <a:avLst>
              <a:gd name="adj" fmla="val 817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97599"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② エンドツーエンドでない</a:t>
            </a:r>
          </a:p>
        </p:txBody>
      </p:sp>
      <p:sp>
        <p:nvSpPr>
          <p:cNvPr id="11" name="TextBox 10"/>
          <p:cNvSpPr txBox="1"/>
          <p:nvPr/>
        </p:nvSpPr>
        <p:spPr>
          <a:xfrm>
            <a:off x="6397599" y="1922907"/>
            <a:ext cx="5019598"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距離の分布から構造を作る後処理が、ネットワークの外にある。構造の誤差が学習に戻らない。</a:t>
            </a:r>
          </a:p>
        </p:txBody>
      </p:sp>
      <p:pic>
        <p:nvPicPr>
          <p:cNvPr id="12" name="Picture 11" descr="sch_e2e.png"/>
          <p:cNvPicPr>
            <a:picLocks noChangeAspect="1"/>
          </p:cNvPicPr>
          <p:nvPr/>
        </p:nvPicPr>
        <p:blipFill>
          <a:blip r:embed="rId3"/>
          <a:stretch>
            <a:fillRect/>
          </a:stretch>
        </p:blipFill>
        <p:spPr>
          <a:xfrm>
            <a:off x="609904" y="2880360"/>
            <a:ext cx="10971885" cy="318538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帰納バイアス：前もって組み込む仮定</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14 / 36</a:t>
            </a:r>
          </a:p>
        </p:txBody>
      </p:sp>
      <p:sp>
        <p:nvSpPr>
          <p:cNvPr id="6" name="Rounded Rectangle 5"/>
          <p:cNvSpPr/>
          <p:nvPr/>
        </p:nvSpPr>
        <p:spPr>
          <a:xfrm>
            <a:off x="609904" y="1371600"/>
            <a:ext cx="10971885" cy="1697355"/>
          </a:xfrm>
          <a:prstGeom prst="roundRect">
            <a:avLst>
              <a:gd name="adj" fmla="val 6464"/>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1064270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帰納バイアス（inductive bias）</a:t>
            </a:r>
          </a:p>
        </p:txBody>
      </p:sp>
      <p:sp>
        <p:nvSpPr>
          <p:cNvPr id="8" name="TextBox 7"/>
          <p:cNvSpPr txBox="1"/>
          <p:nvPr/>
        </p:nvSpPr>
        <p:spPr>
          <a:xfrm>
            <a:off x="774496" y="1922907"/>
            <a:ext cx="10642701" cy="98145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モデルに前もって組み込んでおく仮定。データから学ばなくてよい性質を、しくみとして持たせる。AlphaFold 2 は、注意機構（トランスフォーマー）に、タンパク質の構造が満たすべき性質を組み込んだ。</a:t>
            </a:r>
          </a:p>
        </p:txBody>
      </p:sp>
      <p:graphicFrame>
        <p:nvGraphicFramePr>
          <p:cNvPr id="9" name="Table 8"/>
          <p:cNvGraphicFramePr>
            <a:graphicFrameLocks noGrp="1"/>
          </p:cNvGraphicFramePr>
          <p:nvPr/>
        </p:nvGraphicFramePr>
        <p:xfrm>
          <a:off x="609904" y="3246120"/>
          <a:ext cx="10972800" cy="2539746"/>
        </p:xfrm>
        <a:graphic>
          <a:graphicData uri="http://schemas.openxmlformats.org/drawingml/2006/table">
            <a:tbl>
              <a:tblPr firstRow="0" bandRow="0">
                <a:tableStyleId>{5C22544A-7EE6-4342-B048-85BDC9FD1C3A}</a:tableStyleId>
              </a:tblPr>
              <a:tblGrid>
                <a:gridCol w="3840480"/>
                <a:gridCol w="7132320"/>
              </a:tblGrid>
              <a:tr h="423291">
                <a:tc>
                  <a:txBody>
                    <a:bodyPr wrap="square"/>
                    <a:lstStyle/>
                    <a:p>
                      <a:pPr algn="l">
                        <a:lnSpc>
                          <a:spcPts val="2325"/>
                        </a:lnSpc>
                      </a:pPr>
                      <a:r>
                        <a:rPr sz="1500" b="1" lang="ja-JP" altLang="en-US">
                          <a:solidFill>
                            <a:srgbClr val="1A1A1A"/>
                          </a:solidFill>
                          <a:latin typeface="Noto Sans JP"/>
                          <a:ea typeface="Noto Sans JP"/>
                        </a:rPr>
                        <a:t>しくみ</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325"/>
                        </a:lnSpc>
                      </a:pPr>
                      <a:r>
                        <a:rPr sz="1500" b="1" lang="ja-JP" altLang="en-US">
                          <a:solidFill>
                            <a:srgbClr val="1A1A1A"/>
                          </a:solidFill>
                          <a:latin typeface="Noto Sans JP"/>
                          <a:ea typeface="Noto Sans JP"/>
                        </a:rPr>
                        <a:t>組み込んだ仮定</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23291">
                <a:tc>
                  <a:txBody>
                    <a:bodyPr wrap="square"/>
                    <a:lstStyle/>
                    <a:p>
                      <a:pPr algn="l">
                        <a:lnSpc>
                          <a:spcPts val="2325"/>
                        </a:lnSpc>
                      </a:pPr>
                      <a:r>
                        <a:rPr sz="1500" b="1" lang="ja-JP" altLang="en-US">
                          <a:solidFill>
                            <a:srgbClr val="1A1A1A"/>
                          </a:solidFill>
                          <a:latin typeface="Noto Sans JP"/>
                          <a:ea typeface="Noto Sans JP"/>
                        </a:rPr>
                        <a:t>CNN の畳み込み</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a:solidFill>
                            <a:srgbClr val="333333"/>
                          </a:solidFill>
                          <a:latin typeface="Noto Sans JP"/>
                          <a:ea typeface="Noto Sans JP"/>
                        </a:rPr>
                        <a:t>模様が平行移動しても同じように見つかる（並進同変性）</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23291">
                <a:tc>
                  <a:txBody>
                    <a:bodyPr wrap="square"/>
                    <a:lstStyle/>
                    <a:p>
                      <a:pPr algn="l">
                        <a:lnSpc>
                          <a:spcPts val="2325"/>
                        </a:lnSpc>
                      </a:pPr>
                      <a:r>
                        <a:rPr sz="1500" b="1" lang="ja-JP" altLang="en-US">
                          <a:solidFill>
                            <a:srgbClr val="1A1A1A"/>
                          </a:solidFill>
                          <a:latin typeface="Noto Sans JP"/>
                          <a:ea typeface="Noto Sans JP"/>
                        </a:rPr>
                        <a:t>Evoformer の行方向の注意</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a:solidFill>
                            <a:srgbClr val="333333"/>
                          </a:solidFill>
                          <a:latin typeface="Noto Sans JP"/>
                          <a:ea typeface="Noto Sans JP"/>
                        </a:rPr>
                        <a:t>残基対の学習済み特徴を、注意の重みへ反映する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23291">
                <a:tc>
                  <a:txBody>
                    <a:bodyPr wrap="square"/>
                    <a:lstStyle/>
                    <a:p>
                      <a:pPr algn="l">
                        <a:lnSpc>
                          <a:spcPts val="2325"/>
                        </a:lnSpc>
                      </a:pPr>
                      <a:r>
                        <a:rPr sz="1500" b="1" lang="ja-JP" altLang="en-US">
                          <a:solidFill>
                            <a:srgbClr val="1A1A1A"/>
                          </a:solidFill>
                          <a:latin typeface="Noto Sans JP"/>
                          <a:ea typeface="Noto Sans JP"/>
                        </a:rPr>
                        <a:t>外積の平均</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a:solidFill>
                            <a:srgbClr val="333333"/>
                          </a:solidFill>
                          <a:latin typeface="Noto Sans JP"/>
                          <a:ea typeface="Noto Sans JP"/>
                        </a:rPr>
                        <a:t>MSA の列どうしの相関（共進化）が、残基の対の関係を表す</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23291">
                <a:tc>
                  <a:txBody>
                    <a:bodyPr wrap="square"/>
                    <a:lstStyle/>
                    <a:p>
                      <a:pPr algn="l">
                        <a:lnSpc>
                          <a:spcPts val="2325"/>
                        </a:lnSpc>
                      </a:pPr>
                      <a:r>
                        <a:rPr sz="1500" b="1" lang="ja-JP" altLang="en-US">
                          <a:solidFill>
                            <a:srgbClr val="1A1A1A"/>
                          </a:solidFill>
                          <a:latin typeface="Noto Sans JP"/>
                          <a:ea typeface="Noto Sans JP"/>
                        </a:rPr>
                        <a:t>三角形の更新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a:solidFill>
                            <a:srgbClr val="333333"/>
                          </a:solidFill>
                          <a:latin typeface="Noto Sans JP"/>
                          <a:ea typeface="Noto Sans JP"/>
                        </a:rPr>
                        <a:t>3 残基の関係を同時に使い、幾何学的な整合性を学びやすくする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23291">
                <a:tc>
                  <a:txBody>
                    <a:bodyPr wrap="square"/>
                    <a:lstStyle/>
                    <a:p>
                      <a:pPr algn="l">
                        <a:lnSpc>
                          <a:spcPts val="2325"/>
                        </a:lnSpc>
                      </a:pPr>
                      <a:r>
                        <a:rPr sz="1500" b="1" lang="ja-JP" altLang="en-US">
                          <a:solidFill>
                            <a:srgbClr val="1A1A1A"/>
                          </a:solidFill>
                          <a:latin typeface="Noto Sans JP"/>
                          <a:ea typeface="Noto Sans JP"/>
                        </a:rPr>
                        <a:t>Invariant Point Attention</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325"/>
                        </a:lnSpc>
                      </a:pPr>
                      <a:r>
                        <a:rPr sz="1500" b="0" lang="ja-JP" altLang="en-US">
                          <a:solidFill>
                            <a:srgbClr val="333333"/>
                          </a:solidFill>
                          <a:latin typeface="Noto Sans JP"/>
                          <a:ea typeface="Noto Sans JP"/>
                        </a:rPr>
                        <a:t>タンパク質全体を回転・並進しても、相対的な位置関係は変わらない</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 ｜ 前半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注意機構の計算</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15 / 36</a:t>
            </a:r>
          </a:p>
        </p:txBody>
      </p:sp>
      <p:pic>
        <p:nvPicPr>
          <p:cNvPr id="16" name="Picture 15" descr="sch_softmax.png"/>
          <p:cNvPicPr>
            <a:picLocks noChangeAspect="1"/>
          </p:cNvPicPr>
          <p:nvPr/>
        </p:nvPicPr>
        <p:blipFill>
          <a:blip r:embed="rId6"/>
          <a:stretch>
            <a:fillRect/>
          </a:stretch>
        </p:blipFill>
        <p:spPr>
          <a:xfrm>
            <a:off x="7102144" y="1371600"/>
            <a:ext cx="4479645" cy="4313732"/>
          </a:xfrm>
          <a:prstGeom prst="rect">
            <a:avLst/>
          </a:prstGeom>
        </p:spPr>
      </p:pic>
      <p:sp>
        <p:nvSpPr>
          <p:cNvPr id="17" name="Rounded Rectangle 16"/>
          <p:cNvSpPr/>
          <p:nvPr/>
        </p:nvSpPr>
        <p:spPr>
          <a:xfrm>
            <a:off x="609904" y="1371600"/>
            <a:ext cx="6217920" cy="2821559"/>
          </a:xfrm>
          <a:prstGeom prst="roundRect">
            <a:avLst>
              <a:gd name="adj" fmla="val 388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4496" y="1536192"/>
            <a:ext cx="588873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① 重みを決める</a:t>
            </a:r>
          </a:p>
        </p:txBody>
      </p:sp>
      <p:pic>
        <p:nvPicPr>
          <p:cNvPr id="19" name="Picture 18" descr="a_{ij} = \text{softmax}_{j}\left(\frac{\mathbf{q}_{i}\cdot\mathbf{k}_{j}}{\sqrt{c}}\right), \qquad \text{softmax}_{j}(g_{j}) = \frac{e^{g_{j}}}{\sum_{k} e^{g_{k}}}"/>
          <p:cNvPicPr>
            <a:picLocks noChangeAspect="1"/>
          </p:cNvPicPr>
          <p:nvPr/>
        </p:nvPicPr>
        <p:blipFill>
          <a:blip r:embed="rId3"/>
          <a:stretch>
            <a:fillRect/>
          </a:stretch>
        </p:blipFill>
        <p:spPr>
          <a:xfrm>
            <a:off x="774496" y="1922907"/>
            <a:ext cx="4880864" cy="684784"/>
          </a:xfrm>
          <a:prstGeom prst="rect">
            <a:avLst/>
          </a:prstGeom>
        </p:spPr>
      </p:pic>
      <p:sp>
        <p:nvSpPr>
          <p:cNvPr id="20" name="TextBox 19"/>
          <p:cNvSpPr txBox="1"/>
          <p:nvPr/>
        </p:nvSpPr>
        <p:spPr>
          <a:xfrm>
            <a:off x="774496" y="2699131"/>
            <a:ext cx="5888736" cy="292481"/>
          </a:xfrm>
          <a:prstGeom prst="rect">
            <a:avLst/>
          </a:prstGeom>
          <a:noFill/>
        </p:spPr>
        <p:txBody>
          <a:bodyPr wrap="square" lIns="0" rIns="0" tIns="0" bIns="0" anchor="t">
            <a:noAutofit/>
          </a:bodyPr>
          <a:lstStyle/>
          <a:p>
            <a:pPr algn="l">
              <a:lnSpc>
                <a:spcPts val="2015"/>
              </a:lnSpc>
            </a:pPr>
            <a:r>
              <a:rPr sz="1300" b="0" i="1" lang="ja-JP" altLang="en-US">
                <a:solidFill>
                  <a:srgbClr val="4D4D4D"/>
                </a:solidFill>
                <a:latin typeface="Cambria Math"/>
                <a:ea typeface="Noto Sans JP"/>
              </a:rPr>
              <a:t>c</a:t>
            </a:r>
            <a:r>
              <a:rPr sz="1300" b="0" lang="ja-JP" altLang="en-US">
                <a:solidFill>
                  <a:srgbClr val="4D4D4D"/>
                </a:solidFill>
                <a:latin typeface="Noto Sans JP"/>
                <a:ea typeface="Noto Sans JP"/>
              </a:rPr>
              <a:t>：キーの次元。重みは正で、</a:t>
            </a:r>
            <a:r>
              <a:rPr sz="1300" b="0" i="1" lang="ja-JP" altLang="en-US">
                <a:solidFill>
                  <a:srgbClr val="4D4D4D"/>
                </a:solidFill>
                <a:latin typeface="Cambria Math"/>
                <a:ea typeface="Noto Sans JP"/>
              </a:rPr>
              <a:t>j</a:t>
            </a:r>
            <a:r>
              <a:rPr sz="1300" b="0" lang="ja-JP" altLang="en-US">
                <a:solidFill>
                  <a:srgbClr val="4D4D4D"/>
                </a:solidFill>
                <a:latin typeface="Noto Sans JP"/>
                <a:ea typeface="Noto Sans JP"/>
              </a:rPr>
              <a:t> について合計が 1。</a:t>
            </a:r>
          </a:p>
        </p:txBody>
      </p:sp>
      <p:sp>
        <p:nvSpPr>
          <p:cNvPr id="21" name="TextBox 20"/>
          <p:cNvSpPr txBox="1"/>
          <p:nvPr/>
        </p:nvSpPr>
        <p:spPr>
          <a:xfrm>
            <a:off x="774496" y="3083052"/>
            <a:ext cx="588873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② バリューの重み付き和</a:t>
            </a:r>
          </a:p>
        </p:txBody>
      </p:sp>
      <p:pic>
        <p:nvPicPr>
          <p:cNvPr id="22" name="Picture 21" descr="\tilde{\mathbf{z}}_{i} = \sum_{j} a_{ij}\, \mathbf{v}_{j}"/>
          <p:cNvPicPr>
            <a:picLocks noChangeAspect="1"/>
          </p:cNvPicPr>
          <p:nvPr/>
        </p:nvPicPr>
        <p:blipFill>
          <a:blip r:embed="rId4"/>
          <a:stretch>
            <a:fillRect/>
          </a:stretch>
        </p:blipFill>
        <p:spPr>
          <a:xfrm>
            <a:off x="774496" y="3469767"/>
            <a:ext cx="1310640" cy="5588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 ｜ 前半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 の全体像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16 / 36</a:t>
            </a:r>
          </a:p>
        </p:txBody>
      </p:sp>
      <p:pic>
        <p:nvPicPr>
          <p:cNvPr id="6" name="Picture 5" descr="af2_arch.png"/>
          <p:cNvPicPr>
            <a:picLocks noChangeAspect="1"/>
          </p:cNvPicPr>
          <p:nvPr/>
        </p:nvPicPr>
        <p:blipFill>
          <a:blip r:embed="rId3"/>
          <a:stretch>
            <a:fillRect/>
          </a:stretch>
        </p:blipFill>
        <p:spPr>
          <a:xfrm>
            <a:off x="609904" y="1371600"/>
            <a:ext cx="7863840" cy="2668674"/>
          </a:xfrm>
          <a:prstGeom prst="rect">
            <a:avLst/>
          </a:prstGeom>
        </p:spPr>
      </p:pic>
      <p:sp>
        <p:nvSpPr>
          <p:cNvPr id="7" name="TextBox 6"/>
          <p:cNvSpPr txBox="1"/>
          <p:nvPr/>
        </p:nvSpPr>
        <p:spPr>
          <a:xfrm>
            <a:off x="609904" y="4085993"/>
            <a:ext cx="7863840"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AlphaFold 2 のネットワーク（Jumper ら, Nature 596:583 (2021) Fig. 1e を切り出し、CC BY 4.0）</a:t>
            </a:r>
          </a:p>
        </p:txBody>
      </p:sp>
      <p:sp>
        <p:nvSpPr>
          <p:cNvPr id="8" name="Rounded Rectangle 7"/>
          <p:cNvSpPr/>
          <p:nvPr/>
        </p:nvSpPr>
        <p:spPr>
          <a:xfrm>
            <a:off x="609904" y="4500522"/>
            <a:ext cx="7863840" cy="956310"/>
          </a:xfrm>
          <a:prstGeom prst="roundRect">
            <a:avLst>
              <a:gd name="adj" fmla="val 1147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4496" y="4665114"/>
            <a:ext cx="753465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入力：クエリ配列、配列データベースから作る MSA、構造データベースから探すテンプレート（なくても動く）</a:t>
            </a:r>
          </a:p>
        </p:txBody>
      </p:sp>
      <p:sp>
        <p:nvSpPr>
          <p:cNvPr id="10" name="Rounded Rectangle 9"/>
          <p:cNvSpPr/>
          <p:nvPr/>
        </p:nvSpPr>
        <p:spPr>
          <a:xfrm>
            <a:off x="8656624" y="1371600"/>
            <a:ext cx="2925165" cy="1982850"/>
          </a:xfrm>
          <a:prstGeom prst="roundRect">
            <a:avLst>
              <a:gd name="adj" fmla="val 553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1216" y="1536192"/>
            <a:ext cx="259598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2 つの表現</a:t>
            </a:r>
          </a:p>
        </p:txBody>
      </p:sp>
      <p:sp>
        <p:nvSpPr>
          <p:cNvPr id="12" name="TextBox 11"/>
          <p:cNvSpPr txBox="1"/>
          <p:nvPr/>
        </p:nvSpPr>
        <p:spPr>
          <a:xfrm>
            <a:off x="8821216" y="1922907"/>
            <a:ext cx="259598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MSA 表現 M：Nseq × L × cM。各マスは特徴ベクトル</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i="0" baseline="-25000" lang="ja-JP" altLang="en-US">
                <a:solidFill>
                  <a:srgbClr val="333333"/>
                </a:solidFill>
                <a:latin typeface="Cambria Math"/>
                <a:ea typeface="Noto Sans JP"/>
              </a:rPr>
              <a:t/>
            </a:r>
            <a:r>
              <a:rPr sz="1400" b="0" i="0" lang="ja-JP" altLang="en-US">
                <a:solidFill>
                  <a:srgbClr val="333333"/>
                </a:solidFill>
                <a:latin typeface="Cambria Math"/>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p>
        </p:txBody>
      </p:sp>
      <p:sp>
        <p:nvSpPr>
          <p:cNvPr id="13" name="TextBox 12"/>
          <p:cNvSpPr txBox="1"/>
          <p:nvPr/>
        </p:nvSpPr>
        <p:spPr>
          <a:xfrm>
            <a:off x="8821216" y="2602103"/>
            <a:ext cx="259598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ペア表現 P：L × L × cP。距離そのものではない</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i="0" lang="ja-JP" altLang="en-US">
                <a:solidFill>
                  <a:srgbClr val="333333"/>
                </a:solidFill>
                <a:latin typeface="Cambria Math"/>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 ｜ 後半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 の全体像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17 / 36</a:t>
            </a:r>
          </a:p>
        </p:txBody>
      </p:sp>
      <p:pic>
        <p:nvPicPr>
          <p:cNvPr id="6" name="Picture 5" descr="af2_arch.png"/>
          <p:cNvPicPr>
            <a:picLocks noChangeAspect="1"/>
          </p:cNvPicPr>
          <p:nvPr/>
        </p:nvPicPr>
        <p:blipFill>
          <a:blip r:embed="rId3"/>
          <a:stretch>
            <a:fillRect/>
          </a:stretch>
        </p:blipFill>
        <p:spPr>
          <a:xfrm>
            <a:off x="609904" y="1371600"/>
            <a:ext cx="7863840" cy="2668674"/>
          </a:xfrm>
          <a:prstGeom prst="rect">
            <a:avLst/>
          </a:prstGeom>
        </p:spPr>
      </p:pic>
      <p:sp>
        <p:nvSpPr>
          <p:cNvPr id="7" name="TextBox 6"/>
          <p:cNvSpPr txBox="1"/>
          <p:nvPr/>
        </p:nvSpPr>
        <p:spPr>
          <a:xfrm>
            <a:off x="609904" y="4085993"/>
            <a:ext cx="7863840"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AlphaFold 2 のネットワーク（Jumper ら, Nature 596:583 (2021) Fig. 1e を切り出し、CC BY 4.0）</a:t>
            </a:r>
          </a:p>
        </p:txBody>
      </p:sp>
      <p:sp>
        <p:nvSpPr>
          <p:cNvPr id="8" name="Rounded Rectangle 7"/>
          <p:cNvSpPr/>
          <p:nvPr/>
        </p:nvSpPr>
        <p:spPr>
          <a:xfrm>
            <a:off x="609904" y="4500522"/>
            <a:ext cx="7863840" cy="956310"/>
          </a:xfrm>
          <a:prstGeom prst="roundRect">
            <a:avLst>
              <a:gd name="adj" fmla="val 1147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4496" y="4665114"/>
            <a:ext cx="753465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入力：クエリ配列、配列データベースから作る MSA、構造データベースから探すテンプレート（なくても動く）</a:t>
            </a:r>
          </a:p>
        </p:txBody>
      </p:sp>
      <p:sp>
        <p:nvSpPr>
          <p:cNvPr id="10" name="Rounded Rectangle 9"/>
          <p:cNvSpPr/>
          <p:nvPr/>
        </p:nvSpPr>
        <p:spPr>
          <a:xfrm>
            <a:off x="8656624" y="1371600"/>
            <a:ext cx="2925165" cy="3213227"/>
          </a:xfrm>
          <a:prstGeom prst="roundRect">
            <a:avLst>
              <a:gd name="adj" fmla="val 3751"/>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1216" y="1536192"/>
            <a:ext cx="259598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2 つの部分</a:t>
            </a:r>
          </a:p>
        </p:txBody>
      </p:sp>
      <p:sp>
        <p:nvSpPr>
          <p:cNvPr id="12" name="TextBox 11"/>
          <p:cNvSpPr txBox="1"/>
          <p:nvPr/>
        </p:nvSpPr>
        <p:spPr>
          <a:xfrm>
            <a:off x="8821216" y="1922907"/>
            <a:ext cx="2595981"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Evoformer（48 ブロック）：</a:t>
            </a:r>
            <a:r>
              <a:rPr sz="1400" b="0" i="1" lang="ja-JP" altLang="en-US">
                <a:solidFill>
                  <a:srgbClr val="333333"/>
                </a:solidFill>
                <a:latin typeface="Cambria Math"/>
                <a:ea typeface="Noto Sans JP"/>
              </a:rPr>
              <a:t>M</a:t>
            </a:r>
            <a:r>
              <a:rPr sz="1400" b="0" lang="ja-JP" altLang="en-US">
                <a:solidFill>
                  <a:srgbClr val="333333"/>
                </a:solidFill>
                <a:latin typeface="Noto Sans JP"/>
                <a:ea typeface="Noto Sans JP"/>
              </a:rPr>
              <a:t> と </a:t>
            </a:r>
            <a:r>
              <a:rPr sz="1400" b="0" i="1" lang="ja-JP" altLang="en-US">
                <a:solidFill>
                  <a:srgbClr val="333333"/>
                </a:solidFill>
                <a:latin typeface="Cambria Math"/>
                <a:ea typeface="Noto Sans JP"/>
              </a:rPr>
              <a:t>P</a:t>
            </a:r>
            <a:r>
              <a:rPr sz="1400" b="0" lang="ja-JP" altLang="en-US">
                <a:solidFill>
                  <a:srgbClr val="333333"/>
                </a:solidFill>
                <a:latin typeface="Noto Sans JP"/>
                <a:ea typeface="Noto Sans JP"/>
              </a:rPr>
              <a:t> をやりとりさせて更新する（エンコーダー）</a:t>
            </a:r>
          </a:p>
        </p:txBody>
      </p:sp>
      <p:sp>
        <p:nvSpPr>
          <p:cNvPr id="13" name="TextBox 12"/>
          <p:cNvSpPr txBox="1"/>
          <p:nvPr/>
        </p:nvSpPr>
        <p:spPr>
          <a:xfrm>
            <a:off x="8821216" y="2877693"/>
            <a:ext cx="2595981"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Structure Module（8 ブロック）：立体構造を作る（デコーダー）</a:t>
            </a:r>
          </a:p>
        </p:txBody>
      </p:sp>
      <p:sp>
        <p:nvSpPr>
          <p:cNvPr id="14" name="TextBox 13"/>
          <p:cNvSpPr txBox="1"/>
          <p:nvPr/>
        </p:nvSpPr>
        <p:spPr>
          <a:xfrm>
            <a:off x="8821216" y="3832479"/>
            <a:ext cx="259598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リサイクリング：出力を入力へ戻す。回数は設定で変わる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Evoformer｜表現</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ペア表現の1マスにも、ベクトルを置く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18 / 36</a:t>
            </a:r>
          </a:p>
        </p:txBody>
      </p:sp>
      <p:sp>
        <p:nvSpPr>
          <p:cNvPr id="6" name="TextBox 5"/>
          <p:cNvSpPr txBox="1"/>
          <p:nvPr/>
        </p:nvSpPr>
        <p:spPr>
          <a:xfrm>
            <a:off x="731520" y="1508760"/>
            <a:ext cx="4846320" cy="457200"/>
          </a:xfrm>
          <a:prstGeom prst="rect">
            <a:avLst/>
          </a:prstGeom>
          <a:noFill/>
        </p:spPr>
        <p:txBody>
          <a:bodyPr wrap="square" lIns="0" rIns="0" tIns="0" bIns="0" anchor="t">
            <a:noAutofit/>
          </a:bodyPr>
          <a:lstStyle/>
          <a:p>
            <a:pPr algn="l">
              <a:lnSpc>
                <a:spcPts val="3500"/>
              </a:lnSpc>
            </a:pPr>
            <a:r>
              <a:rPr sz="2500" b="1" lang="ja-JP" altLang="en-US">
                <a:solidFill>
                  <a:srgbClr val="0017C1"/>
                </a:solidFill>
                <a:latin typeface="Noto Sans JP"/>
                <a:ea typeface="Noto Sans JP"/>
              </a:rPr>
              <a:t>距離行列 D</a:t>
            </a:r>
          </a:p>
        </p:txBody>
      </p:sp>
      <p:sp>
        <p:nvSpPr>
          <p:cNvPr id="7" name="TextBox 6"/>
          <p:cNvSpPr txBox="1"/>
          <p:nvPr/>
        </p:nvSpPr>
        <p:spPr>
          <a:xfrm>
            <a:off x="731520" y="2057400"/>
            <a:ext cx="4846320" cy="82296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座標から決まる1つの実数</a:t>
            </a:r>
          </a:p>
          <a:p>
            <a:pPr algn="l">
              <a:lnSpc>
                <a:spcPts val="2800"/>
              </a:lnSpc>
            </a:pPr>
            <a:r>
              <a:rPr sz="2000" b="0" lang="ja-JP" altLang="en-US">
                <a:solidFill>
                  <a:srgbClr val="333333"/>
                </a:solidFill>
                <a:latin typeface="Noto Sans JP"/>
                <a:ea typeface="Noto Sans JP"/>
              </a:rPr>
              <a:t>単位は Å、対称、対角は0</a:t>
            </a:r>
          </a:p>
        </p:txBody>
      </p:sp>
      <p:sp>
        <p:nvSpPr>
          <p:cNvPr id="8" name="Rectangle 7"/>
          <p:cNvSpPr/>
          <p:nvPr/>
        </p:nvSpPr>
        <p:spPr>
          <a:xfrm>
            <a:off x="822960"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0</a:t>
            </a:r>
          </a:p>
        </p:txBody>
      </p:sp>
      <p:sp>
        <p:nvSpPr>
          <p:cNvPr id="10" name="Rectangle 9"/>
          <p:cNvSpPr/>
          <p:nvPr/>
        </p:nvSpPr>
        <p:spPr>
          <a:xfrm>
            <a:off x="1536192"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09344"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12" name="Rectangle 11"/>
          <p:cNvSpPr/>
          <p:nvPr/>
        </p:nvSpPr>
        <p:spPr>
          <a:xfrm>
            <a:off x="2249424"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322576"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8</a:t>
            </a:r>
          </a:p>
        </p:txBody>
      </p:sp>
      <p:sp>
        <p:nvSpPr>
          <p:cNvPr id="14" name="Rectangle 13"/>
          <p:cNvSpPr/>
          <p:nvPr/>
        </p:nvSpPr>
        <p:spPr>
          <a:xfrm>
            <a:off x="2962656"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035808"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12</a:t>
            </a:r>
          </a:p>
        </p:txBody>
      </p:sp>
      <p:sp>
        <p:nvSpPr>
          <p:cNvPr id="16" name="Rectangle 15"/>
          <p:cNvSpPr/>
          <p:nvPr/>
        </p:nvSpPr>
        <p:spPr>
          <a:xfrm>
            <a:off x="822960"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18" name="Rectangle 17"/>
          <p:cNvSpPr/>
          <p:nvPr/>
        </p:nvSpPr>
        <p:spPr>
          <a:xfrm>
            <a:off x="1536192"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09344"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0</a:t>
            </a:r>
          </a:p>
        </p:txBody>
      </p:sp>
      <p:sp>
        <p:nvSpPr>
          <p:cNvPr id="20" name="Rectangle 19"/>
          <p:cNvSpPr/>
          <p:nvPr/>
        </p:nvSpPr>
        <p:spPr>
          <a:xfrm>
            <a:off x="2249424"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22576"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22" name="Rectangle 21"/>
          <p:cNvSpPr/>
          <p:nvPr/>
        </p:nvSpPr>
        <p:spPr>
          <a:xfrm>
            <a:off x="2962656"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35808"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8</a:t>
            </a:r>
          </a:p>
        </p:txBody>
      </p:sp>
      <p:sp>
        <p:nvSpPr>
          <p:cNvPr id="24" name="Rectangle 23"/>
          <p:cNvSpPr/>
          <p:nvPr/>
        </p:nvSpPr>
        <p:spPr>
          <a:xfrm>
            <a:off x="822960"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8</a:t>
            </a:r>
          </a:p>
        </p:txBody>
      </p:sp>
      <p:sp>
        <p:nvSpPr>
          <p:cNvPr id="26" name="Rectangle 25"/>
          <p:cNvSpPr/>
          <p:nvPr/>
        </p:nvSpPr>
        <p:spPr>
          <a:xfrm>
            <a:off x="1536192"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609344"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28" name="Rectangle 27"/>
          <p:cNvSpPr/>
          <p:nvPr/>
        </p:nvSpPr>
        <p:spPr>
          <a:xfrm>
            <a:off x="2249424"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322576"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0</a:t>
            </a:r>
          </a:p>
        </p:txBody>
      </p:sp>
      <p:sp>
        <p:nvSpPr>
          <p:cNvPr id="30" name="Rectangle 29"/>
          <p:cNvSpPr/>
          <p:nvPr/>
        </p:nvSpPr>
        <p:spPr>
          <a:xfrm>
            <a:off x="2962656"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35808"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32" name="Rectangle 31"/>
          <p:cNvSpPr/>
          <p:nvPr/>
        </p:nvSpPr>
        <p:spPr>
          <a:xfrm>
            <a:off x="822960"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6112"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12</a:t>
            </a:r>
          </a:p>
        </p:txBody>
      </p:sp>
      <p:sp>
        <p:nvSpPr>
          <p:cNvPr id="34" name="Rectangle 33"/>
          <p:cNvSpPr/>
          <p:nvPr/>
        </p:nvSpPr>
        <p:spPr>
          <a:xfrm>
            <a:off x="1536192"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609344"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8</a:t>
            </a:r>
          </a:p>
        </p:txBody>
      </p:sp>
      <p:sp>
        <p:nvSpPr>
          <p:cNvPr id="36" name="Rectangle 35"/>
          <p:cNvSpPr/>
          <p:nvPr/>
        </p:nvSpPr>
        <p:spPr>
          <a:xfrm>
            <a:off x="2249424"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22576"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4</a:t>
            </a:r>
          </a:p>
        </p:txBody>
      </p:sp>
      <p:sp>
        <p:nvSpPr>
          <p:cNvPr id="38" name="Rectangle 37"/>
          <p:cNvSpPr/>
          <p:nvPr/>
        </p:nvSpPr>
        <p:spPr>
          <a:xfrm>
            <a:off x="2962656"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35808"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0</a:t>
            </a:r>
          </a:p>
        </p:txBody>
      </p:sp>
      <p:sp>
        <p:nvSpPr>
          <p:cNvPr id="40" name="TextBox 39"/>
          <p:cNvSpPr txBox="1"/>
          <p:nvPr/>
        </p:nvSpPr>
        <p:spPr>
          <a:xfrm>
            <a:off x="822960" y="5532120"/>
            <a:ext cx="4846320" cy="43891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模式例：4残基。色は実測値を表さない。</a:t>
            </a:r>
          </a:p>
        </p:txBody>
      </p:sp>
      <p:sp>
        <p:nvSpPr>
          <p:cNvPr id="41" name="TextBox 40"/>
          <p:cNvSpPr txBox="1"/>
          <p:nvPr/>
        </p:nvSpPr>
        <p:spPr>
          <a:xfrm>
            <a:off x="6400800" y="1508760"/>
            <a:ext cx="4846320" cy="457200"/>
          </a:xfrm>
          <a:prstGeom prst="rect">
            <a:avLst/>
          </a:prstGeom>
          <a:noFill/>
        </p:spPr>
        <p:txBody>
          <a:bodyPr wrap="square" lIns="0" rIns="0" tIns="0" bIns="0" anchor="t">
            <a:noAutofit/>
          </a:bodyPr>
          <a:lstStyle/>
          <a:p>
            <a:pPr algn="l">
              <a:lnSpc>
                <a:spcPts val="3500"/>
              </a:lnSpc>
            </a:pPr>
            <a:r>
              <a:rPr sz="2500" b="1" lang="ja-JP" altLang="en-US">
                <a:solidFill>
                  <a:srgbClr val="0017C1"/>
                </a:solidFill>
                <a:latin typeface="Noto Sans JP"/>
                <a:ea typeface="Noto Sans JP"/>
              </a:rPr>
              <a:t>ペア表現 P</a:t>
            </a:r>
          </a:p>
        </p:txBody>
      </p:sp>
      <p:sp>
        <p:nvSpPr>
          <p:cNvPr id="42" name="TextBox 41"/>
          <p:cNvSpPr txBox="1"/>
          <p:nvPr/>
        </p:nvSpPr>
        <p:spPr>
          <a:xfrm>
            <a:off x="6400800" y="2057400"/>
            <a:ext cx="4846320" cy="82296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対ごとの特徴ベクトル</a:t>
            </a:r>
          </a:p>
          <a:p>
            <a:pPr algn="l">
              <a:lnSpc>
                <a:spcPts val="2800"/>
              </a:lnSpc>
            </a:pPr>
            <a:r>
              <a:rPr sz="2000" b="0" lang="ja-JP" altLang="en-US">
                <a:solidFill>
                  <a:srgbClr val="333333"/>
                </a:solidFill>
                <a:latin typeface="Noto Sans JP"/>
                <a:ea typeface="Noto Sans JP"/>
              </a:rPr>
              <a:t>各成分の意味は学習で決まる</a:t>
            </a:r>
          </a:p>
        </p:txBody>
      </p:sp>
      <p:sp>
        <p:nvSpPr>
          <p:cNvPr id="43" name="Rectangle 42"/>
          <p:cNvSpPr/>
          <p:nvPr/>
        </p:nvSpPr>
        <p:spPr>
          <a:xfrm>
            <a:off x="6492240"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65392"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p11</a:t>
            </a:r>
          </a:p>
        </p:txBody>
      </p:sp>
      <p:sp>
        <p:nvSpPr>
          <p:cNvPr id="45" name="Rectangle 44"/>
          <p:cNvSpPr/>
          <p:nvPr/>
        </p:nvSpPr>
        <p:spPr>
          <a:xfrm>
            <a:off x="7205472"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78624"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p12</a:t>
            </a:r>
          </a:p>
        </p:txBody>
      </p:sp>
      <p:sp>
        <p:nvSpPr>
          <p:cNvPr id="47" name="Rectangle 46"/>
          <p:cNvSpPr/>
          <p:nvPr/>
        </p:nvSpPr>
        <p:spPr>
          <a:xfrm>
            <a:off x="7918704"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991856"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p13</a:t>
            </a:r>
          </a:p>
        </p:txBody>
      </p:sp>
      <p:sp>
        <p:nvSpPr>
          <p:cNvPr id="49" name="Rectangle 48"/>
          <p:cNvSpPr/>
          <p:nvPr/>
        </p:nvSpPr>
        <p:spPr>
          <a:xfrm>
            <a:off x="8631936" y="309067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705088" y="311353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p14</a:t>
            </a:r>
          </a:p>
        </p:txBody>
      </p:sp>
      <p:sp>
        <p:nvSpPr>
          <p:cNvPr id="51" name="Rectangle 50"/>
          <p:cNvSpPr/>
          <p:nvPr/>
        </p:nvSpPr>
        <p:spPr>
          <a:xfrm>
            <a:off x="6492240"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65392"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p21</a:t>
            </a:r>
          </a:p>
        </p:txBody>
      </p:sp>
      <p:sp>
        <p:nvSpPr>
          <p:cNvPr id="53" name="Rectangle 52"/>
          <p:cNvSpPr/>
          <p:nvPr/>
        </p:nvSpPr>
        <p:spPr>
          <a:xfrm>
            <a:off x="7205472"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78624"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p22</a:t>
            </a:r>
          </a:p>
        </p:txBody>
      </p:sp>
      <p:sp>
        <p:nvSpPr>
          <p:cNvPr id="55" name="Rectangle 54"/>
          <p:cNvSpPr/>
          <p:nvPr/>
        </p:nvSpPr>
        <p:spPr>
          <a:xfrm>
            <a:off x="7918704"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991856"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p23</a:t>
            </a:r>
          </a:p>
        </p:txBody>
      </p:sp>
      <p:sp>
        <p:nvSpPr>
          <p:cNvPr id="57" name="Rectangle 56"/>
          <p:cNvSpPr/>
          <p:nvPr/>
        </p:nvSpPr>
        <p:spPr>
          <a:xfrm>
            <a:off x="8631936" y="363931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705088" y="366217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p24</a:t>
            </a:r>
          </a:p>
        </p:txBody>
      </p:sp>
      <p:sp>
        <p:nvSpPr>
          <p:cNvPr id="59" name="Rectangle 58"/>
          <p:cNvSpPr/>
          <p:nvPr/>
        </p:nvSpPr>
        <p:spPr>
          <a:xfrm>
            <a:off x="6492240"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565392"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p31</a:t>
            </a:r>
          </a:p>
        </p:txBody>
      </p:sp>
      <p:sp>
        <p:nvSpPr>
          <p:cNvPr id="61" name="Rectangle 60"/>
          <p:cNvSpPr/>
          <p:nvPr/>
        </p:nvSpPr>
        <p:spPr>
          <a:xfrm>
            <a:off x="7205472"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78624"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p32</a:t>
            </a:r>
          </a:p>
        </p:txBody>
      </p:sp>
      <p:sp>
        <p:nvSpPr>
          <p:cNvPr id="63" name="Rectangle 62"/>
          <p:cNvSpPr/>
          <p:nvPr/>
        </p:nvSpPr>
        <p:spPr>
          <a:xfrm>
            <a:off x="7918704"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991856"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p33</a:t>
            </a:r>
          </a:p>
        </p:txBody>
      </p:sp>
      <p:sp>
        <p:nvSpPr>
          <p:cNvPr id="65" name="Rectangle 64"/>
          <p:cNvSpPr/>
          <p:nvPr/>
        </p:nvSpPr>
        <p:spPr>
          <a:xfrm>
            <a:off x="8631936" y="418795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705088" y="421081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p34</a:t>
            </a:r>
          </a:p>
        </p:txBody>
      </p:sp>
      <p:sp>
        <p:nvSpPr>
          <p:cNvPr id="67" name="Rectangle 66"/>
          <p:cNvSpPr/>
          <p:nvPr/>
        </p:nvSpPr>
        <p:spPr>
          <a:xfrm>
            <a:off x="6492240"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565392"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p41</a:t>
            </a:r>
          </a:p>
        </p:txBody>
      </p:sp>
      <p:sp>
        <p:nvSpPr>
          <p:cNvPr id="69" name="Rectangle 68"/>
          <p:cNvSpPr/>
          <p:nvPr/>
        </p:nvSpPr>
        <p:spPr>
          <a:xfrm>
            <a:off x="7205472"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278624"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p42</a:t>
            </a:r>
          </a:p>
        </p:txBody>
      </p:sp>
      <p:sp>
        <p:nvSpPr>
          <p:cNvPr id="71" name="Rectangle 70"/>
          <p:cNvSpPr/>
          <p:nvPr/>
        </p:nvSpPr>
        <p:spPr>
          <a:xfrm>
            <a:off x="7918704"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91856"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p43</a:t>
            </a:r>
          </a:p>
        </p:txBody>
      </p:sp>
      <p:sp>
        <p:nvSpPr>
          <p:cNvPr id="73" name="Rectangle 72"/>
          <p:cNvSpPr/>
          <p:nvPr/>
        </p:nvSpPr>
        <p:spPr>
          <a:xfrm>
            <a:off x="8631936" y="4736592"/>
            <a:ext cx="667512" cy="493776"/>
          </a:xfrm>
          <a:prstGeom prst="rect">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705088" y="4759452"/>
            <a:ext cx="530352" cy="365760"/>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p44</a:t>
            </a:r>
          </a:p>
        </p:txBody>
      </p:sp>
      <p:sp>
        <p:nvSpPr>
          <p:cNvPr id="75" name="TextBox 74"/>
          <p:cNvSpPr txBox="1"/>
          <p:nvPr/>
        </p:nvSpPr>
        <p:spPr>
          <a:xfrm>
            <a:off x="6492240" y="5532120"/>
            <a:ext cx="4846320" cy="438912"/>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模式例：4残基。色は実測値を表さない。</a:t>
            </a:r>
          </a:p>
        </p:txBody>
      </p:sp>
      <p:pic>
        <p:nvPicPr>
          <p:cNvPr id="76" name="Picture 75" descr="D_{ij}=\|\mathbf{x}_i-\mathbf{x}_j\|"/>
          <p:cNvPicPr>
            <a:picLocks noChangeAspect="1"/>
          </p:cNvPicPr>
          <p:nvPr/>
        </p:nvPicPr>
        <p:blipFill>
          <a:blip r:embed="rId3"/>
          <a:stretch>
            <a:fillRect/>
          </a:stretch>
        </p:blipFill>
        <p:spPr>
          <a:xfrm>
            <a:off x="3840480" y="3246120"/>
            <a:ext cx="1908047" cy="326135"/>
          </a:xfrm>
          <a:prstGeom prst="rect">
            <a:avLst/>
          </a:prstGeom>
        </p:spPr>
      </p:pic>
      <p:pic>
        <p:nvPicPr>
          <p:cNvPr id="77" name="Picture 76" descr="\mathbf{p}_{ij}\in\mathbb{R}^{c_P}"/>
          <p:cNvPicPr>
            <a:picLocks noChangeAspect="1"/>
          </p:cNvPicPr>
          <p:nvPr/>
        </p:nvPicPr>
        <p:blipFill>
          <a:blip r:embed="rId4"/>
          <a:stretch>
            <a:fillRect/>
          </a:stretch>
        </p:blipFill>
        <p:spPr>
          <a:xfrm>
            <a:off x="9555480" y="3291840"/>
            <a:ext cx="1136904" cy="326135"/>
          </a:xfrm>
          <a:prstGeom prst="rect">
            <a:avLst/>
          </a:prstGeom>
        </p:spPr>
      </p:pic>
      <p:sp>
        <p:nvSpPr>
          <p:cNvPr id="78" name="TextBox 77"/>
          <p:cNvSpPr txBox="1"/>
          <p:nvPr/>
        </p:nvSpPr>
        <p:spPr>
          <a:xfrm>
            <a:off x="9555480" y="4206240"/>
            <a:ext cx="2011680" cy="941832"/>
          </a:xfrm>
          <a:prstGeom prst="rect">
            <a:avLst/>
          </a:prstGeom>
          <a:noFill/>
        </p:spPr>
        <p:txBody>
          <a:bodyPr wrap="square" lIns="0" rIns="0" tIns="0" bIns="0" anchor="t">
            <a:noAutofit/>
          </a:bodyPr>
          <a:lstStyle/>
          <a:p>
            <a:pPr algn="l">
              <a:lnSpc>
                <a:spcPts val="2240"/>
              </a:lnSpc>
            </a:pPr>
            <a:r>
              <a:rPr sz="1600" b="0" lang="ja-JP" altLang="en-US">
                <a:solidFill>
                  <a:srgbClr val="333333"/>
                </a:solidFill>
                <a:latin typeface="Noto Sans JP"/>
                <a:ea typeface="Noto Sans JP"/>
              </a:rPr>
              <a:t>例：cP = 128</a:t>
            </a:r>
          </a:p>
          <a:p>
            <a:pPr algn="l">
              <a:lnSpc>
                <a:spcPts val="2240"/>
              </a:lnSpc>
            </a:pPr>
            <a:r>
              <a:rPr sz="1600" b="0" lang="ja-JP" altLang="en-US">
                <a:solidFill>
                  <a:srgbClr val="333333"/>
                </a:solidFill>
                <a:latin typeface="Noto Sans JP"/>
                <a:ea typeface="Noto Sans JP"/>
              </a:rPr>
              <a:t>128個の特徴量</a:t>
            </a:r>
          </a:p>
          <a:p>
            <a:pPr algn="l">
              <a:lnSpc>
                <a:spcPts val="2240"/>
              </a:lnSpc>
            </a:pPr>
            <a:r>
              <a:rPr sz="1600" b="0" lang="ja-JP" altLang="en-US">
                <a:solidFill>
                  <a:srgbClr val="333333"/>
                </a:solidFill>
                <a:latin typeface="Noto Sans JP"/>
                <a:ea typeface="Noto Sans JP"/>
              </a:rPr>
              <a:t>（AF2原著）</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Evoformer ブロックの中身</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19 / 36</a:t>
            </a:r>
          </a:p>
        </p:txBody>
      </p:sp>
      <p:pic>
        <p:nvPicPr>
          <p:cNvPr id="6" name="Picture 5" descr="af2_evoformer.png"/>
          <p:cNvPicPr>
            <a:picLocks noChangeAspect="1"/>
          </p:cNvPicPr>
          <p:nvPr/>
        </p:nvPicPr>
        <p:blipFill>
          <a:blip r:embed="rId3"/>
          <a:stretch>
            <a:fillRect/>
          </a:stretch>
        </p:blipFill>
        <p:spPr>
          <a:xfrm>
            <a:off x="838180" y="1371600"/>
            <a:ext cx="10515333" cy="2740152"/>
          </a:xfrm>
          <a:prstGeom prst="rect">
            <a:avLst/>
          </a:prstGeom>
        </p:spPr>
      </p:pic>
      <p:sp>
        <p:nvSpPr>
          <p:cNvPr id="7" name="TextBox 6"/>
          <p:cNvSpPr txBox="1"/>
          <p:nvPr/>
        </p:nvSpPr>
        <p:spPr>
          <a:xfrm>
            <a:off x="609904" y="4157472"/>
            <a:ext cx="10971885"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Evoformer ブロックの中の処理（Jumper ら, Nature 596:583 (2021) Fig. 3a を切り出し、CC BY 4.0）</a:t>
            </a:r>
          </a:p>
        </p:txBody>
      </p:sp>
      <p:sp>
        <p:nvSpPr>
          <p:cNvPr id="8" name="Rounded Rectangle 7"/>
          <p:cNvSpPr/>
          <p:nvPr/>
        </p:nvSpPr>
        <p:spPr>
          <a:xfrm>
            <a:off x="609904" y="4572000"/>
            <a:ext cx="5348782" cy="1343025"/>
          </a:xfrm>
          <a:prstGeom prst="roundRect">
            <a:avLst>
              <a:gd name="adj" fmla="val 817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4496" y="47365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前半：MSA 表現の更新</a:t>
            </a:r>
          </a:p>
        </p:txBody>
      </p:sp>
      <p:sp>
        <p:nvSpPr>
          <p:cNvPr id="10" name="TextBox 9"/>
          <p:cNvSpPr txBox="1"/>
          <p:nvPr/>
        </p:nvSpPr>
        <p:spPr>
          <a:xfrm>
            <a:off x="774496" y="5123307"/>
            <a:ext cx="5019598"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行方向の自己注意（ペア表現からのバイアスつき）→ 列方向の自己注意 → 変換</a:t>
            </a:r>
          </a:p>
        </p:txBody>
      </p:sp>
      <p:sp>
        <p:nvSpPr>
          <p:cNvPr id="11" name="Rounded Rectangle 10"/>
          <p:cNvSpPr/>
          <p:nvPr/>
        </p:nvSpPr>
        <p:spPr>
          <a:xfrm>
            <a:off x="6233007" y="4572000"/>
            <a:ext cx="5348782" cy="1638299"/>
          </a:xfrm>
          <a:prstGeom prst="roundRect">
            <a:avLst>
              <a:gd name="adj" fmla="val 669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7599" y="47365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後半：ペア表現の更新</a:t>
            </a:r>
          </a:p>
        </p:txBody>
      </p:sp>
      <p:sp>
        <p:nvSpPr>
          <p:cNvPr id="13" name="TextBox 12"/>
          <p:cNvSpPr txBox="1"/>
          <p:nvPr/>
        </p:nvSpPr>
        <p:spPr>
          <a:xfrm>
            <a:off x="6397599" y="5123307"/>
            <a:ext cx="5019598"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外積の平均（MSA → ペア）→ 三角乗法更新 → 三角自己注意 → 変換。48 ブロック重ねる（パラメータは別々）</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MSA 表現の更新：行と列に分けた注意</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20 / 36</a:t>
            </a:r>
          </a:p>
        </p:txBody>
      </p:sp>
      <p:sp>
        <p:nvSpPr>
          <p:cNvPr id="6" name="Rounded Rectangle 5"/>
          <p:cNvSpPr/>
          <p:nvPr/>
        </p:nvSpPr>
        <p:spPr>
          <a:xfrm>
            <a:off x="609904" y="1371600"/>
            <a:ext cx="6126480" cy="3218941"/>
          </a:xfrm>
          <a:prstGeom prst="roundRect">
            <a:avLst>
              <a:gd name="adj" fmla="val 340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行方向の自己注意：配列 </a:t>
            </a:r>
            <a:r>
              <a:rPr sz="1500" b="0" i="1" lang="ja-JP" altLang="en-US">
                <a:solidFill>
                  <a:srgbClr val="1A1A1A"/>
                </a:solidFill>
                <a:latin typeface="Cambria Math"/>
                <a:ea typeface="Noto Sans JP"/>
              </a:rPr>
              <a:t>s</a:t>
            </a:r>
            <a:r>
              <a:rPr sz="1500" b="1" lang="ja-JP" altLang="en-US">
                <a:solidFill>
                  <a:srgbClr val="1A1A1A"/>
                </a:solidFill>
                <a:latin typeface="Noto Sans JP"/>
                <a:ea typeface="Noto Sans JP"/>
              </a:rPr>
              <a:t> の中の残基どうし</a:t>
            </a:r>
          </a:p>
        </p:txBody>
      </p:sp>
      <p:pic>
        <p:nvPicPr>
          <p:cNvPr id="8" name="Picture 7" descr="a_{sij} = \text{softmax}_{j}\left(\frac{\mathbf{q}_{si}\cdot\mathbf{k}_{sj}}{\sqrt{c}} + b_{ij}\right)"/>
          <p:cNvPicPr>
            <a:picLocks noChangeAspect="1"/>
          </p:cNvPicPr>
          <p:nvPr/>
        </p:nvPicPr>
        <p:blipFill>
          <a:blip r:embed="rId3"/>
          <a:stretch>
            <a:fillRect/>
          </a:stretch>
        </p:blipFill>
        <p:spPr>
          <a:xfrm>
            <a:off x="774496" y="1922907"/>
            <a:ext cx="3279648" cy="757936"/>
          </a:xfrm>
          <a:prstGeom prst="rect">
            <a:avLst/>
          </a:prstGeom>
        </p:spPr>
      </p:pic>
      <p:sp>
        <p:nvSpPr>
          <p:cNvPr id="9" name="TextBox 8"/>
          <p:cNvSpPr txBox="1"/>
          <p:nvPr/>
        </p:nvSpPr>
        <p:spPr>
          <a:xfrm>
            <a:off x="774496" y="2772283"/>
            <a:ext cx="5797296" cy="587756"/>
          </a:xfrm>
          <a:prstGeom prst="rect">
            <a:avLst/>
          </a:prstGeom>
          <a:noFill/>
        </p:spPr>
        <p:txBody>
          <a:bodyPr wrap="square" lIns="0" rIns="0" tIns="0" bIns="0" anchor="t">
            <a:noAutofit/>
          </a:bodyPr>
          <a:lstStyle/>
          <a:p>
            <a:pPr algn="l">
              <a:lnSpc>
                <a:spcPts val="2170"/>
              </a:lnSpc>
            </a:pPr>
            <a:r>
              <a:rPr sz="1400" b="0" i="1" lang="ja-JP" altLang="en-US">
                <a:solidFill>
                  <a:srgbClr val="333333"/>
                </a:solidFill>
                <a:latin typeface="Cambria Math"/>
                <a:ea typeface="Noto Sans JP"/>
              </a:rPr>
              <a:t>bij：ペア表現の要素 𝐩ij から作るバイアス。学習した対の特徴で注意のスコアを調節する。</a:t>
            </a:r>
            <a:r>
              <a:rPr sz="1400" b="0" i="1" baseline="-25000"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0" lang="ja-JP" altLang="en-US">
                <a:solidFill>
                  <a:srgbClr val="333333"/>
                </a:solidFill>
                <a:latin typeface="Cambria Math"/>
                <a:ea typeface="Noto Sans JP"/>
              </a:rPr>
              <a:t/>
            </a:r>
            <a:r>
              <a:rPr sz="1400" b="0" i="1" baseline="-25000"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r>
              <a:rPr sz="1400" b="0" i="1" lang="ja-JP" altLang="en-US">
                <a:solidFill>
                  <a:srgbClr val="333333"/>
                </a:solidFill>
                <a:latin typeface="Cambria Math"/>
                <a:ea typeface="Noto Sans JP"/>
              </a:rPr>
              <a:t/>
            </a:r>
            <a:r>
              <a:rPr sz="1400" b="0" lang="ja-JP" altLang="en-US">
                <a:solidFill>
                  <a:srgbClr val="333333"/>
                </a:solidFill>
                <a:latin typeface="Noto Sans JP"/>
                <a:ea typeface="Noto Sans JP"/>
              </a:rPr>
              <a:t/>
            </a:r>
          </a:p>
        </p:txBody>
      </p:sp>
      <p:sp>
        <p:nvSpPr>
          <p:cNvPr id="10" name="TextBox 9"/>
          <p:cNvSpPr txBox="1"/>
          <p:nvPr/>
        </p:nvSpPr>
        <p:spPr>
          <a:xfrm>
            <a:off x="774496" y="3451479"/>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列方向の自己注意：同じ残基位置を配列どうしで比べる</a:t>
            </a:r>
          </a:p>
        </p:txBody>
      </p:sp>
      <p:sp>
        <p:nvSpPr>
          <p:cNvPr id="11" name="TextBox 10"/>
          <p:cNvSpPr txBox="1"/>
          <p:nvPr/>
        </p:nvSpPr>
        <p:spPr>
          <a:xfrm>
            <a:off x="774496" y="3838194"/>
            <a:ext cx="579729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保存・変異のパターン（進化の情報）を取り出す。ふつうの自己注意。</a:t>
            </a:r>
          </a:p>
        </p:txBody>
      </p:sp>
      <p:sp>
        <p:nvSpPr>
          <p:cNvPr id="12" name="Rounded Rectangle 11"/>
          <p:cNvSpPr/>
          <p:nvPr/>
        </p:nvSpPr>
        <p:spPr>
          <a:xfrm>
            <a:off x="609904" y="4754880"/>
            <a:ext cx="6126480" cy="1192530"/>
          </a:xfrm>
          <a:prstGeom prst="roundRect">
            <a:avLst>
              <a:gd name="adj" fmla="val 9201"/>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919472"/>
            <a:ext cx="5797296"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行と列に分けるのは、全部のマスどうしで注意をとると計算量とメモリが大きすぎるため（軸方向の注意、axial attention）。</a:t>
            </a:r>
          </a:p>
        </p:txBody>
      </p:sp>
      <p:pic>
        <p:nvPicPr>
          <p:cNvPr id="14" name="Picture 13" descr="sch_axial.png"/>
          <p:cNvPicPr>
            <a:picLocks noChangeAspect="1"/>
          </p:cNvPicPr>
          <p:nvPr/>
        </p:nvPicPr>
        <p:blipFill>
          <a:blip r:embed="rId4"/>
          <a:stretch>
            <a:fillRect/>
          </a:stretch>
        </p:blipFill>
        <p:spPr>
          <a:xfrm>
            <a:off x="7010704" y="1371600"/>
            <a:ext cx="4571085" cy="375482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外積の平均：共進化をペア表現へ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21 / 36</a:t>
            </a:r>
          </a:p>
        </p:txBody>
      </p:sp>
      <p:sp>
        <p:nvSpPr>
          <p:cNvPr id="6" name="Rounded Rectangle 5"/>
          <p:cNvSpPr/>
          <p:nvPr/>
        </p:nvSpPr>
        <p:spPr>
          <a:xfrm>
            <a:off x="609904" y="1371600"/>
            <a:ext cx="6126480" cy="2470023"/>
          </a:xfrm>
          <a:prstGeom prst="roundRect">
            <a:avLst>
              <a:gd name="adj" fmla="val 4442"/>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外積の平均（outer product mean）</a:t>
            </a:r>
          </a:p>
        </p:txBody>
      </p:sp>
      <p:pic>
        <p:nvPicPr>
          <p:cNvPr id="8" name="Picture 7" descr="\mathbf{a}_{si} \otimes \mathbf{b}_{sj} = \mathbf{a}_{si}\, \mathbf{b}_{sj}^{T}"/>
          <p:cNvPicPr>
            <a:picLocks noChangeAspect="1"/>
          </p:cNvPicPr>
          <p:nvPr/>
        </p:nvPicPr>
        <p:blipFill>
          <a:blip r:embed="rId3"/>
          <a:stretch>
            <a:fillRect/>
          </a:stretch>
        </p:blipFill>
        <p:spPr>
          <a:xfrm>
            <a:off x="774496" y="1922907"/>
            <a:ext cx="1739392" cy="382016"/>
          </a:xfrm>
          <a:prstGeom prst="rect">
            <a:avLst/>
          </a:prstGeom>
        </p:spPr>
      </p:pic>
      <p:pic>
        <p:nvPicPr>
          <p:cNvPr id="9" name="Picture 8" descr="\mathbf{o}_{ij} = \frac{1}{N_{seq}} \sum_{s} \mathbf{a}_{si}\, \mathbf{b}_{sj}^{T}"/>
          <p:cNvPicPr>
            <a:picLocks noChangeAspect="1"/>
          </p:cNvPicPr>
          <p:nvPr/>
        </p:nvPicPr>
        <p:blipFill>
          <a:blip r:embed="rId4"/>
          <a:stretch>
            <a:fillRect/>
          </a:stretch>
        </p:blipFill>
        <p:spPr>
          <a:xfrm>
            <a:off x="774496" y="2396363"/>
            <a:ext cx="1975104" cy="601472"/>
          </a:xfrm>
          <a:prstGeom prst="rect">
            <a:avLst/>
          </a:prstGeom>
        </p:spPr>
      </p:pic>
      <p:sp>
        <p:nvSpPr>
          <p:cNvPr id="10" name="TextBox 9"/>
          <p:cNvSpPr txBox="1"/>
          <p:nvPr/>
        </p:nvSpPr>
        <p:spPr>
          <a:xfrm>
            <a:off x="774496" y="3089275"/>
            <a:ext cx="5797296" cy="587756"/>
          </a:xfrm>
          <a:prstGeom prst="rect">
            <a:avLst/>
          </a:prstGeom>
          <a:noFill/>
        </p:spPr>
        <p:txBody>
          <a:bodyPr wrap="square" lIns="0" rIns="0" tIns="0" bIns="0" anchor="t">
            <a:noAutofit/>
          </a:bodyPr>
          <a:lstStyle/>
          <a:p>
            <a:pPr algn="l">
              <a:lnSpc>
                <a:spcPts val="2170"/>
              </a:lnSpc>
            </a:pPr>
            <a:r>
              <a:rPr sz="1400" b="0" i="0" lang="ja-JP" altLang="en-US">
                <a:solidFill>
                  <a:srgbClr val="333333"/>
                </a:solidFill>
                <a:latin typeface="Cambria Math"/>
                <a:ea typeface="Noto Sans JP"/>
              </a:rPr>
              <a:t>𝐚</a:t>
            </a:r>
            <a:r>
              <a:rPr sz="1400" b="0" i="0" baseline="-25000" lang="ja-JP" altLang="en-US">
                <a:solidFill>
                  <a:srgbClr val="333333"/>
                </a:solidFill>
                <a:latin typeface="Cambria Math"/>
                <a:ea typeface="Noto Sans JP"/>
              </a:rPr>
              <a:t>si</a:t>
            </a:r>
            <a:r>
              <a:rPr sz="1400" b="0" i="0" lang="ja-JP" altLang="en-US">
                <a:solidFill>
                  <a:srgbClr val="333333"/>
                </a:solidFill>
                <a:latin typeface="Cambria Math"/>
                <a:ea typeface="Noto Sans JP"/>
              </a:rPr>
              <a:t>, 𝐛</a:t>
            </a:r>
            <a:r>
              <a:rPr sz="1400" b="0" i="0" baseline="-25000" lang="ja-JP" altLang="en-US">
                <a:solidFill>
                  <a:srgbClr val="333333"/>
                </a:solidFill>
                <a:latin typeface="Cambria Math"/>
                <a:ea typeface="Noto Sans JP"/>
              </a:rPr>
              <a:t>sj</a:t>
            </a:r>
            <a:r>
              <a:rPr sz="1400" b="0" lang="ja-JP" altLang="en-US">
                <a:solidFill>
                  <a:srgbClr val="333333"/>
                </a:solidFill>
                <a:latin typeface="Noto Sans JP"/>
                <a:ea typeface="Noto Sans JP"/>
              </a:rPr>
              <a:t>：配列 </a:t>
            </a:r>
            <a:r>
              <a:rPr sz="1400" b="0" i="1" lang="ja-JP" altLang="en-US">
                <a:solidFill>
                  <a:srgbClr val="333333"/>
                </a:solidFill>
                <a:latin typeface="Cambria Math"/>
                <a:ea typeface="Noto Sans JP"/>
              </a:rPr>
              <a:t>s</a:t>
            </a:r>
            <a:r>
              <a:rPr sz="1400" b="0" lang="ja-JP" altLang="en-US">
                <a:solidFill>
                  <a:srgbClr val="333333"/>
                </a:solidFill>
                <a:latin typeface="Noto Sans JP"/>
                <a:ea typeface="Noto Sans JP"/>
              </a:rPr>
              <a:t> の </a:t>
            </a:r>
            <a:r>
              <a:rPr sz="1400" b="0" i="1" lang="ja-JP" altLang="en-US">
                <a:solidFill>
                  <a:srgbClr val="333333"/>
                </a:solidFill>
                <a:latin typeface="Cambria Math"/>
                <a:ea typeface="Noto Sans JP"/>
              </a:rPr>
              <a:t>i</a:t>
            </a:r>
            <a:r>
              <a:rPr sz="1400" b="0" lang="ja-JP" altLang="en-US">
                <a:solidFill>
                  <a:srgbClr val="333333"/>
                </a:solidFill>
                <a:latin typeface="Noto Sans JP"/>
                <a:ea typeface="Noto Sans JP"/>
              </a:rPr>
              <a:t>・</a:t>
            </a:r>
            <a:r>
              <a:rPr sz="1400" b="0" i="1" lang="ja-JP" altLang="en-US">
                <a:solidFill>
                  <a:srgbClr val="333333"/>
                </a:solidFill>
                <a:latin typeface="Cambria Math"/>
                <a:ea typeface="Noto Sans JP"/>
              </a:rPr>
              <a:t>j</a:t>
            </a:r>
            <a:r>
              <a:rPr sz="1400" b="0" lang="ja-JP" altLang="en-US">
                <a:solidFill>
                  <a:srgbClr val="333333"/>
                </a:solidFill>
                <a:latin typeface="Noto Sans JP"/>
                <a:ea typeface="Noto Sans JP"/>
              </a:rPr>
              <a:t> 番目の特徴ベクトルを線形変換した縦ベクトル。</a:t>
            </a:r>
            <a:r>
              <a:rPr sz="1400" b="0" i="0" lang="ja-JP" altLang="en-US">
                <a:solidFill>
                  <a:srgbClr val="333333"/>
                </a:solidFill>
                <a:latin typeface="Cambria Math"/>
                <a:ea typeface="Noto Sans JP"/>
              </a:rPr>
              <a:t>𝐨</a:t>
            </a:r>
            <a:r>
              <a:rPr sz="1400" b="0" i="1" baseline="-25000" lang="ja-JP" altLang="en-US">
                <a:solidFill>
                  <a:srgbClr val="333333"/>
                </a:solidFill>
                <a:latin typeface="Cambria Math"/>
                <a:ea typeface="Noto Sans JP"/>
              </a:rPr>
              <a:t>ij</a:t>
            </a:r>
            <a:r>
              <a:rPr sz="1400" b="0" lang="ja-JP" altLang="en-US">
                <a:solidFill>
                  <a:srgbClr val="333333"/>
                </a:solidFill>
                <a:latin typeface="Noto Sans JP"/>
                <a:ea typeface="Noto Sans JP"/>
              </a:rPr>
              <a:t> をペア表現 </a:t>
            </a:r>
            <a:r>
              <a:rPr sz="1400" b="0" i="0" lang="ja-JP" altLang="en-US">
                <a:solidFill>
                  <a:srgbClr val="333333"/>
                </a:solidFill>
                <a:latin typeface="Cambria Math"/>
                <a:ea typeface="Noto Sans JP"/>
              </a:rPr>
              <a:t>𝐩</a:t>
            </a:r>
            <a:r>
              <a:rPr sz="1400" b="0" i="1" baseline="-25000" lang="ja-JP" altLang="en-US">
                <a:solidFill>
                  <a:srgbClr val="333333"/>
                </a:solidFill>
                <a:latin typeface="Cambria Math"/>
                <a:ea typeface="Noto Sans JP"/>
              </a:rPr>
              <a:t>ij</a:t>
            </a:r>
            <a:r>
              <a:rPr sz="1400" b="0" lang="ja-JP" altLang="en-US">
                <a:solidFill>
                  <a:srgbClr val="333333"/>
                </a:solidFill>
                <a:latin typeface="Noto Sans JP"/>
                <a:ea typeface="Noto Sans JP"/>
              </a:rPr>
              <a:t> に足す。</a:t>
            </a:r>
          </a:p>
        </p:txBody>
      </p:sp>
      <p:sp>
        <p:nvSpPr>
          <p:cNvPr id="11" name="Rounded Rectangle 10"/>
          <p:cNvSpPr/>
          <p:nvPr/>
        </p:nvSpPr>
        <p:spPr>
          <a:xfrm>
            <a:off x="609904" y="3933062"/>
            <a:ext cx="6126480" cy="2368930"/>
          </a:xfrm>
          <a:prstGeom prst="roundRect">
            <a:avLst>
              <a:gd name="adj" fmla="val 4631"/>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097654"/>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補足：DCA とのつながり</a:t>
            </a:r>
          </a:p>
        </p:txBody>
      </p:sp>
      <p:sp>
        <p:nvSpPr>
          <p:cNvPr id="13" name="TextBox 12"/>
          <p:cNvSpPr txBox="1"/>
          <p:nvPr/>
        </p:nvSpPr>
        <p:spPr>
          <a:xfrm>
            <a:off x="774496" y="4484369"/>
            <a:ext cx="5797296" cy="587756"/>
          </a:xfrm>
          <a:prstGeom prst="rect">
            <a:avLst/>
          </a:prstGeom>
          <a:noFill/>
        </p:spPr>
        <p:txBody>
          <a:bodyPr wrap="square" lIns="0" rIns="0" tIns="0" bIns="0" anchor="t">
            <a:noAutofit/>
          </a:bodyPr>
          <a:lstStyle/>
          <a:p>
            <a:pPr algn="l">
              <a:lnSpc>
                <a:spcPts val="2170"/>
              </a:lnSpc>
            </a:pPr>
            <a:r>
              <a:rPr sz="1400" b="0" i="0" lang="ja-JP" altLang="en-US">
                <a:solidFill>
                  <a:srgbClr val="333333"/>
                </a:solidFill>
                <a:latin typeface="Cambria Math"/>
                <a:ea typeface="Noto Sans JP"/>
              </a:rPr>
              <a:t>𝐚</a:t>
            </a:r>
            <a:r>
              <a:rPr sz="1400" b="0" i="0" baseline="-25000" lang="ja-JP" altLang="en-US">
                <a:solidFill>
                  <a:srgbClr val="333333"/>
                </a:solidFill>
                <a:latin typeface="Cambria Math"/>
                <a:ea typeface="Noto Sans JP"/>
              </a:rPr>
              <a:t>si</a:t>
            </a:r>
            <a:r>
              <a:rPr sz="1400" b="0" lang="ja-JP" altLang="en-US">
                <a:solidFill>
                  <a:srgbClr val="333333"/>
                </a:solidFill>
                <a:latin typeface="Noto Sans JP"/>
                <a:ea typeface="Noto Sans JP"/>
              </a:rPr>
              <a:t>、</a:t>
            </a:r>
            <a:r>
              <a:rPr sz="1400" b="0" i="0" lang="ja-JP" altLang="en-US">
                <a:solidFill>
                  <a:srgbClr val="333333"/>
                </a:solidFill>
                <a:latin typeface="Cambria Math"/>
                <a:ea typeface="Noto Sans JP"/>
              </a:rPr>
              <a:t>𝐛</a:t>
            </a:r>
            <a:r>
              <a:rPr sz="1400" b="0" i="0" baseline="-25000" lang="ja-JP" altLang="en-US">
                <a:solidFill>
                  <a:srgbClr val="333333"/>
                </a:solidFill>
                <a:latin typeface="Cambria Math"/>
                <a:ea typeface="Noto Sans JP"/>
              </a:rPr>
              <a:t>sj</a:t>
            </a:r>
            <a:r>
              <a:rPr sz="1400" b="0" lang="ja-JP" altLang="en-US">
                <a:solidFill>
                  <a:srgbClr val="333333"/>
                </a:solidFill>
                <a:latin typeface="Noto Sans JP"/>
                <a:ea typeface="Noto Sans JP"/>
              </a:rPr>
              <a:t> をアミノ酸の種類を表す 1-hot ベクトルにすると、外積の平均は対の頻度 </a:t>
            </a:r>
            <a:r>
              <a:rPr sz="1400" b="0" i="1" lang="ja-JP" altLang="en-US">
                <a:solidFill>
                  <a:srgbClr val="333333"/>
                </a:solidFill>
                <a:latin typeface="Cambria Math"/>
                <a:ea typeface="Noto Sans JP"/>
              </a:rPr>
              <a:t>f</a:t>
            </a:r>
            <a:r>
              <a:rPr sz="1400" b="0" i="1" baseline="-25000" lang="ja-JP" altLang="en-US">
                <a:solidFill>
                  <a:srgbClr val="333333"/>
                </a:solidFill>
                <a:latin typeface="Cambria Math"/>
                <a:ea typeface="Noto Sans JP"/>
              </a:rPr>
              <a:t>ij</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a</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b</a:t>
            </a:r>
            <a:r>
              <a:rPr sz="1400" b="0" i="0" lang="ja-JP" altLang="en-US">
                <a:solidFill>
                  <a:srgbClr val="333333"/>
                </a:solidFill>
                <a:latin typeface="Cambria Math"/>
                <a:ea typeface="Noto Sans JP"/>
              </a:rPr>
              <a:t>)</a:t>
            </a:r>
            <a:r>
              <a:rPr sz="1400" b="0" lang="ja-JP" altLang="en-US">
                <a:solidFill>
                  <a:srgbClr val="333333"/>
                </a:solidFill>
                <a:latin typeface="Noto Sans JP"/>
                <a:ea typeface="Noto Sans JP"/>
              </a:rPr>
              <a:t> になる。</a:t>
            </a:r>
          </a:p>
        </p:txBody>
      </p:sp>
      <p:pic>
        <p:nvPicPr>
          <p:cNvPr id="14" name="Picture 13" descr="C_{ij}(a,b) = f_{ij}(a,b) - f_{i}(a)\, f_{j}(b)"/>
          <p:cNvPicPr>
            <a:picLocks noChangeAspect="1"/>
          </p:cNvPicPr>
          <p:nvPr/>
        </p:nvPicPr>
        <p:blipFill>
          <a:blip r:embed="rId5"/>
          <a:stretch>
            <a:fillRect/>
          </a:stretch>
        </p:blipFill>
        <p:spPr>
          <a:xfrm>
            <a:off x="774496" y="5163565"/>
            <a:ext cx="3056128" cy="294640"/>
          </a:xfrm>
          <a:prstGeom prst="rect">
            <a:avLst/>
          </a:prstGeom>
        </p:spPr>
      </p:pic>
      <p:sp>
        <p:nvSpPr>
          <p:cNvPr id="15" name="TextBox 14"/>
          <p:cNvSpPr txBox="1"/>
          <p:nvPr/>
        </p:nvSpPr>
        <p:spPr>
          <a:xfrm>
            <a:off x="774496" y="5549645"/>
            <a:ext cx="579729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DCA が使う共分散。AlphaFold 2 はこれを学習で一般化している。</a:t>
            </a:r>
          </a:p>
        </p:txBody>
      </p:sp>
      <p:pic>
        <p:nvPicPr>
          <p:cNvPr id="16" name="Picture 15" descr="sch_outer.png"/>
          <p:cNvPicPr>
            <a:picLocks noChangeAspect="1"/>
          </p:cNvPicPr>
          <p:nvPr/>
        </p:nvPicPr>
        <p:blipFill>
          <a:blip r:embed="rId6"/>
          <a:stretch>
            <a:fillRect/>
          </a:stretch>
        </p:blipFill>
        <p:spPr>
          <a:xfrm>
            <a:off x="7010704" y="1737360"/>
            <a:ext cx="4571085" cy="3504498"/>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三角形の整合性：3 残基の関係</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22 / 36</a:t>
            </a:r>
          </a:p>
        </p:txBody>
      </p:sp>
      <p:sp>
        <p:nvSpPr>
          <p:cNvPr id="6" name="Rounded Rectangle 5"/>
          <p:cNvSpPr/>
          <p:nvPr/>
        </p:nvSpPr>
        <p:spPr>
          <a:xfrm>
            <a:off x="609904" y="1371600"/>
            <a:ext cx="6126480" cy="2946145"/>
          </a:xfrm>
          <a:prstGeom prst="roundRect">
            <a:avLst>
              <a:gd name="adj" fmla="val 3724"/>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三角不等式</a:t>
            </a:r>
          </a:p>
        </p:txBody>
      </p:sp>
      <p:pic>
        <p:nvPicPr>
          <p:cNvPr id="8" name="Picture 7" descr="d_{ij} \leq d_{ik} + d_{jk}"/>
          <p:cNvPicPr>
            <a:picLocks noChangeAspect="1"/>
          </p:cNvPicPr>
          <p:nvPr/>
        </p:nvPicPr>
        <p:blipFill>
          <a:blip r:embed="rId3"/>
          <a:stretch>
            <a:fillRect/>
          </a:stretch>
        </p:blipFill>
        <p:spPr>
          <a:xfrm>
            <a:off x="774496" y="1922907"/>
            <a:ext cx="1534160" cy="314960"/>
          </a:xfrm>
          <a:prstGeom prst="rect">
            <a:avLst/>
          </a:prstGeom>
        </p:spPr>
      </p:pic>
      <p:sp>
        <p:nvSpPr>
          <p:cNvPr id="9" name="TextBox 8"/>
          <p:cNvSpPr txBox="1"/>
          <p:nvPr/>
        </p:nvSpPr>
        <p:spPr>
          <a:xfrm>
            <a:off x="774496" y="2329307"/>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三角自己注意（starting node）</a:t>
            </a:r>
          </a:p>
        </p:txBody>
      </p:sp>
      <p:pic>
        <p:nvPicPr>
          <p:cNvPr id="10" name="Picture 9" descr="a_{ijk} = \text{softmax}_{k}\left(\frac{\mathbf{q}_{ij}\cdot\mathbf{k}_{ik}}{\sqrt{c}} + b_{jk}\right)"/>
          <p:cNvPicPr>
            <a:picLocks noChangeAspect="1"/>
          </p:cNvPicPr>
          <p:nvPr/>
        </p:nvPicPr>
        <p:blipFill>
          <a:blip r:embed="rId4"/>
          <a:stretch>
            <a:fillRect/>
          </a:stretch>
        </p:blipFill>
        <p:spPr>
          <a:xfrm>
            <a:off x="774496" y="2716022"/>
            <a:ext cx="3383280" cy="757936"/>
          </a:xfrm>
          <a:prstGeom prst="rect">
            <a:avLst/>
          </a:prstGeom>
        </p:spPr>
      </p:pic>
      <p:sp>
        <p:nvSpPr>
          <p:cNvPr id="11" name="TextBox 10"/>
          <p:cNvSpPr txBox="1"/>
          <p:nvPr/>
        </p:nvSpPr>
        <p:spPr>
          <a:xfrm>
            <a:off x="774496" y="3565398"/>
            <a:ext cx="579729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対 </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i</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j</a:t>
            </a:r>
            <a:r>
              <a:rPr sz="1400" b="0" i="0" lang="ja-JP" altLang="en-US">
                <a:solidFill>
                  <a:srgbClr val="333333"/>
                </a:solidFill>
                <a:latin typeface="Cambria Math"/>
                <a:ea typeface="Noto Sans JP"/>
              </a:rPr>
              <a:t>)</a:t>
            </a:r>
            <a:r>
              <a:rPr sz="1400" b="0" lang="ja-JP" altLang="en-US">
                <a:solidFill>
                  <a:srgbClr val="333333"/>
                </a:solidFill>
                <a:latin typeface="Noto Sans JP"/>
                <a:ea typeface="Noto Sans JP"/>
              </a:rPr>
              <a:t> のクエリと対 </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i</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k</a:t>
            </a:r>
            <a:r>
              <a:rPr sz="1400" b="0" i="0" lang="ja-JP" altLang="en-US">
                <a:solidFill>
                  <a:srgbClr val="333333"/>
                </a:solidFill>
                <a:latin typeface="Cambria Math"/>
                <a:ea typeface="Noto Sans JP"/>
              </a:rPr>
              <a:t>)</a:t>
            </a:r>
            <a:r>
              <a:rPr sz="1400" b="0" lang="ja-JP" altLang="en-US">
                <a:solidFill>
                  <a:srgbClr val="333333"/>
                </a:solidFill>
                <a:latin typeface="Noto Sans JP"/>
                <a:ea typeface="Noto Sans JP"/>
              </a:rPr>
              <a:t> のキーを比べるとき、残りの辺 </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j</a:t>
            </a:r>
            <a:r>
              <a:rPr sz="1400" b="0" i="0" lang="ja-JP" altLang="en-US">
                <a:solidFill>
                  <a:srgbClr val="333333"/>
                </a:solidFill>
                <a:latin typeface="Cambria Math"/>
                <a:ea typeface="Noto Sans JP"/>
              </a:rPr>
              <a:t>,</a:t>
            </a:r>
            <a:r>
              <a:rPr sz="1400" b="0" i="1" lang="ja-JP" altLang="en-US">
                <a:solidFill>
                  <a:srgbClr val="333333"/>
                </a:solidFill>
                <a:latin typeface="Cambria Math"/>
                <a:ea typeface="Noto Sans JP"/>
              </a:rPr>
              <a:t>k</a:t>
            </a:r>
            <a:r>
              <a:rPr sz="1400" b="0" i="0" lang="ja-JP" altLang="en-US">
                <a:solidFill>
                  <a:srgbClr val="333333"/>
                </a:solidFill>
                <a:latin typeface="Cambria Math"/>
                <a:ea typeface="Noto Sans JP"/>
              </a:rPr>
              <a:t>)</a:t>
            </a:r>
            <a:r>
              <a:rPr sz="1400" b="0" lang="ja-JP" altLang="en-US">
                <a:solidFill>
                  <a:srgbClr val="333333"/>
                </a:solidFill>
                <a:latin typeface="Noto Sans JP"/>
                <a:ea typeface="Noto Sans JP"/>
              </a:rPr>
              <a:t> のバイアスを足す。逆向きの ending node の計算も行う。</a:t>
            </a:r>
          </a:p>
        </p:txBody>
      </p:sp>
      <p:sp>
        <p:nvSpPr>
          <p:cNvPr id="12" name="Rounded Rectangle 11"/>
          <p:cNvSpPr/>
          <p:nvPr/>
        </p:nvSpPr>
        <p:spPr>
          <a:xfrm>
            <a:off x="609904" y="4434840"/>
            <a:ext cx="6126480" cy="1855596"/>
          </a:xfrm>
          <a:prstGeom prst="roundRect">
            <a:avLst>
              <a:gd name="adj" fmla="val 5913"/>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599431"/>
            <a:ext cx="579729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補足：三角乗法更新（簡略化）</a:t>
            </a:r>
          </a:p>
        </p:txBody>
      </p:sp>
      <p:pic>
        <p:nvPicPr>
          <p:cNvPr id="14" name="Picture 13" descr="\mathbf{p}_{ij} \leftarrow \mathbf{p}_{ij} + \sum_{k} \mathbf{a}_{ik} \odot \mathbf{b}_{jk}"/>
          <p:cNvPicPr>
            <a:picLocks noChangeAspect="1"/>
          </p:cNvPicPr>
          <p:nvPr/>
        </p:nvPicPr>
        <p:blipFill>
          <a:blip r:embed="rId5"/>
          <a:stretch>
            <a:fillRect/>
          </a:stretch>
        </p:blipFill>
        <p:spPr>
          <a:xfrm>
            <a:off x="774496" y="4986146"/>
            <a:ext cx="2253488" cy="499871"/>
          </a:xfrm>
          <a:prstGeom prst="rect">
            <a:avLst/>
          </a:prstGeom>
        </p:spPr>
      </p:pic>
      <p:sp>
        <p:nvSpPr>
          <p:cNvPr id="15" name="TextBox 14"/>
          <p:cNvSpPr txBox="1"/>
          <p:nvPr/>
        </p:nvSpPr>
        <p:spPr>
          <a:xfrm>
            <a:off x="774496" y="5577458"/>
            <a:ext cx="5797296" cy="548386"/>
          </a:xfrm>
          <a:prstGeom prst="rect">
            <a:avLst/>
          </a:prstGeom>
          <a:noFill/>
        </p:spPr>
        <p:txBody>
          <a:bodyPr wrap="square" lIns="0" rIns="0" tIns="0" bIns="0" anchor="t">
            <a:noAutofit/>
          </a:bodyPr>
          <a:lstStyle/>
          <a:p>
            <a:pPr algn="l">
              <a:lnSpc>
                <a:spcPts val="2015"/>
              </a:lnSpc>
            </a:pPr>
            <a:r>
              <a:rPr sz="1300" b="0" lang="ja-JP" altLang="en-US">
                <a:solidFill>
                  <a:srgbClr val="333333"/>
                </a:solidFill>
                <a:latin typeface="Noto Sans JP"/>
                <a:ea typeface="Noto Sans JP"/>
              </a:rPr>
              <a:t>⊙：成分ごとの積。辺 </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i</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k</a:t>
            </a:r>
            <a:r>
              <a:rPr sz="1300" b="0" i="0" lang="ja-JP" altLang="en-US">
                <a:solidFill>
                  <a:srgbClr val="333333"/>
                </a:solidFill>
                <a:latin typeface="Cambria Math"/>
                <a:ea typeface="Noto Sans JP"/>
              </a:rPr>
              <a:t>)</a:t>
            </a:r>
            <a:r>
              <a:rPr sz="1300" b="0" lang="ja-JP" altLang="en-US">
                <a:solidFill>
                  <a:srgbClr val="333333"/>
                </a:solidFill>
                <a:latin typeface="Noto Sans JP"/>
                <a:ea typeface="Noto Sans JP"/>
              </a:rPr>
              <a:t> と </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j</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k</a:t>
            </a:r>
            <a:r>
              <a:rPr sz="1300" b="0" i="0" lang="ja-JP" altLang="en-US">
                <a:solidFill>
                  <a:srgbClr val="333333"/>
                </a:solidFill>
                <a:latin typeface="Cambria Math"/>
                <a:ea typeface="Noto Sans JP"/>
              </a:rPr>
              <a:t>)</a:t>
            </a:r>
            <a:r>
              <a:rPr sz="1300" b="0" lang="ja-JP" altLang="en-US">
                <a:solidFill>
                  <a:srgbClr val="333333"/>
                </a:solidFill>
                <a:latin typeface="Noto Sans JP"/>
                <a:ea typeface="Noto Sans JP"/>
              </a:rPr>
              <a:t> の情報を、</a:t>
            </a:r>
            <a:r>
              <a:rPr sz="1300" b="0" i="1" lang="ja-JP" altLang="en-US">
                <a:solidFill>
                  <a:srgbClr val="333333"/>
                </a:solidFill>
                <a:latin typeface="Cambria Math"/>
                <a:ea typeface="Noto Sans JP"/>
              </a:rPr>
              <a:t>k</a:t>
            </a:r>
            <a:r>
              <a:rPr sz="1300" b="0" lang="ja-JP" altLang="en-US">
                <a:solidFill>
                  <a:srgbClr val="333333"/>
                </a:solidFill>
                <a:latin typeface="Noto Sans JP"/>
                <a:ea typeface="Noto Sans JP"/>
              </a:rPr>
              <a:t> について集めて </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i</a:t>
            </a:r>
            <a:r>
              <a:rPr sz="1300" b="0" i="0" lang="ja-JP" altLang="en-US">
                <a:solidFill>
                  <a:srgbClr val="333333"/>
                </a:solidFill>
                <a:latin typeface="Cambria Math"/>
                <a:ea typeface="Noto Sans JP"/>
              </a:rPr>
              <a:t>,</a:t>
            </a:r>
            <a:r>
              <a:rPr sz="1300" b="0" i="1" lang="ja-JP" altLang="en-US">
                <a:solidFill>
                  <a:srgbClr val="333333"/>
                </a:solidFill>
                <a:latin typeface="Cambria Math"/>
                <a:ea typeface="Noto Sans JP"/>
              </a:rPr>
              <a:t>j</a:t>
            </a:r>
            <a:r>
              <a:rPr sz="1300" b="0" i="0" lang="ja-JP" altLang="en-US">
                <a:solidFill>
                  <a:srgbClr val="333333"/>
                </a:solidFill>
                <a:latin typeface="Cambria Math"/>
                <a:ea typeface="Noto Sans JP"/>
              </a:rPr>
              <a:t>)</a:t>
            </a:r>
            <a:r>
              <a:rPr sz="1300" b="0" lang="ja-JP" altLang="en-US">
                <a:solidFill>
                  <a:srgbClr val="333333"/>
                </a:solidFill>
                <a:latin typeface="Noto Sans JP"/>
                <a:ea typeface="Noto Sans JP"/>
              </a:rPr>
              <a:t> に足す。</a:t>
            </a:r>
          </a:p>
        </p:txBody>
      </p:sp>
      <p:pic>
        <p:nvPicPr>
          <p:cNvPr id="16" name="Picture 15" descr="sch_triangle.png"/>
          <p:cNvPicPr>
            <a:picLocks noChangeAspect="1"/>
          </p:cNvPicPr>
          <p:nvPr/>
        </p:nvPicPr>
        <p:blipFill>
          <a:blip r:embed="rId6"/>
          <a:stretch>
            <a:fillRect/>
          </a:stretch>
        </p:blipFill>
        <p:spPr>
          <a:xfrm>
            <a:off x="7010704" y="1737360"/>
            <a:ext cx="4571085" cy="3893887"/>
          </a:xfrm>
          <a:prstGeom prst="rect">
            <a:avLst/>
          </a:prstGeom>
        </p:spPr>
      </p:pic>
      <p:sp>
        <p:nvSpPr>
          <p:cNvPr id="17" name="TextBox 16"/>
          <p:cNvSpPr txBox="1"/>
          <p:nvPr/>
        </p:nvSpPr>
        <p:spPr>
          <a:xfrm>
            <a:off x="685800" y="6199632"/>
            <a:ext cx="10789920" cy="256032"/>
          </a:xfrm>
          <a:prstGeom prst="rect">
            <a:avLst/>
          </a:prstGeom>
          <a:noFill/>
        </p:spPr>
        <p:txBody>
          <a:bodyPr wrap="square" lIns="0" rIns="0" tIns="0" bIns="0" anchor="t">
            <a:noAutofit/>
          </a:bodyPr>
          <a:lstStyle/>
          <a:p>
            <a:pPr algn="l">
              <a:lnSpc>
                <a:spcPts val="1679"/>
              </a:lnSpc>
            </a:pPr>
            <a:r>
              <a:rPr sz="1200" b="0" lang="ja-JP" altLang="en-US">
                <a:solidFill>
                  <a:srgbClr val="333333"/>
                </a:solidFill>
                <a:latin typeface="Noto Sans JP"/>
                <a:ea typeface="Noto Sans JP"/>
              </a:rPr>
              <a:t>三角不等式を厳密に課す処理ではなく、三残基の関係を使って学習する仕組み。</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内部座標は結合に沿って構造を表す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23 / 36</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三次元座標の代わりに、結合長、結合角、二面角を使います。主鎖ではφがN–Cα、ψがCα–C、ωがペプチド結合周りの回転を表します。</a:t>
            </a:r>
          </a:p>
        </p:txBody>
      </p:sp>
      <p:pic>
        <p:nvPicPr>
          <p:cNvPr id="7" name="Picture 6" descr="X=\mathcal F(\{\ell_i\},\{\alpha_i\},\{\theta_i\}),\qquad\mathcal F_{\rm end}(\boldsymbol\theta)=X_{\rm anchor}"/>
          <p:cNvPicPr>
            <a:picLocks noChangeAspect="1"/>
          </p:cNvPicPr>
          <p:nvPr/>
        </p:nvPicPr>
        <p:blipFill>
          <a:blip r:embed="rId3"/>
          <a:stretch>
            <a:fillRect/>
          </a:stretch>
        </p:blipFill>
        <p:spPr>
          <a:xfrm>
            <a:off x="4036686" y="2110232"/>
            <a:ext cx="4115578" cy="217335"/>
          </a:xfrm>
          <a:prstGeom prst="rect">
            <a:avLst/>
          </a:prstGeom>
        </p:spPr>
      </p:pic>
      <p:pic>
        <p:nvPicPr>
          <p:cNvPr id="8" name="Picture 7" descr="\ell_i=\|r_{i+1}-r_i\|,\quad\alpha_i=\cos^{-1}\frac{(r_{i-1}-r_i)\cdot(r_{i+1}-r_i)}{\ell_{i-1}\ell_i}"/>
          <p:cNvPicPr>
            <a:picLocks noChangeAspect="1"/>
          </p:cNvPicPr>
          <p:nvPr/>
        </p:nvPicPr>
        <p:blipFill>
          <a:blip r:embed="rId4"/>
          <a:stretch>
            <a:fillRect/>
          </a:stretch>
        </p:blipFill>
        <p:spPr>
          <a:xfrm>
            <a:off x="3729657" y="2437295"/>
            <a:ext cx="4729637" cy="534714"/>
          </a:xfrm>
          <a:prstGeom prst="rect">
            <a:avLst/>
          </a:prstGeom>
        </p:spPr>
      </p:pic>
      <p:pic>
        <p:nvPicPr>
          <p:cNvPr id="9" name="Picture 8" descr="e_1=\frac{r_i-r_{i-1}}{\|r_i-r_{i-1}\|},\quad b=r_{i-2}-r_{i-1},\quad v=b-(b\cdot e_1)e_1"/>
          <p:cNvPicPr>
            <a:picLocks noChangeAspect="1"/>
          </p:cNvPicPr>
          <p:nvPr/>
        </p:nvPicPr>
        <p:blipFill>
          <a:blip r:embed="rId5"/>
          <a:stretch>
            <a:fillRect/>
          </a:stretch>
        </p:blipFill>
        <p:spPr>
          <a:xfrm>
            <a:off x="3600290" y="3081738"/>
            <a:ext cx="4988370" cy="476068"/>
          </a:xfrm>
          <a:prstGeom prst="rect">
            <a:avLst/>
          </a:prstGeom>
        </p:spPr>
      </p:pic>
      <p:pic>
        <p:nvPicPr>
          <p:cNvPr id="10" name="Picture 9" descr="e_2=v/\|v\|,\quad e_3=e_1\times e_2,\quad [e_1\ e_2\ e_3]\in SO(3)"/>
          <p:cNvPicPr>
            <a:picLocks noChangeAspect="1"/>
          </p:cNvPicPr>
          <p:nvPr/>
        </p:nvPicPr>
        <p:blipFill>
          <a:blip r:embed="rId6"/>
          <a:stretch>
            <a:fillRect/>
          </a:stretch>
        </p:blipFill>
        <p:spPr>
          <a:xfrm>
            <a:off x="3919394" y="3667534"/>
            <a:ext cx="4350162" cy="217335"/>
          </a:xfrm>
          <a:prstGeom prst="rect">
            <a:avLst/>
          </a:prstGeom>
        </p:spPr>
      </p:pic>
      <p:pic>
        <p:nvPicPr>
          <p:cNvPr id="11" name="Picture 10" descr="r_{i+1}=r_i+\ell_i[-\cos\alpha_i\,e_1+\sin\alpha_i(\cos\theta_i\,e_2+\sin\theta_i\,e_3)]"/>
          <p:cNvPicPr>
            <a:picLocks noChangeAspect="1"/>
          </p:cNvPicPr>
          <p:nvPr/>
        </p:nvPicPr>
        <p:blipFill>
          <a:blip r:embed="rId7"/>
          <a:stretch>
            <a:fillRect/>
          </a:stretch>
        </p:blipFill>
        <p:spPr>
          <a:xfrm>
            <a:off x="3648587" y="3994598"/>
            <a:ext cx="4891777" cy="220785"/>
          </a:xfrm>
          <a:prstGeom prst="rect">
            <a:avLst/>
          </a:prstGeom>
        </p:spPr>
      </p:pic>
      <p:sp>
        <p:nvSpPr>
          <p:cNvPr id="12" name="TextBox 11"/>
          <p:cNvSpPr txBox="1"/>
          <p:nvPr/>
        </p:nvSpPr>
        <p:spPr>
          <a:xfrm>
            <a:off x="594360" y="4325112"/>
            <a:ext cx="5362955" cy="797814"/>
          </a:xfrm>
          <a:prstGeom prst="rect">
            <a:avLst/>
          </a:prstGeom>
          <a:noFill/>
        </p:spPr>
        <p:txBody>
          <a:bodyPr wrap="square" lIns="0" rIns="0" tIns="0" bIns="0" anchor="t">
            <a:noAutofit/>
          </a:bodyPr>
          <a:lstStyle/>
          <a:p>
            <a:pPr algn="l">
              <a:lnSpc>
                <a:spcPts val="1998"/>
              </a:lnSpc>
            </a:pPr>
            <a:r>
              <a:rPr sz="1350" b="0" lang="ja-JP" altLang="en-US">
                <a:solidFill>
                  <a:srgbClr val="333333"/>
                </a:solidFill>
                <a:latin typeface="Noto Sans JP"/>
                <a:ea typeface="Noto Sans JP"/>
              </a:rPr>
              <a:t>結合長と結合角を固定する近似では、主な自由度を二面角へ集中できます。ただし自由度を減らすことと、実際の振動が存在しないことは異なります。</a:t>
            </a:r>
          </a:p>
        </p:txBody>
      </p:sp>
      <p:sp>
        <p:nvSpPr>
          <p:cNvPr id="13" name="TextBox 12"/>
          <p:cNvSpPr txBox="1"/>
          <p:nvPr/>
        </p:nvSpPr>
        <p:spPr>
          <a:xfrm>
            <a:off x="594360" y="5232654"/>
            <a:ext cx="5362955" cy="797814"/>
          </a:xfrm>
          <a:prstGeom prst="rect">
            <a:avLst/>
          </a:prstGeom>
          <a:noFill/>
        </p:spPr>
        <p:txBody>
          <a:bodyPr wrap="square" lIns="0" rIns="0" tIns="0" bIns="0" anchor="t">
            <a:noAutofit/>
          </a:bodyPr>
          <a:lstStyle/>
          <a:p>
            <a:pPr algn="l">
              <a:lnSpc>
                <a:spcPts val="1998"/>
              </a:lnSpc>
            </a:pPr>
            <a:r>
              <a:rPr sz="1350" b="0" lang="ja-JP" altLang="en-US">
                <a:solidFill>
                  <a:srgbClr val="333333"/>
                </a:solidFill>
                <a:latin typeface="Noto Sans JP"/>
                <a:ea typeface="Noto Sans JP"/>
              </a:rPr>
              <a:t>ループでは両端が骨格に結び付いています。角度を独立にサンプリングすると、最後の残基が終端へ戻らないことがあります。閉鎖条件は位置と向きの制約です。</a:t>
            </a:r>
          </a:p>
        </p:txBody>
      </p:sp>
      <p:sp>
        <p:nvSpPr>
          <p:cNvPr id="14" name="TextBox 13"/>
          <p:cNvSpPr txBox="1"/>
          <p:nvPr/>
        </p:nvSpPr>
        <p:spPr>
          <a:xfrm>
            <a:off x="6231636" y="4622292"/>
            <a:ext cx="5362955" cy="1051560"/>
          </a:xfrm>
          <a:prstGeom prst="rect">
            <a:avLst/>
          </a:prstGeom>
          <a:noFill/>
        </p:spPr>
        <p:txBody>
          <a:bodyPr wrap="square" lIns="0" rIns="0" tIns="0" bIns="0" anchor="t">
            <a:noAutofit/>
          </a:bodyPr>
          <a:lstStyle/>
          <a:p>
            <a:pPr algn="l">
              <a:lnSpc>
                <a:spcPts val="1998"/>
              </a:lnSpc>
            </a:pPr>
            <a:r>
              <a:rPr sz="1350" b="0" lang="ja-JP" altLang="en-US">
                <a:solidFill>
                  <a:srgbClr val="333333"/>
                </a:solidFill>
                <a:latin typeface="Noto Sans JP"/>
                <a:ea typeface="Noto Sans JP"/>
              </a:rPr>
              <a:t>ここでθのゼロ方向は、前の三原子から作るe2です。e3=e1×e2で右手系を固定すると、この基底に対する符号付き二面角を定義できます。三原子が一直線、または結合長がゼロならこの基底は定義できません。</a:t>
            </a:r>
          </a:p>
        </p:txBody>
      </p:sp>
      <p:sp>
        <p:nvSpPr>
          <p:cNvPr id="15" name="TextBox 14"/>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出典：Jumper et al. (2021)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残基の局所座標系を作る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24 / 36</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Cαを原点、C方向を第1軸にします。N方向から第1軸成分を除いて第2軸を作り、外積で右手系の第3軸を作ります。</a:t>
            </a:r>
          </a:p>
        </p:txBody>
      </p:sp>
      <p:pic>
        <p:nvPicPr>
          <p:cNvPr id="7" name="Picture 6" descr="e_1={C-C_\alpha\over\|C-C_\alpha\|},\quad v=N-C_\alpha-[(N-C_\alpha)\cdot e_1]e_1"/>
          <p:cNvPicPr>
            <a:picLocks noChangeAspect="1"/>
          </p:cNvPicPr>
          <p:nvPr/>
        </p:nvPicPr>
        <p:blipFill>
          <a:blip r:embed="rId3"/>
          <a:stretch>
            <a:fillRect/>
          </a:stretch>
        </p:blipFill>
        <p:spPr>
          <a:xfrm>
            <a:off x="3418643" y="2110232"/>
            <a:ext cx="5351665" cy="609529"/>
          </a:xfrm>
          <a:prstGeom prst="rect">
            <a:avLst/>
          </a:prstGeom>
        </p:spPr>
      </p:pic>
      <p:pic>
        <p:nvPicPr>
          <p:cNvPr id="8" name="Picture 7" descr="e_2=v/\|v\|,\quad e_3=e_1\times e_2,\quad Q=[e_1\ e_2\ e_3]"/>
          <p:cNvPicPr>
            <a:picLocks noChangeAspect="1"/>
          </p:cNvPicPr>
          <p:nvPr/>
        </p:nvPicPr>
        <p:blipFill>
          <a:blip r:embed="rId4"/>
          <a:stretch>
            <a:fillRect/>
          </a:stretch>
        </p:blipFill>
        <p:spPr>
          <a:xfrm>
            <a:off x="3768106" y="2829489"/>
            <a:ext cx="4652738" cy="251938"/>
          </a:xfrm>
          <a:prstGeom prst="rect">
            <a:avLst/>
          </a:prstGeom>
        </p:spPr>
      </p:pic>
      <p:pic>
        <p:nvPicPr>
          <p:cNvPr id="9" name="Picture 8" descr="z_{ij}=Q_i^T(x_j-C_{\alpha,i})"/>
          <p:cNvPicPr>
            <a:picLocks noChangeAspect="1"/>
          </p:cNvPicPr>
          <p:nvPr/>
        </p:nvPicPr>
        <p:blipFill>
          <a:blip r:embed="rId5"/>
          <a:stretch>
            <a:fillRect/>
          </a:stretch>
        </p:blipFill>
        <p:spPr>
          <a:xfrm>
            <a:off x="5070467" y="3191155"/>
            <a:ext cx="2048017" cy="321018"/>
          </a:xfrm>
          <a:prstGeom prst="rect">
            <a:avLst/>
          </a:prstGeom>
        </p:spPr>
      </p:pic>
      <p:pic>
        <p:nvPicPr>
          <p:cNvPr id="10" name="Picture 9" descr="Q_i^TQ_i=I,\quad\det Q_i=1,\quad x_j=t_i+Q_iz_{ij}"/>
          <p:cNvPicPr>
            <a:picLocks noChangeAspect="1"/>
          </p:cNvPicPr>
          <p:nvPr/>
        </p:nvPicPr>
        <p:blipFill>
          <a:blip r:embed="rId6"/>
          <a:stretch>
            <a:fillRect/>
          </a:stretch>
        </p:blipFill>
        <p:spPr>
          <a:xfrm>
            <a:off x="3898139" y="3621902"/>
            <a:ext cx="4392672" cy="321018"/>
          </a:xfrm>
          <a:prstGeom prst="rect">
            <a:avLst/>
          </a:prstGeom>
        </p:spPr>
      </p:pic>
      <p:pic>
        <p:nvPicPr>
          <p:cNvPr id="11" name="Picture 10" descr="\widetilde Q_i=RQ_i,\quad\widetilde t_i=Rt_i+t,\quad\widetilde x_j=Rx_j+t"/>
          <p:cNvPicPr>
            <a:picLocks noChangeAspect="1"/>
          </p:cNvPicPr>
          <p:nvPr/>
        </p:nvPicPr>
        <p:blipFill>
          <a:blip r:embed="rId7"/>
          <a:stretch>
            <a:fillRect/>
          </a:stretch>
        </p:blipFill>
        <p:spPr>
          <a:xfrm>
            <a:off x="3934711" y="4052648"/>
            <a:ext cx="4319529" cy="337272"/>
          </a:xfrm>
          <a:prstGeom prst="rect">
            <a:avLst/>
          </a:prstGeom>
        </p:spPr>
      </p:pic>
      <p:pic>
        <p:nvPicPr>
          <p:cNvPr id="12" name="Picture 11" descr="\widetilde Q_i^T(\widetilde x_j-\widetilde t_i)=Q_i^TR^TR(x_j-t_i)=z_{ij}"/>
          <p:cNvPicPr>
            <a:picLocks noChangeAspect="1"/>
          </p:cNvPicPr>
          <p:nvPr/>
        </p:nvPicPr>
        <p:blipFill>
          <a:blip r:embed="rId8"/>
          <a:stretch>
            <a:fillRect/>
          </a:stretch>
        </p:blipFill>
        <p:spPr>
          <a:xfrm>
            <a:off x="4200872" y="4499649"/>
            <a:ext cx="3787207" cy="341336"/>
          </a:xfrm>
          <a:prstGeom prst="rect">
            <a:avLst/>
          </a:prstGeom>
        </p:spPr>
      </p:pic>
      <p:sp>
        <p:nvSpPr>
          <p:cNvPr id="13" name="TextBox 12"/>
          <p:cNvSpPr txBox="1"/>
          <p:nvPr/>
        </p:nvSpPr>
        <p:spPr>
          <a:xfrm>
            <a:off x="594360" y="5005578"/>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全体の座標が回転しても、同じ残基の座標系で見た相対位置は変わりません。局所座標系を使う誤差は、骨格のどこから相手を見ているかを保持できます。</a:t>
            </a:r>
          </a:p>
        </p:txBody>
      </p:sp>
      <p:sp>
        <p:nvSpPr>
          <p:cNvPr id="14" name="TextBox 13"/>
          <p:cNvSpPr txBox="1"/>
          <p:nvPr/>
        </p:nvSpPr>
        <p:spPr>
          <a:xfrm>
            <a:off x="6231636" y="5005578"/>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N、Cα、Cが一直線に近いと基底が不安定になります。入力の結合形状を先に検査し、欠損原子のある残基はマスクします。</a:t>
            </a:r>
          </a:p>
        </p:txBody>
      </p:sp>
      <p:sp>
        <p:nvSpPr>
          <p:cNvPr id="15" name="TextBox 14"/>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出典：Jumper et al. (2021)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01 構造を何で表すか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不変性と同変性を使い分ける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25 / 36</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不変な表現は全体の回転・並進を無視します。比較用の距離やスカラーの性質予測に便利です。同変な出力は、入力を回すと同じように回ります。</a:t>
            </a:r>
          </a:p>
        </p:txBody>
      </p:sp>
      <p:pic>
        <p:nvPicPr>
          <p:cNvPr id="7" name="Picture 6" descr="f(XR^T+\mathbf1t^T)=f(X)\quad\text{(invariant)}"/>
          <p:cNvPicPr>
            <a:picLocks noChangeAspect="1"/>
          </p:cNvPicPr>
          <p:nvPr/>
        </p:nvPicPr>
        <p:blipFill>
          <a:blip r:embed="rId3"/>
          <a:stretch>
            <a:fillRect/>
          </a:stretch>
        </p:blipFill>
        <p:spPr>
          <a:xfrm>
            <a:off x="4179089" y="2554456"/>
            <a:ext cx="3830773" cy="273335"/>
          </a:xfrm>
          <a:prstGeom prst="rect">
            <a:avLst/>
          </a:prstGeom>
        </p:spPr>
      </p:pic>
      <p:pic>
        <p:nvPicPr>
          <p:cNvPr id="8" name="Picture 7" descr="g(XR^T+\mathbf1t^T)=g(X)R^T+\mathbf1t^T\quad\text{(coordinate equivariant)}"/>
          <p:cNvPicPr>
            <a:picLocks noChangeAspect="1"/>
          </p:cNvPicPr>
          <p:nvPr/>
        </p:nvPicPr>
        <p:blipFill>
          <a:blip r:embed="rId4"/>
          <a:stretch>
            <a:fillRect/>
          </a:stretch>
        </p:blipFill>
        <p:spPr>
          <a:xfrm>
            <a:off x="2967439" y="2937519"/>
            <a:ext cx="6254073" cy="273335"/>
          </a:xfrm>
          <a:prstGeom prst="rect">
            <a:avLst/>
          </a:prstGeom>
        </p:spPr>
      </p:pic>
      <p:pic>
        <p:nvPicPr>
          <p:cNvPr id="9" name="Picture 8" descr="SO(3)=\{R:R^TR=I,\det R=1\},\quad SE(3)=SO(3)\ltimes\mathbb R^3"/>
          <p:cNvPicPr>
            <a:picLocks noChangeAspect="1"/>
          </p:cNvPicPr>
          <p:nvPr/>
        </p:nvPicPr>
        <p:blipFill>
          <a:blip r:embed="rId5"/>
          <a:stretch>
            <a:fillRect/>
          </a:stretch>
        </p:blipFill>
        <p:spPr>
          <a:xfrm>
            <a:off x="2945001" y="3320583"/>
            <a:ext cx="6298949" cy="269255"/>
          </a:xfrm>
          <a:prstGeom prst="rect">
            <a:avLst/>
          </a:prstGeom>
        </p:spPr>
      </p:pic>
      <p:pic>
        <p:nvPicPr>
          <p:cNvPr id="10" name="Picture 9" descr="\|Rx_i+t-(Rx_j+t)\|=\|x_i-x_j\|"/>
          <p:cNvPicPr>
            <a:picLocks noChangeAspect="1"/>
          </p:cNvPicPr>
          <p:nvPr/>
        </p:nvPicPr>
        <p:blipFill>
          <a:blip r:embed="rId6"/>
          <a:stretch>
            <a:fillRect/>
          </a:stretch>
        </p:blipFill>
        <p:spPr>
          <a:xfrm>
            <a:off x="4266801" y="3699566"/>
            <a:ext cx="3655349" cy="293733"/>
          </a:xfrm>
          <a:prstGeom prst="rect">
            <a:avLst/>
          </a:prstGeom>
        </p:spPr>
      </p:pic>
      <p:pic>
        <p:nvPicPr>
          <p:cNvPr id="11" name="Picture 10" descr="(Rx_i+t)-(Rx_j+t)=R(x_i-x_j)"/>
          <p:cNvPicPr>
            <a:picLocks noChangeAspect="1"/>
          </p:cNvPicPr>
          <p:nvPr/>
        </p:nvPicPr>
        <p:blipFill>
          <a:blip r:embed="rId7"/>
          <a:stretch>
            <a:fillRect/>
          </a:stretch>
        </p:blipFill>
        <p:spPr>
          <a:xfrm>
            <a:off x="4234164" y="4103028"/>
            <a:ext cx="3720623" cy="293733"/>
          </a:xfrm>
          <a:prstGeom prst="rect">
            <a:avLst/>
          </a:prstGeom>
        </p:spPr>
      </p:pic>
      <p:sp>
        <p:nvSpPr>
          <p:cNvPr id="12" name="TextBox 11"/>
          <p:cNvSpPr txBox="1"/>
          <p:nvPr/>
        </p:nvSpPr>
        <p:spPr>
          <a:xfrm>
            <a:off x="594360" y="5005578"/>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回転を無視することと、内部変形を無視することは違います。例えばループを骨格に対して回すと内部配置が変わるので、検出すべき変化です。</a:t>
            </a:r>
          </a:p>
        </p:txBody>
      </p:sp>
      <p:sp>
        <p:nvSpPr>
          <p:cNvPr id="13" name="TextBox 12"/>
          <p:cNvSpPr txBox="1"/>
          <p:nvPr/>
        </p:nvSpPr>
        <p:spPr>
          <a:xfrm>
            <a:off x="6231636" y="5005578"/>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左右の鏡像まで同じとするO(3)不変量か、正しい回転だけを除くSO(3)/SE(3)かを明示します。タンパク質ではキラリティを区別する必要があります。</a:t>
            </a:r>
          </a:p>
        </p:txBody>
      </p:sp>
      <p:sp>
        <p:nvSpPr>
          <p:cNvPr id="14" name="TextBox 13"/>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出典：Jumper et al. (2021) / Sverrisson et al. (2021)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Structure Module：残基ガスで主鎖を表す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26 / 36</a:t>
            </a:r>
          </a:p>
        </p:txBody>
      </p:sp>
      <p:pic>
        <p:nvPicPr>
          <p:cNvPr id="6" name="Picture 5" descr="af2_residue_gas.png"/>
          <p:cNvPicPr>
            <a:picLocks noChangeAspect="1"/>
          </p:cNvPicPr>
          <p:nvPr/>
        </p:nvPicPr>
        <p:blipFill>
          <a:blip r:embed="rId3"/>
          <a:stretch>
            <a:fillRect/>
          </a:stretch>
        </p:blipFill>
        <p:spPr>
          <a:xfrm>
            <a:off x="4771789" y="1371600"/>
            <a:ext cx="2648117" cy="2100072"/>
          </a:xfrm>
          <a:prstGeom prst="rect">
            <a:avLst/>
          </a:prstGeom>
        </p:spPr>
      </p:pic>
      <p:sp>
        <p:nvSpPr>
          <p:cNvPr id="7" name="TextBox 6"/>
          <p:cNvSpPr txBox="1"/>
          <p:nvPr/>
        </p:nvSpPr>
        <p:spPr>
          <a:xfrm>
            <a:off x="609904" y="3517392"/>
            <a:ext cx="10971885"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残基ガス。上：残基ごとの剛体（三角形）、下：原子の構造（Jumper ら, Nature 596:583 (2021) Fig. 3e を切り出し、CC BY 4.0）</a:t>
            </a:r>
          </a:p>
        </p:txBody>
      </p:sp>
      <p:sp>
        <p:nvSpPr>
          <p:cNvPr id="8" name="Rounded Rectangle 7"/>
          <p:cNvSpPr/>
          <p:nvPr/>
        </p:nvSpPr>
        <p:spPr>
          <a:xfrm>
            <a:off x="609904" y="3931920"/>
            <a:ext cx="5348782" cy="1669414"/>
          </a:xfrm>
          <a:prstGeom prst="roundRect">
            <a:avLst>
              <a:gd name="adj" fmla="val 6572"/>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4496" y="409651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局所フレーム</a:t>
            </a:r>
          </a:p>
        </p:txBody>
      </p:sp>
      <p:pic>
        <p:nvPicPr>
          <p:cNvPr id="10" name="Picture 9" descr="T_{i} = (R_{i}, \mathbf{t}_{i}), \qquad T_{i} \circ \mathbf{x} = R_{i}\,\mathbf{x} + \mathbf{t}_{i}"/>
          <p:cNvPicPr>
            <a:picLocks noChangeAspect="1"/>
          </p:cNvPicPr>
          <p:nvPr/>
        </p:nvPicPr>
        <p:blipFill>
          <a:blip r:embed="rId4"/>
          <a:stretch>
            <a:fillRect/>
          </a:stretch>
        </p:blipFill>
        <p:spPr>
          <a:xfrm>
            <a:off x="774496" y="4483227"/>
            <a:ext cx="3200400" cy="274320"/>
          </a:xfrm>
          <a:prstGeom prst="rect">
            <a:avLst/>
          </a:prstGeom>
        </p:spPr>
      </p:pic>
      <p:sp>
        <p:nvSpPr>
          <p:cNvPr id="11" name="TextBox 10"/>
          <p:cNvSpPr txBox="1"/>
          <p:nvPr/>
        </p:nvSpPr>
        <p:spPr>
          <a:xfrm>
            <a:off x="774496" y="4848987"/>
            <a:ext cx="5019598"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各残基の N–Cα–C を 1 つの剛体（三角形）とみなし、回転 </a:t>
            </a:r>
            <a:r>
              <a:rPr sz="1400" b="0" i="1" lang="ja-JP" altLang="en-US">
                <a:solidFill>
                  <a:srgbClr val="333333"/>
                </a:solidFill>
                <a:latin typeface="Cambria Math"/>
                <a:ea typeface="Noto Sans JP"/>
              </a:rPr>
              <a:t>R</a:t>
            </a:r>
            <a:r>
              <a:rPr sz="1400" b="0" i="1" baseline="-25000" lang="ja-JP" altLang="en-US">
                <a:solidFill>
                  <a:srgbClr val="333333"/>
                </a:solidFill>
                <a:latin typeface="Cambria Math"/>
                <a:ea typeface="Noto Sans JP"/>
              </a:rPr>
              <a:t>i</a:t>
            </a:r>
            <a:r>
              <a:rPr sz="1400" b="0" lang="ja-JP" altLang="en-US">
                <a:solidFill>
                  <a:srgbClr val="333333"/>
                </a:solidFill>
                <a:latin typeface="Noto Sans JP"/>
                <a:ea typeface="Noto Sans JP"/>
              </a:rPr>
              <a:t> と並進 </a:t>
            </a:r>
            <a:r>
              <a:rPr sz="1400" b="0" i="0" lang="ja-JP" altLang="en-US">
                <a:solidFill>
                  <a:srgbClr val="333333"/>
                </a:solidFill>
                <a:latin typeface="Cambria Math"/>
                <a:ea typeface="Noto Sans JP"/>
              </a:rPr>
              <a:t>𝐭</a:t>
            </a:r>
            <a:r>
              <a:rPr sz="1400" b="0" i="1" baseline="-25000" lang="ja-JP" altLang="en-US">
                <a:solidFill>
                  <a:srgbClr val="333333"/>
                </a:solidFill>
                <a:latin typeface="Cambria Math"/>
                <a:ea typeface="Noto Sans JP"/>
              </a:rPr>
              <a:t>i</a:t>
            </a:r>
            <a:r>
              <a:rPr sz="1400" b="0" lang="ja-JP" altLang="en-US">
                <a:solidFill>
                  <a:srgbClr val="333333"/>
                </a:solidFill>
                <a:latin typeface="Noto Sans JP"/>
                <a:ea typeface="Noto Sans JP"/>
              </a:rPr>
              <a:t> で置く。</a:t>
            </a:r>
          </a:p>
        </p:txBody>
      </p:sp>
      <p:sp>
        <p:nvSpPr>
          <p:cNvPr id="12" name="Rounded Rectangle 11"/>
          <p:cNvSpPr/>
          <p:nvPr/>
        </p:nvSpPr>
        <p:spPr>
          <a:xfrm>
            <a:off x="6233007" y="3931920"/>
            <a:ext cx="5348782" cy="1854835"/>
          </a:xfrm>
          <a:prstGeom prst="roundRect">
            <a:avLst>
              <a:gd name="adj" fmla="val 5915"/>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97599" y="409651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特徴</a:t>
            </a:r>
          </a:p>
        </p:txBody>
      </p:sp>
      <p:sp>
        <p:nvSpPr>
          <p:cNvPr id="14" name="TextBox 13"/>
          <p:cNvSpPr txBox="1"/>
          <p:nvPr/>
        </p:nvSpPr>
        <p:spPr>
          <a:xfrm>
            <a:off x="6397599" y="4483227"/>
            <a:ext cx="5019598" cy="113893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初めは全残基を原点に置く（ブラックホール初期化）。ペプチド結合の束縛はかけず、つながることは学習で身につける。二面角で表すときのような、鎖に沿った誤差の積み重ねがない。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Invariant Point Attention（IPA）</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27 / 36</a:t>
            </a:r>
          </a:p>
        </p:txBody>
      </p:sp>
      <p:sp>
        <p:nvSpPr>
          <p:cNvPr id="6" name="Rounded Rectangle 5"/>
          <p:cNvSpPr/>
          <p:nvPr/>
        </p:nvSpPr>
        <p:spPr>
          <a:xfrm>
            <a:off x="609904" y="1371600"/>
            <a:ext cx="10971885" cy="2376551"/>
          </a:xfrm>
          <a:prstGeom prst="roundRect">
            <a:avLst>
              <a:gd name="adj" fmla="val 461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1064270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IPA の重み</a:t>
            </a:r>
          </a:p>
        </p:txBody>
      </p:sp>
      <p:pic>
        <p:nvPicPr>
          <p:cNvPr id="8" name="Picture 7" descr="a_{ij}^{h} = \text{softmax}_{j}\left(w_{L}\left(\frac{\mathbf{q}_{i}^{h}\cdot\mathbf{k}_{j}^{h}}{\sqrt{c}} + b_{ij}^{h} - \frac{\gamma^{h} w_{C}}{2} \sum_{p} \left\| T_{i}\circ\mathbf{q}_{i}^{hp} - T_{j}\circ\mathbf{k}_{j}^{hp} \right\|^{2}\right)\right)"/>
          <p:cNvPicPr>
            <a:picLocks noChangeAspect="1"/>
          </p:cNvPicPr>
          <p:nvPr/>
        </p:nvPicPr>
        <p:blipFill>
          <a:blip r:embed="rId3"/>
          <a:stretch>
            <a:fillRect/>
          </a:stretch>
        </p:blipFill>
        <p:spPr>
          <a:xfrm>
            <a:off x="774496" y="1922907"/>
            <a:ext cx="7374127" cy="981455"/>
          </a:xfrm>
          <a:prstGeom prst="rect">
            <a:avLst/>
          </a:prstGeom>
        </p:spPr>
      </p:pic>
      <p:sp>
        <p:nvSpPr>
          <p:cNvPr id="9" name="TextBox 8"/>
          <p:cNvSpPr txBox="1"/>
          <p:nvPr/>
        </p:nvSpPr>
        <p:spPr>
          <a:xfrm>
            <a:off x="774496" y="2995803"/>
            <a:ext cx="1064270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前半：シングル表現とペア表現からの重み。後半：各残基から作った 3 次元の点 </a:t>
            </a:r>
            <a:r>
              <a:rPr sz="1400" b="0" i="0" lang="ja-JP" altLang="en-US">
                <a:solidFill>
                  <a:srgbClr val="333333"/>
                </a:solidFill>
                <a:latin typeface="Cambria Math"/>
                <a:ea typeface="Noto Sans JP"/>
              </a:rPr>
              <a:t>𝐪</a:t>
            </a:r>
            <a:r>
              <a:rPr sz="1400" b="0" i="1" baseline="-25000" lang="ja-JP" altLang="en-US">
                <a:solidFill>
                  <a:srgbClr val="333333"/>
                </a:solidFill>
                <a:latin typeface="Cambria Math"/>
                <a:ea typeface="Noto Sans JP"/>
              </a:rPr>
              <a:t>i</a:t>
            </a:r>
            <a:r>
              <a:rPr sz="1400" b="0" i="0" baseline="30000" lang="ja-JP" altLang="en-US">
                <a:solidFill>
                  <a:srgbClr val="333333"/>
                </a:solidFill>
                <a:latin typeface="Cambria Math"/>
                <a:ea typeface="Noto Sans JP"/>
              </a:rPr>
              <a:t>hp</a:t>
            </a:r>
            <a:r>
              <a:rPr sz="1400" b="0" i="0" lang="ja-JP" altLang="en-US">
                <a:solidFill>
                  <a:srgbClr val="333333"/>
                </a:solidFill>
                <a:latin typeface="Cambria Math"/>
                <a:ea typeface="Noto Sans JP"/>
              </a:rPr>
              <a:t>, 𝐤</a:t>
            </a:r>
            <a:r>
              <a:rPr sz="1400" b="0" i="1" baseline="-25000" lang="ja-JP" altLang="en-US">
                <a:solidFill>
                  <a:srgbClr val="333333"/>
                </a:solidFill>
                <a:latin typeface="Cambria Math"/>
                <a:ea typeface="Noto Sans JP"/>
              </a:rPr>
              <a:t>j</a:t>
            </a:r>
            <a:r>
              <a:rPr sz="1400" b="0" i="0" baseline="30000" lang="ja-JP" altLang="en-US">
                <a:solidFill>
                  <a:srgbClr val="333333"/>
                </a:solidFill>
                <a:latin typeface="Cambria Math"/>
                <a:ea typeface="Noto Sans JP"/>
              </a:rPr>
              <a:t>hp</a:t>
            </a:r>
            <a:r>
              <a:rPr sz="1400" b="0" lang="ja-JP" altLang="en-US">
                <a:solidFill>
                  <a:srgbClr val="333333"/>
                </a:solidFill>
                <a:latin typeface="Noto Sans JP"/>
                <a:ea typeface="Noto Sans JP"/>
              </a:rPr>
              <a:t>（</a:t>
            </a:r>
            <a:r>
              <a:rPr sz="1400" b="0" i="1" lang="ja-JP" altLang="en-US">
                <a:solidFill>
                  <a:srgbClr val="333333"/>
                </a:solidFill>
                <a:latin typeface="Cambria Math"/>
                <a:ea typeface="Noto Sans JP"/>
              </a:rPr>
              <a:t>p</a:t>
            </a:r>
            <a:r>
              <a:rPr sz="1400" b="0" lang="ja-JP" altLang="en-US">
                <a:solidFill>
                  <a:srgbClr val="333333"/>
                </a:solidFill>
                <a:latin typeface="Noto Sans JP"/>
                <a:ea typeface="Noto Sans JP"/>
              </a:rPr>
              <a:t> = 1, …, 4）を局所フレームで動かし、その距離で重みを下げる。</a:t>
            </a:r>
            <a:r>
              <a:rPr sz="1400" b="0" i="1" lang="ja-JP" altLang="en-US">
                <a:solidFill>
                  <a:srgbClr val="333333"/>
                </a:solidFill>
                <a:latin typeface="Cambria Math"/>
                <a:ea typeface="Noto Sans JP"/>
              </a:rPr>
              <a:t>h</a:t>
            </a:r>
            <a:r>
              <a:rPr sz="1400" b="0" lang="ja-JP" altLang="en-US">
                <a:solidFill>
                  <a:srgbClr val="333333"/>
                </a:solidFill>
                <a:latin typeface="Noto Sans JP"/>
                <a:ea typeface="Noto Sans JP"/>
              </a:rPr>
              <a:t>：ヘッド、</a:t>
            </a:r>
            <a:r>
              <a:rPr sz="1400" b="0" i="1" lang="ja-JP" altLang="en-US">
                <a:solidFill>
                  <a:srgbClr val="333333"/>
                </a:solidFill>
                <a:latin typeface="Cambria Math"/>
                <a:ea typeface="Noto Sans JP"/>
              </a:rPr>
              <a:t>w</a:t>
            </a:r>
            <a:r>
              <a:rPr sz="1400" b="0" i="1" baseline="-25000" lang="ja-JP" altLang="en-US">
                <a:solidFill>
                  <a:srgbClr val="333333"/>
                </a:solidFill>
                <a:latin typeface="Cambria Math"/>
                <a:ea typeface="Noto Sans JP"/>
              </a:rPr>
              <a:t>L</a:t>
            </a:r>
            <a:r>
              <a:rPr sz="1400" b="0" i="0" lang="ja-JP" altLang="en-US">
                <a:solidFill>
                  <a:srgbClr val="333333"/>
                </a:solidFill>
                <a:latin typeface="Cambria Math"/>
                <a:ea typeface="Noto Sans JP"/>
              </a:rPr>
              <a:t>, </a:t>
            </a:r>
            <a:r>
              <a:rPr sz="1400" b="0" i="1" lang="ja-JP" altLang="en-US">
                <a:solidFill>
                  <a:srgbClr val="333333"/>
                </a:solidFill>
                <a:latin typeface="Cambria Math"/>
                <a:ea typeface="Noto Sans JP"/>
              </a:rPr>
              <a:t>w</a:t>
            </a:r>
            <a:r>
              <a:rPr sz="1400" b="0" i="1" baseline="-25000" lang="ja-JP" altLang="en-US">
                <a:solidFill>
                  <a:srgbClr val="333333"/>
                </a:solidFill>
                <a:latin typeface="Cambria Math"/>
                <a:ea typeface="Noto Sans JP"/>
              </a:rPr>
              <a:t>C</a:t>
            </a:r>
            <a:r>
              <a:rPr sz="1400" b="0" lang="ja-JP" altLang="en-US">
                <a:solidFill>
                  <a:srgbClr val="333333"/>
                </a:solidFill>
                <a:latin typeface="Noto Sans JP"/>
                <a:ea typeface="Noto Sans JP"/>
              </a:rPr>
              <a:t>：スケールの係数、</a:t>
            </a:r>
            <a:r>
              <a:rPr sz="1400" b="0" i="1" lang="ja-JP" altLang="en-US">
                <a:solidFill>
                  <a:srgbClr val="333333"/>
                </a:solidFill>
                <a:latin typeface="Cambria Math"/>
                <a:ea typeface="Noto Sans JP"/>
              </a:rPr>
              <a:t>γ</a:t>
            </a:r>
            <a:r>
              <a:rPr sz="1400" b="0" i="1" baseline="30000" lang="ja-JP" altLang="en-US">
                <a:solidFill>
                  <a:srgbClr val="333333"/>
                </a:solidFill>
                <a:latin typeface="Cambria Math"/>
                <a:ea typeface="Noto Sans JP"/>
              </a:rPr>
              <a:t>h</a:t>
            </a:r>
            <a:r>
              <a:rPr sz="1400" b="0" lang="ja-JP" altLang="en-US">
                <a:solidFill>
                  <a:srgbClr val="333333"/>
                </a:solidFill>
                <a:latin typeface="Noto Sans JP"/>
                <a:ea typeface="Noto Sans JP"/>
              </a:rPr>
              <a:t>：学習で決まる。</a:t>
            </a:r>
          </a:p>
        </p:txBody>
      </p:sp>
      <p:sp>
        <p:nvSpPr>
          <p:cNvPr id="10" name="Rounded Rectangle 9"/>
          <p:cNvSpPr/>
          <p:nvPr/>
        </p:nvSpPr>
        <p:spPr>
          <a:xfrm>
            <a:off x="609904" y="3839590"/>
            <a:ext cx="10971885" cy="1499488"/>
          </a:xfrm>
          <a:prstGeom prst="roundRect">
            <a:avLst>
              <a:gd name="adj" fmla="val 731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4496" y="4004182"/>
            <a:ext cx="1064270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補足：全体を回転・並進 </a:t>
            </a:r>
            <a:r>
              <a:rPr sz="1500" b="0" i="1" lang="ja-JP" altLang="en-US">
                <a:solidFill>
                  <a:srgbClr val="1A1A1A"/>
                </a:solidFill>
                <a:latin typeface="Cambria Math"/>
                <a:ea typeface="Noto Sans JP"/>
              </a:rPr>
              <a:t>T</a:t>
            </a:r>
            <a:r>
              <a:rPr sz="1500" b="0" i="1" baseline="-25000" lang="ja-JP" altLang="en-US">
                <a:solidFill>
                  <a:srgbClr val="1A1A1A"/>
                </a:solidFill>
                <a:latin typeface="Cambria Math"/>
                <a:ea typeface="Noto Sans JP"/>
              </a:rPr>
              <a:t>g</a:t>
            </a:r>
            <a:r>
              <a:rPr sz="1500" b="0" i="0" lang="ja-JP" altLang="en-US">
                <a:solidFill>
                  <a:srgbClr val="1A1A1A"/>
                </a:solidFill>
                <a:latin typeface="Cambria Math"/>
                <a:ea typeface="Noto Sans JP"/>
              </a:rPr>
              <a:t> = (</a:t>
            </a:r>
            <a:r>
              <a:rPr sz="1500" b="0" i="1" lang="ja-JP" altLang="en-US">
                <a:solidFill>
                  <a:srgbClr val="1A1A1A"/>
                </a:solidFill>
                <a:latin typeface="Cambria Math"/>
                <a:ea typeface="Noto Sans JP"/>
              </a:rPr>
              <a:t>R</a:t>
            </a:r>
            <a:r>
              <a:rPr sz="1500" b="0" i="1" baseline="-25000" lang="ja-JP" altLang="en-US">
                <a:solidFill>
                  <a:srgbClr val="1A1A1A"/>
                </a:solidFill>
                <a:latin typeface="Cambria Math"/>
                <a:ea typeface="Noto Sans JP"/>
              </a:rPr>
              <a:t>g</a:t>
            </a:r>
            <a:r>
              <a:rPr sz="1500" b="0" i="0" lang="ja-JP" altLang="en-US">
                <a:solidFill>
                  <a:srgbClr val="1A1A1A"/>
                </a:solidFill>
                <a:latin typeface="Cambria Math"/>
                <a:ea typeface="Noto Sans JP"/>
              </a:rPr>
              <a:t>, 𝐭</a:t>
            </a:r>
            <a:r>
              <a:rPr sz="1500" b="0" i="1" baseline="-25000" lang="ja-JP" altLang="en-US">
                <a:solidFill>
                  <a:srgbClr val="1A1A1A"/>
                </a:solidFill>
                <a:latin typeface="Cambria Math"/>
                <a:ea typeface="Noto Sans JP"/>
              </a:rPr>
              <a:t>g</a:t>
            </a:r>
            <a:r>
              <a:rPr sz="1500" b="0" i="0" lang="ja-JP" altLang="en-US">
                <a:solidFill>
                  <a:srgbClr val="1A1A1A"/>
                </a:solidFill>
                <a:latin typeface="Cambria Math"/>
                <a:ea typeface="Noto Sans JP"/>
              </a:rPr>
              <a:t>)</a:t>
            </a:r>
            <a:r>
              <a:rPr sz="1500" b="1" lang="ja-JP" altLang="en-US">
                <a:solidFill>
                  <a:srgbClr val="1A1A1A"/>
                </a:solidFill>
                <a:latin typeface="Noto Sans JP"/>
                <a:ea typeface="Noto Sans JP"/>
              </a:rPr>
              <a:t> しても重みが変わらない理由</a:t>
            </a:r>
          </a:p>
        </p:txBody>
      </p:sp>
      <p:pic>
        <p:nvPicPr>
          <p:cNvPr id="12" name="Picture 11" descr="\left\| T_{g}\circ\mathbf{u} - T_{g}\circ\mathbf{w} \right\| = \left\| R_{g}\left(\mathbf{u} - \mathbf{w}\right) \right\| = \left\| \mathbf{u} - \mathbf{w} \right\|"/>
          <p:cNvPicPr>
            <a:picLocks noChangeAspect="1"/>
          </p:cNvPicPr>
          <p:nvPr/>
        </p:nvPicPr>
        <p:blipFill>
          <a:blip r:embed="rId4"/>
          <a:stretch>
            <a:fillRect/>
          </a:stretch>
        </p:blipFill>
        <p:spPr>
          <a:xfrm>
            <a:off x="774496" y="4390897"/>
            <a:ext cx="4265168" cy="379984"/>
          </a:xfrm>
          <a:prstGeom prst="rect">
            <a:avLst/>
          </a:prstGeom>
        </p:spPr>
      </p:pic>
      <p:sp>
        <p:nvSpPr>
          <p:cNvPr id="13" name="TextBox 12"/>
          <p:cNvSpPr txBox="1"/>
          <p:nvPr/>
        </p:nvSpPr>
        <p:spPr>
          <a:xfrm>
            <a:off x="774496" y="4862321"/>
            <a:ext cx="10642701" cy="312165"/>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並進は差で消え、回転は長さを変えない。だから「向きや位置を変えても同じ構造」をデータから学ぶ必要がない。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Structure Module｜学習時の誤差</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FAPEは局所座標系で位置誤差を測る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28 / 36</a:t>
            </a:r>
          </a:p>
        </p:txBody>
      </p:sp>
      <p:sp>
        <p:nvSpPr>
          <p:cNvPr id="6" name="TextBox 5"/>
          <p:cNvSpPr txBox="1"/>
          <p:nvPr/>
        </p:nvSpPr>
        <p:spPr>
          <a:xfrm>
            <a:off x="594360" y="1362456"/>
            <a:ext cx="11000232" cy="638048"/>
          </a:xfrm>
          <a:prstGeom prst="rect">
            <a:avLst/>
          </a:prstGeom>
          <a:noFill/>
        </p:spPr>
        <p:txBody>
          <a:bodyPr wrap="square" lIns="0" rIns="0" tIns="0" bIns="0" anchor="t">
            <a:noAutofit/>
          </a:bodyPr>
          <a:lstStyle/>
          <a:p>
            <a:pPr algn="l">
              <a:lnSpc>
                <a:spcPts val="2368"/>
              </a:lnSpc>
            </a:pPr>
            <a:r>
              <a:rPr sz="1600" b="0" lang="ja-JP" altLang="en-US">
                <a:solidFill>
                  <a:srgbClr val="333333"/>
                </a:solidFill>
                <a:latin typeface="Noto Sans JP"/>
                <a:ea typeface="Noto Sans JP"/>
              </a:rPr>
              <a:t>残基iの座標系で原子jを表し、予測構造と参照構造で比較します。分子全体を同じように回しても値は変わりません。</a:t>
            </a:r>
          </a:p>
        </p:txBody>
      </p:sp>
      <p:pic>
        <p:nvPicPr>
          <p:cNvPr id="7" name="Picture 6" descr="z_{ij}=Q_i^T(x_j-t_i),\quad\widehat z_{ij}=\widehat Q_i^T(\widehat x_j-\widehat t_i)"/>
          <p:cNvPicPr>
            <a:picLocks noChangeAspect="1"/>
          </p:cNvPicPr>
          <p:nvPr/>
        </p:nvPicPr>
        <p:blipFill>
          <a:blip r:embed="rId3"/>
          <a:stretch>
            <a:fillRect/>
          </a:stretch>
        </p:blipFill>
        <p:spPr>
          <a:xfrm>
            <a:off x="4172269" y="2110232"/>
            <a:ext cx="3844412" cy="332764"/>
          </a:xfrm>
          <a:prstGeom prst="rect">
            <a:avLst/>
          </a:prstGeom>
        </p:spPr>
      </p:pic>
      <p:pic>
        <p:nvPicPr>
          <p:cNvPr id="8" name="Picture 7" descr="L_{\rm FAPE}={1\over|\mathcal I|}\sum_{(i,j)\in\mathcal I}{\min(d_{\max},\|\widehat z_{ij}-z_{ij}\|)\over d_{\rm scale}}"/>
          <p:cNvPicPr>
            <a:picLocks noChangeAspect="1"/>
          </p:cNvPicPr>
          <p:nvPr/>
        </p:nvPicPr>
        <p:blipFill>
          <a:blip r:embed="rId4"/>
          <a:stretch>
            <a:fillRect/>
          </a:stretch>
        </p:blipFill>
        <p:spPr>
          <a:xfrm>
            <a:off x="4011759" y="2552724"/>
            <a:ext cx="4165432" cy="724252"/>
          </a:xfrm>
          <a:prstGeom prst="rect">
            <a:avLst/>
          </a:prstGeom>
        </p:spPr>
      </p:pic>
      <p:pic>
        <p:nvPicPr>
          <p:cNvPr id="9" name="Picture 8" descr="T_i=(Q_i,t_i),\quad T_i^{-1}(x_j)=Q_i^T(x_j-t_i)"/>
          <p:cNvPicPr>
            <a:picLocks noChangeAspect="1"/>
          </p:cNvPicPr>
          <p:nvPr/>
        </p:nvPicPr>
        <p:blipFill>
          <a:blip r:embed="rId5"/>
          <a:stretch>
            <a:fillRect/>
          </a:stretch>
        </p:blipFill>
        <p:spPr>
          <a:xfrm>
            <a:off x="4180099" y="3386705"/>
            <a:ext cx="3828753" cy="309275"/>
          </a:xfrm>
          <a:prstGeom prst="rect">
            <a:avLst/>
          </a:prstGeom>
        </p:spPr>
      </p:pic>
      <p:pic>
        <p:nvPicPr>
          <p:cNvPr id="10" name="Picture 9" descr="(GT_i)^{-1}(Gx_j)=T_i^{-1}(x_j),\quad G\in SE(3)"/>
          <p:cNvPicPr>
            <a:picLocks noChangeAspect="1"/>
          </p:cNvPicPr>
          <p:nvPr/>
        </p:nvPicPr>
        <p:blipFill>
          <a:blip r:embed="rId6"/>
          <a:stretch>
            <a:fillRect/>
          </a:stretch>
        </p:blipFill>
        <p:spPr>
          <a:xfrm>
            <a:off x="4105716" y="3805709"/>
            <a:ext cx="3977518" cy="305360"/>
          </a:xfrm>
          <a:prstGeom prst="rect">
            <a:avLst/>
          </a:prstGeom>
        </p:spPr>
      </p:pic>
      <p:pic>
        <p:nvPicPr>
          <p:cNvPr id="11" name="Picture 10" descr="e_{ij}=\|T_i^{-1}(x_j)-\widehat T_i^{-1}(\widehat x_j)\|,\quad\rho(e)=\min(e,d_{\max})"/>
          <p:cNvPicPr>
            <a:picLocks noChangeAspect="1"/>
          </p:cNvPicPr>
          <p:nvPr/>
        </p:nvPicPr>
        <p:blipFill>
          <a:blip r:embed="rId7"/>
          <a:stretch>
            <a:fillRect/>
          </a:stretch>
        </p:blipFill>
        <p:spPr>
          <a:xfrm>
            <a:off x="3530229" y="4220798"/>
            <a:ext cx="5128493" cy="328849"/>
          </a:xfrm>
          <a:prstGeom prst="rect">
            <a:avLst/>
          </a:prstGeom>
        </p:spPr>
      </p:pic>
      <p:sp>
        <p:nvSpPr>
          <p:cNvPr id="12" name="TextBox 11"/>
          <p:cNvSpPr txBox="1"/>
          <p:nvPr/>
        </p:nvSpPr>
        <p:spPr>
          <a:xfrm>
            <a:off x="594360" y="4859909"/>
            <a:ext cx="5362955" cy="910589"/>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フレームの向き自体も評価に入るため、Cαの位置だけの距離とは異なる情報を持ちます。遠い誤差の影響を制限するクランプが使われることがあります。</a:t>
            </a:r>
          </a:p>
        </p:txBody>
      </p:sp>
      <p:sp>
        <p:nvSpPr>
          <p:cNvPr id="13" name="TextBox 12"/>
          <p:cNvSpPr txBox="1"/>
          <p:nvPr/>
        </p:nvSpPr>
        <p:spPr>
          <a:xfrm>
            <a:off x="6231636" y="4714240"/>
            <a:ext cx="5362955" cy="1201928"/>
          </a:xfrm>
          <a:prstGeom prst="rect">
            <a:avLst/>
          </a:prstGeom>
          <a:noFill/>
        </p:spPr>
        <p:txBody>
          <a:bodyPr wrap="square" lIns="0" rIns="0" tIns="0" bIns="0" anchor="t">
            <a:noAutofit/>
          </a:bodyPr>
          <a:lstStyle/>
          <a:p>
            <a:pPr algn="l">
              <a:lnSpc>
                <a:spcPts val="2294"/>
              </a:lnSpc>
            </a:pPr>
            <a:r>
              <a:rPr sz="1550" b="0" lang="ja-JP" altLang="en-US">
                <a:solidFill>
                  <a:srgbClr val="333333"/>
                </a:solidFill>
                <a:latin typeface="Noto Sans JP"/>
                <a:ea typeface="Noto Sans JP"/>
              </a:rPr>
              <a:t>下の式はFAPEの考え方を示す簡略形です。AlphaFoldの損失では適用するフレーム・原子・マスクなどの仕様も重要で、構造評価へ使う場合は定義を固定します。</a:t>
            </a:r>
          </a:p>
        </p:txBody>
      </p:sp>
      <p:sp>
        <p:nvSpPr>
          <p:cNvPr id="14" name="TextBox 13"/>
          <p:cNvSpPr txBox="1"/>
          <p:nvPr/>
        </p:nvSpPr>
        <p:spPr>
          <a:xfrm>
            <a:off x="594360" y="6199632"/>
            <a:ext cx="10972800" cy="201168"/>
          </a:xfrm>
          <a:prstGeom prst="rect">
            <a:avLst/>
          </a:prstGeom>
          <a:noFill/>
        </p:spPr>
        <p:txBody>
          <a:bodyPr wrap="square" lIns="0" rIns="0" tIns="0" bIns="0" anchor="t">
            <a:noAutofit/>
          </a:bodyPr>
          <a:lstStyle/>
          <a:p>
            <a:pPr algn="l">
              <a:lnSpc>
                <a:spcPct val="100000"/>
              </a:lnSpc>
            </a:pPr>
            <a:r>
              <a:rPr sz="850" b="0" lang="ja-JP" altLang="en-US">
                <a:solidFill>
                  <a:srgbClr val="666666"/>
                </a:solidFill>
                <a:latin typeface="Noto Sans JP"/>
                <a:ea typeface="Noto Sans JP"/>
              </a:rPr>
              <a:t>出典：Jumper et al. (2021)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座標の生成、pLDDT、リサイクリング</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29 / 36</a:t>
            </a:r>
          </a:p>
        </p:txBody>
      </p:sp>
      <p:sp>
        <p:nvSpPr>
          <p:cNvPr id="6" name="Rounded Rectangle 5"/>
          <p:cNvSpPr/>
          <p:nvPr/>
        </p:nvSpPr>
        <p:spPr>
          <a:xfrm>
            <a:off x="609904" y="1371600"/>
            <a:ext cx="5852160" cy="2612898"/>
          </a:xfrm>
          <a:prstGeom prst="roundRect">
            <a:avLst>
              <a:gd name="adj" fmla="val 4199"/>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Structure Module の 1 ブロック</a:t>
            </a:r>
          </a:p>
        </p:txBody>
      </p:sp>
      <p:sp>
        <p:nvSpPr>
          <p:cNvPr id="8" name="TextBox 7"/>
          <p:cNvSpPr txBox="1"/>
          <p:nvPr/>
        </p:nvSpPr>
        <p:spPr>
          <a:xfrm>
            <a:off x="774496" y="1922907"/>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① IPA でシングル表現を更新する</a:t>
            </a:r>
          </a:p>
        </p:txBody>
      </p:sp>
      <p:sp>
        <p:nvSpPr>
          <p:cNvPr id="9" name="TextBox 8"/>
          <p:cNvSpPr txBox="1"/>
          <p:nvPr/>
        </p:nvSpPr>
        <p:spPr>
          <a:xfrm>
            <a:off x="774496" y="2346198"/>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② 局所フレーム </a:t>
            </a:r>
            <a:r>
              <a:rPr sz="1500" b="0" i="1" lang="ja-JP" altLang="en-US">
                <a:solidFill>
                  <a:srgbClr val="333333"/>
                </a:solidFill>
                <a:latin typeface="Cambria Math"/>
                <a:ea typeface="Noto Sans JP"/>
              </a:rPr>
              <a:t>T</a:t>
            </a:r>
            <a:r>
              <a:rPr sz="1500" b="0" i="1" baseline="-25000" lang="ja-JP" altLang="en-US">
                <a:solidFill>
                  <a:srgbClr val="333333"/>
                </a:solidFill>
                <a:latin typeface="Cambria Math"/>
                <a:ea typeface="Noto Sans JP"/>
              </a:rPr>
              <a:t>i</a:t>
            </a:r>
            <a:r>
              <a:rPr sz="1500" b="0" i="0" lang="ja-JP" altLang="en-US">
                <a:solidFill>
                  <a:srgbClr val="333333"/>
                </a:solidFill>
                <a:latin typeface="Cambria Math"/>
                <a:ea typeface="Noto Sans JP"/>
              </a:rPr>
              <a:t> = (</a:t>
            </a:r>
            <a:r>
              <a:rPr sz="1500" b="0" i="1" lang="ja-JP" altLang="en-US">
                <a:solidFill>
                  <a:srgbClr val="333333"/>
                </a:solidFill>
                <a:latin typeface="Cambria Math"/>
                <a:ea typeface="Noto Sans JP"/>
              </a:rPr>
              <a:t>R</a:t>
            </a:r>
            <a:r>
              <a:rPr sz="1500" b="0" i="1" baseline="-25000" lang="ja-JP" altLang="en-US">
                <a:solidFill>
                  <a:srgbClr val="333333"/>
                </a:solidFill>
                <a:latin typeface="Cambria Math"/>
                <a:ea typeface="Noto Sans JP"/>
              </a:rPr>
              <a:t>i</a:t>
            </a:r>
            <a:r>
              <a:rPr sz="1500" b="0" i="0" lang="ja-JP" altLang="en-US">
                <a:solidFill>
                  <a:srgbClr val="333333"/>
                </a:solidFill>
                <a:latin typeface="Cambria Math"/>
                <a:ea typeface="Noto Sans JP"/>
              </a:rPr>
              <a:t>, 𝐭</a:t>
            </a:r>
            <a:r>
              <a:rPr sz="1500" b="0" i="1" baseline="-25000" lang="ja-JP" altLang="en-US">
                <a:solidFill>
                  <a:srgbClr val="333333"/>
                </a:solidFill>
                <a:latin typeface="Cambria Math"/>
                <a:ea typeface="Noto Sans JP"/>
              </a:rPr>
              <a:t>i</a:t>
            </a:r>
            <a:r>
              <a:rPr sz="1500" b="0" i="0" lang="ja-JP" altLang="en-US">
                <a:solidFill>
                  <a:srgbClr val="333333"/>
                </a:solidFill>
                <a:latin typeface="Cambria Math"/>
                <a:ea typeface="Noto Sans JP"/>
              </a:rPr>
              <a:t>)</a:t>
            </a:r>
            <a:r>
              <a:rPr sz="1500" b="0" lang="ja-JP" altLang="en-US">
                <a:solidFill>
                  <a:srgbClr val="333333"/>
                </a:solidFill>
                <a:latin typeface="Noto Sans JP"/>
                <a:ea typeface="Noto Sans JP"/>
              </a:rPr>
              <a:t> を更新する</a:t>
            </a:r>
          </a:p>
        </p:txBody>
      </p:sp>
      <p:sp>
        <p:nvSpPr>
          <p:cNvPr id="10" name="TextBox 9"/>
          <p:cNvSpPr txBox="1"/>
          <p:nvPr/>
        </p:nvSpPr>
        <p:spPr>
          <a:xfrm>
            <a:off x="774496" y="2769489"/>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③ 浅い ResNet で主鎖と側鎖の二面角を予測する</a:t>
            </a:r>
          </a:p>
        </p:txBody>
      </p:sp>
      <p:sp>
        <p:nvSpPr>
          <p:cNvPr id="11" name="TextBox 10"/>
          <p:cNvSpPr txBox="1"/>
          <p:nvPr/>
        </p:nvSpPr>
        <p:spPr>
          <a:xfrm>
            <a:off x="774496" y="3192780"/>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8 ブロック繰り返す（パラメータは共有）。最後に重原子の座標を計算する。</a:t>
            </a:r>
          </a:p>
        </p:txBody>
      </p:sp>
      <p:sp>
        <p:nvSpPr>
          <p:cNvPr id="12" name="Rounded Rectangle 11"/>
          <p:cNvSpPr/>
          <p:nvPr/>
        </p:nvSpPr>
        <p:spPr>
          <a:xfrm>
            <a:off x="609904" y="4075937"/>
            <a:ext cx="5852160" cy="2153031"/>
          </a:xfrm>
          <a:prstGeom prst="roundRect">
            <a:avLst>
              <a:gd name="adj" fmla="val 5096"/>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240529"/>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pLDDT：残基ごとの予測の信頼度</a:t>
            </a:r>
          </a:p>
        </p:txBody>
      </p:sp>
      <p:sp>
        <p:nvSpPr>
          <p:cNvPr id="14" name="TextBox 13"/>
          <p:cNvSpPr txBox="1"/>
          <p:nvPr/>
        </p:nvSpPr>
        <p:spPr>
          <a:xfrm>
            <a:off x="774496" y="4627244"/>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構造のどの部分に自信があるかを表す。</a:t>
            </a:r>
          </a:p>
        </p:txBody>
      </p:sp>
      <p:sp>
        <p:nvSpPr>
          <p:cNvPr id="15" name="TextBox 14"/>
          <p:cNvSpPr txBox="1"/>
          <p:nvPr/>
        </p:nvSpPr>
        <p:spPr>
          <a:xfrm>
            <a:off x="774496" y="5050535"/>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リサイクリング</a:t>
            </a:r>
          </a:p>
        </p:txBody>
      </p:sp>
      <p:sp>
        <p:nvSpPr>
          <p:cNvPr id="16" name="TextBox 15"/>
          <p:cNvSpPr txBox="1"/>
          <p:nvPr/>
        </p:nvSpPr>
        <p:spPr>
          <a:xfrm>
            <a:off x="774496" y="5437250"/>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予測した構造を Evoformer の入力に戻して、全体を再計算する（演習では初回の後に3回）。</a:t>
            </a:r>
          </a:p>
        </p:txBody>
      </p:sp>
      <p:pic>
        <p:nvPicPr>
          <p:cNvPr id="17" name="Picture 16" descr="af2_arch.png"/>
          <p:cNvPicPr>
            <a:picLocks noChangeAspect="1"/>
          </p:cNvPicPr>
          <p:nvPr/>
        </p:nvPicPr>
        <p:blipFill>
          <a:blip r:embed="rId3"/>
          <a:stretch>
            <a:fillRect/>
          </a:stretch>
        </p:blipFill>
        <p:spPr>
          <a:xfrm>
            <a:off x="6736384" y="1920240"/>
            <a:ext cx="4845405" cy="1644337"/>
          </a:xfrm>
          <a:prstGeom prst="rect">
            <a:avLst/>
          </a:prstGeom>
        </p:spPr>
      </p:pic>
      <p:sp>
        <p:nvSpPr>
          <p:cNvPr id="18" name="TextBox 17"/>
          <p:cNvSpPr txBox="1"/>
          <p:nvPr/>
        </p:nvSpPr>
        <p:spPr>
          <a:xfrm>
            <a:off x="6736384" y="3610297"/>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右端の構造の色が信頼度。下の矢印がリサイクリング（Jumper ら (2021) Fig. 1e を切り出し、CC BY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信頼度</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pLDDTとPAEは、別の不確かさを表す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30 / 36</a:t>
            </a:r>
          </a:p>
        </p:txBody>
      </p:sp>
      <p:pic>
        <p:nvPicPr>
          <p:cNvPr id="6" name="Picture 5" descr="confidence.png"/>
          <p:cNvPicPr>
            <a:picLocks noChangeAspect="1"/>
          </p:cNvPicPr>
          <p:nvPr/>
        </p:nvPicPr>
        <p:blipFill>
          <a:blip r:embed="rId3"/>
          <a:stretch>
            <a:fillRect/>
          </a:stretch>
        </p:blipFill>
        <p:spPr>
          <a:xfrm>
            <a:off x="594360" y="1371600"/>
            <a:ext cx="10972800" cy="2996418"/>
          </a:xfrm>
          <a:prstGeom prst="rect">
            <a:avLst/>
          </a:prstGeom>
        </p:spPr>
      </p:pic>
      <p:sp>
        <p:nvSpPr>
          <p:cNvPr id="7" name="TextBox 6"/>
          <p:cNvSpPr txBox="1"/>
          <p:nvPr/>
        </p:nvSpPr>
        <p:spPr>
          <a:xfrm>
            <a:off x="685800" y="4590288"/>
            <a:ext cx="5120640" cy="118872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pLDDT：各残基の局所的な信頼度（0–100）。</a:t>
            </a:r>
          </a:p>
          <a:p>
            <a:pPr algn="l">
              <a:lnSpc>
                <a:spcPts val="2660"/>
              </a:lnSpc>
            </a:pPr>
            <a:r>
              <a:rPr sz="1900" b="0" lang="ja-JP" altLang="en-US">
                <a:solidFill>
                  <a:srgbClr val="333333"/>
                </a:solidFill>
                <a:latin typeface="Noto Sans JP"/>
                <a:ea typeface="Noto Sans JP"/>
              </a:rPr>
              <a:t>高いほど信頼できると予測。</a:t>
            </a:r>
          </a:p>
          <a:p>
            <a:pPr algn="l">
              <a:lnSpc>
                <a:spcPts val="2660"/>
              </a:lnSpc>
            </a:pPr>
            <a:r>
              <a:rPr sz="1900" b="0" lang="ja-JP" altLang="en-US">
                <a:solidFill>
                  <a:srgbClr val="333333"/>
                </a:solidFill>
                <a:latin typeface="Noto Sans JP"/>
                <a:ea typeface="Noto Sans JP"/>
              </a:rPr>
              <a:t>正解確率・結合の強さ・安定性ではない。</a:t>
            </a:r>
          </a:p>
        </p:txBody>
      </p:sp>
      <p:sp>
        <p:nvSpPr>
          <p:cNvPr id="8" name="TextBox 7"/>
          <p:cNvSpPr txBox="1"/>
          <p:nvPr/>
        </p:nvSpPr>
        <p:spPr>
          <a:xfrm>
            <a:off x="6309360" y="4590288"/>
            <a:ext cx="5212080" cy="118872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PAE：相対配置の予測誤差（Å）。</a:t>
            </a:r>
          </a:p>
          <a:p>
            <a:pPr algn="l">
              <a:lnSpc>
                <a:spcPts val="2660"/>
              </a:lnSpc>
            </a:pPr>
            <a:r>
              <a:rPr sz="1900" b="0" lang="ja-JP" altLang="en-US">
                <a:solidFill>
                  <a:srgbClr val="333333"/>
                </a:solidFill>
                <a:latin typeface="Noto Sans JP"/>
                <a:ea typeface="Noto Sans JP"/>
              </a:rPr>
              <a:t>小さいほど信頼できると予測。</a:t>
            </a:r>
          </a:p>
          <a:p>
            <a:pPr algn="l">
              <a:lnSpc>
                <a:spcPts val="2660"/>
              </a:lnSpc>
            </a:pPr>
            <a:r>
              <a:rPr sz="1900" b="0" lang="ja-JP" altLang="en-US">
                <a:solidFill>
                  <a:srgbClr val="333333"/>
                </a:solidFill>
                <a:latin typeface="Noto Sans JP"/>
                <a:ea typeface="Noto Sans JP"/>
              </a:rPr>
              <a:t>距離行列ではなく、一般に非対称。</a:t>
            </a:r>
          </a:p>
        </p:txBody>
      </p:sp>
      <p:sp>
        <p:nvSpPr>
          <p:cNvPr id="9" name="TextBox 8"/>
          <p:cNvSpPr txBox="1"/>
          <p:nvPr/>
        </p:nvSpPr>
        <p:spPr>
          <a:xfrm>
            <a:off x="685800" y="6089904"/>
            <a:ext cx="10789920" cy="274320"/>
          </a:xfrm>
          <a:prstGeom prst="rect">
            <a:avLst/>
          </a:prstGeom>
          <a:noFill/>
        </p:spPr>
        <p:txBody>
          <a:bodyPr wrap="square" lIns="0" rIns="0" tIns="0" bIns="0" anchor="t">
            <a:noAutofit/>
          </a:bodyPr>
          <a:lstStyle/>
          <a:p>
            <a:pPr algn="l">
              <a:lnSpc>
                <a:spcPts val="1679"/>
              </a:lnSpc>
            </a:pPr>
            <a:r>
              <a:rPr sz="1200" b="0" lang="ja-JP" altLang="en-US">
                <a:solidFill>
                  <a:srgbClr val="333333"/>
                </a:solidFill>
                <a:latin typeface="Noto Sans JP"/>
                <a:ea typeface="Noto Sans JP"/>
              </a:rPr>
              <a:t>Jumper et al. (2021), Supplementary Methods 1.9.6–1.9.7／模式図：本教材で作成</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その後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 の限界</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31 / 36</a:t>
            </a:r>
          </a:p>
        </p:txBody>
      </p:sp>
      <p:sp>
        <p:nvSpPr>
          <p:cNvPr id="6" name="Rounded Rectangle 5"/>
          <p:cNvSpPr/>
          <p:nvPr/>
        </p:nvSpPr>
        <p:spPr>
          <a:xfrm>
            <a:off x="609904" y="1371600"/>
            <a:ext cx="10971885" cy="1382395"/>
          </a:xfrm>
          <a:prstGeom prst="roundRect">
            <a:avLst>
              <a:gd name="adj" fmla="val 793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1064270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影響</a:t>
            </a:r>
          </a:p>
        </p:txBody>
      </p:sp>
      <p:sp>
        <p:nvSpPr>
          <p:cNvPr id="8" name="TextBox 7"/>
          <p:cNvSpPr txBox="1"/>
          <p:nvPr/>
        </p:nvSpPr>
        <p:spPr>
          <a:xfrm>
            <a:off x="774496" y="1922907"/>
            <a:ext cx="10642701"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予測構造のデータベース AlphaFold DB（DeepMind と EMBL-EBI）を無償で公開。ソースコードも Apache 2.0 ライセンスで公開され、世界中で使われ改良されている。</a:t>
            </a:r>
          </a:p>
        </p:txBody>
      </p:sp>
      <p:graphicFrame>
        <p:nvGraphicFramePr>
          <p:cNvPr id="9" name="Table 8"/>
          <p:cNvGraphicFramePr>
            <a:graphicFrameLocks noGrp="1"/>
          </p:cNvGraphicFramePr>
          <p:nvPr/>
        </p:nvGraphicFramePr>
        <p:xfrm>
          <a:off x="609904" y="2743200"/>
          <a:ext cx="10972800" cy="2529840"/>
        </p:xfrm>
        <a:graphic>
          <a:graphicData uri="http://schemas.openxmlformats.org/drawingml/2006/table">
            <a:tbl>
              <a:tblPr firstRow="0" bandRow="0">
                <a:tableStyleId>{5C22544A-7EE6-4342-B048-85BDC9FD1C3A}</a:tableStyleId>
              </a:tblPr>
              <a:tblGrid>
                <a:gridCol w="3291840"/>
                <a:gridCol w="7680960"/>
              </a:tblGrid>
              <a:tr h="442976">
                <a:tc>
                  <a:txBody>
                    <a:bodyPr wrap="square"/>
                    <a:lstStyle/>
                    <a:p>
                      <a:pPr algn="l">
                        <a:lnSpc>
                          <a:spcPts val="2480"/>
                        </a:lnSpc>
                      </a:pPr>
                      <a:r>
                        <a:rPr sz="1600" b="1" lang="ja-JP" altLang="en-US">
                          <a:solidFill>
                            <a:srgbClr val="1A1A1A"/>
                          </a:solidFill>
                          <a:latin typeface="Noto Sans JP"/>
                          <a:ea typeface="Noto Sans JP"/>
                        </a:rPr>
                        <a:t>限界</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内容</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42976">
                <a:tc>
                  <a:txBody>
                    <a:bodyPr wrap="square"/>
                    <a:lstStyle/>
                    <a:p>
                      <a:pPr algn="l">
                        <a:lnSpc>
                          <a:spcPts val="2480"/>
                        </a:lnSpc>
                      </a:pPr>
                      <a:r>
                        <a:rPr sz="1600" b="1" lang="ja-JP" altLang="en-US">
                          <a:solidFill>
                            <a:srgbClr val="1A1A1A"/>
                          </a:solidFill>
                          <a:latin typeface="Noto Sans JP"/>
                          <a:ea typeface="Noto Sans JP"/>
                        </a:rPr>
                        <a:t>① MSA への依存</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似た配列が少ないと精度が下がる。MSA を作る計算にも時間がかかる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② 原著の単量体モデル</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複合体は別モデルのAlphaFold-MultimerやAF3で扱う</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757936">
                <a:tc>
                  <a:txBody>
                    <a:bodyPr wrap="square"/>
                    <a:lstStyle/>
                    <a:p>
                      <a:pPr algn="l">
                        <a:lnSpc>
                          <a:spcPts val="2480"/>
                        </a:lnSpc>
                      </a:pPr>
                      <a:r>
                        <a:rPr sz="1600" b="1" lang="ja-JP" altLang="en-US">
                          <a:solidFill>
                            <a:srgbClr val="1A1A1A"/>
                          </a:solidFill>
                          <a:latin typeface="Noto Sans JP"/>
                          <a:ea typeface="Noto Sans JP"/>
                        </a:rPr>
                        <a:t>③ 1 つの静的な構造</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構造変化や揺らぎなど、機能に欠かせない動きを捉えにくい。状態の存在確率や時間発展を直接は予測しない</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④ その他</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変異の影響の精密な予測、翻訳後修飾をもつタンパク質の扱い</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その後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AlphaFold 2 のあとの発展</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32 / 36</a:t>
            </a:r>
          </a:p>
        </p:txBody>
      </p:sp>
      <p:graphicFrame>
        <p:nvGraphicFramePr>
          <p:cNvPr id="6" name="Table 5"/>
          <p:cNvGraphicFramePr>
            <a:graphicFrameLocks noGrp="1"/>
          </p:cNvGraphicFramePr>
          <p:nvPr/>
        </p:nvGraphicFramePr>
        <p:xfrm>
          <a:off x="609904" y="1417320"/>
          <a:ext cx="10972800" cy="3652008"/>
        </p:xfrm>
        <a:graphic>
          <a:graphicData uri="http://schemas.openxmlformats.org/drawingml/2006/table">
            <a:tbl>
              <a:tblPr firstRow="0" bandRow="0">
                <a:tableStyleId>{5C22544A-7EE6-4342-B048-85BDC9FD1C3A}</a:tableStyleId>
              </a:tblPr>
              <a:tblGrid>
                <a:gridCol w="3108960"/>
                <a:gridCol w="7863840"/>
              </a:tblGrid>
              <a:tr h="403605">
                <a:tc>
                  <a:txBody>
                    <a:bodyPr wrap="square"/>
                    <a:lstStyle/>
                    <a:p>
                      <a:pPr algn="l">
                        <a:lnSpc>
                          <a:spcPts val="2170"/>
                        </a:lnSpc>
                      </a:pPr>
                      <a:r>
                        <a:rPr sz="1400" b="1" lang="ja-JP" altLang="en-US">
                          <a:solidFill>
                            <a:srgbClr val="1A1A1A"/>
                          </a:solidFill>
                          <a:latin typeface="Noto Sans JP"/>
                          <a:ea typeface="Noto Sans JP"/>
                        </a:rPr>
                        <a:t>名前</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170"/>
                        </a:lnSpc>
                      </a:pPr>
                      <a:r>
                        <a:rPr sz="1400" b="1" lang="ja-JP" altLang="en-US">
                          <a:solidFill>
                            <a:srgbClr val="1A1A1A"/>
                          </a:solidFill>
                          <a:latin typeface="Noto Sans JP"/>
                          <a:ea typeface="Noto Sans JP"/>
                        </a:rPr>
                        <a:t>何をしたか</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03605">
                <a:tc>
                  <a:txBody>
                    <a:bodyPr wrap="square"/>
                    <a:lstStyle/>
                    <a:p>
                      <a:pPr algn="l">
                        <a:lnSpc>
                          <a:spcPts val="2170"/>
                        </a:lnSpc>
                      </a:pPr>
                      <a:r>
                        <a:rPr sz="1400" b="1" lang="ja-JP" altLang="en-US">
                          <a:solidFill>
                            <a:srgbClr val="1A1A1A"/>
                          </a:solidFill>
                          <a:latin typeface="Noto Sans JP"/>
                          <a:ea typeface="Noto Sans JP"/>
                        </a:rPr>
                        <a:t>AlphaFold-Multimer</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タンパク質複合体の構造を高い精度で予測する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ColabFold</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高速な配列検索（MMseqs2）とクラウド（Google Colaboratory）で、手軽に速く予測する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03605">
                <a:tc>
                  <a:txBody>
                    <a:bodyPr wrap="square"/>
                    <a:lstStyle/>
                    <a:p>
                      <a:pPr algn="l">
                        <a:lnSpc>
                          <a:spcPts val="2170"/>
                        </a:lnSpc>
                      </a:pPr>
                      <a:r>
                        <a:rPr sz="1400" b="1" lang="ja-JP" altLang="en-US">
                          <a:solidFill>
                            <a:srgbClr val="1A1A1A"/>
                          </a:solidFill>
                          <a:latin typeface="Noto Sans JP"/>
                          <a:ea typeface="Noto Sans JP"/>
                        </a:rPr>
                        <a:t>RoseTTAFold</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配列・残基対・3次元構造を連携させる3トラックのモデル</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ESMFold</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タンパク質言語モデルを使い、MSA なしで 1 本の配列から予測する。速いが精度は MSA を使う方法に及ばないことも</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03605">
                <a:tc>
                  <a:txBody>
                    <a:bodyPr wrap="square"/>
                    <a:lstStyle/>
                    <a:p>
                      <a:pPr algn="l">
                        <a:lnSpc>
                          <a:spcPts val="2170"/>
                        </a:lnSpc>
                      </a:pPr>
                      <a:r>
                        <a:rPr sz="1400" b="1" lang="ja-JP" altLang="en-US">
                          <a:solidFill>
                            <a:srgbClr val="1A1A1A"/>
                          </a:solidFill>
                          <a:latin typeface="Noto Sans JP"/>
                          <a:ea typeface="Noto Sans JP"/>
                        </a:rPr>
                        <a:t>MSA の間引き・クラスタリング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入力する MSA を変えて、複数の構造（構造の多様性）を出させる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AlphaFold 3</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DNA・RNA・低分子・イオンとの複合体まで予測する。構造の生成に拡散モデルを使う</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
        <p:nvSpPr>
          <p:cNvPr id="7" name="Rounded Rectangle 6"/>
          <p:cNvSpPr/>
          <p:nvPr/>
        </p:nvSpPr>
        <p:spPr>
          <a:xfrm>
            <a:off x="609904" y="5392420"/>
            <a:ext cx="10971885" cy="916940"/>
          </a:xfrm>
          <a:prstGeom prst="roundRect">
            <a:avLst>
              <a:gd name="adj" fmla="val 11966"/>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496" y="5557012"/>
            <a:ext cx="1064270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拡散モデル：原子のランダムな配置（ノイズ）から出発し、少しずつノイズを取り除いて正しい構造へ近づける生成のしかた。</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まとめ</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まとめ</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33 / 36</a:t>
            </a:r>
          </a:p>
        </p:txBody>
      </p:sp>
      <p:sp>
        <p:nvSpPr>
          <p:cNvPr id="6" name="Rounded Rectangle 5"/>
          <p:cNvSpPr/>
          <p:nvPr/>
        </p:nvSpPr>
        <p:spPr>
          <a:xfrm>
            <a:off x="609904" y="1463040"/>
            <a:ext cx="5394502" cy="1697355"/>
          </a:xfrm>
          <a:prstGeom prst="roundRect">
            <a:avLst>
              <a:gd name="adj" fmla="val 646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627632"/>
            <a:ext cx="506531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構造予測とは</a:t>
            </a:r>
          </a:p>
        </p:txBody>
      </p:sp>
      <p:sp>
        <p:nvSpPr>
          <p:cNvPr id="8" name="TextBox 7"/>
          <p:cNvSpPr txBox="1"/>
          <p:nvPr/>
        </p:nvSpPr>
        <p:spPr>
          <a:xfrm>
            <a:off x="774496" y="2014347"/>
            <a:ext cx="5065318" cy="98145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配列と構造のギャップを計算で埋める。ホモロジーモデリング、スレッディング、統計的ポテンシャル、共進化（MSA と DCA）が土台。</a:t>
            </a:r>
          </a:p>
        </p:txBody>
      </p:sp>
      <p:sp>
        <p:nvSpPr>
          <p:cNvPr id="9" name="Rounded Rectangle 8"/>
          <p:cNvSpPr/>
          <p:nvPr/>
        </p:nvSpPr>
        <p:spPr>
          <a:xfrm>
            <a:off x="6187287" y="1463040"/>
            <a:ext cx="5394502" cy="1697355"/>
          </a:xfrm>
          <a:prstGeom prst="roundRect">
            <a:avLst>
              <a:gd name="adj" fmla="val 6464"/>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1879" y="1627632"/>
            <a:ext cx="506531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AlphaFold 1</a:t>
            </a:r>
          </a:p>
        </p:txBody>
      </p:sp>
      <p:sp>
        <p:nvSpPr>
          <p:cNvPr id="11" name="TextBox 10"/>
          <p:cNvSpPr txBox="1"/>
          <p:nvPr/>
        </p:nvSpPr>
        <p:spPr>
          <a:xfrm>
            <a:off x="6351879" y="2014347"/>
            <a:ext cx="5065318" cy="98145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共進化の情報を深い CNN で読み、接触ではなく距離の分布を予測した。遠い距離の情報まで含まれていた。</a:t>
            </a:r>
          </a:p>
        </p:txBody>
      </p:sp>
      <p:sp>
        <p:nvSpPr>
          <p:cNvPr id="12" name="Rounded Rectangle 11"/>
          <p:cNvSpPr/>
          <p:nvPr/>
        </p:nvSpPr>
        <p:spPr>
          <a:xfrm>
            <a:off x="609904" y="3886200"/>
            <a:ext cx="5394502" cy="2012314"/>
          </a:xfrm>
          <a:prstGeom prst="roundRect">
            <a:avLst>
              <a:gd name="adj" fmla="val 5452"/>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050791"/>
            <a:ext cx="506531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AlphaFold 2</a:t>
            </a:r>
          </a:p>
        </p:txBody>
      </p:sp>
      <p:sp>
        <p:nvSpPr>
          <p:cNvPr id="14" name="TextBox 13"/>
          <p:cNvSpPr txBox="1"/>
          <p:nvPr/>
        </p:nvSpPr>
        <p:spPr>
          <a:xfrm>
            <a:off x="774496" y="4437507"/>
            <a:ext cx="5065318" cy="129641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注意機構で MSA 表現とペア表現をやりとりさせる。三角形の整合性と、回転・並進で変わらない性質を帰納バイアスとして組み込み、配列から構造までを 1 つのネットワークで予測する。</a:t>
            </a:r>
          </a:p>
        </p:txBody>
      </p:sp>
      <p:sp>
        <p:nvSpPr>
          <p:cNvPr id="15" name="Rounded Rectangle 14"/>
          <p:cNvSpPr/>
          <p:nvPr/>
        </p:nvSpPr>
        <p:spPr>
          <a:xfrm>
            <a:off x="6187287" y="3886200"/>
            <a:ext cx="5394502" cy="2012314"/>
          </a:xfrm>
          <a:prstGeom prst="roundRect">
            <a:avLst>
              <a:gd name="adj" fmla="val 5452"/>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1879" y="4050791"/>
            <a:ext cx="506531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その後</a:t>
            </a:r>
          </a:p>
        </p:txBody>
      </p:sp>
      <p:sp>
        <p:nvSpPr>
          <p:cNvPr id="17" name="TextBox 16"/>
          <p:cNvSpPr txBox="1"/>
          <p:nvPr/>
        </p:nvSpPr>
        <p:spPr>
          <a:xfrm>
            <a:off x="6351879" y="4437507"/>
            <a:ext cx="5065318" cy="129641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信頼度は実験の代わりではない。複合体は第06回、配列設計は第07回、構造の分布と動きは後半の回へつなぐ。</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ColabFold演習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ユビキチンを配列から予測する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34 / 36</a:t>
            </a:r>
          </a:p>
        </p:txBody>
      </p:sp>
      <p:pic>
        <p:nvPicPr>
          <p:cNvPr id="6" name="Picture 5" descr="image.png"/>
          <p:cNvPicPr>
            <a:picLocks noChangeAspect="1"/>
          </p:cNvPicPr>
          <p:nvPr/>
        </p:nvPicPr>
        <p:blipFill>
          <a:blip r:embed="rId3"/>
          <a:stretch>
            <a:fillRect/>
          </a:stretch>
        </p:blipFill>
        <p:spPr>
          <a:xfrm>
            <a:off x="6446520" y="1463040"/>
            <a:ext cx="5074920" cy="1722225"/>
          </a:xfrm>
          <a:prstGeom prst="rect">
            <a:avLst/>
          </a:prstGeom>
        </p:spPr>
      </p:pic>
      <p:sp>
        <p:nvSpPr>
          <p:cNvPr id="7" name="TextBox 6"/>
          <p:cNvSpPr txBox="1"/>
          <p:nvPr/>
        </p:nvSpPr>
        <p:spPr>
          <a:xfrm>
            <a:off x="685800" y="1508760"/>
            <a:ext cx="5303520" cy="45720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授業リポジトリ →「Colabで開く」</a:t>
            </a:r>
          </a:p>
        </p:txBody>
      </p:sp>
      <p:sp>
        <p:nvSpPr>
          <p:cNvPr id="8" name="TextBox 7"/>
          <p:cNvSpPr txBox="1"/>
          <p:nvPr/>
        </p:nvSpPr>
        <p:spPr>
          <a:xfrm>
            <a:off x="685800" y="2176272"/>
            <a:ext cx="5303520" cy="2057400"/>
          </a:xfrm>
          <a:prstGeom prst="rect">
            <a:avLst/>
          </a:prstGeom>
          <a:noFill/>
        </p:spPr>
        <p:txBody>
          <a:bodyPr wrap="square" lIns="0" rIns="0" tIns="0" bIns="0" anchor="t">
            <a:noAutofit/>
          </a:bodyPr>
          <a:lstStyle/>
          <a:p>
            <a:pPr algn="l">
              <a:lnSpc>
                <a:spcPts val="2940"/>
              </a:lnSpc>
            </a:pPr>
            <a:r>
              <a:rPr sz="2100" b="0" lang="ja-JP" altLang="en-US">
                <a:solidFill>
                  <a:srgbClr val="333333"/>
                </a:solidFill>
                <a:latin typeface="Noto Sans JP"/>
                <a:ea typeface="Noto Sans JP"/>
              </a:rPr>
              <a:t>1. Googleアカウントでログイン</a:t>
            </a:r>
          </a:p>
          <a:p>
            <a:pPr algn="l">
              <a:lnSpc>
                <a:spcPts val="2940"/>
              </a:lnSpc>
            </a:pPr>
            <a:r>
              <a:rPr sz="2100" b="0" lang="ja-JP" altLang="en-US">
                <a:solidFill>
                  <a:srgbClr val="333333"/>
                </a:solidFill>
                <a:latin typeface="Noto Sans JP"/>
                <a:ea typeface="Noto Sans JP"/>
              </a:rPr>
              <a:t>2. ランタイムのタイプ：T4 GPU</a:t>
            </a:r>
          </a:p>
          <a:p>
            <a:pPr algn="l">
              <a:lnSpc>
                <a:spcPts val="2940"/>
              </a:lnSpc>
            </a:pPr>
            <a:r>
              <a:rPr sz="2100" b="0" lang="ja-JP" altLang="en-US">
                <a:solidFill>
                  <a:srgbClr val="333333"/>
                </a:solidFill>
                <a:latin typeface="Noto Sans JP"/>
                <a:ea typeface="Noto Sans JP"/>
              </a:rPr>
              <a:t>3. 「すべてのセルを実行」</a:t>
            </a:r>
          </a:p>
          <a:p>
            <a:pPr algn="l">
              <a:lnSpc>
                <a:spcPts val="2940"/>
              </a:lnSpc>
            </a:pPr>
            <a:r>
              <a:rPr sz="2100" b="0" lang="ja-JP" altLang="en-US">
                <a:solidFill>
                  <a:srgbClr val="333333"/>
                </a:solidFill>
                <a:latin typeface="Noto Sans JP"/>
                <a:ea typeface="Noto Sans JP"/>
              </a:rPr>
              <a:t>4. 構造と信頼度の図を観察</a:t>
            </a:r>
          </a:p>
        </p:txBody>
      </p:sp>
      <p:sp>
        <p:nvSpPr>
          <p:cNvPr id="9" name="TextBox 8"/>
          <p:cNvSpPr txBox="1"/>
          <p:nvPr/>
        </p:nvSpPr>
        <p:spPr>
          <a:xfrm>
            <a:off x="685800" y="4572000"/>
            <a:ext cx="10789920" cy="59436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入力：ユビキチン76残基。MSA検索あり・テンプレートなし・3回recycle・Amber緩和なし。</a:t>
            </a:r>
          </a:p>
        </p:txBody>
      </p:sp>
      <p:sp>
        <p:nvSpPr>
          <p:cNvPr id="10" name="TextBox 9"/>
          <p:cNvSpPr txBox="1"/>
          <p:nvPr/>
        </p:nvSpPr>
        <p:spPr>
          <a:xfrm>
            <a:off x="685800" y="5394960"/>
            <a:ext cx="10789920" cy="731520"/>
          </a:xfrm>
          <a:prstGeom prst="rect">
            <a:avLst/>
          </a:prstGeom>
          <a:noFill/>
        </p:spPr>
        <p:txBody>
          <a:bodyPr wrap="square" lIns="0" rIns="0" tIns="0" bIns="0" anchor="t">
            <a:noAutofit/>
          </a:bodyPr>
          <a:lstStyle/>
          <a:p>
            <a:pPr algn="l">
              <a:lnSpc>
                <a:spcPts val="2520"/>
              </a:lnSpc>
            </a:pPr>
            <a:r>
              <a:rPr sz="1800" b="0" lang="ja-JP" altLang="en-US">
                <a:solidFill>
                  <a:srgbClr val="333333"/>
                </a:solidFill>
                <a:latin typeface="Noto Sans JP"/>
                <a:ea typeface="Noto Sans JP"/>
              </a:rPr>
              <a:t>演習20分、採点・提出なし。初回準備と計算待ちは環境に依存する。</a:t>
            </a:r>
          </a:p>
          <a:p>
            <a:pPr algn="l">
              <a:lnSpc>
                <a:spcPts val="2520"/>
              </a:lnSpc>
            </a:pPr>
            <a:r>
              <a:rPr sz="1800" b="0" lang="ja-JP" altLang="en-US">
                <a:solidFill>
                  <a:srgbClr val="333333"/>
                </a:solidFill>
                <a:latin typeface="Noto Sans JP"/>
                <a:ea typeface="Noto Sans JP"/>
              </a:rPr>
              <a:t>入力配列は公開MSA検索サーバーへ送られる。今回は公開配列だけを使う。</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ColabFold演習</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構造と信頼度を同じ残基番号で読む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35 / 36</a:t>
            </a:r>
          </a:p>
        </p:txBody>
      </p:sp>
      <p:sp>
        <p:nvSpPr>
          <p:cNvPr id="6" name="TextBox 5"/>
          <p:cNvSpPr txBox="1"/>
          <p:nvPr/>
        </p:nvSpPr>
        <p:spPr>
          <a:xfrm>
            <a:off x="685800" y="1463040"/>
            <a:ext cx="1078992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立体構造</a:t>
            </a:r>
          </a:p>
        </p:txBody>
      </p:sp>
      <p:sp>
        <p:nvSpPr>
          <p:cNvPr id="7" name="TextBox 6"/>
          <p:cNvSpPr txBox="1"/>
          <p:nvPr/>
        </p:nvSpPr>
        <p:spPr>
          <a:xfrm>
            <a:off x="685800" y="1901952"/>
            <a:ext cx="1078992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ドラッグして回転。color = rainbow で配列順、lDDT で信頼度。設定変更後は表示セルだけ再実行。</a:t>
            </a:r>
          </a:p>
        </p:txBody>
      </p:sp>
      <p:sp>
        <p:nvSpPr>
          <p:cNvPr id="8" name="TextBox 7"/>
          <p:cNvSpPr txBox="1"/>
          <p:nvPr/>
        </p:nvSpPr>
        <p:spPr>
          <a:xfrm>
            <a:off x="685800" y="2587752"/>
            <a:ext cx="1078992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pLDDT と PAE</a:t>
            </a:r>
          </a:p>
        </p:txBody>
      </p:sp>
      <p:sp>
        <p:nvSpPr>
          <p:cNvPr id="9" name="TextBox 8"/>
          <p:cNvSpPr txBox="1"/>
          <p:nvPr/>
        </p:nvSpPr>
        <p:spPr>
          <a:xfrm>
            <a:off x="685800" y="3026664"/>
            <a:ext cx="1078992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局所の信頼度と相対配置の予測誤差を区別。PAEの対角だけでなく、離れた領域間も読む。</a:t>
            </a:r>
          </a:p>
        </p:txBody>
      </p:sp>
      <p:sp>
        <p:nvSpPr>
          <p:cNvPr id="10" name="TextBox 9"/>
          <p:cNvSpPr txBox="1"/>
          <p:nvPr/>
        </p:nvSpPr>
        <p:spPr>
          <a:xfrm>
            <a:off x="685800" y="3712463"/>
            <a:ext cx="1078992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MSA と 5モデル</a:t>
            </a:r>
          </a:p>
        </p:txBody>
      </p:sp>
      <p:sp>
        <p:nvSpPr>
          <p:cNvPr id="11" name="TextBox 10"/>
          <p:cNvSpPr txBox="1"/>
          <p:nvPr/>
        </p:nvSpPr>
        <p:spPr>
          <a:xfrm>
            <a:off x="685800" y="4151375"/>
            <a:ext cx="1078992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MSA coverage の偏りを確認。rank_num を変えて構造を比較し、信頼度による順位だと確認。</a:t>
            </a:r>
          </a:p>
        </p:txBody>
      </p:sp>
      <p:sp>
        <p:nvSpPr>
          <p:cNvPr id="12" name="TextBox 11"/>
          <p:cNvSpPr txBox="1"/>
          <p:nvPr/>
        </p:nvSpPr>
        <p:spPr>
          <a:xfrm>
            <a:off x="685800" y="4837176"/>
            <a:ext cx="10789920" cy="365760"/>
          </a:xfrm>
          <a:prstGeom prst="rect">
            <a:avLst/>
          </a:prstGeom>
          <a:noFill/>
        </p:spPr>
        <p:txBody>
          <a:bodyPr wrap="square" lIns="0" rIns="0" tIns="0" bIns="0" anchor="t">
            <a:noAutofit/>
          </a:bodyPr>
          <a:lstStyle/>
          <a:p>
            <a:pPr algn="l">
              <a:lnSpc>
                <a:spcPts val="3219"/>
              </a:lnSpc>
            </a:pPr>
            <a:r>
              <a:rPr sz="2300" b="1" lang="ja-JP" altLang="en-US">
                <a:solidFill>
                  <a:srgbClr val="0017C1"/>
                </a:solidFill>
                <a:latin typeface="Noto Sans JP"/>
                <a:ea typeface="Noto Sans JP"/>
              </a:rPr>
              <a:t>結果の保存</a:t>
            </a:r>
          </a:p>
        </p:txBody>
      </p:sp>
      <p:sp>
        <p:nvSpPr>
          <p:cNvPr id="13" name="TextBox 12"/>
          <p:cNvSpPr txBox="1"/>
          <p:nvPr/>
        </p:nvSpPr>
        <p:spPr>
          <a:xfrm>
            <a:off x="685800" y="5276088"/>
            <a:ext cx="10789920" cy="640080"/>
          </a:xfrm>
          <a:prstGeom prst="rect">
            <a:avLst/>
          </a:prstGeom>
          <a:noFill/>
        </p:spPr>
        <p:txBody>
          <a:bodyPr wrap="square" lIns="0" rIns="0" tIns="0" bIns="0" anchor="t">
            <a:noAutofit/>
          </a:bodyPr>
          <a:lstStyle/>
          <a:p>
            <a:pPr algn="l">
              <a:lnSpc>
                <a:spcPts val="2660"/>
              </a:lnSpc>
            </a:pPr>
            <a:r>
              <a:rPr sz="1900" b="0" lang="ja-JP" altLang="en-US">
                <a:solidFill>
                  <a:srgbClr val="333333"/>
                </a:solidFill>
                <a:latin typeface="Noto Sans JP"/>
                <a:ea typeface="Noto Sans JP"/>
              </a:rPr>
              <a:t>ZIPのPDB・MSA・scores JSON・logを保存。予測結果の解釈には入力条件も残す。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ColabFold演習｜実行例</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平均値だけでなく、末端の信頼度を見る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36 / 36</a:t>
            </a:r>
          </a:p>
        </p:txBody>
      </p:sp>
      <p:pic>
        <p:nvPicPr>
          <p:cNvPr id="6" name="Picture 5" descr="bioinfo05_ubiquitin_7686d_plddt.png"/>
          <p:cNvPicPr>
            <a:picLocks noChangeAspect="1"/>
          </p:cNvPicPr>
          <p:nvPr/>
        </p:nvPicPr>
        <p:blipFill>
          <a:blip r:embed="rId3"/>
          <a:stretch>
            <a:fillRect/>
          </a:stretch>
        </p:blipFill>
        <p:spPr>
          <a:xfrm>
            <a:off x="1262631" y="1417320"/>
            <a:ext cx="6298696" cy="4251960"/>
          </a:xfrm>
          <a:prstGeom prst="rect">
            <a:avLst/>
          </a:prstGeom>
        </p:spPr>
      </p:pic>
      <p:sp>
        <p:nvSpPr>
          <p:cNvPr id="7" name="TextBox 6"/>
          <p:cNvSpPr txBox="1"/>
          <p:nvPr/>
        </p:nvSpPr>
        <p:spPr>
          <a:xfrm>
            <a:off x="8412480" y="1600200"/>
            <a:ext cx="3108960" cy="54864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実行結果の読み方</a:t>
            </a:r>
          </a:p>
        </p:txBody>
      </p:sp>
      <p:sp>
        <p:nvSpPr>
          <p:cNvPr id="8" name="TextBox 7"/>
          <p:cNvSpPr txBox="1"/>
          <p:nvPr/>
        </p:nvSpPr>
        <p:spPr>
          <a:xfrm>
            <a:off x="8412480" y="2286000"/>
            <a:ext cx="3108960" cy="3383280"/>
          </a:xfrm>
          <a:prstGeom prst="rect">
            <a:avLst/>
          </a:prstGeom>
          <a:noFill/>
        </p:spPr>
        <p:txBody>
          <a:bodyPr wrap="square" lIns="0" rIns="0" tIns="0" bIns="0" anchor="t">
            <a:noAutofit/>
          </a:bodyPr>
          <a:lstStyle/>
          <a:p>
            <a:pPr algn="l">
              <a:lnSpc>
                <a:spcPts val="2800"/>
              </a:lnSpc>
            </a:pPr>
            <a:r>
              <a:rPr sz="2000" b="0" lang="ja-JP" altLang="en-US">
                <a:solidFill>
                  <a:srgbClr val="333333"/>
                </a:solidFill>
                <a:latin typeface="Noto Sans JP"/>
                <a:ea typeface="Noto Sans JP"/>
              </a:rPr>
              <a:t>5モデルとも、多くの残基で高い信頼度。</a:t>
            </a:r>
          </a:p>
          <a:p>
            <a:pPr algn="l">
              <a:lnSpc>
                <a:spcPts val="2800"/>
              </a:lnSpc>
            </a:pPr>
          </a:p>
          <a:p>
            <a:pPr algn="l">
              <a:lnSpc>
                <a:spcPts val="2800"/>
              </a:lnSpc>
            </a:pPr>
            <a:r>
              <a:rPr sz="2000" b="0" lang="ja-JP" altLang="en-US">
                <a:solidFill>
                  <a:srgbClr val="333333"/>
                </a:solidFill>
                <a:latin typeface="Noto Sans JP"/>
                <a:ea typeface="Noto Sans JP"/>
              </a:rPr>
              <a:t>rank 1：平均95.9</a:t>
            </a:r>
          </a:p>
          <a:p>
            <a:pPr algn="l">
              <a:lnSpc>
                <a:spcPts val="2800"/>
              </a:lnSpc>
            </a:pPr>
            <a:r>
              <a:rPr sz="2000" b="0" lang="ja-JP" altLang="en-US">
                <a:solidFill>
                  <a:srgbClr val="333333"/>
                </a:solidFill>
                <a:latin typeface="Noto Sans JP"/>
                <a:ea typeface="Noto Sans JP"/>
              </a:rPr>
              <a:t>最後の76番残基：52.9</a:t>
            </a:r>
          </a:p>
          <a:p>
            <a:pPr algn="l">
              <a:lnSpc>
                <a:spcPts val="2800"/>
              </a:lnSpc>
            </a:pPr>
          </a:p>
          <a:p>
            <a:pPr algn="l">
              <a:lnSpc>
                <a:spcPts val="2800"/>
              </a:lnSpc>
            </a:pPr>
            <a:r>
              <a:rPr sz="2000" b="0" lang="ja-JP" altLang="en-US">
                <a:solidFill>
                  <a:srgbClr val="333333"/>
                </a:solidFill>
                <a:latin typeface="Noto Sans JP"/>
                <a:ea typeface="Noto Sans JP"/>
              </a:rPr>
              <a:t>平均が高くても、末端まで確かとは限らない。</a:t>
            </a:r>
          </a:p>
        </p:txBody>
      </p:sp>
      <p:sp>
        <p:nvSpPr>
          <p:cNvPr id="9" name="TextBox 8"/>
          <p:cNvSpPr txBox="1"/>
          <p:nvPr/>
        </p:nvSpPr>
        <p:spPr>
          <a:xfrm>
            <a:off x="685800" y="5870448"/>
            <a:ext cx="10789920" cy="502920"/>
          </a:xfrm>
          <a:prstGeom prst="rect">
            <a:avLst/>
          </a:prstGeom>
          <a:noFill/>
        </p:spPr>
        <p:txBody>
          <a:bodyPr wrap="square" lIns="0" rIns="0" tIns="0" bIns="0" anchor="t">
            <a:noAutofit/>
          </a:bodyPr>
          <a:lstStyle/>
          <a:p>
            <a:pPr algn="l">
              <a:lnSpc>
                <a:spcPts val="2100"/>
              </a:lnSpc>
            </a:pPr>
            <a:r>
              <a:rPr sz="1500" b="0" lang="ja-JP" altLang="en-US">
                <a:solidFill>
                  <a:srgbClr val="333333"/>
                </a:solidFill>
                <a:latin typeface="Noto Sans JP"/>
                <a:ea typeface="Noto Sans JP"/>
              </a:rPr>
              <a:t>2026-10-11実行：ユビキチン76残基、T4、5モデル、3 recycle。図のPositionsは0始まり（0が第1残基）。</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ct val="110000"/>
              </a:lnSpc>
            </a:pPr>
            <a:r>
              <a:rPr sz="1600" b="1" lang="ja-JP" altLang="en-US">
                <a:solidFill>
                  <a:srgbClr val="0017C1"/>
                </a:solidFill>
                <a:latin typeface="Noto Sans JP"/>
                <a:ea typeface="Noto Sans JP"/>
              </a:rPr>
              <a:t>付録</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付録｜従来法・Attention・設計の補足</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ct val="100000"/>
              </a:lnSpc>
            </a:pPr>
            <a:r>
              <a:rPr sz="1050" b="1" lang="ja-JP" altLang="en-US">
                <a:solidFill>
                  <a:srgbClr val="666666"/>
                </a:solidFill>
                <a:latin typeface="Noto Sans JP"/>
                <a:ea typeface="Noto Sans JP"/>
              </a:rPr>
              <a:t>付録 1 / 17</a:t>
            </a:r>
          </a:p>
        </p:txBody>
      </p:sp>
      <p:sp>
        <p:nvSpPr>
          <p:cNvPr id="6" name="TextBox 5"/>
          <p:cNvSpPr txBox="1"/>
          <p:nvPr/>
        </p:nvSpPr>
        <p:spPr>
          <a:xfrm>
            <a:off x="731520" y="1645920"/>
            <a:ext cx="10698480" cy="1645920"/>
          </a:xfrm>
          <a:prstGeom prst="rect">
            <a:avLst/>
          </a:prstGeom>
          <a:noFill/>
        </p:spPr>
        <p:txBody>
          <a:bodyPr wrap="square" lIns="0" rIns="0" tIns="0" bIns="0" anchor="t">
            <a:noAutofit/>
          </a:bodyPr>
          <a:lstStyle/>
          <a:p>
            <a:pPr algn="l">
              <a:lnSpc>
                <a:spcPts val="3079"/>
              </a:lnSpc>
            </a:pPr>
            <a:r>
              <a:rPr sz="2200" b="0" lang="ja-JP" altLang="en-US">
                <a:solidFill>
                  <a:srgbClr val="333333"/>
                </a:solidFill>
                <a:latin typeface="Noto Sans JP"/>
                <a:ea typeface="Noto Sans JP"/>
              </a:rPr>
              <a:t>従来法：用語、配列同一性、二次構造、断片、スレッディング、統計的ポテンシャル、物理計算、CASP。</a:t>
            </a:r>
          </a:p>
          <a:p>
            <a:pPr algn="l">
              <a:lnSpc>
                <a:spcPts val="3079"/>
              </a:lnSpc>
            </a:pPr>
            <a:r>
              <a:rPr sz="2200" b="0" lang="ja-JP" altLang="en-US">
                <a:solidFill>
                  <a:srgbClr val="333333"/>
                </a:solidFill>
                <a:latin typeface="Noto Sans JP"/>
                <a:ea typeface="Noto Sans JP"/>
              </a:rPr>
              <a:t>Attention：Q・K・V、行列による計算、複数ヘッド。</a:t>
            </a:r>
          </a:p>
          <a:p>
            <a:pPr algn="l">
              <a:lnSpc>
                <a:spcPts val="3079"/>
              </a:lnSpc>
            </a:pPr>
            <a:r>
              <a:rPr sz="2200" b="0" lang="ja-JP" altLang="en-US">
                <a:solidFill>
                  <a:srgbClr val="333333"/>
                </a:solidFill>
                <a:latin typeface="Noto Sans JP"/>
                <a:ea typeface="Noto Sans JP"/>
              </a:rPr>
              <a:t>設計：ColabDesignへの接続。</a:t>
            </a:r>
          </a:p>
        </p:txBody>
      </p:sp>
      <p:sp>
        <p:nvSpPr>
          <p:cNvPr id="7" name="TextBox 6"/>
          <p:cNvSpPr txBox="1"/>
          <p:nvPr/>
        </p:nvSpPr>
        <p:spPr>
          <a:xfrm>
            <a:off x="731520" y="4389120"/>
            <a:ext cx="10698480" cy="914400"/>
          </a:xfrm>
          <a:prstGeom prst="rect">
            <a:avLst/>
          </a:prstGeom>
          <a:noFill/>
        </p:spPr>
        <p:txBody>
          <a:bodyPr wrap="square" lIns="0" rIns="0" tIns="0" bIns="0" anchor="t">
            <a:noAutofit/>
          </a:bodyPr>
          <a:lstStyle/>
          <a:p>
            <a:pPr algn="l">
              <a:lnSpc>
                <a:spcPts val="3079"/>
              </a:lnSpc>
            </a:pPr>
            <a:r>
              <a:rPr sz="2200" b="1" lang="ja-JP" altLang="en-US">
                <a:solidFill>
                  <a:srgbClr val="0017C1"/>
                </a:solidFill>
                <a:latin typeface="Noto Sans JP"/>
                <a:ea typeface="Noto Sans JP"/>
              </a:rPr>
              <a:t>本編では、EvoformerとStructure Moduleを中心に扱う。</a:t>
            </a:r>
          </a:p>
          <a:p>
            <a:pPr algn="l">
              <a:lnSpc>
                <a:spcPts val="3079"/>
              </a:lnSpc>
            </a:pPr>
            <a:r>
              <a:rPr sz="2200" b="1" lang="ja-JP" altLang="en-US">
                <a:solidFill>
                  <a:srgbClr val="0017C1"/>
                </a:solidFill>
                <a:latin typeface="Noto Sans JP"/>
                <a:ea typeface="Noto Sans JP"/>
              </a:rPr>
              <a:t>付録は自習・復習用の補足資料です。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付録｜構造予測で使う言葉</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2 / 17</a:t>
            </a:r>
          </a:p>
        </p:txBody>
      </p:sp>
      <p:graphicFrame>
        <p:nvGraphicFramePr>
          <p:cNvPr id="6" name="Table 5"/>
          <p:cNvGraphicFramePr>
            <a:graphicFrameLocks noGrp="1"/>
          </p:cNvGraphicFramePr>
          <p:nvPr/>
        </p:nvGraphicFramePr>
        <p:xfrm>
          <a:off x="609904" y="1417320"/>
          <a:ext cx="10972799" cy="3730752"/>
        </p:xfrm>
        <a:graphic>
          <a:graphicData uri="http://schemas.openxmlformats.org/drawingml/2006/table">
            <a:tbl>
              <a:tblPr firstRow="0" bandRow="0">
                <a:tableStyleId>{5C22544A-7EE6-4342-B048-85BDC9FD1C3A}</a:tableStyleId>
              </a:tblPr>
              <a:tblGrid>
                <a:gridCol w="3017520"/>
                <a:gridCol w="7955279"/>
              </a:tblGrid>
              <a:tr h="442976">
                <a:tc>
                  <a:txBody>
                    <a:bodyPr wrap="square"/>
                    <a:lstStyle/>
                    <a:p>
                      <a:pPr algn="l">
                        <a:lnSpc>
                          <a:spcPts val="2480"/>
                        </a:lnSpc>
                      </a:pPr>
                      <a:r>
                        <a:rPr sz="1600" b="1" lang="ja-JP" altLang="en-US">
                          <a:solidFill>
                            <a:srgbClr val="1A1A1A"/>
                          </a:solidFill>
                          <a:latin typeface="Noto Sans JP"/>
                          <a:ea typeface="Noto Sans JP"/>
                        </a:rPr>
                        <a:t>用語</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意味</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42976">
                <a:tc>
                  <a:txBody>
                    <a:bodyPr wrap="square"/>
                    <a:lstStyle/>
                    <a:p>
                      <a:pPr algn="l">
                        <a:lnSpc>
                          <a:spcPts val="2480"/>
                        </a:lnSpc>
                      </a:pPr>
                      <a:r>
                        <a:rPr sz="1600" b="1" lang="ja-JP" altLang="en-US">
                          <a:solidFill>
                            <a:srgbClr val="1A1A1A"/>
                          </a:solidFill>
                          <a:latin typeface="Noto Sans JP"/>
                          <a:ea typeface="Noto Sans JP"/>
                        </a:rPr>
                        <a:t>ターゲット</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構造を予測したいタンパク質</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クエリ配列</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ターゲットのアミノ酸配列</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テンプレート</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構造がわかっていて、ターゲットに配列が似たタンパク質</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757936">
                <a:tc>
                  <a:txBody>
                    <a:bodyPr wrap="square"/>
                    <a:lstStyle/>
                    <a:p>
                      <a:pPr algn="l">
                        <a:lnSpc>
                          <a:spcPts val="2480"/>
                        </a:lnSpc>
                      </a:pPr>
                      <a:r>
                        <a:rPr sz="1600" b="1" lang="ja-JP" altLang="en-US">
                          <a:solidFill>
                            <a:srgbClr val="1A1A1A"/>
                          </a:solidFill>
                          <a:latin typeface="Noto Sans JP"/>
                          <a:ea typeface="Noto Sans JP"/>
                        </a:rPr>
                        <a:t>ホモロジーモデリング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テンプレートの構造をもとにターゲットの構造を組み立てる（相同性モデリング）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757936">
                <a:tc>
                  <a:txBody>
                    <a:bodyPr wrap="square"/>
                    <a:lstStyle/>
                    <a:p>
                      <a:pPr algn="l">
                        <a:lnSpc>
                          <a:spcPts val="2480"/>
                        </a:lnSpc>
                      </a:pPr>
                      <a:r>
                        <a:rPr sz="1600" b="1" lang="ja-JP" altLang="en-US">
                          <a:solidFill>
                            <a:srgbClr val="1A1A1A"/>
                          </a:solidFill>
                          <a:latin typeface="Noto Sans JP"/>
                          <a:ea typeface="Noto Sans JP"/>
                        </a:rPr>
                        <a:t>スレッディング</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似た配列がないとき、配列を既知の折り畳みに当てはめ、最も合うものを選ぶ</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分子シミュレーション</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物理法則にしたがって一から折り畳ませる（今は小さなタンパク質だけ）</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
        <p:nvSpPr>
          <p:cNvPr id="7" name="Rounded Rectangle 6"/>
          <p:cNvSpPr/>
          <p:nvPr/>
        </p:nvSpPr>
        <p:spPr>
          <a:xfrm>
            <a:off x="609904" y="5349240"/>
            <a:ext cx="10971885" cy="700405"/>
          </a:xfrm>
          <a:prstGeom prst="roundRect">
            <a:avLst>
              <a:gd name="adj" fmla="val 15666"/>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496" y="5513831"/>
            <a:ext cx="10642701" cy="371221"/>
          </a:xfrm>
          <a:prstGeom prst="rect">
            <a:avLst/>
          </a:prstGeom>
          <a:noFill/>
        </p:spPr>
        <p:txBody>
          <a:bodyPr wrap="square" lIns="0" rIns="0" tIns="0" bIns="0" anchor="t">
            <a:noAutofit/>
          </a:bodyPr>
          <a:lstStyle/>
          <a:p>
            <a:pPr algn="l">
              <a:lnSpc>
                <a:spcPts val="2635"/>
              </a:lnSpc>
            </a:pPr>
            <a:r>
              <a:rPr sz="1700" b="0" lang="ja-JP" altLang="en-US">
                <a:solidFill>
                  <a:srgbClr val="333333"/>
                </a:solidFill>
                <a:latin typeface="Noto Sans JP"/>
                <a:ea typeface="Noto Sans JP"/>
              </a:rPr>
              <a:t>基本の考え方：2 つのタンパク質の配列が似ていれば、ふつうは構造も似ている。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付録｜配列同一性は信頼性を考える目安</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3 / 17</a:t>
            </a:r>
          </a:p>
        </p:txBody>
      </p:sp>
      <p:sp>
        <p:nvSpPr>
          <p:cNvPr id="6" name="Rounded Rectangle 5"/>
          <p:cNvSpPr/>
          <p:nvPr/>
        </p:nvSpPr>
        <p:spPr>
          <a:xfrm>
            <a:off x="609904" y="1371600"/>
            <a:ext cx="5852160" cy="2711322"/>
          </a:xfrm>
          <a:prstGeom prst="roundRect">
            <a:avLst>
              <a:gd name="adj" fmla="val 404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成功に必要な 4 つのこと</a:t>
            </a:r>
          </a:p>
        </p:txBody>
      </p:sp>
      <p:sp>
        <p:nvSpPr>
          <p:cNvPr id="8" name="TextBox 7"/>
          <p:cNvSpPr txBox="1"/>
          <p:nvPr/>
        </p:nvSpPr>
        <p:spPr>
          <a:xfrm>
            <a:off x="774496" y="1922907"/>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(i) 関連するテンプレートを見つける</a:t>
            </a:r>
          </a:p>
        </p:txBody>
      </p:sp>
      <p:sp>
        <p:nvSpPr>
          <p:cNvPr id="9" name="TextBox 8"/>
          <p:cNvSpPr txBox="1"/>
          <p:nvPr/>
        </p:nvSpPr>
        <p:spPr>
          <a:xfrm>
            <a:off x="774496" y="2365883"/>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(ii) 良い配列アラインメントを得る</a:t>
            </a:r>
          </a:p>
        </p:txBody>
      </p:sp>
      <p:sp>
        <p:nvSpPr>
          <p:cNvPr id="10" name="TextBox 9"/>
          <p:cNvSpPr txBox="1"/>
          <p:nvPr/>
        </p:nvSpPr>
        <p:spPr>
          <a:xfrm>
            <a:off x="774496" y="2808859"/>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(iii) 天然に近い構造を見分けるスコア関数を用意する</a:t>
            </a:r>
          </a:p>
        </p:txBody>
      </p:sp>
      <p:sp>
        <p:nvSpPr>
          <p:cNvPr id="11" name="TextBox 10"/>
          <p:cNvSpPr txBox="1"/>
          <p:nvPr/>
        </p:nvSpPr>
        <p:spPr>
          <a:xfrm>
            <a:off x="774496" y="3566795"/>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(iv) 天然に近い構造に届くまで、十分に構造を探す</a:t>
            </a:r>
          </a:p>
        </p:txBody>
      </p:sp>
      <p:sp>
        <p:nvSpPr>
          <p:cNvPr id="12" name="Rounded Rectangle 11"/>
          <p:cNvSpPr/>
          <p:nvPr/>
        </p:nvSpPr>
        <p:spPr>
          <a:xfrm>
            <a:off x="609904" y="4174362"/>
            <a:ext cx="5852160" cy="1382395"/>
          </a:xfrm>
          <a:prstGeom prst="roundRect">
            <a:avLst>
              <a:gd name="adj" fmla="val 793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338954"/>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配列同一性とは</a:t>
            </a:r>
          </a:p>
        </p:txBody>
      </p:sp>
      <p:sp>
        <p:nvSpPr>
          <p:cNvPr id="14" name="TextBox 13"/>
          <p:cNvSpPr txBox="1"/>
          <p:nvPr/>
        </p:nvSpPr>
        <p:spPr>
          <a:xfrm>
            <a:off x="774496" y="4725669"/>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2 つの配列を並べたとき、同じアミノ酸が並ぶ位置の割合。</a:t>
            </a:r>
          </a:p>
        </p:txBody>
      </p:sp>
      <p:pic>
        <p:nvPicPr>
          <p:cNvPr id="15" name="Picture 14" descr="sch_identity.png"/>
          <p:cNvPicPr>
            <a:picLocks noChangeAspect="1"/>
          </p:cNvPicPr>
          <p:nvPr/>
        </p:nvPicPr>
        <p:blipFill>
          <a:blip r:embed="rId3"/>
          <a:stretch>
            <a:fillRect/>
          </a:stretch>
        </p:blipFill>
        <p:spPr>
          <a:xfrm>
            <a:off x="6736384" y="1463040"/>
            <a:ext cx="4845405" cy="2584216"/>
          </a:xfrm>
          <a:prstGeom prst="rect">
            <a:avLst/>
          </a:prstGeom>
        </p:spPr>
      </p:pic>
      <p:sp>
        <p:nvSpPr>
          <p:cNvPr id="16" name="Rounded Rectangle 15"/>
          <p:cNvSpPr/>
          <p:nvPr/>
        </p:nvSpPr>
        <p:spPr>
          <a:xfrm>
            <a:off x="6736384" y="4230136"/>
            <a:ext cx="4845405" cy="1802892"/>
          </a:xfrm>
          <a:prstGeom prst="roundRect">
            <a:avLst>
              <a:gd name="adj" fmla="val 6086"/>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00976" y="4394728"/>
            <a:ext cx="4516221"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35% 以上：構造を推定しやすいことが多い</a:t>
            </a:r>
          </a:p>
        </p:txBody>
      </p:sp>
      <p:sp>
        <p:nvSpPr>
          <p:cNvPr id="18" name="TextBox 17"/>
          <p:cNvSpPr txBox="1"/>
          <p:nvPr/>
        </p:nvSpPr>
        <p:spPr>
          <a:xfrm>
            <a:off x="6900976" y="4818019"/>
            <a:ext cx="4516221"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20〜35%：トワイライトゾーン。信頼性が下がる</a:t>
            </a:r>
          </a:p>
        </p:txBody>
      </p:sp>
      <p:sp>
        <p:nvSpPr>
          <p:cNvPr id="19" name="TextBox 18"/>
          <p:cNvSpPr txBox="1"/>
          <p:nvPr/>
        </p:nvSpPr>
        <p:spPr>
          <a:xfrm>
            <a:off x="6900976" y="5536585"/>
            <a:ext cx="4516221"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配列長・整列の質・対象にも依存し、絶対的な境界ではない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付録｜二次構造を決める・予測する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4 / 17</a:t>
            </a:r>
          </a:p>
        </p:txBody>
      </p:sp>
      <p:sp>
        <p:nvSpPr>
          <p:cNvPr id="6" name="Rounded Rectangle 5"/>
          <p:cNvSpPr/>
          <p:nvPr/>
        </p:nvSpPr>
        <p:spPr>
          <a:xfrm>
            <a:off x="609904" y="1371600"/>
            <a:ext cx="5348782" cy="1579245"/>
          </a:xfrm>
          <a:prstGeom prst="roundRect">
            <a:avLst>
              <a:gd name="adj" fmla="val 694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構造がわかっているとき：DSSP</a:t>
            </a:r>
          </a:p>
        </p:txBody>
      </p:sp>
      <p:sp>
        <p:nvSpPr>
          <p:cNvPr id="8" name="TextBox 7"/>
          <p:cNvSpPr txBox="1"/>
          <p:nvPr/>
        </p:nvSpPr>
        <p:spPr>
          <a:xfrm>
            <a:off x="774496" y="1922907"/>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水素結合のパターンから二次構造を割り当てる。8 種類の文字列で表す（H：α ヘリックス、E：β ストランド、G：3₁₀ ヘリックス、T：ターン など）。</a:t>
            </a:r>
          </a:p>
        </p:txBody>
      </p:sp>
      <p:pic>
        <p:nvPicPr>
          <p:cNvPr id="9" name="Picture 8" descr="dssp_1ubq.png"/>
          <p:cNvPicPr>
            <a:picLocks noChangeAspect="1"/>
          </p:cNvPicPr>
          <p:nvPr/>
        </p:nvPicPr>
        <p:blipFill>
          <a:blip r:embed="rId3"/>
          <a:stretch>
            <a:fillRect/>
          </a:stretch>
        </p:blipFill>
        <p:spPr>
          <a:xfrm>
            <a:off x="609904" y="3017520"/>
            <a:ext cx="5348782" cy="2755433"/>
          </a:xfrm>
          <a:prstGeom prst="rect">
            <a:avLst/>
          </a:prstGeom>
        </p:spPr>
      </p:pic>
      <p:sp>
        <p:nvSpPr>
          <p:cNvPr id="10" name="TextBox 9"/>
          <p:cNvSpPr txBox="1"/>
          <p:nvPr/>
        </p:nvSpPr>
        <p:spPr>
          <a:xfrm>
            <a:off x="609904" y="5818672"/>
            <a:ext cx="5348782"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DSSP の出力の例：ユビキチン（PDB 1UBQ）</a:t>
            </a:r>
          </a:p>
        </p:txBody>
      </p:sp>
      <p:sp>
        <p:nvSpPr>
          <p:cNvPr id="11" name="Rounded Rectangle 10"/>
          <p:cNvSpPr/>
          <p:nvPr/>
        </p:nvSpPr>
        <p:spPr>
          <a:xfrm>
            <a:off x="6233007" y="1371600"/>
            <a:ext cx="5348782" cy="1579245"/>
          </a:xfrm>
          <a:prstGeom prst="roundRect">
            <a:avLst>
              <a:gd name="adj" fmla="val 694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7599"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構造がわからないとき：PSIPRED</a:t>
            </a:r>
          </a:p>
        </p:txBody>
      </p:sp>
      <p:sp>
        <p:nvSpPr>
          <p:cNvPr id="13" name="TextBox 12"/>
          <p:cNvSpPr txBox="1"/>
          <p:nvPr/>
        </p:nvSpPr>
        <p:spPr>
          <a:xfrm>
            <a:off x="6397599" y="1922907"/>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配列から二次構造を予測するサーバー。ニューラルネットワークを使う。似た配列の情報も使うと正解率は最大 80% ほど。</a:t>
            </a:r>
          </a:p>
        </p:txBody>
      </p:sp>
      <p:pic>
        <p:nvPicPr>
          <p:cNvPr id="14" name="Picture 13" descr="psipred_like.png"/>
          <p:cNvPicPr>
            <a:picLocks noChangeAspect="1"/>
          </p:cNvPicPr>
          <p:nvPr/>
        </p:nvPicPr>
        <p:blipFill>
          <a:blip r:embed="rId4"/>
          <a:stretch>
            <a:fillRect/>
          </a:stretch>
        </p:blipFill>
        <p:spPr>
          <a:xfrm>
            <a:off x="6233007" y="3017520"/>
            <a:ext cx="5348782" cy="2755433"/>
          </a:xfrm>
          <a:prstGeom prst="rect">
            <a:avLst/>
          </a:prstGeom>
        </p:spPr>
      </p:pic>
      <p:sp>
        <p:nvSpPr>
          <p:cNvPr id="15" name="TextBox 14"/>
          <p:cNvSpPr txBox="1"/>
          <p:nvPr/>
        </p:nvSpPr>
        <p:spPr>
          <a:xfrm>
            <a:off x="6233007" y="5818672"/>
            <a:ext cx="5348782"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PSIPRED の出力の形（模式図、値は架空）</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付録｜9 残基の断片で組み立てる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5 / 17</a:t>
            </a:r>
          </a:p>
        </p:txBody>
      </p:sp>
      <p:sp>
        <p:nvSpPr>
          <p:cNvPr id="6" name="Rounded Rectangle 5"/>
          <p:cNvSpPr/>
          <p:nvPr/>
        </p:nvSpPr>
        <p:spPr>
          <a:xfrm>
            <a:off x="609904" y="1371600"/>
            <a:ext cx="5852160" cy="2583307"/>
          </a:xfrm>
          <a:prstGeom prst="roundRect">
            <a:avLst>
              <a:gd name="adj" fmla="val 424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フラグメント組み立て法</a:t>
            </a:r>
          </a:p>
        </p:txBody>
      </p:sp>
      <p:sp>
        <p:nvSpPr>
          <p:cNvPr id="8" name="TextBox 7"/>
          <p:cNvSpPr txBox="1"/>
          <p:nvPr/>
        </p:nvSpPr>
        <p:spPr>
          <a:xfrm>
            <a:off x="774496" y="1922907"/>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① ターゲットを 9 残基ずつ、ずらしながら区切る</a:t>
            </a:r>
          </a:p>
        </p:txBody>
      </p:sp>
      <p:sp>
        <p:nvSpPr>
          <p:cNvPr id="9" name="TextBox 8"/>
          <p:cNvSpPr txBox="1"/>
          <p:nvPr/>
        </p:nvSpPr>
        <p:spPr>
          <a:xfrm>
            <a:off x="774496" y="2365883"/>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② 各断片で PDB を検索し、似た断片の主鎖の角度 </a:t>
            </a:r>
            <a:r>
              <a:rPr sz="1600" b="0" i="0" lang="ja-JP" altLang="en-US">
                <a:solidFill>
                  <a:srgbClr val="333333"/>
                </a:solidFill>
                <a:latin typeface="Cambria Math"/>
                <a:ea typeface="Noto Sans JP"/>
              </a:rPr>
              <a:t>(</a:t>
            </a:r>
            <a:r>
              <a:rPr sz="1600" b="0" i="1" lang="ja-JP" altLang="en-US">
                <a:solidFill>
                  <a:srgbClr val="333333"/>
                </a:solidFill>
                <a:latin typeface="Cambria Math"/>
                <a:ea typeface="Noto Sans JP"/>
              </a:rPr>
              <a:t>φ</a:t>
            </a:r>
            <a:r>
              <a:rPr sz="1600" b="0" i="0" lang="ja-JP" altLang="en-US">
                <a:solidFill>
                  <a:srgbClr val="333333"/>
                </a:solidFill>
                <a:latin typeface="Cambria Math"/>
                <a:ea typeface="Noto Sans JP"/>
              </a:rPr>
              <a:t>, </a:t>
            </a:r>
            <a:r>
              <a:rPr sz="1600" b="0" i="1" lang="ja-JP" altLang="en-US">
                <a:solidFill>
                  <a:srgbClr val="333333"/>
                </a:solidFill>
                <a:latin typeface="Cambria Math"/>
                <a:ea typeface="Noto Sans JP"/>
              </a:rPr>
              <a:t>ψ</a:t>
            </a:r>
            <a:r>
              <a:rPr sz="1600" b="0" i="0" lang="ja-JP" altLang="en-US">
                <a:solidFill>
                  <a:srgbClr val="333333"/>
                </a:solidFill>
                <a:latin typeface="Cambria Math"/>
                <a:ea typeface="Noto Sans JP"/>
              </a:rPr>
              <a:t>)</a:t>
            </a:r>
            <a:r>
              <a:rPr sz="1600" b="0" lang="ja-JP" altLang="en-US">
                <a:solidFill>
                  <a:srgbClr val="333333"/>
                </a:solidFill>
                <a:latin typeface="Noto Sans JP"/>
                <a:ea typeface="Noto Sans JP"/>
              </a:rPr>
              <a:t> を借りる</a:t>
            </a:r>
          </a:p>
        </p:txBody>
      </p:sp>
      <p:sp>
        <p:nvSpPr>
          <p:cNvPr id="10" name="TextBox 9"/>
          <p:cNvSpPr txBox="1"/>
          <p:nvPr/>
        </p:nvSpPr>
        <p:spPr>
          <a:xfrm>
            <a:off x="774496" y="3123819"/>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③ 断片をつなぎ替えながら構造を探し、スコアで評価する</a:t>
            </a:r>
          </a:p>
        </p:txBody>
      </p:sp>
      <p:sp>
        <p:nvSpPr>
          <p:cNvPr id="11" name="Rounded Rectangle 10"/>
          <p:cNvSpPr/>
          <p:nvPr/>
        </p:nvSpPr>
        <p:spPr>
          <a:xfrm>
            <a:off x="609904" y="4046346"/>
            <a:ext cx="5852160" cy="1638299"/>
          </a:xfrm>
          <a:prstGeom prst="roundRect">
            <a:avLst>
              <a:gd name="adj" fmla="val 669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210938"/>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背景</a:t>
            </a:r>
          </a:p>
        </p:txBody>
      </p:sp>
      <p:sp>
        <p:nvSpPr>
          <p:cNvPr id="13" name="TextBox 12"/>
          <p:cNvSpPr txBox="1"/>
          <p:nvPr/>
        </p:nvSpPr>
        <p:spPr>
          <a:xfrm>
            <a:off x="774496" y="4597653"/>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D. Baker らが開発し、予測プログラム Rosetta の中心になった。Baker は 2024 年のノーベル化学賞を AlphaFold の開発者と共に受賞。</a:t>
            </a:r>
          </a:p>
        </p:txBody>
      </p:sp>
      <p:pic>
        <p:nvPicPr>
          <p:cNvPr id="14" name="Picture 13" descr="sch_fragment.png"/>
          <p:cNvPicPr>
            <a:picLocks noChangeAspect="1"/>
          </p:cNvPicPr>
          <p:nvPr/>
        </p:nvPicPr>
        <p:blipFill>
          <a:blip r:embed="rId3"/>
          <a:stretch>
            <a:fillRect/>
          </a:stretch>
        </p:blipFill>
        <p:spPr>
          <a:xfrm>
            <a:off x="6736384" y="1554480"/>
            <a:ext cx="4845405" cy="3461004"/>
          </a:xfrm>
          <a:prstGeom prst="rect">
            <a:avLst/>
          </a:prstGeom>
        </p:spPr>
      </p:pic>
      <p:sp>
        <p:nvSpPr>
          <p:cNvPr id="15" name="TextBox 14"/>
          <p:cNvSpPr txBox="1"/>
          <p:nvPr/>
        </p:nvSpPr>
        <p:spPr>
          <a:xfrm>
            <a:off x="6736384" y="5061204"/>
            <a:ext cx="4845405"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模式図</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付録｜スレッディング：既知の折り畳みに当てはめる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6 / 17</a:t>
            </a:r>
          </a:p>
        </p:txBody>
      </p:sp>
      <p:sp>
        <p:nvSpPr>
          <p:cNvPr id="6" name="Rounded Rectangle 5"/>
          <p:cNvSpPr/>
          <p:nvPr/>
        </p:nvSpPr>
        <p:spPr>
          <a:xfrm>
            <a:off x="609904" y="1371600"/>
            <a:ext cx="5852160" cy="2583307"/>
          </a:xfrm>
          <a:prstGeom prst="roundRect">
            <a:avLst>
              <a:gd name="adj" fmla="val 424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手順</a:t>
            </a:r>
          </a:p>
        </p:txBody>
      </p:sp>
      <p:sp>
        <p:nvSpPr>
          <p:cNvPr id="8" name="TextBox 7"/>
          <p:cNvSpPr txBox="1"/>
          <p:nvPr/>
        </p:nvSpPr>
        <p:spPr>
          <a:xfrm>
            <a:off x="774496" y="1922907"/>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① ターゲットがとりそうな折り畳みを PDB から選ぶ（「動物園」）</a:t>
            </a:r>
          </a:p>
        </p:txBody>
      </p:sp>
      <p:sp>
        <p:nvSpPr>
          <p:cNvPr id="9" name="TextBox 8"/>
          <p:cNvSpPr txBox="1"/>
          <p:nvPr/>
        </p:nvSpPr>
        <p:spPr>
          <a:xfrm>
            <a:off x="774496" y="2680843"/>
            <a:ext cx="5522976" cy="66649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② 配列を各構造に当てはめる（アミノ酸を置き換える）</a:t>
            </a:r>
          </a:p>
        </p:txBody>
      </p:sp>
      <p:sp>
        <p:nvSpPr>
          <p:cNvPr id="10" name="TextBox 9"/>
          <p:cNvSpPr txBox="1"/>
          <p:nvPr/>
        </p:nvSpPr>
        <p:spPr>
          <a:xfrm>
            <a:off x="774496" y="3438779"/>
            <a:ext cx="5522976" cy="351536"/>
          </a:xfrm>
          <a:prstGeom prst="rect">
            <a:avLst/>
          </a:prstGeom>
          <a:noFill/>
        </p:spPr>
        <p:txBody>
          <a:bodyPr wrap="square" lIns="0" rIns="0" tIns="0" bIns="0" anchor="t">
            <a:noAutofit/>
          </a:bodyPr>
          <a:lstStyle/>
          <a:p>
            <a:pPr algn="l">
              <a:lnSpc>
                <a:spcPts val="2480"/>
              </a:lnSpc>
            </a:pPr>
            <a:r>
              <a:rPr sz="1600" b="0" lang="ja-JP" altLang="en-US">
                <a:solidFill>
                  <a:srgbClr val="333333"/>
                </a:solidFill>
                <a:latin typeface="Noto Sans JP"/>
                <a:ea typeface="Noto Sans JP"/>
              </a:rPr>
              <a:t>③ 合い方をスコアで比べ、最も合う折り畳みを選ぶ</a:t>
            </a:r>
          </a:p>
        </p:txBody>
      </p:sp>
      <p:sp>
        <p:nvSpPr>
          <p:cNvPr id="11" name="Rounded Rectangle 10"/>
          <p:cNvSpPr/>
          <p:nvPr/>
        </p:nvSpPr>
        <p:spPr>
          <a:xfrm>
            <a:off x="609904" y="4046346"/>
            <a:ext cx="5852160" cy="1638299"/>
          </a:xfrm>
          <a:prstGeom prst="roundRect">
            <a:avLst>
              <a:gd name="adj" fmla="val 6697"/>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210938"/>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限界</a:t>
            </a:r>
          </a:p>
        </p:txBody>
      </p:sp>
      <p:sp>
        <p:nvSpPr>
          <p:cNvPr id="13" name="TextBox 12"/>
          <p:cNvSpPr txBox="1"/>
          <p:nvPr/>
        </p:nvSpPr>
        <p:spPr>
          <a:xfrm>
            <a:off x="774496" y="4597653"/>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正しい折り畳みが「動物園」に入っていないと当たらない。挿入・欠失の扱いと、スコア関数の良し悪しにも左右される。</a:t>
            </a:r>
          </a:p>
        </p:txBody>
      </p:sp>
      <p:pic>
        <p:nvPicPr>
          <p:cNvPr id="14" name="Picture 13" descr="threading.png"/>
          <p:cNvPicPr>
            <a:picLocks noChangeAspect="1"/>
          </p:cNvPicPr>
          <p:nvPr/>
        </p:nvPicPr>
        <p:blipFill>
          <a:blip r:embed="rId3"/>
          <a:stretch>
            <a:fillRect/>
          </a:stretch>
        </p:blipFill>
        <p:spPr>
          <a:xfrm>
            <a:off x="6835250" y="1371600"/>
            <a:ext cx="4647674" cy="4492752"/>
          </a:xfrm>
          <a:prstGeom prst="rect">
            <a:avLst/>
          </a:prstGeom>
        </p:spPr>
      </p:pic>
      <p:sp>
        <p:nvSpPr>
          <p:cNvPr id="15" name="TextBox 14"/>
          <p:cNvSpPr txBox="1"/>
          <p:nvPr/>
        </p:nvSpPr>
        <p:spPr>
          <a:xfrm>
            <a:off x="6736384" y="5910072"/>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疎水性の残基が埋もれた位置に合う、折り畳み 3 が最適（模式図）</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付録｜統計的ポテンシャル：頻度をエネルギーへ</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7 / 17</a:t>
            </a:r>
          </a:p>
        </p:txBody>
      </p:sp>
      <p:sp>
        <p:nvSpPr>
          <p:cNvPr id="6" name="Rounded Rectangle 5"/>
          <p:cNvSpPr/>
          <p:nvPr/>
        </p:nvSpPr>
        <p:spPr>
          <a:xfrm>
            <a:off x="609904" y="1371600"/>
            <a:ext cx="5852160" cy="3378961"/>
          </a:xfrm>
          <a:prstGeom prst="roundRect">
            <a:avLst>
              <a:gd name="adj" fmla="val 324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PDB で数えた頻度から確率を作る</a:t>
            </a:r>
          </a:p>
        </p:txBody>
      </p:sp>
      <p:pic>
        <p:nvPicPr>
          <p:cNvPr id="8" name="Picture 7" descr="p_{i} = \frac{m_{i}}{M}, \qquad M = \sum_{i} m_{i}"/>
          <p:cNvPicPr>
            <a:picLocks noChangeAspect="1"/>
          </p:cNvPicPr>
          <p:nvPr/>
        </p:nvPicPr>
        <p:blipFill>
          <a:blip r:embed="rId3"/>
          <a:stretch>
            <a:fillRect/>
          </a:stretch>
        </p:blipFill>
        <p:spPr>
          <a:xfrm>
            <a:off x="774496" y="1922907"/>
            <a:ext cx="2430272" cy="579120"/>
          </a:xfrm>
          <a:prstGeom prst="rect">
            <a:avLst/>
          </a:prstGeom>
        </p:spPr>
      </p:pic>
      <p:sp>
        <p:nvSpPr>
          <p:cNvPr id="9" name="TextBox 8"/>
          <p:cNvSpPr txBox="1"/>
          <p:nvPr/>
        </p:nvSpPr>
        <p:spPr>
          <a:xfrm>
            <a:off x="774496" y="2593467"/>
            <a:ext cx="5522976" cy="312165"/>
          </a:xfrm>
          <a:prstGeom prst="rect">
            <a:avLst/>
          </a:prstGeom>
          <a:noFill/>
        </p:spPr>
        <p:txBody>
          <a:bodyPr wrap="square" lIns="0" rIns="0" tIns="0" bIns="0" anchor="t">
            <a:noAutofit/>
          </a:bodyPr>
          <a:lstStyle/>
          <a:p>
            <a:pPr algn="l">
              <a:lnSpc>
                <a:spcPts val="2170"/>
              </a:lnSpc>
            </a:pPr>
            <a:r>
              <a:rPr sz="1400" b="0" i="1" lang="ja-JP" altLang="en-US">
                <a:solidFill>
                  <a:srgbClr val="4D4D4D"/>
                </a:solidFill>
                <a:latin typeface="Cambria Math"/>
                <a:ea typeface="Noto Sans JP"/>
              </a:rPr>
              <a:t>m</a:t>
            </a:r>
            <a:r>
              <a:rPr sz="1400" b="0" i="1" baseline="-25000" lang="ja-JP" altLang="en-US">
                <a:solidFill>
                  <a:srgbClr val="4D4D4D"/>
                </a:solidFill>
                <a:latin typeface="Cambria Math"/>
                <a:ea typeface="Noto Sans JP"/>
              </a:rPr>
              <a:t>i</a:t>
            </a:r>
            <a:r>
              <a:rPr sz="1400" b="0" lang="ja-JP" altLang="en-US">
                <a:solidFill>
                  <a:srgbClr val="4D4D4D"/>
                </a:solidFill>
                <a:latin typeface="Noto Sans JP"/>
                <a:ea typeface="Noto Sans JP"/>
              </a:rPr>
              <a:t>：二面角が </a:t>
            </a:r>
            <a:r>
              <a:rPr sz="1400" b="0" i="1" lang="ja-JP" altLang="en-US">
                <a:solidFill>
                  <a:srgbClr val="4D4D4D"/>
                </a:solidFill>
                <a:latin typeface="Cambria Math"/>
                <a:ea typeface="Noto Sans JP"/>
              </a:rPr>
              <a:t>i</a:t>
            </a:r>
            <a:r>
              <a:rPr sz="1400" b="0" lang="ja-JP" altLang="en-US">
                <a:solidFill>
                  <a:srgbClr val="4D4D4D"/>
                </a:solidFill>
                <a:latin typeface="Noto Sans JP"/>
                <a:ea typeface="Noto Sans JP"/>
              </a:rPr>
              <a:t> 番目のビンに入った数</a:t>
            </a:r>
          </a:p>
        </p:txBody>
      </p:sp>
      <p:sp>
        <p:nvSpPr>
          <p:cNvPr id="10" name="TextBox 9"/>
          <p:cNvSpPr txBox="1"/>
          <p:nvPr/>
        </p:nvSpPr>
        <p:spPr>
          <a:xfrm>
            <a:off x="774496" y="299707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確率をエネルギーに直す　式 (11.1)</a:t>
            </a:r>
          </a:p>
        </p:txBody>
      </p:sp>
      <p:pic>
        <p:nvPicPr>
          <p:cNvPr id="11" name="Picture 10" descr="\frac{\Delta U(i)}{RT} = -\ln \frac{p_{i}}{p_{i}^{0}}"/>
          <p:cNvPicPr>
            <a:picLocks noChangeAspect="1"/>
          </p:cNvPicPr>
          <p:nvPr/>
        </p:nvPicPr>
        <p:blipFill>
          <a:blip r:embed="rId4"/>
          <a:stretch>
            <a:fillRect/>
          </a:stretch>
        </p:blipFill>
        <p:spPr>
          <a:xfrm>
            <a:off x="774496" y="3383788"/>
            <a:ext cx="1999487" cy="798576"/>
          </a:xfrm>
          <a:prstGeom prst="rect">
            <a:avLst/>
          </a:prstGeom>
        </p:spPr>
      </p:pic>
      <p:sp>
        <p:nvSpPr>
          <p:cNvPr id="12" name="TextBox 11"/>
          <p:cNvSpPr txBox="1"/>
          <p:nvPr/>
        </p:nvSpPr>
        <p:spPr>
          <a:xfrm>
            <a:off x="774496" y="4273804"/>
            <a:ext cx="5522976" cy="312165"/>
          </a:xfrm>
          <a:prstGeom prst="rect">
            <a:avLst/>
          </a:prstGeom>
          <a:noFill/>
        </p:spPr>
        <p:txBody>
          <a:bodyPr wrap="square" lIns="0" rIns="0" tIns="0" bIns="0" anchor="t">
            <a:noAutofit/>
          </a:bodyPr>
          <a:lstStyle/>
          <a:p>
            <a:pPr algn="l">
              <a:lnSpc>
                <a:spcPts val="2170"/>
              </a:lnSpc>
            </a:pPr>
            <a:r>
              <a:rPr sz="1400" b="0" i="1" lang="ja-JP" altLang="en-US">
                <a:solidFill>
                  <a:srgbClr val="4D4D4D"/>
                </a:solidFill>
                <a:latin typeface="Cambria Math"/>
                <a:ea typeface="Noto Sans JP"/>
              </a:rPr>
              <a:t>p</a:t>
            </a:r>
            <a:r>
              <a:rPr sz="1400" b="0" i="1" baseline="-25000" lang="ja-JP" altLang="en-US">
                <a:solidFill>
                  <a:srgbClr val="4D4D4D"/>
                </a:solidFill>
                <a:latin typeface="Cambria Math"/>
                <a:ea typeface="Noto Sans JP"/>
              </a:rPr>
              <a:t>i</a:t>
            </a:r>
            <a:r>
              <a:rPr sz="1400" b="0" i="0" baseline="30000" lang="ja-JP" altLang="en-US">
                <a:solidFill>
                  <a:srgbClr val="4D4D4D"/>
                </a:solidFill>
                <a:latin typeface="Cambria Math"/>
                <a:ea typeface="Noto Sans JP"/>
              </a:rPr>
              <a:t>0</a:t>
            </a:r>
            <a:r>
              <a:rPr sz="1400" b="0" lang="ja-JP" altLang="en-US">
                <a:solidFill>
                  <a:srgbClr val="4D4D4D"/>
                </a:solidFill>
                <a:latin typeface="Noto Sans JP"/>
                <a:ea typeface="Noto Sans JP"/>
              </a:rPr>
              <a:t>：ランダムな分布（基準状態）の確率</a:t>
            </a:r>
          </a:p>
        </p:txBody>
      </p:sp>
      <p:sp>
        <p:nvSpPr>
          <p:cNvPr id="13" name="Rounded Rectangle 12"/>
          <p:cNvSpPr/>
          <p:nvPr/>
        </p:nvSpPr>
        <p:spPr>
          <a:xfrm>
            <a:off x="609904" y="4842001"/>
            <a:ext cx="5852160" cy="1416176"/>
          </a:xfrm>
          <a:prstGeom prst="roundRect">
            <a:avLst>
              <a:gd name="adj" fmla="val 7748"/>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496" y="500659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補足：なぜ対数か（ボルツマン分布を逆に解く）</a:t>
            </a:r>
          </a:p>
        </p:txBody>
      </p:sp>
      <p:pic>
        <p:nvPicPr>
          <p:cNvPr id="15" name="Picture 14" descr="p_{i} \propto e^{-U_{i}/RT} \;\Rightarrow\; U_{i} = -RT \ln p_{i} + \text{const.}"/>
          <p:cNvPicPr>
            <a:picLocks noChangeAspect="1"/>
          </p:cNvPicPr>
          <p:nvPr/>
        </p:nvPicPr>
        <p:blipFill>
          <a:blip r:embed="rId5"/>
          <a:stretch>
            <a:fillRect/>
          </a:stretch>
        </p:blipFill>
        <p:spPr>
          <a:xfrm>
            <a:off x="774496" y="5393308"/>
            <a:ext cx="3783584" cy="296672"/>
          </a:xfrm>
          <a:prstGeom prst="rect">
            <a:avLst/>
          </a:prstGeom>
        </p:spPr>
      </p:pic>
      <p:sp>
        <p:nvSpPr>
          <p:cNvPr id="16" name="TextBox 15"/>
          <p:cNvSpPr txBox="1"/>
          <p:nvPr/>
        </p:nvSpPr>
        <p:spPr>
          <a:xfrm>
            <a:off x="774496" y="5781420"/>
            <a:ext cx="5522976" cy="312165"/>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基準状態との比をとると、定数が消える。</a:t>
            </a:r>
          </a:p>
        </p:txBody>
      </p:sp>
      <p:pic>
        <p:nvPicPr>
          <p:cNvPr id="17" name="Picture 16" descr="sch_statpot.png"/>
          <p:cNvPicPr>
            <a:picLocks noChangeAspect="1"/>
          </p:cNvPicPr>
          <p:nvPr/>
        </p:nvPicPr>
        <p:blipFill>
          <a:blip r:embed="rId6"/>
          <a:stretch>
            <a:fillRect/>
          </a:stretch>
        </p:blipFill>
        <p:spPr>
          <a:xfrm>
            <a:off x="6736384" y="1371600"/>
            <a:ext cx="4845405" cy="4672355"/>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付録｜接触ポテンシャル：アミノ酸の対の好み</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8 / 17</a:t>
            </a:r>
          </a:p>
        </p:txBody>
      </p:sp>
      <p:sp>
        <p:nvSpPr>
          <p:cNvPr id="6" name="Rounded Rectangle 5"/>
          <p:cNvSpPr/>
          <p:nvPr/>
        </p:nvSpPr>
        <p:spPr>
          <a:xfrm>
            <a:off x="609904" y="1371600"/>
            <a:ext cx="5852160" cy="3388995"/>
          </a:xfrm>
          <a:prstGeom prst="roundRect">
            <a:avLst>
              <a:gd name="adj" fmla="val 323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対の好みをエネルギーで表す　式 (11.2)(11.3)</a:t>
            </a:r>
          </a:p>
        </p:txBody>
      </p:sp>
      <p:pic>
        <p:nvPicPr>
          <p:cNvPr id="8" name="Picture 7" descr="\Delta\Delta U = \Delta U_{AC} - \Delta U_{AB} = -RT \ln \frac{p(AC)}{p(AB)}"/>
          <p:cNvPicPr>
            <a:picLocks noChangeAspect="1"/>
          </p:cNvPicPr>
          <p:nvPr/>
        </p:nvPicPr>
        <p:blipFill>
          <a:blip r:embed="rId3"/>
          <a:stretch>
            <a:fillRect/>
          </a:stretch>
        </p:blipFill>
        <p:spPr>
          <a:xfrm>
            <a:off x="774496" y="1922907"/>
            <a:ext cx="3712463" cy="568960"/>
          </a:xfrm>
          <a:prstGeom prst="rect">
            <a:avLst/>
          </a:prstGeom>
        </p:spPr>
      </p:pic>
      <p:pic>
        <p:nvPicPr>
          <p:cNvPr id="9" name="Picture 8" descr="\Delta U_{ij} = U_{ij} - U_{ij}^{0} = -RT \ln \frac{p_{ij}}{p_{ij}^{0}}"/>
          <p:cNvPicPr>
            <a:picLocks noChangeAspect="1"/>
          </p:cNvPicPr>
          <p:nvPr/>
        </p:nvPicPr>
        <p:blipFill>
          <a:blip r:embed="rId4"/>
          <a:stretch>
            <a:fillRect/>
          </a:stretch>
        </p:blipFill>
        <p:spPr>
          <a:xfrm>
            <a:off x="774496" y="2583307"/>
            <a:ext cx="2877312" cy="654304"/>
          </a:xfrm>
          <a:prstGeom prst="rect">
            <a:avLst/>
          </a:prstGeom>
        </p:spPr>
      </p:pic>
      <p:sp>
        <p:nvSpPr>
          <p:cNvPr id="10" name="TextBox 9"/>
          <p:cNvSpPr txBox="1"/>
          <p:nvPr/>
        </p:nvSpPr>
        <p:spPr>
          <a:xfrm>
            <a:off x="774496" y="3329051"/>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20 × 20 の対称な表（210 種類の対）を、PDB の接触の数で埋める。側鎖の中心間が 6.8 Å 以下を接触とする。</a:t>
            </a:r>
          </a:p>
        </p:txBody>
      </p:sp>
      <p:sp>
        <p:nvSpPr>
          <p:cNvPr id="11" name="TextBox 10"/>
          <p:cNvSpPr txBox="1"/>
          <p:nvPr/>
        </p:nvSpPr>
        <p:spPr>
          <a:xfrm>
            <a:off x="774496" y="4008247"/>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対数をとると、エネルギーとして足し算できる（局所と非局所の寄与を同じ単位で合わせられる）。</a:t>
            </a:r>
          </a:p>
        </p:txBody>
      </p:sp>
      <p:sp>
        <p:nvSpPr>
          <p:cNvPr id="12" name="Rounded Rectangle 11"/>
          <p:cNvSpPr/>
          <p:nvPr/>
        </p:nvSpPr>
        <p:spPr>
          <a:xfrm>
            <a:off x="609904" y="4852034"/>
            <a:ext cx="5852160" cy="916940"/>
          </a:xfrm>
          <a:prstGeom prst="roundRect">
            <a:avLst>
              <a:gd name="adj" fmla="val 11966"/>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5016626"/>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統計的ポテンシャルは本当の自由エネルギーではない。</a:t>
            </a:r>
            <a:r>
              <a:rPr sz="1400" b="0" i="1" lang="ja-JP" altLang="en-US">
                <a:solidFill>
                  <a:srgbClr val="333333"/>
                </a:solidFill>
                <a:latin typeface="Cambria Math"/>
                <a:ea typeface="Noto Sans JP"/>
              </a:rPr>
              <a:t>RT</a:t>
            </a:r>
            <a:r>
              <a:rPr sz="1400" b="0" lang="ja-JP" altLang="en-US">
                <a:solidFill>
                  <a:srgbClr val="333333"/>
                </a:solidFill>
                <a:latin typeface="Noto Sans JP"/>
                <a:ea typeface="Noto Sans JP"/>
              </a:rPr>
              <a:t> はほかの項との釣り合いを調整するパラメータとして扱う。</a:t>
            </a:r>
          </a:p>
        </p:txBody>
      </p:sp>
      <p:sp>
        <p:nvSpPr>
          <p:cNvPr id="14" name="TextBox 13"/>
          <p:cNvSpPr txBox="1"/>
          <p:nvPr/>
        </p:nvSpPr>
        <p:spPr>
          <a:xfrm>
            <a:off x="6736384" y="1371600"/>
            <a:ext cx="5303520" cy="365760"/>
          </a:xfrm>
          <a:prstGeom prst="rect">
            <a:avLst/>
          </a:prstGeom>
          <a:noFill/>
        </p:spPr>
        <p:txBody>
          <a:bodyPr wrap="square" lIns="0" rIns="0" tIns="0" bIns="0" anchor="t">
            <a:noAutofit/>
          </a:bodyPr>
          <a:lstStyle/>
          <a:p>
            <a:pPr algn="l">
              <a:lnSpc>
                <a:spcPts val="2170"/>
              </a:lnSpc>
            </a:pPr>
            <a:r>
              <a:rPr sz="1400" b="0" lang="ja-JP" altLang="en-US">
                <a:solidFill>
                  <a:srgbClr val="4D4D4D"/>
                </a:solidFill>
                <a:latin typeface="Noto Sans JP"/>
                <a:ea typeface="Noto Sans JP"/>
              </a:rPr>
              <a:t>接触ポテンシャル </a:t>
            </a:r>
            <a:r>
              <a:rPr sz="1400" b="0" i="1" lang="ja-JP" altLang="en-US">
                <a:solidFill>
                  <a:srgbClr val="4D4D4D"/>
                </a:solidFill>
                <a:latin typeface="Cambria Math"/>
                <a:ea typeface="Noto Sans JP"/>
              </a:rPr>
              <a:t>U</a:t>
            </a:r>
            <a:r>
              <a:rPr sz="1400" b="0" i="1" baseline="-25000" lang="ja-JP" altLang="en-US">
                <a:solidFill>
                  <a:srgbClr val="4D4D4D"/>
                </a:solidFill>
                <a:latin typeface="Cambria Math"/>
                <a:ea typeface="Noto Sans JP"/>
              </a:rPr>
              <a:t>ij</a:t>
            </a:r>
            <a:r>
              <a:rPr sz="1400" b="0" lang="ja-JP" altLang="en-US">
                <a:solidFill>
                  <a:srgbClr val="4D4D4D"/>
                </a:solidFill>
                <a:latin typeface="Noto Sans JP"/>
                <a:ea typeface="Noto Sans JP"/>
              </a:rPr>
              <a:t>（単位 </a:t>
            </a:r>
            <a:r>
              <a:rPr sz="1400" b="0" i="1" lang="ja-JP" altLang="en-US">
                <a:solidFill>
                  <a:srgbClr val="4D4D4D"/>
                </a:solidFill>
                <a:latin typeface="Cambria Math"/>
                <a:ea typeface="Noto Sans JP"/>
              </a:rPr>
              <a:t>RT</a:t>
            </a:r>
            <a:r>
              <a:rPr sz="1400" b="0" lang="ja-JP" altLang="en-US">
                <a:solidFill>
                  <a:srgbClr val="4D4D4D"/>
                </a:solidFill>
                <a:latin typeface="Noto Sans JP"/>
                <a:ea typeface="Noto Sans JP"/>
              </a:rPr>
              <a:t>、表 11.A.1 の一部）</a:t>
            </a:r>
          </a:p>
        </p:txBody>
      </p:sp>
      <p:graphicFrame>
        <p:nvGraphicFramePr>
          <p:cNvPr id="15" name="Table 14"/>
          <p:cNvGraphicFramePr>
            <a:graphicFrameLocks noGrp="1"/>
          </p:cNvGraphicFramePr>
          <p:nvPr/>
        </p:nvGraphicFramePr>
        <p:xfrm>
          <a:off x="6827824" y="1874519"/>
          <a:ext cx="5120640" cy="2657856"/>
        </p:xfrm>
        <a:graphic>
          <a:graphicData uri="http://schemas.openxmlformats.org/drawingml/2006/table">
            <a:tbl>
              <a:tblPr firstRow="0" bandRow="0">
                <a:tableStyleId>{5C22544A-7EE6-4342-B048-85BDC9FD1C3A}</a:tableStyleId>
              </a:tblPr>
              <a:tblGrid>
                <a:gridCol w="914400"/>
                <a:gridCol w="841248"/>
                <a:gridCol w="841248"/>
                <a:gridCol w="841248"/>
                <a:gridCol w="841248"/>
                <a:gridCol w="841248"/>
              </a:tblGrid>
              <a:tr h="442976">
                <a:tc>
                  <a:txBody>
                    <a:bodyPr wrap="square"/>
                    <a:lstStyle/>
                    <a:p>
                      <a:pPr algn="l">
                        <a:lnSpc>
                          <a:spcPct val="135000"/>
                        </a:lnSpc>
                      </a:pP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F</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L</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I</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K</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E</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42976">
                <a:tc>
                  <a:txBody>
                    <a:bodyPr wrap="square"/>
                    <a:lstStyle/>
                    <a:p>
                      <a:pPr algn="l">
                        <a:lnSpc>
                          <a:spcPts val="2480"/>
                        </a:lnSpc>
                      </a:pPr>
                      <a:r>
                        <a:rPr sz="1600" b="1" lang="ja-JP" altLang="en-US">
                          <a:solidFill>
                            <a:srgbClr val="1A1A1A"/>
                          </a:solidFill>
                          <a:latin typeface="Noto Sans JP"/>
                          <a:ea typeface="Noto Sans JP"/>
                        </a:rPr>
                        <a:t>F</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−7.26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−7.28</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−6.84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−3.36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−3.56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L</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−7.28</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−7.37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−7.04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−3.37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−3.59</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I</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−6.84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−7.04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−6.54</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−3.01</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−3.27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K</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−3.36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−3.37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−3.01</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−0.12</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−1.80</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E</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−3.56</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−3.59</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−3.27</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−1.80</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−0.91</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
        <p:nvSpPr>
          <p:cNvPr id="16" name="Rounded Rectangle 15"/>
          <p:cNvSpPr/>
          <p:nvPr/>
        </p:nvSpPr>
        <p:spPr>
          <a:xfrm>
            <a:off x="6736384" y="5303520"/>
            <a:ext cx="5303520" cy="877570"/>
          </a:xfrm>
          <a:prstGeom prst="roundRect">
            <a:avLst>
              <a:gd name="adj" fmla="val 12503"/>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00976" y="5468112"/>
            <a:ext cx="4974336" cy="548386"/>
          </a:xfrm>
          <a:prstGeom prst="rect">
            <a:avLst/>
          </a:prstGeom>
          <a:noFill/>
        </p:spPr>
        <p:txBody>
          <a:bodyPr wrap="square" lIns="0" rIns="0" tIns="0" bIns="0" anchor="t">
            <a:noAutofit/>
          </a:bodyPr>
          <a:lstStyle/>
          <a:p>
            <a:pPr algn="l">
              <a:lnSpc>
                <a:spcPts val="2015"/>
              </a:lnSpc>
            </a:pPr>
            <a:r>
              <a:rPr sz="1300" b="0" lang="ja-JP" altLang="en-US">
                <a:solidFill>
                  <a:srgbClr val="333333"/>
                </a:solidFill>
                <a:latin typeface="Noto Sans JP"/>
                <a:ea typeface="Noto Sans JP"/>
              </a:rPr>
              <a:t>F・L・I：疎水性（フェニルアラニン・ロイシン・イソロイシン）、K・E：電荷をもつ（リシン・グルタミン酸）</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付録｜物理シミュレーションで折り畳む</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9 / 17</a:t>
            </a:r>
          </a:p>
        </p:txBody>
      </p:sp>
      <p:sp>
        <p:nvSpPr>
          <p:cNvPr id="6" name="Rounded Rectangle 5"/>
          <p:cNvSpPr/>
          <p:nvPr/>
        </p:nvSpPr>
        <p:spPr>
          <a:xfrm>
            <a:off x="609904" y="1371600"/>
            <a:ext cx="5852160" cy="2484882"/>
          </a:xfrm>
          <a:prstGeom prst="roundRect">
            <a:avLst>
              <a:gd name="adj" fmla="val 4415"/>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物理シミュレーションの良いところ</a:t>
            </a:r>
          </a:p>
        </p:txBody>
      </p:sp>
      <p:sp>
        <p:nvSpPr>
          <p:cNvPr id="8" name="TextBox 7"/>
          <p:cNvSpPr txBox="1"/>
          <p:nvPr/>
        </p:nvSpPr>
        <p:spPr>
          <a:xfrm>
            <a:off x="774496" y="1922907"/>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① データベースに頼らない（膜タンパク質など、データが少ないものにも使える）</a:t>
            </a:r>
          </a:p>
        </p:txBody>
      </p:sp>
      <p:sp>
        <p:nvSpPr>
          <p:cNvPr id="9" name="TextBox 8"/>
          <p:cNvSpPr txBox="1"/>
          <p:nvPr/>
        </p:nvSpPr>
        <p:spPr>
          <a:xfrm>
            <a:off x="774496" y="2641473"/>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② 配列アラインメントが要らない</a:t>
            </a:r>
          </a:p>
        </p:txBody>
      </p:sp>
      <p:sp>
        <p:nvSpPr>
          <p:cNvPr id="10" name="TextBox 9"/>
          <p:cNvSpPr txBox="1"/>
          <p:nvPr/>
        </p:nvSpPr>
        <p:spPr>
          <a:xfrm>
            <a:off x="774496" y="3064764"/>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③ 構造だけでなく、動き、構造変化、結合のしかた、自由エネルギーもわかる</a:t>
            </a:r>
          </a:p>
        </p:txBody>
      </p:sp>
      <p:sp>
        <p:nvSpPr>
          <p:cNvPr id="11" name="Rounded Rectangle 10"/>
          <p:cNvSpPr/>
          <p:nvPr/>
        </p:nvSpPr>
        <p:spPr>
          <a:xfrm>
            <a:off x="609904" y="3947921"/>
            <a:ext cx="5852160" cy="1638299"/>
          </a:xfrm>
          <a:prstGeom prst="roundRect">
            <a:avLst>
              <a:gd name="adj" fmla="val 669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4496" y="4112513"/>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現状</a:t>
            </a:r>
          </a:p>
        </p:txBody>
      </p:sp>
      <p:sp>
        <p:nvSpPr>
          <p:cNvPr id="13" name="TextBox 12"/>
          <p:cNvSpPr txBox="1"/>
          <p:nvPr/>
        </p:nvSpPr>
        <p:spPr>
          <a:xfrm>
            <a:off x="774496" y="4499228"/>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計算にとても時間がかかる。専用計算機 Anton による分子動力学（MD）シミュレーションで、小さなタンパク質を天然に近い形に折り畳ませることができた。</a:t>
            </a:r>
          </a:p>
        </p:txBody>
      </p:sp>
      <p:pic>
        <p:nvPicPr>
          <p:cNvPr id="14" name="Picture 13" descr="anton_rmsd.png"/>
          <p:cNvPicPr>
            <a:picLocks noChangeAspect="1"/>
          </p:cNvPicPr>
          <p:nvPr/>
        </p:nvPicPr>
        <p:blipFill>
          <a:blip r:embed="rId3"/>
          <a:stretch>
            <a:fillRect/>
          </a:stretch>
        </p:blipFill>
        <p:spPr>
          <a:xfrm>
            <a:off x="6736384" y="1371600"/>
            <a:ext cx="4845405" cy="4360865"/>
          </a:xfrm>
          <a:prstGeom prst="rect">
            <a:avLst/>
          </a:prstGeom>
        </p:spPr>
      </p:pic>
      <p:sp>
        <p:nvSpPr>
          <p:cNvPr id="15" name="TextBox 14"/>
          <p:cNvSpPr txBox="1"/>
          <p:nvPr/>
        </p:nvSpPr>
        <p:spPr>
          <a:xfrm>
            <a:off x="6736384" y="5778185"/>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Anton で折り畳んだ構造と実験の構造のずれ（Lindorff-Larsen ら, Science 334:517 (2011) の値）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付録｜構造予測とは</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付録｜CASP：答えを伏せた予測コンテスト</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10 / 17</a:t>
            </a:r>
          </a:p>
        </p:txBody>
      </p:sp>
      <p:sp>
        <p:nvSpPr>
          <p:cNvPr id="6" name="Rounded Rectangle 5"/>
          <p:cNvSpPr/>
          <p:nvPr/>
        </p:nvSpPr>
        <p:spPr>
          <a:xfrm>
            <a:off x="609904" y="1371600"/>
            <a:ext cx="5852160" cy="2908173"/>
          </a:xfrm>
          <a:prstGeom prst="roundRect">
            <a:avLst>
              <a:gd name="adj" fmla="val 3773"/>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627126"/>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CASP（Critical Assessment of Structure Prediction）</a:t>
            </a:r>
          </a:p>
        </p:txBody>
      </p:sp>
      <p:sp>
        <p:nvSpPr>
          <p:cNvPr id="8" name="TextBox 7"/>
          <p:cNvSpPr txBox="1"/>
          <p:nvPr/>
        </p:nvSpPr>
        <p:spPr>
          <a:xfrm>
            <a:off x="774496" y="2218182"/>
            <a:ext cx="5522976"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1994 年に J. Moult が始めた予測コンテスト。2 年ごとに開かれる。</a:t>
            </a:r>
          </a:p>
        </p:txBody>
      </p:sp>
      <p:sp>
        <p:nvSpPr>
          <p:cNvPr id="9" name="TextBox 8"/>
          <p:cNvSpPr txBox="1"/>
          <p:nvPr/>
        </p:nvSpPr>
        <p:spPr>
          <a:xfrm>
            <a:off x="774496" y="2936748"/>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① 構造が未公開のタンパク質の配列を出題する</a:t>
            </a:r>
          </a:p>
        </p:txBody>
      </p:sp>
      <p:sp>
        <p:nvSpPr>
          <p:cNvPr id="10" name="TextBox 9"/>
          <p:cNvSpPr txBox="1"/>
          <p:nvPr/>
        </p:nvSpPr>
        <p:spPr>
          <a:xfrm>
            <a:off x="774496" y="3360039"/>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② 参加者が構造を予測する</a:t>
            </a:r>
          </a:p>
        </p:txBody>
      </p:sp>
      <p:sp>
        <p:nvSpPr>
          <p:cNvPr id="11" name="TextBox 10"/>
          <p:cNvSpPr txBox="1"/>
          <p:nvPr/>
        </p:nvSpPr>
        <p:spPr>
          <a:xfrm>
            <a:off x="774496" y="3783330"/>
            <a:ext cx="5522976" cy="33185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③ 実験の構造が公開されたあと、予測を評価する</a:t>
            </a:r>
          </a:p>
        </p:txBody>
      </p:sp>
      <p:sp>
        <p:nvSpPr>
          <p:cNvPr id="12" name="Rounded Rectangle 11"/>
          <p:cNvSpPr/>
          <p:nvPr/>
        </p:nvSpPr>
        <p:spPr>
          <a:xfrm>
            <a:off x="609904" y="4371212"/>
            <a:ext cx="5852160" cy="1638299"/>
          </a:xfrm>
          <a:prstGeom prst="roundRect">
            <a:avLst>
              <a:gd name="adj" fmla="val 6697"/>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 y="4535804"/>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第 11 章の時点で正確に予測できたもの</a:t>
            </a:r>
          </a:p>
        </p:txBody>
      </p:sp>
      <p:sp>
        <p:nvSpPr>
          <p:cNvPr id="14" name="TextBox 13"/>
          <p:cNvSpPr txBox="1"/>
          <p:nvPr/>
        </p:nvSpPr>
        <p:spPr>
          <a:xfrm>
            <a:off x="774496" y="4922519"/>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小さく、水溶性で、単一ドメインで、良いテンプレートがあるタンパク質。AlphaFold 2・3 の登場で状況は一変した（訳注）。</a:t>
            </a:r>
          </a:p>
        </p:txBody>
      </p:sp>
      <p:pic>
        <p:nvPicPr>
          <p:cNvPr id="15" name="Picture 14" descr="sch_timeline.png"/>
          <p:cNvPicPr>
            <a:picLocks noChangeAspect="1"/>
          </p:cNvPicPr>
          <p:nvPr/>
        </p:nvPicPr>
        <p:blipFill>
          <a:blip r:embed="rId3"/>
          <a:stretch>
            <a:fillRect/>
          </a:stretch>
        </p:blipFill>
        <p:spPr>
          <a:xfrm>
            <a:off x="6736384" y="1371600"/>
            <a:ext cx="4845405" cy="4672355"/>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付録｜誤った接触は構造を壊す</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11 / 17</a:t>
            </a:r>
          </a:p>
        </p:txBody>
      </p:sp>
      <p:sp>
        <p:nvSpPr>
          <p:cNvPr id="6" name="Rounded Rectangle 5"/>
          <p:cNvSpPr/>
          <p:nvPr/>
        </p:nvSpPr>
        <p:spPr>
          <a:xfrm>
            <a:off x="609904" y="1371600"/>
            <a:ext cx="5852160" cy="1638299"/>
          </a:xfrm>
          <a:prstGeom prst="roundRect">
            <a:avLst>
              <a:gd name="adj" fmla="val 669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共進化から構造を作る流れ</a:t>
            </a:r>
          </a:p>
        </p:txBody>
      </p:sp>
      <p:sp>
        <p:nvSpPr>
          <p:cNvPr id="8" name="TextBox 7"/>
          <p:cNvSpPr txBox="1"/>
          <p:nvPr/>
        </p:nvSpPr>
        <p:spPr>
          <a:xfrm>
            <a:off x="774496" y="1922907"/>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MSA → 共変異する対を見つける → 対に接触の束縛をかける → MD・モンテカルロ法・フラグメント組み立てで最適化</a:t>
            </a:r>
          </a:p>
        </p:txBody>
      </p:sp>
      <p:sp>
        <p:nvSpPr>
          <p:cNvPr id="9" name="Rounded Rectangle 8"/>
          <p:cNvSpPr/>
          <p:nvPr/>
        </p:nvSpPr>
        <p:spPr>
          <a:xfrm>
            <a:off x="609904" y="3101340"/>
            <a:ext cx="5852160" cy="1638299"/>
          </a:xfrm>
          <a:prstGeom prst="roundRect">
            <a:avLst>
              <a:gd name="adj" fmla="val 6697"/>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4496" y="326593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問題：偽陽性の対</a:t>
            </a:r>
          </a:p>
        </p:txBody>
      </p:sp>
      <p:sp>
        <p:nvSpPr>
          <p:cNvPr id="11" name="TextBox 10"/>
          <p:cNvSpPr txBox="1"/>
          <p:nvPr/>
        </p:nvSpPr>
        <p:spPr>
          <a:xfrm>
            <a:off x="774496" y="3652647"/>
            <a:ext cx="5522976"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本当は共変異していないのに、共変異していると判定した対。これに接触の束縛をかけると構造が壊れ、精度が一気に下がる。</a:t>
            </a:r>
          </a:p>
        </p:txBody>
      </p:sp>
      <p:sp>
        <p:nvSpPr>
          <p:cNvPr id="12" name="Rounded Rectangle 11"/>
          <p:cNvSpPr/>
          <p:nvPr/>
        </p:nvSpPr>
        <p:spPr>
          <a:xfrm>
            <a:off x="6736384" y="1371600"/>
            <a:ext cx="4845405" cy="4591812"/>
          </a:xfrm>
          <a:prstGeom prst="roundRect">
            <a:avLst>
              <a:gd name="adj" fmla="val 2389"/>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00976" y="1536192"/>
            <a:ext cx="451622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問い：似た配列は何本あれば十分か</a:t>
            </a:r>
          </a:p>
        </p:txBody>
      </p:sp>
      <p:sp>
        <p:nvSpPr>
          <p:cNvPr id="14" name="TextBox 13"/>
          <p:cNvSpPr txBox="1"/>
          <p:nvPr/>
        </p:nvSpPr>
        <p:spPr>
          <a:xfrm>
            <a:off x="6900976" y="1922907"/>
            <a:ext cx="4516221" cy="62712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Ovchinnikov ら（2017）：有効配列数 </a:t>
            </a:r>
            <a:r>
              <a:rPr sz="1500" b="0" i="1" lang="ja-JP" altLang="en-US">
                <a:solidFill>
                  <a:srgbClr val="333333"/>
                </a:solidFill>
                <a:latin typeface="Cambria Math"/>
                <a:ea typeface="Noto Sans JP"/>
              </a:rPr>
              <a:t>N</a:t>
            </a:r>
            <a:r>
              <a:rPr sz="1500" b="0" i="1" baseline="-25000" lang="ja-JP" altLang="en-US">
                <a:solidFill>
                  <a:srgbClr val="333333"/>
                </a:solidFill>
                <a:latin typeface="Cambria Math"/>
                <a:ea typeface="Noto Sans JP"/>
              </a:rPr>
              <a:t>f</a:t>
            </a:r>
            <a:r>
              <a:rPr sz="1500" b="0" lang="ja-JP" altLang="en-US">
                <a:solidFill>
                  <a:srgbClr val="333333"/>
                </a:solidFill>
                <a:latin typeface="Noto Sans JP"/>
                <a:ea typeface="Noto Sans JP"/>
              </a:rPr>
              <a:t> が予測精度とよく相関する。</a:t>
            </a:r>
          </a:p>
        </p:txBody>
      </p:sp>
      <p:pic>
        <p:nvPicPr>
          <p:cNvPr id="15" name="Picture 14" descr="N_{f} = \frac{N_{80}}{\sqrt{L}}"/>
          <p:cNvPicPr>
            <a:picLocks noChangeAspect="1"/>
          </p:cNvPicPr>
          <p:nvPr/>
        </p:nvPicPr>
        <p:blipFill>
          <a:blip r:embed="rId3"/>
          <a:stretch>
            <a:fillRect/>
          </a:stretch>
        </p:blipFill>
        <p:spPr>
          <a:xfrm>
            <a:off x="6900976" y="2641473"/>
            <a:ext cx="1245616" cy="782320"/>
          </a:xfrm>
          <a:prstGeom prst="rect">
            <a:avLst/>
          </a:prstGeom>
        </p:spPr>
      </p:pic>
      <p:sp>
        <p:nvSpPr>
          <p:cNvPr id="16" name="TextBox 15"/>
          <p:cNvSpPr txBox="1"/>
          <p:nvPr/>
        </p:nvSpPr>
        <p:spPr>
          <a:xfrm>
            <a:off x="6900976" y="3515233"/>
            <a:ext cx="4516221" cy="587756"/>
          </a:xfrm>
          <a:prstGeom prst="rect">
            <a:avLst/>
          </a:prstGeom>
          <a:noFill/>
        </p:spPr>
        <p:txBody>
          <a:bodyPr wrap="square" lIns="0" rIns="0" tIns="0" bIns="0" anchor="t">
            <a:noAutofit/>
          </a:bodyPr>
          <a:lstStyle/>
          <a:p>
            <a:pPr algn="l">
              <a:lnSpc>
                <a:spcPts val="2170"/>
              </a:lnSpc>
            </a:pPr>
            <a:r>
              <a:rPr sz="1400" b="0" i="1" lang="ja-JP" altLang="en-US">
                <a:solidFill>
                  <a:srgbClr val="4D4D4D"/>
                </a:solidFill>
                <a:latin typeface="Cambria Math"/>
                <a:ea typeface="Noto Sans JP"/>
              </a:rPr>
              <a:t>N</a:t>
            </a:r>
            <a:r>
              <a:rPr sz="1400" b="0" i="0" baseline="-25000" lang="ja-JP" altLang="en-US">
                <a:solidFill>
                  <a:srgbClr val="4D4D4D"/>
                </a:solidFill>
                <a:latin typeface="Cambria Math"/>
                <a:ea typeface="Noto Sans JP"/>
              </a:rPr>
              <a:t>80</a:t>
            </a:r>
            <a:r>
              <a:rPr sz="1400" b="0" lang="ja-JP" altLang="en-US">
                <a:solidFill>
                  <a:srgbClr val="4D4D4D"/>
                </a:solidFill>
                <a:latin typeface="Noto Sans JP"/>
                <a:ea typeface="Noto Sans JP"/>
              </a:rPr>
              <a:t>：配列同一性 80% 以上のものを 1 本とまとめて数えた配列の数、</a:t>
            </a:r>
            <a:r>
              <a:rPr sz="1400" b="0" i="1" lang="ja-JP" altLang="en-US">
                <a:solidFill>
                  <a:srgbClr val="4D4D4D"/>
                </a:solidFill>
                <a:latin typeface="Cambria Math"/>
                <a:ea typeface="Noto Sans JP"/>
              </a:rPr>
              <a:t>L</a:t>
            </a:r>
            <a:r>
              <a:rPr sz="1400" b="0" lang="ja-JP" altLang="en-US">
                <a:solidFill>
                  <a:srgbClr val="4D4D4D"/>
                </a:solidFill>
                <a:latin typeface="Noto Sans JP"/>
                <a:ea typeface="Noto Sans JP"/>
              </a:rPr>
              <a:t>：クエリ配列の長さ</a:t>
            </a:r>
          </a:p>
        </p:txBody>
      </p:sp>
      <p:sp>
        <p:nvSpPr>
          <p:cNvPr id="17" name="TextBox 16"/>
          <p:cNvSpPr txBox="1"/>
          <p:nvPr/>
        </p:nvSpPr>
        <p:spPr>
          <a:xfrm>
            <a:off x="6900976" y="4194429"/>
            <a:ext cx="451622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結果</a:t>
            </a:r>
          </a:p>
        </p:txBody>
      </p:sp>
      <p:sp>
        <p:nvSpPr>
          <p:cNvPr id="18" name="TextBox 17"/>
          <p:cNvSpPr txBox="1"/>
          <p:nvPr/>
        </p:nvSpPr>
        <p:spPr>
          <a:xfrm>
            <a:off x="6900976" y="4581144"/>
            <a:ext cx="4516221" cy="1217676"/>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メタゲノム解析（環境中の微生物の DNA をまとめて読む）で配列を増やして </a:t>
            </a:r>
            <a:r>
              <a:rPr sz="1500" b="0" i="1" lang="ja-JP" altLang="en-US">
                <a:solidFill>
                  <a:srgbClr val="333333"/>
                </a:solidFill>
                <a:latin typeface="Cambria Math"/>
                <a:ea typeface="Noto Sans JP"/>
              </a:rPr>
              <a:t>N</a:t>
            </a:r>
            <a:r>
              <a:rPr sz="1500" b="0" i="1" baseline="-25000" lang="ja-JP" altLang="en-US">
                <a:solidFill>
                  <a:srgbClr val="333333"/>
                </a:solidFill>
                <a:latin typeface="Cambria Math"/>
                <a:ea typeface="Noto Sans JP"/>
              </a:rPr>
              <a:t>f</a:t>
            </a:r>
            <a:r>
              <a:rPr sz="1500" b="0" lang="ja-JP" altLang="en-US">
                <a:solidFill>
                  <a:srgbClr val="333333"/>
                </a:solidFill>
                <a:latin typeface="Noto Sans JP"/>
                <a:ea typeface="Noto Sans JP"/>
              </a:rPr>
              <a:t> を上げ、構造が未知の 1297 ファミリーを高精度に予測した。</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付録｜畳み込みニューラルネットワーク（CNN）</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12 / 17</a:t>
            </a:r>
          </a:p>
        </p:txBody>
      </p:sp>
      <p:sp>
        <p:nvSpPr>
          <p:cNvPr id="6" name="Rounded Rectangle 5"/>
          <p:cNvSpPr/>
          <p:nvPr/>
        </p:nvSpPr>
        <p:spPr>
          <a:xfrm>
            <a:off x="609904" y="1371600"/>
            <a:ext cx="5852160" cy="4730369"/>
          </a:xfrm>
          <a:prstGeom prst="roundRect">
            <a:avLst>
              <a:gd name="adj" fmla="val 2319"/>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畳み込み層</a:t>
            </a:r>
          </a:p>
        </p:txBody>
      </p:sp>
      <p:pic>
        <p:nvPicPr>
          <p:cNvPr id="8" name="Picture 7" descr="(I * K)(i,j) = \sum_{m}\sum_{n} I(i+m,\, j+n)\, K(m,n)"/>
          <p:cNvPicPr>
            <a:picLocks noChangeAspect="1"/>
          </p:cNvPicPr>
          <p:nvPr/>
        </p:nvPicPr>
        <p:blipFill>
          <a:blip r:embed="rId3"/>
          <a:stretch>
            <a:fillRect/>
          </a:stretch>
        </p:blipFill>
        <p:spPr>
          <a:xfrm>
            <a:off x="774496" y="1922907"/>
            <a:ext cx="4236720" cy="524256"/>
          </a:xfrm>
          <a:prstGeom prst="rect">
            <a:avLst/>
          </a:prstGeom>
        </p:spPr>
      </p:pic>
      <p:sp>
        <p:nvSpPr>
          <p:cNvPr id="9" name="TextBox 8"/>
          <p:cNvSpPr txBox="1"/>
          <p:nvPr/>
        </p:nvSpPr>
        <p:spPr>
          <a:xfrm>
            <a:off x="774496" y="2538603"/>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フィルタ </a:t>
            </a:r>
            <a:r>
              <a:rPr sz="1400" b="0" i="1" lang="ja-JP" altLang="en-US">
                <a:solidFill>
                  <a:srgbClr val="333333"/>
                </a:solidFill>
                <a:latin typeface="Cambria Math"/>
                <a:ea typeface="Noto Sans JP"/>
              </a:rPr>
              <a:t>K</a:t>
            </a:r>
            <a:r>
              <a:rPr sz="1400" b="0" lang="ja-JP" altLang="en-US">
                <a:solidFill>
                  <a:srgbClr val="333333"/>
                </a:solidFill>
                <a:latin typeface="Noto Sans JP"/>
                <a:ea typeface="Noto Sans JP"/>
              </a:rPr>
              <a:t> を入力 </a:t>
            </a:r>
            <a:r>
              <a:rPr sz="1400" b="0" i="1" lang="ja-JP" altLang="en-US">
                <a:solidFill>
                  <a:srgbClr val="333333"/>
                </a:solidFill>
                <a:latin typeface="Cambria Math"/>
                <a:ea typeface="Noto Sans JP"/>
              </a:rPr>
              <a:t>I</a:t>
            </a:r>
            <a:r>
              <a:rPr sz="1400" b="0" lang="ja-JP" altLang="en-US">
                <a:solidFill>
                  <a:srgbClr val="333333"/>
                </a:solidFill>
                <a:latin typeface="Noto Sans JP"/>
                <a:ea typeface="Noto Sans JP"/>
              </a:rPr>
              <a:t> の上でずらしながら積和をとる。模様が似た場所で値が大きい。</a:t>
            </a:r>
            <a:r>
              <a:rPr sz="1400" b="0" i="1" lang="ja-JP" altLang="en-US">
                <a:solidFill>
                  <a:srgbClr val="333333"/>
                </a:solidFill>
                <a:latin typeface="Cambria Math"/>
                <a:ea typeface="Noto Sans JP"/>
              </a:rPr>
              <a:t>K</a:t>
            </a:r>
            <a:r>
              <a:rPr sz="1400" b="0" lang="ja-JP" altLang="en-US">
                <a:solidFill>
                  <a:srgbClr val="333333"/>
                </a:solidFill>
                <a:latin typeface="Noto Sans JP"/>
                <a:ea typeface="Noto Sans JP"/>
              </a:rPr>
              <a:t> は学習で決まる。</a:t>
            </a:r>
          </a:p>
        </p:txBody>
      </p:sp>
      <p:sp>
        <p:nvSpPr>
          <p:cNvPr id="10" name="TextBox 9"/>
          <p:cNvSpPr txBox="1"/>
          <p:nvPr/>
        </p:nvSpPr>
        <p:spPr>
          <a:xfrm>
            <a:off x="774496" y="3217799"/>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1 つのフィルタを使い回す（パラメータ共有）ので学習が効率的。模様がどこにあっても見つかる（並進同変性）。</a:t>
            </a:r>
          </a:p>
        </p:txBody>
      </p:sp>
      <p:sp>
        <p:nvSpPr>
          <p:cNvPr id="11" name="TextBox 10"/>
          <p:cNvSpPr txBox="1"/>
          <p:nvPr/>
        </p:nvSpPr>
        <p:spPr>
          <a:xfrm>
            <a:off x="774496" y="3896994"/>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プーリング層</a:t>
            </a:r>
          </a:p>
        </p:txBody>
      </p:sp>
      <p:sp>
        <p:nvSpPr>
          <p:cNvPr id="12" name="TextBox 11"/>
          <p:cNvSpPr txBox="1"/>
          <p:nvPr/>
        </p:nvSpPr>
        <p:spPr>
          <a:xfrm>
            <a:off x="774496" y="4283710"/>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小さな領域の最大値だけを残して縮める。位置の小さなずれに強くなる。</a:t>
            </a:r>
          </a:p>
        </p:txBody>
      </p:sp>
      <p:sp>
        <p:nvSpPr>
          <p:cNvPr id="13" name="TextBox 12"/>
          <p:cNvSpPr txBox="1"/>
          <p:nvPr/>
        </p:nvSpPr>
        <p:spPr>
          <a:xfrm>
            <a:off x="774496" y="4962905"/>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構造予測での使い方</a:t>
            </a:r>
          </a:p>
        </p:txBody>
      </p:sp>
      <p:sp>
        <p:nvSpPr>
          <p:cNvPr id="14" name="TextBox 13"/>
          <p:cNvSpPr txBox="1"/>
          <p:nvPr/>
        </p:nvSpPr>
        <p:spPr>
          <a:xfrm>
            <a:off x="774496" y="5349620"/>
            <a:ext cx="5522976"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MSA などの特徴量を 2 次元の「画像」にして入力し、接触マップを 2 次元で出力する。</a:t>
            </a:r>
          </a:p>
        </p:txBody>
      </p:sp>
      <p:pic>
        <p:nvPicPr>
          <p:cNvPr id="15" name="Picture 14" descr="cnn_concept.png"/>
          <p:cNvPicPr>
            <a:picLocks noChangeAspect="1"/>
          </p:cNvPicPr>
          <p:nvPr/>
        </p:nvPicPr>
        <p:blipFill>
          <a:blip r:embed="rId4"/>
          <a:stretch>
            <a:fillRect/>
          </a:stretch>
        </p:blipFill>
        <p:spPr>
          <a:xfrm>
            <a:off x="6736384" y="1737360"/>
            <a:ext cx="4845405" cy="3751281"/>
          </a:xfrm>
          <a:prstGeom prst="rect">
            <a:avLst/>
          </a:prstGeom>
        </p:spPr>
      </p:pic>
      <p:sp>
        <p:nvSpPr>
          <p:cNvPr id="16" name="TextBox 15"/>
          <p:cNvSpPr txBox="1"/>
          <p:nvPr/>
        </p:nvSpPr>
        <p:spPr>
          <a:xfrm>
            <a:off x="6736384" y="5534361"/>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1 層目で縦・横の線、2 層目でその組み合わせ（角）を捉える（模式図）</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まで</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付録｜共進化は遠い距離の情報も含んでいた</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13 / 17</a:t>
            </a:r>
          </a:p>
        </p:txBody>
      </p:sp>
      <p:pic>
        <p:nvPicPr>
          <p:cNvPr id="6" name="Picture 5" descr="af1_hist.png"/>
          <p:cNvPicPr>
            <a:picLocks noChangeAspect="1"/>
          </p:cNvPicPr>
          <p:nvPr/>
        </p:nvPicPr>
        <p:blipFill>
          <a:blip r:embed="rId3"/>
          <a:stretch>
            <a:fillRect/>
          </a:stretch>
        </p:blipFill>
        <p:spPr>
          <a:xfrm>
            <a:off x="609904" y="1371600"/>
            <a:ext cx="6766560" cy="3776684"/>
          </a:xfrm>
          <a:prstGeom prst="rect">
            <a:avLst/>
          </a:prstGeom>
        </p:spPr>
      </p:pic>
      <p:sp>
        <p:nvSpPr>
          <p:cNvPr id="7" name="TextBox 6"/>
          <p:cNvSpPr txBox="1"/>
          <p:nvPr/>
        </p:nvSpPr>
        <p:spPr>
          <a:xfrm>
            <a:off x="609904" y="5194004"/>
            <a:ext cx="6766560" cy="204216"/>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T0955 の 29 番目の残基からの距離（左）と、予測される距離の分布の形（右、模式図）</a:t>
            </a:r>
          </a:p>
        </p:txBody>
      </p:sp>
      <p:sp>
        <p:nvSpPr>
          <p:cNvPr id="8" name="Rounded Rectangle 7"/>
          <p:cNvSpPr/>
          <p:nvPr/>
        </p:nvSpPr>
        <p:spPr>
          <a:xfrm>
            <a:off x="7559344" y="1371600"/>
            <a:ext cx="4022445" cy="3599942"/>
          </a:xfrm>
          <a:prstGeom prst="roundRect">
            <a:avLst>
              <a:gd name="adj" fmla="val 304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3936" y="1536192"/>
            <a:ext cx="369326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図の見方</a:t>
            </a:r>
          </a:p>
        </p:txBody>
      </p:sp>
      <p:sp>
        <p:nvSpPr>
          <p:cNvPr id="10" name="TextBox 9"/>
          <p:cNvSpPr txBox="1"/>
          <p:nvPr/>
        </p:nvSpPr>
        <p:spPr>
          <a:xfrm>
            <a:off x="7723936" y="1922907"/>
            <a:ext cx="369326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左：実験の構造での距離。緑：接している対（8 Å 以内）、青：接していない対</a:t>
            </a:r>
          </a:p>
        </p:txBody>
      </p:sp>
      <p:sp>
        <p:nvSpPr>
          <p:cNvPr id="11" name="TextBox 10"/>
          <p:cNvSpPr txBox="1"/>
          <p:nvPr/>
        </p:nvSpPr>
        <p:spPr>
          <a:xfrm>
            <a:off x="7723936" y="2602103"/>
            <a:ext cx="3693261" cy="58775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右：予測の形（模式図）。赤線：実験の構造での距離。灰色の縦線：8 Å</a:t>
            </a:r>
          </a:p>
        </p:txBody>
      </p:sp>
      <p:sp>
        <p:nvSpPr>
          <p:cNvPr id="12" name="TextBox 11"/>
          <p:cNvSpPr txBox="1"/>
          <p:nvPr/>
        </p:nvSpPr>
        <p:spPr>
          <a:xfrm>
            <a:off x="7723936" y="3281299"/>
            <a:ext cx="3693261"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論文の結果</a:t>
            </a:r>
          </a:p>
        </p:txBody>
      </p:sp>
      <p:sp>
        <p:nvSpPr>
          <p:cNvPr id="13" name="TextBox 12"/>
          <p:cNvSpPr txBox="1"/>
          <p:nvPr/>
        </p:nvSpPr>
        <p:spPr>
          <a:xfrm>
            <a:off x="7723936" y="3668014"/>
            <a:ext cx="3693261" cy="113893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19・24・32・33・36 番は接していないのに、予測の山が正しい距離と一致した（Senior ら, Nature 577:706 (2020)）。</a:t>
            </a:r>
          </a:p>
        </p:txBody>
      </p:sp>
      <p:sp>
        <p:nvSpPr>
          <p:cNvPr id="14" name="Rounded Rectangle 13"/>
          <p:cNvSpPr/>
          <p:nvPr/>
        </p:nvSpPr>
        <p:spPr>
          <a:xfrm>
            <a:off x="7559344" y="5062982"/>
            <a:ext cx="4022445" cy="1192530"/>
          </a:xfrm>
          <a:prstGeom prst="roundRect">
            <a:avLst>
              <a:gd name="adj" fmla="val 9201"/>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3936" y="5227573"/>
            <a:ext cx="3693261"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共進化には、接触だけでなく遠い距離の情報も含まれている。接触の「決め打ち」が要らず、偽陽性の害も避けられる。</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付録｜注意機構：クエリ・キー・バリュー</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14 / 17</a:t>
            </a:r>
          </a:p>
        </p:txBody>
      </p:sp>
      <p:sp>
        <p:nvSpPr>
          <p:cNvPr id="6" name="Rounded Rectangle 5"/>
          <p:cNvSpPr/>
          <p:nvPr/>
        </p:nvSpPr>
        <p:spPr>
          <a:xfrm>
            <a:off x="609904" y="1371600"/>
            <a:ext cx="5852160" cy="1638172"/>
          </a:xfrm>
          <a:prstGeom prst="roundRect">
            <a:avLst>
              <a:gd name="adj" fmla="val 6698"/>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52297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3 つのベクトルを作る</a:t>
            </a:r>
          </a:p>
        </p:txBody>
      </p:sp>
      <p:pic>
        <p:nvPicPr>
          <p:cNvPr id="8" name="Picture 7" descr="\mathbf{q}_{i} = \mathbf{x}_{i} W_{Q}, \quad \mathbf{k}_{i} = \mathbf{x}_{i} W_{K}, \quad \mathbf{v}_{i} = \mathbf{x}_{i} W_{V}"/>
          <p:cNvPicPr>
            <a:picLocks noChangeAspect="1"/>
          </p:cNvPicPr>
          <p:nvPr/>
        </p:nvPicPr>
        <p:blipFill>
          <a:blip r:embed="rId3"/>
          <a:stretch>
            <a:fillRect/>
          </a:stretch>
        </p:blipFill>
        <p:spPr>
          <a:xfrm>
            <a:off x="774496" y="1922907"/>
            <a:ext cx="3572256" cy="282448"/>
          </a:xfrm>
          <a:prstGeom prst="rect">
            <a:avLst/>
          </a:prstGeom>
        </p:spPr>
      </p:pic>
      <p:sp>
        <p:nvSpPr>
          <p:cNvPr id="9" name="TextBox 8"/>
          <p:cNvSpPr txBox="1"/>
          <p:nvPr/>
        </p:nvSpPr>
        <p:spPr>
          <a:xfrm>
            <a:off x="774496" y="2296795"/>
            <a:ext cx="5522976" cy="548386"/>
          </a:xfrm>
          <a:prstGeom prst="rect">
            <a:avLst/>
          </a:prstGeom>
          <a:noFill/>
        </p:spPr>
        <p:txBody>
          <a:bodyPr wrap="square" lIns="0" rIns="0" tIns="0" bIns="0" anchor="t">
            <a:noAutofit/>
          </a:bodyPr>
          <a:lstStyle/>
          <a:p>
            <a:pPr algn="l">
              <a:lnSpc>
                <a:spcPts val="2015"/>
              </a:lnSpc>
            </a:pPr>
            <a:r>
              <a:rPr sz="1300" b="0" i="0" lang="ja-JP" altLang="en-US">
                <a:solidFill>
                  <a:srgbClr val="4D4D4D"/>
                </a:solidFill>
                <a:latin typeface="Cambria Math"/>
                <a:ea typeface="Noto Sans JP"/>
              </a:rPr>
              <a:t>𝐱</a:t>
            </a:r>
            <a:r>
              <a:rPr sz="1300" b="0" i="1" baseline="-25000" lang="ja-JP" altLang="en-US">
                <a:solidFill>
                  <a:srgbClr val="4D4D4D"/>
                </a:solidFill>
                <a:latin typeface="Cambria Math"/>
                <a:ea typeface="Noto Sans JP"/>
              </a:rPr>
              <a:t>i</a:t>
            </a:r>
            <a:r>
              <a:rPr sz="1300" b="0" lang="ja-JP" altLang="en-US">
                <a:solidFill>
                  <a:srgbClr val="4D4D4D"/>
                </a:solidFill>
                <a:latin typeface="Noto Sans JP"/>
                <a:ea typeface="Noto Sans JP"/>
              </a:rPr>
              <a:t>：</a:t>
            </a:r>
            <a:r>
              <a:rPr sz="1300" b="0" i="1" lang="ja-JP" altLang="en-US">
                <a:solidFill>
                  <a:srgbClr val="4D4D4D"/>
                </a:solidFill>
                <a:latin typeface="Cambria Math"/>
                <a:ea typeface="Noto Sans JP"/>
              </a:rPr>
              <a:t>i</a:t>
            </a:r>
            <a:r>
              <a:rPr sz="1300" b="0" lang="ja-JP" altLang="en-US">
                <a:solidFill>
                  <a:srgbClr val="4D4D4D"/>
                </a:solidFill>
                <a:latin typeface="Noto Sans JP"/>
                <a:ea typeface="Noto Sans JP"/>
              </a:rPr>
              <a:t> 番目のトークン（横ベクトル）。</a:t>
            </a:r>
            <a:r>
              <a:rPr sz="1300" b="0" i="1" lang="ja-JP" altLang="en-US">
                <a:solidFill>
                  <a:srgbClr val="4D4D4D"/>
                </a:solidFill>
                <a:latin typeface="Cambria Math"/>
                <a:ea typeface="Noto Sans JP"/>
              </a:rPr>
              <a:t>W</a:t>
            </a:r>
            <a:r>
              <a:rPr sz="1300" b="0" i="1" baseline="-25000" lang="ja-JP" altLang="en-US">
                <a:solidFill>
                  <a:srgbClr val="4D4D4D"/>
                </a:solidFill>
                <a:latin typeface="Cambria Math"/>
                <a:ea typeface="Noto Sans JP"/>
              </a:rPr>
              <a:t>Q</a:t>
            </a:r>
            <a:r>
              <a:rPr sz="1300" b="0" i="0" lang="ja-JP" altLang="en-US">
                <a:solidFill>
                  <a:srgbClr val="4D4D4D"/>
                </a:solidFill>
                <a:latin typeface="Cambria Math"/>
                <a:ea typeface="Noto Sans JP"/>
              </a:rPr>
              <a:t>, </a:t>
            </a:r>
            <a:r>
              <a:rPr sz="1300" b="0" i="1" lang="ja-JP" altLang="en-US">
                <a:solidFill>
                  <a:srgbClr val="4D4D4D"/>
                </a:solidFill>
                <a:latin typeface="Cambria Math"/>
                <a:ea typeface="Noto Sans JP"/>
              </a:rPr>
              <a:t>W</a:t>
            </a:r>
            <a:r>
              <a:rPr sz="1300" b="0" i="1" baseline="-25000" lang="ja-JP" altLang="en-US">
                <a:solidFill>
                  <a:srgbClr val="4D4D4D"/>
                </a:solidFill>
                <a:latin typeface="Cambria Math"/>
                <a:ea typeface="Noto Sans JP"/>
              </a:rPr>
              <a:t>K</a:t>
            </a:r>
            <a:r>
              <a:rPr sz="1300" b="0" i="0" lang="ja-JP" altLang="en-US">
                <a:solidFill>
                  <a:srgbClr val="4D4D4D"/>
                </a:solidFill>
                <a:latin typeface="Cambria Math"/>
                <a:ea typeface="Noto Sans JP"/>
              </a:rPr>
              <a:t>, </a:t>
            </a:r>
            <a:r>
              <a:rPr sz="1300" b="0" i="1" lang="ja-JP" altLang="en-US">
                <a:solidFill>
                  <a:srgbClr val="4D4D4D"/>
                </a:solidFill>
                <a:latin typeface="Cambria Math"/>
                <a:ea typeface="Noto Sans JP"/>
              </a:rPr>
              <a:t>W</a:t>
            </a:r>
            <a:r>
              <a:rPr sz="1300" b="0" i="1" baseline="-25000" lang="ja-JP" altLang="en-US">
                <a:solidFill>
                  <a:srgbClr val="4D4D4D"/>
                </a:solidFill>
                <a:latin typeface="Cambria Math"/>
                <a:ea typeface="Noto Sans JP"/>
              </a:rPr>
              <a:t>V</a:t>
            </a:r>
            <a:r>
              <a:rPr sz="1300" b="0" lang="ja-JP" altLang="en-US">
                <a:solidFill>
                  <a:srgbClr val="4D4D4D"/>
                </a:solidFill>
                <a:latin typeface="Noto Sans JP"/>
                <a:ea typeface="Noto Sans JP"/>
              </a:rPr>
              <a:t> は学習で決まる行列。</a:t>
            </a:r>
          </a:p>
        </p:txBody>
      </p:sp>
      <p:graphicFrame>
        <p:nvGraphicFramePr>
          <p:cNvPr id="10" name="Table 9"/>
          <p:cNvGraphicFramePr>
            <a:graphicFrameLocks noGrp="1"/>
          </p:cNvGraphicFramePr>
          <p:nvPr/>
        </p:nvGraphicFramePr>
        <p:xfrm>
          <a:off x="609904" y="3063240"/>
          <a:ext cx="5394960" cy="2716784"/>
        </p:xfrm>
        <a:graphic>
          <a:graphicData uri="http://schemas.openxmlformats.org/drawingml/2006/table">
            <a:tbl>
              <a:tblPr firstRow="0" bandRow="0">
                <a:tableStyleId>{5C22544A-7EE6-4342-B048-85BDC9FD1C3A}</a:tableStyleId>
              </a:tblPr>
              <a:tblGrid>
                <a:gridCol w="1371600"/>
                <a:gridCol w="1920240"/>
                <a:gridCol w="2103120"/>
              </a:tblGrid>
              <a:tr h="679196">
                <a:tc>
                  <a:txBody>
                    <a:bodyPr wrap="square"/>
                    <a:lstStyle/>
                    <a:p>
                      <a:pPr algn="l">
                        <a:lnSpc>
                          <a:spcPct val="135000"/>
                        </a:lnSpc>
                      </a:pP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170"/>
                        </a:lnSpc>
                      </a:pPr>
                      <a:r>
                        <a:rPr sz="1400" b="1" lang="ja-JP" altLang="en-US">
                          <a:solidFill>
                            <a:srgbClr val="1A1A1A"/>
                          </a:solidFill>
                          <a:latin typeface="Noto Sans JP"/>
                          <a:ea typeface="Noto Sans JP"/>
                        </a:rPr>
                        <a:t>役割</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170"/>
                        </a:lnSpc>
                      </a:pPr>
                      <a:r>
                        <a:rPr sz="1400" b="1" lang="ja-JP" altLang="en-US">
                          <a:solidFill>
                            <a:srgbClr val="1A1A1A"/>
                          </a:solidFill>
                          <a:latin typeface="Noto Sans JP"/>
                          <a:ea typeface="Noto Sans JP"/>
                        </a:rPr>
                        <a:t>静電相互作用のたとえ</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679196">
                <a:tc>
                  <a:txBody>
                    <a:bodyPr wrap="square"/>
                    <a:lstStyle/>
                    <a:p>
                      <a:pPr algn="l">
                        <a:lnSpc>
                          <a:spcPts val="2170"/>
                        </a:lnSpc>
                      </a:pPr>
                      <a:r>
                        <a:rPr sz="1400" b="1" lang="ja-JP" altLang="en-US">
                          <a:solidFill>
                            <a:srgbClr val="1A1A1A"/>
                          </a:solidFill>
                          <a:latin typeface="Noto Sans JP"/>
                          <a:ea typeface="Noto Sans JP"/>
                        </a:rPr>
                        <a:t>クエリ</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主役が出す「質問」</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正電荷の残基「負電荷の相手はどこ？」</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キー</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質問に答える「索引」</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負電荷の残基のキーが反応する</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679196">
                <a:tc>
                  <a:txBody>
                    <a:bodyPr wrap="square"/>
                    <a:lstStyle/>
                    <a:p>
                      <a:pPr algn="l">
                        <a:lnSpc>
                          <a:spcPts val="2170"/>
                        </a:lnSpc>
                      </a:pPr>
                      <a:r>
                        <a:rPr sz="1400" b="1" lang="ja-JP" altLang="en-US">
                          <a:solidFill>
                            <a:srgbClr val="1A1A1A"/>
                          </a:solidFill>
                          <a:latin typeface="Noto Sans JP"/>
                          <a:ea typeface="Noto Sans JP"/>
                        </a:rPr>
                        <a:t>バリュー</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受け取る中身</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170"/>
                        </a:lnSpc>
                      </a:pPr>
                      <a:r>
                        <a:rPr sz="1400" b="0" lang="ja-JP" altLang="en-US">
                          <a:solidFill>
                            <a:srgbClr val="333333"/>
                          </a:solidFill>
                          <a:latin typeface="Noto Sans JP"/>
                          <a:ea typeface="Noto Sans JP"/>
                        </a:rPr>
                        <a:t>安定化のエネルギーの情報</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pic>
        <p:nvPicPr>
          <p:cNvPr id="11" name="Picture 10" descr="conv_attn.png"/>
          <p:cNvPicPr>
            <a:picLocks noChangeAspect="1"/>
          </p:cNvPicPr>
          <p:nvPr/>
        </p:nvPicPr>
        <p:blipFill>
          <a:blip r:embed="rId4"/>
          <a:stretch>
            <a:fillRect/>
          </a:stretch>
        </p:blipFill>
        <p:spPr>
          <a:xfrm>
            <a:off x="6736384" y="1828800"/>
            <a:ext cx="4845405" cy="3282371"/>
          </a:xfrm>
          <a:prstGeom prst="rect">
            <a:avLst/>
          </a:prstGeom>
        </p:spPr>
      </p:pic>
      <p:sp>
        <p:nvSpPr>
          <p:cNvPr id="12" name="TextBox 11"/>
          <p:cNvSpPr txBox="1"/>
          <p:nvPr/>
        </p:nvSpPr>
        <p:spPr>
          <a:xfrm>
            <a:off x="6736384" y="5156891"/>
            <a:ext cx="4845405" cy="371855"/>
          </a:xfrm>
          <a:prstGeom prst="rect">
            <a:avLst/>
          </a:prstGeom>
          <a:noFill/>
        </p:spPr>
        <p:txBody>
          <a:bodyPr wrap="square" lIns="0" rIns="0" tIns="0" bIns="0" anchor="t">
            <a:noAutofit/>
          </a:bodyPr>
          <a:lstStyle/>
          <a:p>
            <a:pPr algn="ctr">
              <a:lnSpc>
                <a:spcPts val="1320"/>
              </a:lnSpc>
            </a:pPr>
            <a:r>
              <a:rPr sz="1100" b="0" lang="ja-JP" altLang="en-US">
                <a:solidFill>
                  <a:srgbClr val="666666"/>
                </a:solidFill>
                <a:latin typeface="Noto Sans JP"/>
                <a:ea typeface="Noto Sans JP"/>
              </a:rPr>
              <a:t>左：畳み込み層は局所を見る。右：注意機構は全体を見渡す（模式図）</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のしくみ ｜ 後半</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付録｜注意機構の計算</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15 / 17</a:t>
            </a:r>
          </a:p>
        </p:txBody>
      </p:sp>
      <p:pic>
        <p:nvPicPr>
          <p:cNvPr id="16" name="Picture 15" descr="sch_softmax.png"/>
          <p:cNvPicPr>
            <a:picLocks noChangeAspect="1"/>
          </p:cNvPicPr>
          <p:nvPr/>
        </p:nvPicPr>
        <p:blipFill>
          <a:blip r:embed="rId6"/>
          <a:stretch>
            <a:fillRect/>
          </a:stretch>
        </p:blipFill>
        <p:spPr>
          <a:xfrm>
            <a:off x="7102144" y="1371600"/>
            <a:ext cx="4479645" cy="4313732"/>
          </a:xfrm>
          <a:prstGeom prst="rect">
            <a:avLst/>
          </a:prstGeom>
        </p:spPr>
      </p:pic>
      <p:sp>
        <p:nvSpPr>
          <p:cNvPr id="17" name="Rounded Rectangle 16"/>
          <p:cNvSpPr/>
          <p:nvPr/>
        </p:nvSpPr>
        <p:spPr>
          <a:xfrm>
            <a:off x="609904" y="1371600"/>
            <a:ext cx="6217920" cy="1437258"/>
          </a:xfrm>
          <a:prstGeom prst="roundRect">
            <a:avLst>
              <a:gd name="adj" fmla="val 7634"/>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4496" y="1536192"/>
            <a:ext cx="5888736"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③ 行列でまとめて書く</a:t>
            </a:r>
          </a:p>
        </p:txBody>
      </p:sp>
      <p:pic>
        <p:nvPicPr>
          <p:cNvPr id="19" name="Picture 18" descr="\text{Attention}(Q, K, V) = \text{softmax}\left(\frac{QK^{T}}{\sqrt{c}}\right) V"/>
          <p:cNvPicPr>
            <a:picLocks noChangeAspect="1"/>
          </p:cNvPicPr>
          <p:nvPr/>
        </p:nvPicPr>
        <p:blipFill>
          <a:blip r:embed="rId5"/>
          <a:stretch>
            <a:fillRect/>
          </a:stretch>
        </p:blipFill>
        <p:spPr>
          <a:xfrm>
            <a:off x="774496" y="1922907"/>
            <a:ext cx="3879087" cy="721360"/>
          </a:xfrm>
          <a:prstGeom prst="rect">
            <a:avLst/>
          </a:prstGeom>
        </p:spPr>
      </p:pic>
      <p:sp>
        <p:nvSpPr>
          <p:cNvPr id="20" name="Rounded Rectangle 19"/>
          <p:cNvSpPr/>
          <p:nvPr/>
        </p:nvSpPr>
        <p:spPr>
          <a:xfrm>
            <a:off x="609904" y="2946018"/>
            <a:ext cx="6217920" cy="877570"/>
          </a:xfrm>
          <a:prstGeom prst="roundRect">
            <a:avLst>
              <a:gd name="adj" fmla="val 12503"/>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4496" y="3110611"/>
            <a:ext cx="5888736" cy="548386"/>
          </a:xfrm>
          <a:prstGeom prst="rect">
            <a:avLst/>
          </a:prstGeom>
          <a:noFill/>
        </p:spPr>
        <p:txBody>
          <a:bodyPr wrap="square" lIns="0" rIns="0" tIns="0" bIns="0" anchor="t">
            <a:noAutofit/>
          </a:bodyPr>
          <a:lstStyle/>
          <a:p>
            <a:pPr algn="l">
              <a:lnSpc>
                <a:spcPts val="2015"/>
              </a:lnSpc>
            </a:pPr>
            <a:r>
              <a:rPr sz="1300" b="0" lang="ja-JP" altLang="en-US">
                <a:solidFill>
                  <a:srgbClr val="333333"/>
                </a:solidFill>
                <a:latin typeface="Noto Sans JP"/>
                <a:ea typeface="Noto Sans JP"/>
              </a:rPr>
              <a:t>補足：√</a:t>
            </a:r>
            <a:r>
              <a:rPr sz="1300" b="0" i="1" lang="ja-JP" altLang="en-US">
                <a:solidFill>
                  <a:srgbClr val="333333"/>
                </a:solidFill>
                <a:latin typeface="Cambria Math"/>
                <a:ea typeface="Noto Sans JP"/>
              </a:rPr>
              <a:t>c</a:t>
            </a:r>
            <a:r>
              <a:rPr sz="1300" b="0" lang="ja-JP" altLang="en-US">
                <a:solidFill>
                  <a:srgbClr val="333333"/>
                </a:solidFill>
                <a:latin typeface="Noto Sans JP"/>
                <a:ea typeface="Noto Sans JP"/>
              </a:rPr>
              <a:t> で割るのは、次元 </a:t>
            </a:r>
            <a:r>
              <a:rPr sz="1300" b="0" i="1" lang="ja-JP" altLang="en-US">
                <a:solidFill>
                  <a:srgbClr val="333333"/>
                </a:solidFill>
                <a:latin typeface="Cambria Math"/>
                <a:ea typeface="Noto Sans JP"/>
              </a:rPr>
              <a:t>c</a:t>
            </a:r>
            <a:r>
              <a:rPr sz="1300" b="0" lang="ja-JP" altLang="en-US">
                <a:solidFill>
                  <a:srgbClr val="333333"/>
                </a:solidFill>
                <a:latin typeface="Noto Sans JP"/>
                <a:ea typeface="Noto Sans JP"/>
              </a:rPr>
              <a:t> が大きいと内積のばらつきが大きくなり、softmax が 1 つの要素に偏るのを防ぐため。</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付録｜AlphaFold 2 のしくみ</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付録｜マルチヘッドと層の積み重ね</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16 / 17</a:t>
            </a:r>
          </a:p>
        </p:txBody>
      </p:sp>
      <p:sp>
        <p:nvSpPr>
          <p:cNvPr id="6" name="Rounded Rectangle 5"/>
          <p:cNvSpPr/>
          <p:nvPr/>
        </p:nvSpPr>
        <p:spPr>
          <a:xfrm>
            <a:off x="609904" y="1371600"/>
            <a:ext cx="5348782" cy="1638299"/>
          </a:xfrm>
          <a:prstGeom prst="roundRect">
            <a:avLst>
              <a:gd name="adj" fmla="val 669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4496"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マルチヘッドアテンション</a:t>
            </a:r>
          </a:p>
        </p:txBody>
      </p:sp>
      <p:sp>
        <p:nvSpPr>
          <p:cNvPr id="8" name="TextBox 7"/>
          <p:cNvSpPr txBox="1"/>
          <p:nvPr/>
        </p:nvSpPr>
        <p:spPr>
          <a:xfrm>
            <a:off x="774496" y="1922907"/>
            <a:ext cx="5019598"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複数の注意機構（ヘッド）を並べて同時に計算する。ヘッドごとに異なる射影を使い、多様な関係を学べる。各ヘッドが特定の物理相互作用に対応するとは限らない。</a:t>
            </a:r>
          </a:p>
        </p:txBody>
      </p:sp>
      <p:sp>
        <p:nvSpPr>
          <p:cNvPr id="9" name="Rounded Rectangle 8"/>
          <p:cNvSpPr/>
          <p:nvPr/>
        </p:nvSpPr>
        <p:spPr>
          <a:xfrm>
            <a:off x="6233007" y="1371600"/>
            <a:ext cx="5348782" cy="1638299"/>
          </a:xfrm>
          <a:prstGeom prst="roundRect">
            <a:avLst>
              <a:gd name="adj" fmla="val 6697"/>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97599" y="153619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層を重ねる</a:t>
            </a:r>
          </a:p>
        </p:txBody>
      </p:sp>
      <p:sp>
        <p:nvSpPr>
          <p:cNvPr id="11" name="TextBox 10"/>
          <p:cNvSpPr txBox="1"/>
          <p:nvPr/>
        </p:nvSpPr>
        <p:spPr>
          <a:xfrm>
            <a:off x="6397599" y="1922907"/>
            <a:ext cx="5019598" cy="922401"/>
          </a:xfrm>
          <a:prstGeom prst="rect">
            <a:avLst/>
          </a:prstGeom>
          <a:noFill/>
        </p:spPr>
        <p:txBody>
          <a:bodyPr wrap="square" lIns="0" rIns="0" tIns="0" bIns="0" anchor="t">
            <a:noAutofit/>
          </a:bodyPr>
          <a:lstStyle/>
          <a:p>
            <a:pPr algn="l">
              <a:lnSpc>
                <a:spcPts val="2325"/>
              </a:lnSpc>
            </a:pPr>
            <a:r>
              <a:rPr sz="1500" b="0" lang="ja-JP" altLang="en-US">
                <a:solidFill>
                  <a:srgbClr val="333333"/>
                </a:solidFill>
                <a:latin typeface="Noto Sans JP"/>
                <a:ea typeface="Noto Sans JP"/>
              </a:rPr>
              <a:t>注意機構を含むブロックを何層も重ねて、複雑な依存関係を表す。計算は並列にしやすく、GPU で行う。</a:t>
            </a:r>
          </a:p>
        </p:txBody>
      </p:sp>
      <p:graphicFrame>
        <p:nvGraphicFramePr>
          <p:cNvPr id="12" name="Table 11"/>
          <p:cNvGraphicFramePr>
            <a:graphicFrameLocks noGrp="1"/>
          </p:cNvGraphicFramePr>
          <p:nvPr/>
        </p:nvGraphicFramePr>
        <p:xfrm>
          <a:off x="609904" y="3200400"/>
          <a:ext cx="10972800" cy="2214880"/>
        </p:xfrm>
        <a:graphic>
          <a:graphicData uri="http://schemas.openxmlformats.org/drawingml/2006/table">
            <a:tbl>
              <a:tblPr firstRow="0" bandRow="0">
                <a:tableStyleId>{5C22544A-7EE6-4342-B048-85BDC9FD1C3A}</a:tableStyleId>
              </a:tblPr>
              <a:tblGrid>
                <a:gridCol w="2743200"/>
                <a:gridCol w="4114800"/>
                <a:gridCol w="4114800"/>
              </a:tblGrid>
              <a:tr h="442976">
                <a:tc>
                  <a:txBody>
                    <a:bodyPr wrap="square"/>
                    <a:lstStyle/>
                    <a:p>
                      <a:pPr algn="l">
                        <a:lnSpc>
                          <a:spcPct val="135000"/>
                        </a:lnSpc>
                      </a:pP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CNN（畳み込み）</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c>
                  <a:txBody>
                    <a:bodyPr wrap="square"/>
                    <a:lstStyle/>
                    <a:p>
                      <a:pPr algn="l">
                        <a:lnSpc>
                          <a:spcPts val="2480"/>
                        </a:lnSpc>
                      </a:pPr>
                      <a:r>
                        <a:rPr sz="1600" b="1" lang="ja-JP" altLang="en-US">
                          <a:solidFill>
                            <a:srgbClr val="1A1A1A"/>
                          </a:solidFill>
                          <a:latin typeface="Noto Sans JP"/>
                          <a:ea typeface="Noto Sans JP"/>
                        </a:rPr>
                        <a:t>注意機構</a:t>
                      </a:r>
                    </a:p>
                  </a:txBody>
                  <a:tcPr marL="109728" marR="109728" marT="45720" marB="45720">
                    <a:lnL w="9525">
                      <a:noFill/>
                    </a:lnL>
                    <a:lnR w="9525">
                      <a:noFill/>
                    </a:lnR>
                    <a:lnT w="9525">
                      <a:solidFill>
                        <a:srgbClr val="949494"/>
                      </a:solidFill>
                    </a:lnT>
                    <a:lnB w="25400">
                      <a:solidFill>
                        <a:srgbClr val="000000"/>
                      </a:solidFill>
                    </a:lnB>
                    <a:solidFill>
                      <a:srgbClr val="E6E6E6"/>
                    </a:solidFill>
                  </a:tcPr>
                </a:tc>
              </a:tr>
              <a:tr h="442976">
                <a:tc>
                  <a:txBody>
                    <a:bodyPr wrap="square"/>
                    <a:lstStyle/>
                    <a:p>
                      <a:pPr algn="l">
                        <a:lnSpc>
                          <a:spcPts val="2480"/>
                        </a:lnSpc>
                      </a:pPr>
                      <a:r>
                        <a:rPr sz="1600" b="1" lang="ja-JP" altLang="en-US">
                          <a:solidFill>
                            <a:srgbClr val="1A1A1A"/>
                          </a:solidFill>
                          <a:latin typeface="Noto Sans JP"/>
                          <a:ea typeface="Noto Sans JP"/>
                        </a:rPr>
                        <a:t>入力</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格子状のデータ（画像）</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ベクトルの系列</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見る範囲</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決まった大きさの局所</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系列の全体</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遠い要素の関係</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層を重ねて間接的に</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1 つの層で直接</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r h="442976">
                <a:tc>
                  <a:txBody>
                    <a:bodyPr wrap="square"/>
                    <a:lstStyle/>
                    <a:p>
                      <a:pPr algn="l">
                        <a:lnSpc>
                          <a:spcPts val="2480"/>
                        </a:lnSpc>
                      </a:pPr>
                      <a:r>
                        <a:rPr sz="1600" b="1" lang="ja-JP" altLang="en-US">
                          <a:solidFill>
                            <a:srgbClr val="1A1A1A"/>
                          </a:solidFill>
                          <a:latin typeface="Noto Sans JP"/>
                          <a:ea typeface="Noto Sans JP"/>
                        </a:rPr>
                        <a:t>計算量</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小さい</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c>
                  <a:txBody>
                    <a:bodyPr wrap="square"/>
                    <a:lstStyle/>
                    <a:p>
                      <a:pPr algn="l">
                        <a:lnSpc>
                          <a:spcPts val="2480"/>
                        </a:lnSpc>
                      </a:pPr>
                      <a:r>
                        <a:rPr sz="1600" b="0" lang="ja-JP" altLang="en-US">
                          <a:solidFill>
                            <a:srgbClr val="333333"/>
                          </a:solidFill>
                          <a:latin typeface="Noto Sans JP"/>
                          <a:ea typeface="Noto Sans JP"/>
                        </a:rPr>
                        <a:t>大きい（系列の長さの 2 乗）</a:t>
                      </a:r>
                    </a:p>
                  </a:txBody>
                  <a:tcPr marL="109728" marR="109728" marT="45720" marB="45720">
                    <a:lnL w="9525">
                      <a:noFill/>
                    </a:lnL>
                    <a:lnR w="9525">
                      <a:noFill/>
                    </a:lnR>
                    <a:lnT w="9525">
                      <a:solidFill>
                        <a:srgbClr val="949494"/>
                      </a:solidFill>
                    </a:lnT>
                    <a:lnB w="9525">
                      <a:solidFill>
                        <a:srgbClr val="949494"/>
                      </a:solidFill>
                    </a:lnB>
                    <a:solidFill>
                      <a:srgbClr val="FFFFFF"/>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09904" y="274320"/>
            <a:ext cx="10971885" cy="274320"/>
          </a:xfrm>
          <a:prstGeom prst="rect">
            <a:avLst/>
          </a:prstGeom>
          <a:noFill/>
        </p:spPr>
        <p:txBody>
          <a:bodyPr wrap="square" lIns="0" rIns="0" tIns="0" bIns="0" anchor="t">
            <a:noAutofit/>
          </a:bodyPr>
          <a:lstStyle/>
          <a:p>
            <a:pPr algn="l">
              <a:lnSpc>
                <a:spcPts val="1760"/>
              </a:lnSpc>
            </a:pPr>
            <a:r>
              <a:rPr sz="1600" b="1" lang="ja-JP" altLang="en-US">
                <a:solidFill>
                  <a:srgbClr val="0017C1"/>
                </a:solidFill>
                <a:latin typeface="Noto Sans JP"/>
                <a:ea typeface="Noto Sans JP"/>
              </a:rPr>
              <a:t>付録｜その後</a:t>
            </a:r>
          </a:p>
        </p:txBody>
      </p:sp>
      <p:sp>
        <p:nvSpPr>
          <p:cNvPr id="3" name="TextBox 2"/>
          <p:cNvSpPr txBox="1"/>
          <p:nvPr/>
        </p:nvSpPr>
        <p:spPr>
          <a:xfrm>
            <a:off x="609904" y="548640"/>
            <a:ext cx="10971885" cy="530352"/>
          </a:xfrm>
          <a:prstGeom prst="rect">
            <a:avLst/>
          </a:prstGeom>
          <a:noFill/>
        </p:spPr>
        <p:txBody>
          <a:bodyPr wrap="square" lIns="0" rIns="0" tIns="0" bIns="0" anchor="t">
            <a:noAutofit/>
          </a:bodyPr>
          <a:lstStyle/>
          <a:p>
            <a:pPr algn="l">
              <a:lnSpc>
                <a:spcPct val="115000"/>
              </a:lnSpc>
            </a:pPr>
            <a:r>
              <a:rPr sz="3200" b="1" lang="ja-JP" altLang="en-US">
                <a:solidFill>
                  <a:srgbClr val="1A1A1A"/>
                </a:solidFill>
                <a:latin typeface="Noto Sans JP"/>
                <a:ea typeface="Noto Sans JP"/>
              </a:rPr>
              <a:t>付録｜補足：ColabDesign は AlphaFold 2 をどう使うか</a:t>
            </a:r>
          </a:p>
        </p:txBody>
      </p:sp>
      <p:cxnSp>
        <p:nvCxnSpPr>
          <p:cNvPr id="4" name="Connector 3"/>
          <p:cNvCxnSpPr/>
          <p:nvPr/>
        </p:nvCxnSpPr>
        <p:spPr>
          <a:xfrm>
            <a:off x="609904" y="1207008"/>
            <a:ext cx="10971886" cy="0"/>
          </a:xfrm>
          <a:prstGeom prst="line">
            <a:avLst/>
          </a:prstGeom>
          <a:ln w="19050">
            <a:solidFill>
              <a:srgbClr val="0017C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0104120" y="6419088"/>
            <a:ext cx="1508760" cy="228600"/>
          </a:xfrm>
          <a:prstGeom prst="rect">
            <a:avLst/>
          </a:prstGeom>
          <a:noFill/>
        </p:spPr>
        <p:txBody>
          <a:bodyPr wrap="square" lIns="0" rIns="0" tIns="0" bIns="0" anchor="t">
            <a:noAutofit/>
          </a:bodyPr>
          <a:lstStyle/>
          <a:p>
            <a:pPr algn="r">
              <a:lnSpc>
                <a:spcPts val="1050"/>
              </a:lnSpc>
            </a:pPr>
            <a:r>
              <a:rPr sz="1050" b="1" lang="ja-JP" altLang="en-US">
                <a:solidFill>
                  <a:srgbClr val="666666"/>
                </a:solidFill>
                <a:latin typeface="Noto Sans JP"/>
                <a:ea typeface="Noto Sans JP"/>
              </a:rPr>
              <a:t>付録 17 / 17</a:t>
            </a:r>
          </a:p>
        </p:txBody>
      </p:sp>
      <p:pic>
        <p:nvPicPr>
          <p:cNvPr id="6" name="Picture 5" descr="sch_colabdesign.png"/>
          <p:cNvPicPr>
            <a:picLocks noChangeAspect="1"/>
          </p:cNvPicPr>
          <p:nvPr/>
        </p:nvPicPr>
        <p:blipFill>
          <a:blip r:embed="rId3"/>
          <a:stretch>
            <a:fillRect/>
          </a:stretch>
        </p:blipFill>
        <p:spPr>
          <a:xfrm>
            <a:off x="2486507" y="1371600"/>
            <a:ext cx="7218680" cy="2240280"/>
          </a:xfrm>
          <a:prstGeom prst="rect">
            <a:avLst/>
          </a:prstGeom>
        </p:spPr>
      </p:pic>
      <p:sp>
        <p:nvSpPr>
          <p:cNvPr id="7" name="Rounded Rectangle 6"/>
          <p:cNvSpPr/>
          <p:nvPr/>
        </p:nvSpPr>
        <p:spPr>
          <a:xfrm>
            <a:off x="609904" y="3749040"/>
            <a:ext cx="5348782" cy="2534031"/>
          </a:xfrm>
          <a:prstGeom prst="roundRect">
            <a:avLst>
              <a:gd name="adj" fmla="val 4330"/>
            </a:avLst>
          </a:prstGeom>
          <a:solidFill>
            <a:srgbClr val="E8F1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4496" y="3913632"/>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考え方（構造予測の逆）</a:t>
            </a:r>
          </a:p>
        </p:txBody>
      </p:sp>
      <p:sp>
        <p:nvSpPr>
          <p:cNvPr id="9" name="TextBox 8"/>
          <p:cNvSpPr txBox="1"/>
          <p:nvPr/>
        </p:nvSpPr>
        <p:spPr>
          <a:xfrm>
            <a:off x="774496" y="4300347"/>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配列を「各位置の 20 種のアミノ酸の確率」という連続な表で表し、AlphaFold 2 に入れる。損失の勾配を配列まで逆にたどり、配列を更新する。</a:t>
            </a:r>
          </a:p>
        </p:txBody>
      </p:sp>
      <p:sp>
        <p:nvSpPr>
          <p:cNvPr id="10" name="TextBox 9"/>
          <p:cNvSpPr txBox="1"/>
          <p:nvPr/>
        </p:nvSpPr>
        <p:spPr>
          <a:xfrm>
            <a:off x="774496" y="5255133"/>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使い方の例：骨格を固定した配列設計、目標なしで折り畳まる配列を作る（ハルシネーション）、標的に結合するタンパク質の設計</a:t>
            </a:r>
          </a:p>
        </p:txBody>
      </p:sp>
      <p:sp>
        <p:nvSpPr>
          <p:cNvPr id="11" name="Rounded Rectangle 10"/>
          <p:cNvSpPr/>
          <p:nvPr/>
        </p:nvSpPr>
        <p:spPr>
          <a:xfrm>
            <a:off x="6233007" y="3558667"/>
            <a:ext cx="5348782" cy="2750693"/>
          </a:xfrm>
          <a:prstGeom prst="roundRect">
            <a:avLst>
              <a:gd name="adj" fmla="val 3989"/>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7599" y="3723259"/>
            <a:ext cx="5019598" cy="331851"/>
          </a:xfrm>
          <a:prstGeom prst="rect">
            <a:avLst/>
          </a:prstGeom>
          <a:noFill/>
        </p:spPr>
        <p:txBody>
          <a:bodyPr wrap="square" lIns="0" rIns="0" tIns="0" bIns="0" anchor="t">
            <a:noAutofit/>
          </a:bodyPr>
          <a:lstStyle/>
          <a:p>
            <a:pPr algn="l">
              <a:lnSpc>
                <a:spcPts val="2325"/>
              </a:lnSpc>
            </a:pPr>
            <a:r>
              <a:rPr sz="1500" b="1" lang="ja-JP" altLang="en-US">
                <a:solidFill>
                  <a:srgbClr val="1A1A1A"/>
                </a:solidFill>
                <a:latin typeface="Noto Sans JP"/>
                <a:ea typeface="Noto Sans JP"/>
              </a:rPr>
              <a:t>損失に使う出力</a:t>
            </a:r>
          </a:p>
        </p:txBody>
      </p:sp>
      <p:sp>
        <p:nvSpPr>
          <p:cNvPr id="13" name="TextBox 12"/>
          <p:cNvSpPr txBox="1"/>
          <p:nvPr/>
        </p:nvSpPr>
        <p:spPr>
          <a:xfrm>
            <a:off x="6397599" y="4109974"/>
            <a:ext cx="5019598" cy="312165"/>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pLDDT：残基ごとの信頼度（高くしたい）</a:t>
            </a:r>
          </a:p>
        </p:txBody>
      </p:sp>
      <p:sp>
        <p:nvSpPr>
          <p:cNvPr id="14" name="TextBox 13"/>
          <p:cNvSpPr txBox="1"/>
          <p:nvPr/>
        </p:nvSpPr>
        <p:spPr>
          <a:xfrm>
            <a:off x="6397599" y="4513580"/>
            <a:ext cx="5019598" cy="863346"/>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PAE（predicted aligned error）：残基 </a:t>
            </a:r>
            <a:r>
              <a:rPr sz="1400" b="0" i="1" lang="ja-JP" altLang="en-US">
                <a:solidFill>
                  <a:srgbClr val="333333"/>
                </a:solidFill>
                <a:latin typeface="Cambria Math"/>
                <a:ea typeface="Noto Sans JP"/>
              </a:rPr>
              <a:t>i</a:t>
            </a:r>
            <a:r>
              <a:rPr sz="1400" b="0" lang="ja-JP" altLang="en-US">
                <a:solidFill>
                  <a:srgbClr val="333333"/>
                </a:solidFill>
                <a:latin typeface="Noto Sans JP"/>
                <a:ea typeface="Noto Sans JP"/>
              </a:rPr>
              <a:t> の位置に合わせたときの残基 </a:t>
            </a:r>
            <a:r>
              <a:rPr sz="1400" b="0" i="1" lang="ja-JP" altLang="en-US">
                <a:solidFill>
                  <a:srgbClr val="333333"/>
                </a:solidFill>
                <a:latin typeface="Cambria Math"/>
                <a:ea typeface="Noto Sans JP"/>
              </a:rPr>
              <a:t>j</a:t>
            </a:r>
            <a:r>
              <a:rPr sz="1400" b="0" lang="ja-JP" altLang="en-US">
                <a:solidFill>
                  <a:srgbClr val="333333"/>
                </a:solidFill>
                <a:latin typeface="Noto Sans JP"/>
                <a:ea typeface="Noto Sans JP"/>
              </a:rPr>
              <a:t> の位置の予測誤差（小さくしたい）</a:t>
            </a:r>
          </a:p>
        </p:txBody>
      </p:sp>
      <p:sp>
        <p:nvSpPr>
          <p:cNvPr id="15" name="TextBox 14"/>
          <p:cNvSpPr txBox="1"/>
          <p:nvPr/>
        </p:nvSpPr>
        <p:spPr>
          <a:xfrm>
            <a:off x="6397599" y="5468366"/>
            <a:ext cx="5019598" cy="312165"/>
          </a:xfrm>
          <a:prstGeom prst="rect">
            <a:avLst/>
          </a:prstGeom>
          <a:noFill/>
        </p:spPr>
        <p:txBody>
          <a:bodyPr wrap="square" lIns="0" rIns="0" tIns="0" bIns="0" anchor="t">
            <a:noAutofit/>
          </a:bodyPr>
          <a:lstStyle/>
          <a:p>
            <a:pPr algn="l">
              <a:lnSpc>
                <a:spcPts val="2170"/>
              </a:lnSpc>
            </a:pPr>
            <a:r>
              <a:rPr sz="1400" b="0" lang="ja-JP" altLang="en-US">
                <a:solidFill>
                  <a:srgbClr val="333333"/>
                </a:solidFill>
                <a:latin typeface="Noto Sans JP"/>
                <a:ea typeface="Noto Sans JP"/>
              </a:rPr>
              <a:t>距離ヒストグラム：目標の構造との違い</a:t>
            </a:r>
          </a:p>
        </p:txBody>
      </p:sp>
      <p:sp>
        <p:nvSpPr>
          <p:cNvPr id="16" name="TextBox 15"/>
          <p:cNvSpPr txBox="1"/>
          <p:nvPr/>
        </p:nvSpPr>
        <p:spPr>
          <a:xfrm>
            <a:off x="6397599" y="5871971"/>
            <a:ext cx="5019598" cy="272796"/>
          </a:xfrm>
          <a:prstGeom prst="rect">
            <a:avLst/>
          </a:prstGeom>
          <a:noFill/>
        </p:spPr>
        <p:txBody>
          <a:bodyPr wrap="square" lIns="0" rIns="0" tIns="0" bIns="0" anchor="t">
            <a:noAutofit/>
          </a:bodyPr>
          <a:lstStyle/>
          <a:p>
            <a:pPr algn="l">
              <a:lnSpc>
                <a:spcPts val="1860"/>
              </a:lnSpc>
            </a:pPr>
            <a:r>
              <a:rPr sz="1200" b="0" lang="ja-JP" altLang="en-US">
                <a:solidFill>
                  <a:srgbClr val="666666"/>
                </a:solidFill>
                <a:latin typeface="Noto Sans JP"/>
                <a:ea typeface="Noto Sans JP"/>
              </a:rPr>
              <a:t>教科書にない内容（補足）</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第05回 AlphaFold 2による構造予測</dc:title>
  <dc:subject/>
  <dc:creator>松永 康佑</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