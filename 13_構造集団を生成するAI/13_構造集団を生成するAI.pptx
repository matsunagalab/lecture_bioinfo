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生命情報工学特論、第13回です。埼玉大学と理化学研究所の松永です。今回は構造集団を生成するAIを扱います。簡単な乱数から、目標の分布に</a:t>
            </a:r>
          </a:p>
          <a:p>
            <a:r>
              <a:rPr lang="ja-JP" altLang="en-US">
                <a:ea typeface="Noto Sans JP"/>
              </a:rPr>
              <a:t>従う構造を作る。右の概念図がこの回の全体像です。前の回で学んだ方法と今回の方法がどこでつながるかを意識して進めます。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簡単な乱数から、目標の分布に従う構造を作るについて説明します。簡単な乱数から、目標の分布に。従う構造を作る。。サンプルしやすい基底分布を、可逆な変換で複雑な分布へ写す。。密度を計算できれば、エネルギーによる学習や重み補正につなげられる。。生成の順番から反応速度は求まら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分布の変換・学習・評価をつなぐについて説明します。1　座標の変換と確率密度。2　可逆なニューラルネットと体積変化。3　データ・エネルギーからの学習。4　重み補正とBioEmuの構造集団。5　二つの谷を生成する小さな模型。ここでは図の軸や矢印を本文の量と対応させて読みます。得られるものと、追加の情報が必要なものを区別してください。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は、局所的な更新を繰り返して構造を探索しました。障壁が高いと更新を何度も繰り返す必要があります。今回は、学習済みの変換から構造を直接生成する方法を考えます。計算を速くする可能性がありますが、学習に使うデータやエネルギー、生成分布の検証が新たに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この図がボルツマン生成器の全体像です。上の簡単な乱数を、可逆なニューラルネットワークで下の分子構造へ写します。可逆性を利用すると、座標だけでなく、その構造の生成されやすさも計算できます。構造がもっともらしいという見た目の評価に加え、エネルギーと密度を使って分布を検証できる点が重要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独立な乱数を変換すれば、独立な標本を得られるについて説明します。基底分布：標準正規分布や一様分布など、容易に乱数を引ける分布。。fθ：パラメータθを学習する座標変換。入力と出力は同じ次元とする。。学習済みの同じ変換を独立な乱数へ適用すると、出力も独立になる。ただし目標分布に一致するかは別の問題。。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変数を2倍に伸ばすと、密度は半分になるについて説明します。zの幅1の区間が、x=2z+1では幅2へ広がる。。区間に入る確率は変わらないため、単位長さあたりの密度は半分になる。。標準正規分布は、平均1・標準偏差2の正規分布へ変わる。。この「確率を保つ」条件を一般化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一般の1次元変換では、局所の傾きで割るについて説明します。微小区間では、曲線を傾きf′の直線で近似できる。。dx=|f′(z)|dzだから、同じ確率が入る区間の長さが変わる。。図では外側ほど点の間隔が広がり、密度は低くなる。。絶対値は向きが反転する変換にも対応するため。。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多次元では、長さの伸びを体積の伸びへ置き換えるについて説明します。ヤコビ行列Jのij成分は、入力zのj成分を変えたときの出力xのi成分の変化。。微小な箱が平行多面体へ変わり、その体積比が|det J|になる。。例：二方向に2倍と3倍へ伸ばせば、面積は6倍、密度は1/6になる。。ここでは図の軸や矢印を本文の量と対応させて読みます。得られるものと、追加の情報が必要なものを区別してください。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対数密度を使うと、層ごとの変化を足せるについて説明します。複数の可逆な層を順に適用する。。合成変換のヤコビ行列は行列積になり、行列式も積になる。。対数を取ると、各層の対数体積変化の和になる。。密度を計算しやすい層を重ねることがnormalizing flowの設計の要点。。ここでは図の軸や矢印を本文の量と対応させて読みます。得られるものと、追加の情報が必要なものを区別してください。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可逆であることと、逆変換が計算しやすいことについて説明します。任意のニューラルネットは、異なる入力を同じ出力へ潰すことがある。。その場合、元の入力や密度を一意に求められない。。flowでは逆変換と体積変化を計算できる構造を選ぶ。。これによって生成だけでなく、既存構造がどれほど生成されやすいかも評価でき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affine couplingは、一方を固定して他方を動かすについて説明します。変数をaとbの二群に分ける。aはそのまま、bをaに依存した拡大と平行移動で変える。。exp(s)は正なので、b側の変換を必ず戻せる。。sとtは通常のニューラルネットでよい。交互に担当する変数を替え、全体を変換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角形のヤコビ行列なら、行列式が簡単になるについて説明します。a側は変えないので、aをbで微分した成分は0。。b側の対角成分はexp(s)。三角行列の行列式は対角成分の積だから、対数はsの和になる。。複雑なsやtの微分を、密度評価のために行列式へ展開する必要が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の情報は、標本とエネルギーの二通りについて説明します。標本がある：観測された構造に高い密度を与える。。エネルギーが計算できる：生成した構造のエネルギーと、分布の広がりを評価する。。二つを組み合わせると、既知の谷へ学習を導きつつ、その周囲を物理モデルで評価できる。。目標は一点の最低エネルギー構造ではなく、分布。。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データ学習は、標本の負の対数密度を下げるについて説明します。学習標本xが多い場所でqθ(x)を大きくする。。目標分布pから標本が得られていれば、これはKL(p‖qθ)のθ依存部分に一致する。。学習データが偏っていれば、その偏りも学ぶ。希少な状態がデータに存在するかを確認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エネルギー学習は、KL(qθ‖p)を下げるについて説明します。目標はp(x)=exp(−βU(x))/Z。生成分布qθから平均を取る。。log p=−βU−log Zを代入すると、エネルギーとlog qの平均になる。。未知のlog Zはθに依存しないので、学習時の勾配から消える。。ここでは図の軸や矢印を本文の量と対応させて読みます。得られるものと、追加の情報が必要なものを区別してください。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変数変換を代入すると、潜在空間で学習できるについて説明します。生成x=fθ(z)におけるlog qは、基底密度のlog pZから対数体積変化を引いた値。。基底分布は固定されているため、その平均もθに依存しない。。実際の損失にはエネルギーと、変換による体積変化が残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だけを下げると、分布が一点へ縮むについて説明します。低いエネルギーだけを目指すと、最小値の近くへ全標本を集めたくなる。。負の対数体積項は、過度の圧縮を抑える。。これは平均エネルギーとエントロピーの競合であり、第09回の自由エネルギーにつながる。。右の図は正規分布の幅と微分エントロピーの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損失が下がっても、すべての谷を見たとは限らないについて説明します。逆向きKLは、現在ほとんど生成しない領域の寄与を評価しにくい。。二つの谷の片方へ偏った初期化では、もう片方を見逃す可能性がある。。データ学習・複数初期値・独立な基準計算を組み合わせる。。図は確率の偏りを示す説明用の二状態模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左の模型では、複数の谷を持つ構造空間を潜在空間へ変換しています。潜在空間で二点をつなぎ、元の構造へ戻すと、中間の構造候補を作れます。ただし、この線が実際の時間発展を表すわけではありません。補間の道筋と、確率が高い遷移経路や反応速度は別々に検証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こちらはタンパク質の構造集団を生成した例です。単に一つの構造を再現するのではなく、複数の状態を出せることを見ています。右や下の分布を参照計算と比較し、どの状態をどれくらい生成しているかを確認します。生成密度が参照分布と異なる場合には、次に説明する重み付けで補正し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成密度が分かれば、重要度で補正できるについて説明します。qθから得た標本へ、目標の非正規化密度をqθで割った重みを与える。。Zは分子・分母の比で消える。。目標の重要な領域でqθが十分正であることが必要。生成していない谷は補正だけでは回復でき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重みの集中は、使える標本の減少として現れるについて説明します。同じ数を生成しても、少数だけが大きな重みを持つと推定は不安定になる。。正規化重みを使い、有効標本数を診断する。。この指標は重みのばらつきを見るもので、未知の谷の見逃しを検出する万能な指標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独立標本でも、学習誤差と有限標本誤差は残るについて説明します。同じ学習済みモデルからの生成同士が独立であることと、モデルが正しいことは別。。比較は、分布・状態の割合・エネルギー・独立な実験量で行う。。標本数を増やせば有限標本誤差は減るが、学習モデルの偏りは自動では消え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入力は配列で、出力は複数の立体構造です。図の右側のように、構造分布から状態の集団や自由エネルギー差を考えます。</a:t>
            </a:r>
          </a:p>
          <a:p/>
          <a:p>
            <a:r>
              <a:rPr lang="ja-JP" altLang="en-US">
                <a:ea typeface="Noto Sans JP"/>
              </a:rPr>
              <a:t>近似した平衡分布を生成するモデルです。特定のVHHや複合体に使う際は、実験や物理計算で分布の妥当性を確かめます。</a:t>
            </a:r>
          </a:p>
          <a:p/>
          <a:p>
            <a:r>
              <a:rPr lang="ja-JP" altLang="en-US">
                <a:ea typeface="Noto Sans JP"/>
              </a:rPr>
              <a:t>多様な構造が出ることと、割合が正しいことを分ける。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バイオエミュは、配列から一つの構造だけでなく、近似的な平衡構造集団を生成するモデルです。図の中央にある生成過程を通じて、同じ配列に対する複数の形を得ます。生成された順番は分子が動いた実時間の順番ではありません。存在割合や構造の多様性を調べる方法として読むことが大切で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学習では、異なる種類の情報が別の役割を持ちます。構造データは配列と形の対応を与え、分子動力学の標本は一つの配列が取り得る分布を与えます。さらに実験の安定性情報も利用します。計算から得た集団を大量に使うだけで実験と一致するとは限らないため、情報源を分けて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BioEmuは学習データの役割を分けて使うについて説明します。AFDBの構造は配列と構造の対応を、MDは一つの配列が取り得る集団を与える。。実験の安定性情報も学習に使い、計算だけの偏りを補う。。同じ「生成」でも、正規化flowと拡散モデルでは密度評価の仕組みが異なる。BGの重み式を、そのままBioEmuへ適用できるとは限ら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ここでは参照の分子動力学計算と生成モデルの構造分布を比較しています。各パネルの軸がどの構造特徴を表すかを確かめ、分布の位置と広がりを見ます。一部の条件でよく一致した結果を、任意の配列や条件へそのまま一般化してはいけません。また、この比較は時間相関や遷移速度の再現を示し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多様性と、正しい存在割合を分けて評価するについて説明します。異なる形が出たことだけでは、自由エネルギー差は分からない。。二つの状態A・Bの確率がpA・pBなら、その比から自由エネルギー差を求める。。構造生成モデルの割合を用いるには、目的の条件で分布の妥当性を検証する必要があ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構造集団から、時間の順序は復元できないについて説明します。右の二つの系列は同じ値の集合で、ヒストグラムも同じ。。しかし隣り合う値の関係は異なる。。平衡分布は存在割合を与えるが、遷移速度・経路・時間相関には動力学の情報が必要。。拡散モデルの生成ステップも、物理時間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の模型は、一様乱数を単調な折れ線で変換するについて説明します。xの区間[−2,2]を80個に分ける。各区間の確率piをsoftmaxで正に保つ。。潜在区間の長さpiを、座標区間の幅Δxへ写す。傾きはΔx/pi、密度はpi/Δx。。目標分布も同じ有限区間で正規化する。タンパク質モデルの再現ではなく、原理の実装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前後の密度と、補正後の割合を比較するについて説明します。学習前は座標区間で一様。学習後は二つの谷へ確率が集まる。。有限個の区間を使うため、密度は階段状になる。。生成密度とエネルギーから重みを計算し、右の谷の割合を理論積分と比べる。。右図は今回のNotebookの実行結果。。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計算を速くする代わりに、学習と検証へ仕事を移すについて説明します。MDは運動方程式をその都度解く。生成モデルは事前の学習を経て標本を作る。。生成一回の速さだけでなく、学習データの作成・学習・補正・適用範囲の検証を含めて考える。。新しい配列や条件へ使うときは、分布の誤差を再確認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とめ：変換・密度・学習・補正をつなぐについて説明します。可逆変換では、ヤコビ行列式から生成密度を評価できる。。BGはデータとエネルギーを使い、目標の平衡分布へ近づける。。重みの補正は、十分に重なる分布の間で有効。。BioEmuも構造集団を生成するが、生成順から物理時間は得られ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演習：小さな生成モデルを学習するについて説明します。20分・採点なし。13_演習.ipynbを使う。。1　正の区間確率と、可逆な折れ線の関係を見る。。2　エネルギーと密度の損失を学習し、前後の分布を比較。。3　重み補正後の右の谷の割合を、理論・MCMCと比べる。。4　区間数を変え、近似の細かさを観察して結果を保存する。。ここでは図の軸や矢印を本文の量と対応させて読みます。得られるものと、追加の情報が必要なものを区別してください。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導出と補足資料について説明します。ここからは本編の補足です。。導出の途中式、計算条件、研究例の詳細を示します。。本編の各手法の前提と対応させて読んでくださ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変数変換の式を、微小領域の確率から導くについて説明します。微小領域dzを変換すると、体積は|det J|dzになる。。その領域の確率が保存されることから、密度変換の式が得られる。。可逆性があればxからzを一意に戻せる。。向きに依存しない体積を扱うため絶対値を用い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KLの二つの向きを、平均する分布から区別するについて説明します。データからの学習はp側から標本を取る。。エネルギー学習は生成q側から標本を取る。。いずれもp=qで最小だが、有限なモデルや標本では学習中の挙動が違う。。KLは距離のように使うが、対称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演習の区間損失は、区間内の積分で計算するについて説明します。区間iではq=pi/Δxが一定。したがってlog qも一定。。平均エネルギーŪiは区間内のUの積分を幅で割る。。この模型では多項式を厳密に積分でき、学習中の標本誤差を避けられる。。有限区間・区分一定密度による近似は残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バイアスを加えた標本から元の平均を求めるとき、指数の符号を暗記する必要はありません。左の最初の積分に、バイアスのある確率密度で割り、同じ密度を掛ける操作を入れます。すると、バイアスのある分布で平均を取る形になります。二つの確率密度の比を計算すると、バイアスの正の指数と分配関数の比が残ります。観測量を一にした同じ式で割れば、未知の正規化定数を消せます。こうして重み付き平均が導かれます。右の例では、バイアスを加えた計算で二つの状態を同じ回数訪れています。しかし一方には正のバイアスを加えて訪れにくくしているので、その状態の元の割合は観測回数より大きかったはずです。正の指数で重みを戻すと、一対三になります。補正が数学的に正しくても、必要な状態を観測していなければ推定は正確になりません。特に重みのばらつきが大きいと、ごく少数の標本が平均を決めます。有効標本数の式は、この偏りを調べる目安です。連続する標本の時間相関は含まれていないため、統計誤差はさらに相関を考えて評価します。重みを全て同じ定数倍しても、分子と分母で相殺するため平均は変わりません。数値実装では最も大きな対数重みを引いてから指数を取ると、桁あふれを避けられます。ただし、重みの差が大きすぎるという統計的な問題は、計算を安定にしても解消しません。数値の安定性と、必要な標本があるかを分けて判断しま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付録では、ボルツマン生成器の模型の図を大きく示しています。元の構造空間と潜在空間の対応、自由エネルギーの形、補間した構造の関係を見てください。生成に使う変換の設計と、目標分布への一致の検証が別々の段階であることを確認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タンパク質への適用例を再掲しています。複数の状態を生成できることに加え、それぞれの状態の割合とエネルギーを参照計算と比べる必要があります。構造図と確率分布を対応させながら、学習の結果を読み取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原著・実装と、授業の模型について説明します。Boltzmann generators：Noé, Olsson, Köhler &amp; Wu, Science 365, eaaw1147 (2019)。DOI:10.1126/science.aaw1147。BioEmu：Lewis et al., Science (2025)。DOI:10.1126/science.adv9817。公式実装：github.com/microsoft/bioemu。授業の1次元折れ線モデルは、原著の考え方を単純化した実装。原著モデルの性能評価とは区別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hyperlink" Target="https://doi.org/10.1126/science.adv9817" TargetMode="External"/><Relationship Id="rId5" Type="http://schemas.openxmlformats.org/officeDocument/2006/relationships/hyperlink" Target="https://www.microsoft.com/en-us/research/wp-content/uploads/2024/12/accepted_paper.pdf"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2.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94360"/>
            <a:ext cx="5760720" cy="457200"/>
          </a:xfrm>
          <a:prstGeom prst="rect">
            <a:avLst/>
          </a:prstGeom>
          <a:noFill/>
        </p:spPr>
        <p:txBody>
          <a:bodyPr wrap="square" lIns="0" rIns="0" tIns="0" bIns="0" anchor="t">
            <a:noAutofit/>
          </a:bodyPr>
          <a:lstStyle/>
          <a:p>
            <a:pPr algn="l">
              <a:lnSpc>
                <a:spcPts val="2700"/>
              </a:lnSpc>
            </a:pPr>
            <a:r>
              <a:rPr sz="2000" b="1" lang="ja-JP" altLang="en-US">
                <a:solidFill>
                  <a:srgbClr val="0017C1"/>
                </a:solidFill>
                <a:latin typeface="Noto Sans JP"/>
                <a:ea typeface="Noto Sans JP"/>
              </a:rPr>
              <a:t>生命情報工学特論　第13回</a:t>
            </a:r>
          </a:p>
        </p:txBody>
      </p:sp>
      <p:sp>
        <p:nvSpPr>
          <p:cNvPr id="3" name="TextBox 2"/>
          <p:cNvSpPr txBox="1"/>
          <p:nvPr/>
        </p:nvSpPr>
        <p:spPr>
          <a:xfrm>
            <a:off x="640080" y="1417320"/>
            <a:ext cx="5989320" cy="1828800"/>
          </a:xfrm>
          <a:prstGeom prst="rect">
            <a:avLst/>
          </a:prstGeom>
          <a:noFill/>
        </p:spPr>
        <p:txBody>
          <a:bodyPr wrap="square" lIns="0" rIns="0" tIns="0" bIns="0" anchor="t">
            <a:noAutofit/>
          </a:bodyPr>
          <a:lstStyle/>
          <a:p>
            <a:pPr algn="l">
              <a:lnSpc>
                <a:spcPts val="4455"/>
              </a:lnSpc>
            </a:pPr>
            <a:r>
              <a:rPr sz="3300" b="1" lang="ja-JP" altLang="en-US">
                <a:solidFill>
                  <a:srgbClr val="333333"/>
                </a:solidFill>
                <a:latin typeface="Noto Sans JP"/>
                <a:ea typeface="Noto Sans JP"/>
              </a:rPr>
              <a:t>構造集団を生成するAI</a:t>
            </a:r>
          </a:p>
        </p:txBody>
      </p:sp>
      <p:sp>
        <p:nvSpPr>
          <p:cNvPr id="4" name="TextBox 3"/>
          <p:cNvSpPr txBox="1"/>
          <p:nvPr/>
        </p:nvSpPr>
        <p:spPr>
          <a:xfrm>
            <a:off x="685800" y="3429000"/>
            <a:ext cx="5623560" cy="1005840"/>
          </a:xfrm>
          <a:prstGeom prst="rect">
            <a:avLst/>
          </a:prstGeom>
          <a:noFill/>
        </p:spPr>
        <p:txBody>
          <a:bodyPr wrap="square" lIns="0" rIns="0" tIns="0" bIns="0" anchor="t">
            <a:noAutofit/>
          </a:bodyPr>
          <a:lstStyle/>
          <a:p>
            <a:pPr algn="l">
              <a:lnSpc>
                <a:spcPts val="2700"/>
              </a:lnSpc>
            </a:pPr>
            <a:r>
              <a:rPr sz="2000" b="0" lang="ja-JP" altLang="en-US">
                <a:solidFill>
                  <a:srgbClr val="333333"/>
                </a:solidFill>
                <a:latin typeface="Noto Sans JP"/>
                <a:ea typeface="Noto Sans JP"/>
              </a:rPr>
              <a:t>簡単な乱数から、目標の分布に</a:t>
            </a:r>
          </a:p>
          <a:p>
            <a:pPr algn="l">
              <a:lnSpc>
                <a:spcPts val="2700"/>
              </a:lnSpc>
            </a:pPr>
            <a:r>
              <a:rPr sz="2000" b="0" lang="ja-JP" altLang="en-US">
                <a:solidFill>
                  <a:srgbClr val="333333"/>
                </a:solidFill>
                <a:latin typeface="Noto Sans JP"/>
                <a:ea typeface="Noto Sans JP"/>
              </a:rPr>
              <a:t>従う構造を作る</a:t>
            </a:r>
          </a:p>
        </p:txBody>
      </p:sp>
      <p:sp>
        <p:nvSpPr>
          <p:cNvPr id="5" name="TextBox 4"/>
          <p:cNvSpPr txBox="1"/>
          <p:nvPr/>
        </p:nvSpPr>
        <p:spPr>
          <a:xfrm>
            <a:off x="685800" y="4709160"/>
            <a:ext cx="5303520" cy="457200"/>
          </a:xfrm>
          <a:prstGeom prst="rect">
            <a:avLst/>
          </a:prstGeom>
          <a:noFill/>
        </p:spPr>
        <p:txBody>
          <a:bodyPr wrap="square" lIns="0" rIns="0" tIns="0" bIns="0" anchor="t">
            <a:noAutofit/>
          </a:bodyPr>
          <a:lstStyle/>
          <a:p>
            <a:pPr algn="l">
              <a:lnSpc>
                <a:spcPts val="3375"/>
              </a:lnSpc>
            </a:pPr>
            <a:r>
              <a:rPr sz="2500" b="1" lang="ja-JP" altLang="en-US">
                <a:solidFill>
                  <a:srgbClr val="333333"/>
                </a:solidFill>
                <a:latin typeface="Noto Sans JP"/>
                <a:ea typeface="Noto Sans JP"/>
              </a:rPr>
              <a:t>松永 康佑</a:t>
            </a:r>
          </a:p>
        </p:txBody>
      </p:sp>
      <p:sp>
        <p:nvSpPr>
          <p:cNvPr id="6" name="TextBox 5"/>
          <p:cNvSpPr txBox="1"/>
          <p:nvPr/>
        </p:nvSpPr>
        <p:spPr>
          <a:xfrm>
            <a:off x="685800" y="5330952"/>
            <a:ext cx="5852160" cy="7772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埼玉大学 大学院理工学研究科</a:t>
            </a:r>
          </a:p>
          <a:p>
            <a:pPr algn="l">
              <a:lnSpc>
                <a:spcPts val="2295"/>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685800" y="6245352"/>
            <a:ext cx="4572000" cy="320040"/>
          </a:xfrm>
          <a:prstGeom prst="rect">
            <a:avLst/>
          </a:prstGeom>
          <a:noFill/>
        </p:spPr>
        <p:txBody>
          <a:bodyPr wrap="square" lIns="0" rIns="0" tIns="0" bIns="0" anchor="t">
            <a:noAutofit/>
          </a:bodyPr>
          <a:lstStyle/>
          <a:p>
            <a:pPr algn="l">
              <a:lnSpc>
                <a:spcPts val="2025"/>
              </a:lnSpc>
            </a:pPr>
            <a:r>
              <a:rPr sz="1500" b="0" lang="ja-JP" altLang="en-US">
                <a:solidFill>
                  <a:srgbClr val="333333"/>
                </a:solidFill>
                <a:latin typeface="Noto Sans JP"/>
                <a:ea typeface="Noto Sans JP"/>
              </a:rPr>
              <a:t>2026年12月21日</a:t>
            </a:r>
          </a:p>
        </p:txBody>
      </p:sp>
      <p:pic>
        <p:nvPicPr>
          <p:cNvPr id="8" name="Picture 7" descr="bg_original.png"/>
          <p:cNvPicPr>
            <a:picLocks noChangeAspect="1"/>
          </p:cNvPicPr>
          <p:nvPr/>
        </p:nvPicPr>
        <p:blipFill>
          <a:blip r:embed="rId3"/>
          <a:stretch>
            <a:fillRect/>
          </a:stretch>
        </p:blipFill>
        <p:spPr>
          <a:xfrm>
            <a:off x="7588616" y="1097280"/>
            <a:ext cx="3247926" cy="516636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簡単な乱数から、目標の分布に従う構造を作る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簡単な乱数から、目標の分布に</a:t>
            </a:r>
          </a:p>
          <a:p>
            <a:pPr algn="l">
              <a:lnSpc>
                <a:spcPts val="2497"/>
              </a:lnSpc>
            </a:pPr>
            <a:r>
              <a:rPr sz="1850" b="0" lang="ja-JP" altLang="en-US">
                <a:solidFill>
                  <a:srgbClr val="333333"/>
                </a:solidFill>
                <a:latin typeface="Noto Sans JP"/>
                <a:ea typeface="Noto Sans JP"/>
              </a:rPr>
              <a:t>従う構造を作る。</a:t>
            </a:r>
          </a:p>
          <a:p>
            <a:pPr algn="l">
              <a:lnSpc>
                <a:spcPts val="2497"/>
              </a:lnSpc>
            </a:pPr>
            <a:r>
              <a:rPr sz="1850" b="0" lang="ja-JP" altLang="en-US">
                <a:solidFill>
                  <a:srgbClr val="333333"/>
                </a:solidFill>
                <a:latin typeface="Noto Sans JP"/>
                <a:ea typeface="Noto Sans JP"/>
              </a:rPr>
              <a:t>サンプルしやすい基底分布を、可逆な変換で複雑な分布へ写す。</a:t>
            </a:r>
          </a:p>
          <a:p>
            <a:pPr algn="l">
              <a:lnSpc>
                <a:spcPts val="2497"/>
              </a:lnSpc>
            </a:pPr>
            <a:r>
              <a:rPr sz="1850" b="0" lang="ja-JP" altLang="en-US">
                <a:solidFill>
                  <a:srgbClr val="333333"/>
                </a:solidFill>
                <a:latin typeface="Noto Sans JP"/>
                <a:ea typeface="Noto Sans JP"/>
              </a:rPr>
              <a:t>密度を計算できれば、エネルギーによる学習や重み補正につなげられる。</a:t>
            </a:r>
          </a:p>
          <a:p>
            <a:pPr algn="l">
              <a:lnSpc>
                <a:spcPts val="2497"/>
              </a:lnSpc>
            </a:pPr>
            <a:r>
              <a:rPr sz="1850" b="0" lang="ja-JP" altLang="en-US">
                <a:solidFill>
                  <a:srgbClr val="333333"/>
                </a:solidFill>
                <a:latin typeface="Noto Sans JP"/>
                <a:ea typeface="Noto Sans JP"/>
              </a:rPr>
              <a:t>生成の順番から反応速度は求まらない。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分布の変換・学習・評価をつなぐ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1　座標の変換と確率密度</a:t>
            </a:r>
          </a:p>
          <a:p>
            <a:pPr algn="l">
              <a:lnSpc>
                <a:spcPts val="2497"/>
              </a:lnSpc>
            </a:pPr>
            <a:r>
              <a:rPr sz="1850" b="0" lang="ja-JP" altLang="en-US">
                <a:solidFill>
                  <a:srgbClr val="333333"/>
                </a:solidFill>
                <a:latin typeface="Noto Sans JP"/>
                <a:ea typeface="Noto Sans JP"/>
              </a:rPr>
              <a:t>2　可逆なニューラルネットと体積変化</a:t>
            </a:r>
          </a:p>
          <a:p>
            <a:pPr algn="l">
              <a:lnSpc>
                <a:spcPts val="2497"/>
              </a:lnSpc>
            </a:pPr>
            <a:r>
              <a:rPr sz="1850" b="0" lang="ja-JP" altLang="en-US">
                <a:solidFill>
                  <a:srgbClr val="333333"/>
                </a:solidFill>
                <a:latin typeface="Noto Sans JP"/>
                <a:ea typeface="Noto Sans JP"/>
              </a:rPr>
              <a:t>3　データ・エネルギーからの学習</a:t>
            </a:r>
          </a:p>
          <a:p>
            <a:pPr algn="l">
              <a:lnSpc>
                <a:spcPts val="2497"/>
              </a:lnSpc>
            </a:pPr>
            <a:r>
              <a:rPr sz="1850" b="0" lang="ja-JP" altLang="en-US">
                <a:solidFill>
                  <a:srgbClr val="333333"/>
                </a:solidFill>
                <a:latin typeface="Noto Sans JP"/>
                <a:ea typeface="Noto Sans JP"/>
              </a:rPr>
              <a:t>4　重み補正とBioEmuの構造集団</a:t>
            </a:r>
          </a:p>
          <a:p>
            <a:pPr algn="l">
              <a:lnSpc>
                <a:spcPts val="2497"/>
              </a:lnSpc>
            </a:pPr>
            <a:r>
              <a:rPr sz="1850" b="0" lang="ja-JP" altLang="en-US">
                <a:solidFill>
                  <a:srgbClr val="333333"/>
                </a:solidFill>
                <a:latin typeface="Noto Sans JP"/>
                <a:ea typeface="Noto Sans JP"/>
              </a:rPr>
              <a:t>5　二つの谷を生成する小さな模型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1D184B28-E63D-D9A8-2BD8-72927A3DD373}"/>
              </a:ext>
            </a:extLst>
          </p:cNvPr>
          <p:cNvSpPr>
            <a:spLocks noGrp="1"/>
          </p:cNvSpPr>
          <p:nvPr>
            <p:ph type="title"/>
          </p:nvPr>
        </p:nvSpPr>
        <p:spPr>
          <a:xfrm>
            <a:off x="2173071" y="316685"/>
            <a:ext cx="7845552" cy="1089660"/>
          </a:xfrm>
        </p:spPr>
        <p:txBody>
          <a:bodyPr>
            <a:noAutofit/>
          </a:bodyPr>
          <a:lstStyle/>
          <a:p>
            <a:r>
              <a:rPr lang="ja-JP" altLang="en-US" sz="3050"/>
              <a:t>既存の計算手法における課題</a:t>
            </a:r>
            <a:endParaRPr lang="ja-JP" altLang="en-US" sz="3050">
              <a:solidFill>
                <a:srgbClr val="FF0000"/>
              </a:solidFill>
            </a:endParaRPr>
          </a:p>
        </p:txBody>
      </p:sp>
      <p:sp>
        <p:nvSpPr>
          <p:cNvPr id="3" name="コンテンツ プレースホルダー 2">
            <a:extLst>
              <a:ext uri="{FF2B5EF4-FFF2-40B4-BE49-F238E27FC236}">
                <a16:creationId xmlns:a16="http://schemas.microsoft.com/office/drawing/2014/main" id="{6F7CC149-60F5-8223-F322-5B73BDDBD7BB}"/>
              </a:ext>
            </a:extLst>
          </p:cNvPr>
          <p:cNvSpPr>
            <a:spLocks noGrp="1"/>
          </p:cNvSpPr>
          <p:nvPr>
            <p:ph idx="1"/>
          </p:nvPr>
        </p:nvSpPr>
        <p:spPr>
          <a:xfrm>
            <a:off x="2173071" y="1580388"/>
            <a:ext cx="7845552" cy="4314751"/>
          </a:xfrm>
        </p:spPr>
        <p:txBody>
          <a:bodyPr>
            <a:normAutofit/>
          </a:bodyPr>
          <a:lstStyle/>
          <a:p>
            <a:pPr>
              <a:lnSpc>
                <a:spcPct val="150000"/>
              </a:lnSpc>
            </a:pPr>
            <a:r>
              <a:rPr lang="ja-JP" altLang="en-US"/>
              <a:t>分子動力学シミュレーションは時空間解像度に優れた情報を与えてくれるが計算に時間がかかる</a:t>
            </a:r>
            <a:endParaRPr lang="en-US" altLang="ja-JP" dirty="0"/>
          </a:p>
          <a:p>
            <a:pPr>
              <a:lnSpc>
                <a:spcPct val="150000"/>
              </a:lnSpc>
            </a:pPr>
            <a:r>
              <a:rPr lang="en-US" altLang="ja-JP" dirty="0">
                <a:solidFill>
                  <a:srgbClr val="C00000"/>
                </a:solidFill>
              </a:rPr>
              <a:t>AI</a:t>
            </a:r>
            <a:r>
              <a:rPr lang="ja-JP" altLang="en-US">
                <a:solidFill>
                  <a:srgbClr val="C00000"/>
                </a:solidFill>
              </a:rPr>
              <a:t>モデルを使って分子動力学シミュレーションを模倣することで、代理計算を高速に実行できないか？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7D79F7DE-684A-0D5F-2ED8-0CC1371A26BB}"/>
              </a:ext>
            </a:extLst>
          </p:cNvPr>
          <p:cNvSpPr>
            <a:spLocks noGrp="1"/>
          </p:cNvSpPr>
          <p:nvPr>
            <p:ph type="title"/>
          </p:nvPr>
        </p:nvSpPr>
        <p:spPr>
          <a:xfrm>
            <a:off x="2224887" y="54864"/>
            <a:ext cx="7741920" cy="765589"/>
          </a:xfrm>
        </p:spPr>
        <p:txBody>
          <a:bodyPr>
            <a:noAutofit/>
          </a:bodyPr>
          <a:lstStyle/>
          <a:p>
            <a:r>
              <a:rPr lang="en-US" altLang="ja-JP" sz="3048" dirty="0"/>
              <a:t>Boltzmann generator (Normalizing flow based)</a:t>
            </a:r>
            <a:endParaRPr lang="ja-JP" altLang="en-US" sz="3048">
              <a:solidFill>
                <a:srgbClr val="FF0000"/>
              </a:solidFill>
            </a:endParaRPr>
          </a:p>
        </p:txBody>
      </p:sp>
      <p:sp>
        <p:nvSpPr>
          <p:cNvPr id="8" name="テキスト ボックス 7">
            <a:extLst>
              <a:ext uri="{FF2B5EF4-FFF2-40B4-BE49-F238E27FC236}">
                <a16:creationId xmlns:a16="http://schemas.microsoft.com/office/drawing/2014/main" id="{E107066F-E747-71D5-CC3F-FA15DBC33B46}"/>
              </a:ext>
            </a:extLst>
          </p:cNvPr>
          <p:cNvSpPr txBox="1"/>
          <p:nvPr/>
        </p:nvSpPr>
        <p:spPr>
          <a:xfrm>
            <a:off x="2224887" y="5440051"/>
            <a:ext cx="4606442" cy="390876"/>
          </a:xfrm>
          <a:prstGeom prst="rect">
            <a:avLst/>
          </a:prstGeom>
          <a:noFill/>
        </p:spPr>
        <p:txBody>
          <a:bodyPr wrap="square">
            <a:spAutoFit/>
          </a:bodyPr>
          <a:lstStyle/>
          <a:p>
            <a:r>
              <a:rPr lang="en" altLang="ja-JP" sz="1016" dirty="0">
                <a:effectLst/>
              </a:rPr>
              <a:t>F. Noé, S. Olsson, J. Köhler, and H. Wu, Boltzmann generators: Sampling equilibrium states of many-body systems with deep learning, Science </a:t>
            </a:r>
            <a:r>
              <a:rPr lang="en" altLang="ja-JP" sz="1016" b="1" dirty="0">
                <a:effectLst/>
              </a:rPr>
              <a:t>365</a:t>
            </a:r>
            <a:r>
              <a:rPr lang="en" altLang="ja-JP" sz="1016" dirty="0">
                <a:effectLst/>
              </a:rPr>
              <a:t>, eaaw1147 (2019).</a:t>
            </a:r>
          </a:p>
        </p:txBody>
      </p:sp>
      <p:pic>
        <p:nvPicPr>
          <p:cNvPr id="9" name="図 8">
            <a:extLst>
              <a:ext uri="{FF2B5EF4-FFF2-40B4-BE49-F238E27FC236}">
                <a16:creationId xmlns:a16="http://schemas.microsoft.com/office/drawing/2014/main" id="{FC24948C-5033-8059-E3E3-A14C65B91807}"/>
              </a:ext>
            </a:extLst>
          </p:cNvPr>
          <p:cNvPicPr>
            <a:picLocks noChangeAspect="1"/>
          </p:cNvPicPr>
          <p:nvPr/>
        </p:nvPicPr>
        <p:blipFill>
          <a:blip r:embed="rId3"/>
          <a:srcRect b="42892"/>
          <a:stretch/>
        </p:blipFill>
        <p:spPr>
          <a:xfrm>
            <a:off x="3711483" y="820453"/>
            <a:ext cx="4895784" cy="4447302"/>
          </a:xfrm>
          <a:prstGeom prst="rect">
            <a:avLst/>
          </a:prstGeom>
        </p:spPr>
      </p:pic>
      <p:sp>
        <p:nvSpPr>
          <p:cNvPr id="10" name="TextBox 9"/>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潜在変数の簡単な分布を、可逆変換で構造分布へ写す。Noé et al., Science 365, eaaw1147 (2019)。</a:t>
            </a:r>
          </a:p>
        </p:txBody>
      </p:sp>
      <p:sp>
        <p:nvSpPr>
          <p:cNvPr id="11" name="TextBox 1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独立な乱数を変換すれば、独立な標本を得られる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density.png"/>
          <p:cNvPicPr>
            <a:picLocks noChangeAspect="1"/>
          </p:cNvPicPr>
          <p:nvPr/>
        </p:nvPicPr>
        <p:blipFill>
          <a:blip r:embed="rId3"/>
          <a:stretch>
            <a:fillRect/>
          </a:stretch>
        </p:blipFill>
        <p:spPr>
          <a:xfrm>
            <a:off x="6995160" y="1508760"/>
            <a:ext cx="4617720" cy="3610968"/>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基底分布：標準正規分布や一様分布など、容易に乱数を引ける分布。</a:t>
            </a:r>
          </a:p>
          <a:p>
            <a:pPr algn="l">
              <a:lnSpc>
                <a:spcPts val="2497"/>
              </a:lnSpc>
            </a:pPr>
            <a:r>
              <a:rPr sz="1850" b="0" lang="ja-JP" altLang="en-US">
                <a:solidFill>
                  <a:srgbClr val="333333"/>
                </a:solidFill>
                <a:latin typeface="Noto Sans JP"/>
                <a:ea typeface="Noto Sans JP"/>
              </a:rPr>
              <a:t>fθ：パラメータθを学習する座標変換。入力と出力は同じ次元とする。</a:t>
            </a:r>
          </a:p>
          <a:p>
            <a:pPr algn="l">
              <a:lnSpc>
                <a:spcPts val="2497"/>
              </a:lnSpc>
            </a:pPr>
            <a:r>
              <a:rPr sz="1850" b="0" lang="ja-JP" altLang="en-US">
                <a:solidFill>
                  <a:srgbClr val="333333"/>
                </a:solidFill>
                <a:latin typeface="Noto Sans JP"/>
                <a:ea typeface="Noto Sans JP"/>
              </a:rPr>
              <a:t>学習済みの同じ変換を独立な乱数へ適用すると、出力も独立になる。ただし目標分布に一致するかは別の問題。</a:t>
            </a:r>
          </a:p>
        </p:txBody>
      </p:sp>
      <p:pic>
        <p:nvPicPr>
          <p:cNvPr id="8" name="Picture 7" descr="z\sim p_Z(z),\qquad x=f_\theta(z),\qquad x\sim q_\theta(x)"/>
          <p:cNvPicPr>
            <a:picLocks noChangeAspect="1"/>
          </p:cNvPicPr>
          <p:nvPr/>
        </p:nvPicPr>
        <p:blipFill>
          <a:blip r:embed="rId4"/>
          <a:stretch>
            <a:fillRect/>
          </a:stretch>
        </p:blipFill>
        <p:spPr>
          <a:xfrm>
            <a:off x="658368" y="5513832"/>
            <a:ext cx="5154168" cy="28956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変数を2倍に伸ばすと、密度は半分になる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ffine.png"/>
          <p:cNvPicPr>
            <a:picLocks noChangeAspect="1"/>
          </p:cNvPicPr>
          <p:nvPr/>
        </p:nvPicPr>
        <p:blipFill>
          <a:blip r:embed="rId3"/>
          <a:stretch>
            <a:fillRect/>
          </a:stretch>
        </p:blipFill>
        <p:spPr>
          <a:xfrm>
            <a:off x="6995160" y="1508760"/>
            <a:ext cx="4617720" cy="3633199"/>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zの幅1の区間が、x=2z+1では幅2へ広がる。</a:t>
            </a:r>
          </a:p>
          <a:p>
            <a:pPr algn="l">
              <a:lnSpc>
                <a:spcPts val="2497"/>
              </a:lnSpc>
            </a:pPr>
            <a:r>
              <a:rPr sz="1850" b="0" lang="ja-JP" altLang="en-US">
                <a:solidFill>
                  <a:srgbClr val="333333"/>
                </a:solidFill>
                <a:latin typeface="Noto Sans JP"/>
                <a:ea typeface="Noto Sans JP"/>
              </a:rPr>
              <a:t>区間に入る確率は変わらないため、単位長さあたりの密度は半分になる。</a:t>
            </a:r>
          </a:p>
          <a:p>
            <a:pPr algn="l">
              <a:lnSpc>
                <a:spcPts val="2497"/>
              </a:lnSpc>
            </a:pPr>
            <a:r>
              <a:rPr sz="1850" b="0" lang="ja-JP" altLang="en-US">
                <a:solidFill>
                  <a:srgbClr val="333333"/>
                </a:solidFill>
                <a:latin typeface="Noto Sans JP"/>
                <a:ea typeface="Noto Sans JP"/>
              </a:rPr>
              <a:t>標準正規分布は、平均1・標準偏差2の正規分布へ変わる。</a:t>
            </a:r>
          </a:p>
          <a:p>
            <a:pPr algn="l">
              <a:lnSpc>
                <a:spcPts val="2497"/>
              </a:lnSpc>
            </a:pPr>
            <a:r>
              <a:rPr sz="1850" b="0" lang="ja-JP" altLang="en-US">
                <a:solidFill>
                  <a:srgbClr val="333333"/>
                </a:solidFill>
                <a:latin typeface="Noto Sans JP"/>
                <a:ea typeface="Noto Sans JP"/>
              </a:rPr>
              <a:t>この「確率を保つ」条件を一般化する。</a:t>
            </a:r>
          </a:p>
        </p:txBody>
      </p:sp>
      <p:pic>
        <p:nvPicPr>
          <p:cNvPr id="8" name="Picture 7" descr="q_X(x)=\frac12p_Z\!\left(\frac{x-1}{2}\right)"/>
          <p:cNvPicPr>
            <a:picLocks noChangeAspect="1"/>
          </p:cNvPicPr>
          <p:nvPr/>
        </p:nvPicPr>
        <p:blipFill>
          <a:blip r:embed="rId4"/>
          <a:stretch>
            <a:fillRect/>
          </a:stretch>
        </p:blipFill>
        <p:spPr>
          <a:xfrm>
            <a:off x="658368" y="5513832"/>
            <a:ext cx="2590800" cy="646176"/>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一般の1次元変換では、局所の傾きで割る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jacobian.png"/>
          <p:cNvPicPr>
            <a:picLocks noChangeAspect="1"/>
          </p:cNvPicPr>
          <p:nvPr/>
        </p:nvPicPr>
        <p:blipFill>
          <a:blip r:embed="rId3"/>
          <a:stretch>
            <a:fillRect/>
          </a:stretch>
        </p:blipFill>
        <p:spPr>
          <a:xfrm>
            <a:off x="6995160" y="1508760"/>
            <a:ext cx="4617720" cy="3623671"/>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微小区間では、曲線を傾きf′の直線で近似できる。</a:t>
            </a:r>
          </a:p>
          <a:p>
            <a:pPr algn="l">
              <a:lnSpc>
                <a:spcPts val="2497"/>
              </a:lnSpc>
            </a:pPr>
            <a:r>
              <a:rPr sz="1850" b="0" lang="ja-JP" altLang="en-US">
                <a:solidFill>
                  <a:srgbClr val="333333"/>
                </a:solidFill>
                <a:latin typeface="Noto Sans JP"/>
                <a:ea typeface="Noto Sans JP"/>
              </a:rPr>
              <a:t>dx=|f′(z)|dzだから、同じ確率が入る区間の長さが変わる。</a:t>
            </a:r>
          </a:p>
          <a:p>
            <a:pPr algn="l">
              <a:lnSpc>
                <a:spcPts val="2497"/>
              </a:lnSpc>
            </a:pPr>
            <a:r>
              <a:rPr sz="1850" b="0" lang="ja-JP" altLang="en-US">
                <a:solidFill>
                  <a:srgbClr val="333333"/>
                </a:solidFill>
                <a:latin typeface="Noto Sans JP"/>
                <a:ea typeface="Noto Sans JP"/>
              </a:rPr>
              <a:t>図では外側ほど点の間隔が広がり、密度は低くなる。</a:t>
            </a:r>
          </a:p>
          <a:p>
            <a:pPr algn="l">
              <a:lnSpc>
                <a:spcPts val="2497"/>
              </a:lnSpc>
            </a:pPr>
            <a:r>
              <a:rPr sz="1850" b="0" lang="ja-JP" altLang="en-US">
                <a:solidFill>
                  <a:srgbClr val="333333"/>
                </a:solidFill>
                <a:latin typeface="Noto Sans JP"/>
                <a:ea typeface="Noto Sans JP"/>
              </a:rPr>
              <a:t>絶対値は向きが反転する変換にも対応するため。</a:t>
            </a:r>
          </a:p>
        </p:txBody>
      </p:sp>
      <p:pic>
        <p:nvPicPr>
          <p:cNvPr id="8" name="Picture 7" descr="q_X(x)\,dx=p_Z(z)\,dz,\quad q_X(f(z))=\frac{p_Z(z)}{|f^\prime(z)|}"/>
          <p:cNvPicPr>
            <a:picLocks noChangeAspect="1"/>
          </p:cNvPicPr>
          <p:nvPr/>
        </p:nvPicPr>
        <p:blipFill>
          <a:blip r:embed="rId4"/>
          <a:stretch>
            <a:fillRect/>
          </a:stretch>
        </p:blipFill>
        <p:spPr>
          <a:xfrm>
            <a:off x="658368" y="5513832"/>
            <a:ext cx="5352288" cy="72847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多次元では、長さの伸びを体積の伸びへ置き換える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rea.png"/>
          <p:cNvPicPr>
            <a:picLocks noChangeAspect="1"/>
          </p:cNvPicPr>
          <p:nvPr/>
        </p:nvPicPr>
        <p:blipFill>
          <a:blip r:embed="rId3"/>
          <a:stretch>
            <a:fillRect/>
          </a:stretch>
        </p:blipFill>
        <p:spPr>
          <a:xfrm>
            <a:off x="6995160" y="1508760"/>
            <a:ext cx="4617720" cy="3875844"/>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ヤコビ行列Jのij成分は、入力zのj成分を変えたときの出力xのi成分の変化。</a:t>
            </a:r>
          </a:p>
          <a:p>
            <a:pPr algn="l">
              <a:lnSpc>
                <a:spcPts val="2497"/>
              </a:lnSpc>
            </a:pPr>
            <a:r>
              <a:rPr sz="1850" b="0" lang="ja-JP" altLang="en-US">
                <a:solidFill>
                  <a:srgbClr val="333333"/>
                </a:solidFill>
                <a:latin typeface="Noto Sans JP"/>
                <a:ea typeface="Noto Sans JP"/>
              </a:rPr>
              <a:t>微小な箱が平行多面体へ変わり、その体積比が|det J|になる。</a:t>
            </a:r>
          </a:p>
          <a:p>
            <a:pPr algn="l">
              <a:lnSpc>
                <a:spcPts val="2497"/>
              </a:lnSpc>
            </a:pPr>
            <a:r>
              <a:rPr sz="1850" b="0" lang="ja-JP" altLang="en-US">
                <a:solidFill>
                  <a:srgbClr val="333333"/>
                </a:solidFill>
                <a:latin typeface="Noto Sans JP"/>
                <a:ea typeface="Noto Sans JP"/>
              </a:rPr>
              <a:t>例：二方向に2倍と3倍へ伸ばせば、面積は6倍、密度は1/6になる。</a:t>
            </a:r>
          </a:p>
        </p:txBody>
      </p:sp>
      <p:pic>
        <p:nvPicPr>
          <p:cNvPr id="8" name="Picture 7" descr="J_{ij}=\frac{\partial f_i}{\partial z_j},\quad q_X(f(z))=p_Z(z)|\det J|^{-1}"/>
          <p:cNvPicPr>
            <a:picLocks noChangeAspect="1"/>
          </p:cNvPicPr>
          <p:nvPr/>
        </p:nvPicPr>
        <p:blipFill>
          <a:blip r:embed="rId4"/>
          <a:stretch>
            <a:fillRect/>
          </a:stretch>
        </p:blipFill>
        <p:spPr>
          <a:xfrm>
            <a:off x="658368" y="5513832"/>
            <a:ext cx="4858512" cy="755904"/>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対数密度を使うと、層ごとの変化を足せる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複数の可逆な層を順に適用する。</a:t>
            </a:r>
          </a:p>
          <a:p>
            <a:pPr algn="l">
              <a:lnSpc>
                <a:spcPts val="2497"/>
              </a:lnSpc>
            </a:pPr>
            <a:r>
              <a:rPr sz="1850" b="0" lang="ja-JP" altLang="en-US">
                <a:solidFill>
                  <a:srgbClr val="333333"/>
                </a:solidFill>
                <a:latin typeface="Noto Sans JP"/>
                <a:ea typeface="Noto Sans JP"/>
              </a:rPr>
              <a:t>合成変換のヤコビ行列は行列積になり、行列式も積になる。</a:t>
            </a:r>
          </a:p>
          <a:p>
            <a:pPr algn="l">
              <a:lnSpc>
                <a:spcPts val="2497"/>
              </a:lnSpc>
            </a:pPr>
            <a:r>
              <a:rPr sz="1850" b="0" lang="ja-JP" altLang="en-US">
                <a:solidFill>
                  <a:srgbClr val="333333"/>
                </a:solidFill>
                <a:latin typeface="Noto Sans JP"/>
                <a:ea typeface="Noto Sans JP"/>
              </a:rPr>
              <a:t>対数を取ると、各層の対数体積変化の和になる。</a:t>
            </a:r>
          </a:p>
          <a:p>
            <a:pPr algn="l">
              <a:lnSpc>
                <a:spcPts val="2497"/>
              </a:lnSpc>
            </a:pPr>
            <a:r>
              <a:rPr sz="1850" b="0" lang="ja-JP" altLang="en-US">
                <a:solidFill>
                  <a:srgbClr val="333333"/>
                </a:solidFill>
                <a:latin typeface="Noto Sans JP"/>
                <a:ea typeface="Noto Sans JP"/>
              </a:rPr>
              <a:t>密度を計算しやすい層を重ねることがnormalizing flowの設計の要点。</a:t>
            </a:r>
          </a:p>
        </p:txBody>
      </p:sp>
      <p:pic>
        <p:nvPicPr>
          <p:cNvPr id="8" name="Picture 7" descr="\log q_X(x)=\log p_Z(z)-\sum_{\ell}\log|\det J_\ell|"/>
          <p:cNvPicPr>
            <a:picLocks noChangeAspect="1"/>
          </p:cNvPicPr>
          <p:nvPr/>
        </p:nvPicPr>
        <p:blipFill>
          <a:blip r:embed="rId4"/>
          <a:stretch>
            <a:fillRect/>
          </a:stretch>
        </p:blipFill>
        <p:spPr>
          <a:xfrm>
            <a:off x="658368" y="5513832"/>
            <a:ext cx="4788408" cy="62179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可逆であることと、逆変換が計算しやすいこと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任意のニューラルネットは、異なる入力を同じ出力へ潰すことがある。</a:t>
            </a:r>
          </a:p>
          <a:p>
            <a:pPr algn="l">
              <a:lnSpc>
                <a:spcPts val="2497"/>
              </a:lnSpc>
            </a:pPr>
            <a:r>
              <a:rPr sz="1850" b="0" lang="ja-JP" altLang="en-US">
                <a:solidFill>
                  <a:srgbClr val="333333"/>
                </a:solidFill>
                <a:latin typeface="Noto Sans JP"/>
                <a:ea typeface="Noto Sans JP"/>
              </a:rPr>
              <a:t>その場合、元の入力や密度を一意に求められない。</a:t>
            </a:r>
          </a:p>
          <a:p>
            <a:pPr algn="l">
              <a:lnSpc>
                <a:spcPts val="2497"/>
              </a:lnSpc>
            </a:pPr>
            <a:r>
              <a:rPr sz="1850" b="0" lang="ja-JP" altLang="en-US">
                <a:solidFill>
                  <a:srgbClr val="333333"/>
                </a:solidFill>
                <a:latin typeface="Noto Sans JP"/>
                <a:ea typeface="Noto Sans JP"/>
              </a:rPr>
              <a:t>flowでは逆変換と体積変化を計算できる構造を選ぶ。</a:t>
            </a:r>
          </a:p>
          <a:p>
            <a:pPr algn="l">
              <a:lnSpc>
                <a:spcPts val="2497"/>
              </a:lnSpc>
            </a:pPr>
            <a:r>
              <a:rPr sz="1850" b="0" lang="ja-JP" altLang="en-US">
                <a:solidFill>
                  <a:srgbClr val="333333"/>
                </a:solidFill>
                <a:latin typeface="Noto Sans JP"/>
                <a:ea typeface="Noto Sans JP"/>
              </a:rPr>
              <a:t>これによって生成だけでなく、既存構造がどれほど生成されやすいかも評価できる。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affine couplingは、一方を固定して他方を動かす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upling.png"/>
          <p:cNvPicPr>
            <a:picLocks noChangeAspect="1"/>
          </p:cNvPicPr>
          <p:nvPr/>
        </p:nvPicPr>
        <p:blipFill>
          <a:blip r:embed="rId3"/>
          <a:stretch>
            <a:fillRect/>
          </a:stretch>
        </p:blipFill>
        <p:spPr>
          <a:xfrm>
            <a:off x="6995160" y="1508760"/>
            <a:ext cx="4617720" cy="2993639"/>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変数をaとbの二群に分ける。aはそのまま、bをaに依存した拡大と平行移動で変える。</a:t>
            </a:r>
          </a:p>
          <a:p>
            <a:pPr algn="l">
              <a:lnSpc>
                <a:spcPts val="2497"/>
              </a:lnSpc>
            </a:pPr>
            <a:r>
              <a:rPr sz="1850" b="0" lang="ja-JP" altLang="en-US">
                <a:solidFill>
                  <a:srgbClr val="333333"/>
                </a:solidFill>
                <a:latin typeface="Noto Sans JP"/>
                <a:ea typeface="Noto Sans JP"/>
              </a:rPr>
              <a:t>exp(s)は正なので、b側の変換を必ず戻せる。</a:t>
            </a:r>
          </a:p>
          <a:p>
            <a:pPr algn="l">
              <a:lnSpc>
                <a:spcPts val="2497"/>
              </a:lnSpc>
            </a:pPr>
            <a:r>
              <a:rPr sz="1850" b="0" lang="ja-JP" altLang="en-US">
                <a:solidFill>
                  <a:srgbClr val="333333"/>
                </a:solidFill>
                <a:latin typeface="Noto Sans JP"/>
                <a:ea typeface="Noto Sans JP"/>
              </a:rPr>
              <a:t>sとtは通常のニューラルネットでよい。交互に担当する変数を替え、全体を変換する。</a:t>
            </a:r>
          </a:p>
        </p:txBody>
      </p:sp>
      <p:pic>
        <p:nvPicPr>
          <p:cNvPr id="8" name="Picture 7" descr="x_a=z_a,\quad x_b=z_b\odot e^{s(z_a)}+t(z_a)"/>
          <p:cNvPicPr>
            <a:picLocks noChangeAspect="1"/>
          </p:cNvPicPr>
          <p:nvPr/>
        </p:nvPicPr>
        <p:blipFill>
          <a:blip r:embed="rId4"/>
          <a:stretch>
            <a:fillRect/>
          </a:stretch>
        </p:blipFill>
        <p:spPr>
          <a:xfrm>
            <a:off x="658368" y="5513832"/>
            <a:ext cx="4264152" cy="332231"/>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三角形のヤコビ行列なら、行列式が簡単になる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upling.png"/>
          <p:cNvPicPr>
            <a:picLocks noChangeAspect="1"/>
          </p:cNvPicPr>
          <p:nvPr/>
        </p:nvPicPr>
        <p:blipFill>
          <a:blip r:embed="rId3"/>
          <a:stretch>
            <a:fillRect/>
          </a:stretch>
        </p:blipFill>
        <p:spPr>
          <a:xfrm>
            <a:off x="6995160" y="1508760"/>
            <a:ext cx="4617720" cy="2993639"/>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a側は変えないので、aをbで微分した成分は0。</a:t>
            </a:r>
          </a:p>
          <a:p>
            <a:pPr algn="l">
              <a:lnSpc>
                <a:spcPts val="2497"/>
              </a:lnSpc>
            </a:pPr>
            <a:r>
              <a:rPr sz="1850" b="0" lang="ja-JP" altLang="en-US">
                <a:solidFill>
                  <a:srgbClr val="333333"/>
                </a:solidFill>
                <a:latin typeface="Noto Sans JP"/>
                <a:ea typeface="Noto Sans JP"/>
              </a:rPr>
              <a:t>b側の対角成分はexp(s)。三角行列の行列式は対角成分の積だから、対数はsの和になる。</a:t>
            </a:r>
          </a:p>
          <a:p>
            <a:pPr algn="l">
              <a:lnSpc>
                <a:spcPts val="2497"/>
              </a:lnSpc>
            </a:pPr>
            <a:r>
              <a:rPr sz="1850" b="0" lang="ja-JP" altLang="en-US">
                <a:solidFill>
                  <a:srgbClr val="333333"/>
                </a:solidFill>
                <a:latin typeface="Noto Sans JP"/>
                <a:ea typeface="Noto Sans JP"/>
              </a:rPr>
              <a:t>複雑なsやtの微分を、密度評価のために行列式へ展開する必要がない。</a:t>
            </a:r>
          </a:p>
        </p:txBody>
      </p:sp>
      <p:pic>
        <p:nvPicPr>
          <p:cNvPr id="8" name="Picture 7" descr="\log|\det J|=\sum_i s_i(z_a),\quad z_b=(x_b-t(x_a))\odot e^{-s(x_a)}"/>
          <p:cNvPicPr>
            <a:picLocks noChangeAspect="1"/>
          </p:cNvPicPr>
          <p:nvPr/>
        </p:nvPicPr>
        <p:blipFill>
          <a:blip r:embed="rId4"/>
          <a:stretch>
            <a:fillRect/>
          </a:stretch>
        </p:blipFill>
        <p:spPr>
          <a:xfrm>
            <a:off x="658368" y="5513832"/>
            <a:ext cx="6443472" cy="62179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学習の情報は、標本とエネルギーの二通り</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gtrain.png"/>
          <p:cNvPicPr>
            <a:picLocks noChangeAspect="1"/>
          </p:cNvPicPr>
          <p:nvPr/>
        </p:nvPicPr>
        <p:blipFill>
          <a:blip r:embed="rId3"/>
          <a:stretch>
            <a:fillRect/>
          </a:stretch>
        </p:blipFill>
        <p:spPr>
          <a:xfrm>
            <a:off x="7817320" y="1508760"/>
            <a:ext cx="2973398"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標本がある：観測された構造に高い密度を与える。</a:t>
            </a:r>
          </a:p>
          <a:p>
            <a:pPr algn="l">
              <a:lnSpc>
                <a:spcPts val="2497"/>
              </a:lnSpc>
            </a:pPr>
            <a:r>
              <a:rPr sz="1850" b="0" lang="ja-JP" altLang="en-US">
                <a:solidFill>
                  <a:srgbClr val="333333"/>
                </a:solidFill>
                <a:latin typeface="Noto Sans JP"/>
                <a:ea typeface="Noto Sans JP"/>
              </a:rPr>
              <a:t>エネルギーが計算できる：生成した構造のエネルギーと、分布の広がりを評価する。</a:t>
            </a:r>
          </a:p>
          <a:p>
            <a:pPr algn="l">
              <a:lnSpc>
                <a:spcPts val="2497"/>
              </a:lnSpc>
            </a:pPr>
            <a:r>
              <a:rPr sz="1850" b="0" lang="ja-JP" altLang="en-US">
                <a:solidFill>
                  <a:srgbClr val="333333"/>
                </a:solidFill>
                <a:latin typeface="Noto Sans JP"/>
                <a:ea typeface="Noto Sans JP"/>
              </a:rPr>
              <a:t>二つを組み合わせると、既知の谷へ学習を導きつつ、その周囲を物理モデルで評価できる。</a:t>
            </a:r>
          </a:p>
          <a:p>
            <a:pPr algn="l">
              <a:lnSpc>
                <a:spcPts val="2497"/>
              </a:lnSpc>
            </a:pPr>
            <a:r>
              <a:rPr sz="1850" b="0" lang="ja-JP" altLang="en-US">
                <a:solidFill>
                  <a:srgbClr val="333333"/>
                </a:solidFill>
                <a:latin typeface="Noto Sans JP"/>
                <a:ea typeface="Noto Sans JP"/>
              </a:rPr>
              <a:t>目標は一点の最低エネルギー構造ではなく、分布。</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データ学習は、標本の負の対数密度を下げる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density.png"/>
          <p:cNvPicPr>
            <a:picLocks noChangeAspect="1"/>
          </p:cNvPicPr>
          <p:nvPr/>
        </p:nvPicPr>
        <p:blipFill>
          <a:blip r:embed="rId3"/>
          <a:stretch>
            <a:fillRect/>
          </a:stretch>
        </p:blipFill>
        <p:spPr>
          <a:xfrm>
            <a:off x="6995160" y="1508760"/>
            <a:ext cx="4617720" cy="3610968"/>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学習標本xが多い場所でqθ(x)を大きくする。</a:t>
            </a:r>
          </a:p>
          <a:p>
            <a:pPr algn="l">
              <a:lnSpc>
                <a:spcPts val="2497"/>
              </a:lnSpc>
            </a:pPr>
            <a:r>
              <a:rPr sz="1850" b="0" lang="ja-JP" altLang="en-US">
                <a:solidFill>
                  <a:srgbClr val="333333"/>
                </a:solidFill>
                <a:latin typeface="Noto Sans JP"/>
                <a:ea typeface="Noto Sans JP"/>
              </a:rPr>
              <a:t>目標分布pから標本が得られていれば、これはKL(p‖qθ)のθ依存部分に一致する。</a:t>
            </a:r>
          </a:p>
          <a:p>
            <a:pPr algn="l">
              <a:lnSpc>
                <a:spcPts val="2497"/>
              </a:lnSpc>
            </a:pPr>
            <a:r>
              <a:rPr sz="1850" b="0" lang="ja-JP" altLang="en-US">
                <a:solidFill>
                  <a:srgbClr val="333333"/>
                </a:solidFill>
                <a:latin typeface="Noto Sans JP"/>
                <a:ea typeface="Noto Sans JP"/>
              </a:rPr>
              <a:t>学習データが偏っていれば、その偏りも学ぶ。希少な状態がデータに存在するかを確認する。</a:t>
            </a:r>
          </a:p>
        </p:txBody>
      </p:sp>
      <p:pic>
        <p:nvPicPr>
          <p:cNvPr id="8" name="Picture 7" descr="L_{\rm ML}=-\mathbb E_{x\sim p_{\rm data}}[\log q_\theta(x)]"/>
          <p:cNvPicPr>
            <a:picLocks noChangeAspect="1"/>
          </p:cNvPicPr>
          <p:nvPr/>
        </p:nvPicPr>
        <p:blipFill>
          <a:blip r:embed="rId4"/>
          <a:stretch>
            <a:fillRect/>
          </a:stretch>
        </p:blipFill>
        <p:spPr>
          <a:xfrm>
            <a:off x="658368" y="5513832"/>
            <a:ext cx="3282696"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エネルギー学習は、KL(qθ‖p)を下げる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gtrain.png"/>
          <p:cNvPicPr>
            <a:picLocks noChangeAspect="1"/>
          </p:cNvPicPr>
          <p:nvPr/>
        </p:nvPicPr>
        <p:blipFill>
          <a:blip r:embed="rId3"/>
          <a:stretch>
            <a:fillRect/>
          </a:stretch>
        </p:blipFill>
        <p:spPr>
          <a:xfrm>
            <a:off x="7817320" y="1508760"/>
            <a:ext cx="2973398"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目標はp(x)=exp(−βU(x))/Z。生成分布qθから平均を取る。</a:t>
            </a:r>
          </a:p>
          <a:p>
            <a:pPr algn="l">
              <a:lnSpc>
                <a:spcPts val="2497"/>
              </a:lnSpc>
            </a:pPr>
            <a:r>
              <a:rPr sz="1850" b="0" lang="ja-JP" altLang="en-US">
                <a:solidFill>
                  <a:srgbClr val="333333"/>
                </a:solidFill>
                <a:latin typeface="Noto Sans JP"/>
                <a:ea typeface="Noto Sans JP"/>
              </a:rPr>
              <a:t>log p=−βU−log Zを代入すると、エネルギーとlog qの平均になる。</a:t>
            </a:r>
          </a:p>
          <a:p>
            <a:pPr algn="l">
              <a:lnSpc>
                <a:spcPts val="2497"/>
              </a:lnSpc>
            </a:pPr>
            <a:r>
              <a:rPr sz="1850" b="0" lang="ja-JP" altLang="en-US">
                <a:solidFill>
                  <a:srgbClr val="333333"/>
                </a:solidFill>
                <a:latin typeface="Noto Sans JP"/>
                <a:ea typeface="Noto Sans JP"/>
              </a:rPr>
              <a:t>未知のlog Zはθに依存しないので、学習時の勾配から消える。</a:t>
            </a:r>
          </a:p>
        </p:txBody>
      </p:sp>
      <p:pic>
        <p:nvPicPr>
          <p:cNvPr id="8" name="Picture 7" descr="D_{\rm KL}(q_\theta\|p)=\mathbb E_q[\log q_\theta+\beta U]+\log Z"/>
          <p:cNvPicPr>
            <a:picLocks noChangeAspect="1"/>
          </p:cNvPicPr>
          <p:nvPr/>
        </p:nvPicPr>
        <p:blipFill>
          <a:blip r:embed="rId4"/>
          <a:stretch>
            <a:fillRect/>
          </a:stretch>
        </p:blipFill>
        <p:spPr>
          <a:xfrm>
            <a:off x="658368" y="5513832"/>
            <a:ext cx="4730496"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変数変換を代入すると、潜在空間で学習できる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jacobian.png"/>
          <p:cNvPicPr>
            <a:picLocks noChangeAspect="1"/>
          </p:cNvPicPr>
          <p:nvPr/>
        </p:nvPicPr>
        <p:blipFill>
          <a:blip r:embed="rId3"/>
          <a:stretch>
            <a:fillRect/>
          </a:stretch>
        </p:blipFill>
        <p:spPr>
          <a:xfrm>
            <a:off x="6995160" y="1508760"/>
            <a:ext cx="4617720" cy="3623671"/>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生成x=fθ(z)におけるlog qは、基底密度のlog pZから対数体積変化を引いた値。</a:t>
            </a:r>
          </a:p>
          <a:p>
            <a:pPr algn="l">
              <a:lnSpc>
                <a:spcPts val="2497"/>
              </a:lnSpc>
            </a:pPr>
            <a:r>
              <a:rPr sz="1850" b="0" lang="ja-JP" altLang="en-US">
                <a:solidFill>
                  <a:srgbClr val="333333"/>
                </a:solidFill>
                <a:latin typeface="Noto Sans JP"/>
                <a:ea typeface="Noto Sans JP"/>
              </a:rPr>
              <a:t>基底分布は固定されているため、その平均もθに依存しない。</a:t>
            </a:r>
          </a:p>
          <a:p>
            <a:pPr algn="l">
              <a:lnSpc>
                <a:spcPts val="2497"/>
              </a:lnSpc>
            </a:pPr>
            <a:r>
              <a:rPr sz="1850" b="0" lang="ja-JP" altLang="en-US">
                <a:solidFill>
                  <a:srgbClr val="333333"/>
                </a:solidFill>
                <a:latin typeface="Noto Sans JP"/>
                <a:ea typeface="Noto Sans JP"/>
              </a:rPr>
              <a:t>実際の損失にはエネルギーと、変換による体積変化が残る。</a:t>
            </a:r>
          </a:p>
        </p:txBody>
      </p:sp>
      <p:pic>
        <p:nvPicPr>
          <p:cNvPr id="8" name="Picture 7" descr="L_E=\mathbb E_{z\sim p_Z}[\beta U(f_\theta(z))-\log|\det J_{f_\theta}(z)|]"/>
          <p:cNvPicPr>
            <a:picLocks noChangeAspect="1"/>
          </p:cNvPicPr>
          <p:nvPr/>
        </p:nvPicPr>
        <p:blipFill>
          <a:blip r:embed="rId4"/>
          <a:stretch>
            <a:fillRect/>
          </a:stretch>
        </p:blipFill>
        <p:spPr>
          <a:xfrm>
            <a:off x="658368" y="5513832"/>
            <a:ext cx="5120640"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エネルギーだけを下げると、分布が一点へ縮む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entropy.png"/>
          <p:cNvPicPr>
            <a:picLocks noChangeAspect="1"/>
          </p:cNvPicPr>
          <p:nvPr/>
        </p:nvPicPr>
        <p:blipFill>
          <a:blip r:embed="rId3"/>
          <a:stretch>
            <a:fillRect/>
          </a:stretch>
        </p:blipFill>
        <p:spPr>
          <a:xfrm>
            <a:off x="6995160" y="1508760"/>
            <a:ext cx="4617720" cy="3638877"/>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低いエネルギーだけを目指すと、最小値の近くへ全標本を集めたくなる。</a:t>
            </a:r>
          </a:p>
          <a:p>
            <a:pPr algn="l">
              <a:lnSpc>
                <a:spcPts val="2497"/>
              </a:lnSpc>
            </a:pPr>
            <a:r>
              <a:rPr sz="1850" b="0" lang="ja-JP" altLang="en-US">
                <a:solidFill>
                  <a:srgbClr val="333333"/>
                </a:solidFill>
                <a:latin typeface="Noto Sans JP"/>
                <a:ea typeface="Noto Sans JP"/>
              </a:rPr>
              <a:t>負の対数体積項は、過度の圧縮を抑える。</a:t>
            </a:r>
          </a:p>
          <a:p>
            <a:pPr algn="l">
              <a:lnSpc>
                <a:spcPts val="2497"/>
              </a:lnSpc>
            </a:pPr>
            <a:r>
              <a:rPr sz="1850" b="0" lang="ja-JP" altLang="en-US">
                <a:solidFill>
                  <a:srgbClr val="333333"/>
                </a:solidFill>
                <a:latin typeface="Noto Sans JP"/>
                <a:ea typeface="Noto Sans JP"/>
              </a:rPr>
              <a:t>これは平均エネルギーとエントロピーの競合であり、第09回の自由エネルギーにつながる。</a:t>
            </a:r>
          </a:p>
          <a:p>
            <a:pPr algn="l">
              <a:lnSpc>
                <a:spcPts val="2497"/>
              </a:lnSpc>
            </a:pPr>
            <a:r>
              <a:rPr sz="1850" b="0" lang="ja-JP" altLang="en-US">
                <a:solidFill>
                  <a:srgbClr val="333333"/>
                </a:solidFill>
                <a:latin typeface="Noto Sans JP"/>
                <a:ea typeface="Noto Sans JP"/>
              </a:rPr>
              <a:t>右の図は正規分布の幅と微分エントロピーの例。</a:t>
            </a:r>
          </a:p>
        </p:txBody>
      </p:sp>
      <p:pic>
        <p:nvPicPr>
          <p:cNvPr id="8" name="Picture 7" descr="L_E=\beta\langle U\rangle_q-H(q)+\mathrm{const.},\quad H(q)=-\mathbb E_q\log q"/>
          <p:cNvPicPr>
            <a:picLocks noChangeAspect="1"/>
          </p:cNvPicPr>
          <p:nvPr/>
        </p:nvPicPr>
        <p:blipFill>
          <a:blip r:embed="rId4"/>
          <a:stretch>
            <a:fillRect/>
          </a:stretch>
        </p:blipFill>
        <p:spPr>
          <a:xfrm>
            <a:off x="658368" y="5513832"/>
            <a:ext cx="6202680"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損失が下がっても、すべての谷を見たとは限らない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kl.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逆向きKLは、現在ほとんど生成しない領域の寄与を評価しにくい。</a:t>
            </a:r>
          </a:p>
          <a:p>
            <a:pPr algn="l">
              <a:lnSpc>
                <a:spcPts val="2497"/>
              </a:lnSpc>
            </a:pPr>
            <a:r>
              <a:rPr sz="1850" b="0" lang="ja-JP" altLang="en-US">
                <a:solidFill>
                  <a:srgbClr val="333333"/>
                </a:solidFill>
                <a:latin typeface="Noto Sans JP"/>
                <a:ea typeface="Noto Sans JP"/>
              </a:rPr>
              <a:t>二つの谷の片方へ偏った初期化では、もう片方を見逃す可能性がある。</a:t>
            </a:r>
          </a:p>
          <a:p>
            <a:pPr algn="l">
              <a:lnSpc>
                <a:spcPts val="2497"/>
              </a:lnSpc>
            </a:pPr>
            <a:r>
              <a:rPr sz="1850" b="0" lang="ja-JP" altLang="en-US">
                <a:solidFill>
                  <a:srgbClr val="333333"/>
                </a:solidFill>
                <a:latin typeface="Noto Sans JP"/>
                <a:ea typeface="Noto Sans JP"/>
              </a:rPr>
              <a:t>データ学習・複数初期値・独立な基準計算を組み合わせる。</a:t>
            </a:r>
          </a:p>
          <a:p>
            <a:pPr algn="l">
              <a:lnSpc>
                <a:spcPts val="2497"/>
              </a:lnSpc>
            </a:pPr>
            <a:r>
              <a:rPr sz="1850" b="0" lang="ja-JP" altLang="en-US">
                <a:solidFill>
                  <a:srgbClr val="333333"/>
                </a:solidFill>
                <a:latin typeface="Noto Sans JP"/>
                <a:ea typeface="Noto Sans JP"/>
              </a:rPr>
              <a:t>図は確率の偏りを示す説明用の二状態模型。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C1DAD9EE-33E9-E4AF-6736-00C42937061F}"/>
              </a:ext>
            </a:extLst>
          </p:cNvPr>
          <p:cNvSpPr>
            <a:spLocks noGrp="1"/>
          </p:cNvSpPr>
          <p:nvPr>
            <p:ph type="title"/>
          </p:nvPr>
        </p:nvSpPr>
        <p:spPr>
          <a:xfrm>
            <a:off x="2224887" y="54864"/>
            <a:ext cx="7741920" cy="765589"/>
          </a:xfrm>
        </p:spPr>
        <p:txBody>
          <a:bodyPr>
            <a:noAutofit/>
          </a:bodyPr>
          <a:lstStyle/>
          <a:p>
            <a:r>
              <a:rPr lang="en-US" altLang="ja-JP" sz="3048" dirty="0"/>
              <a:t>Boltzmann generator</a:t>
            </a:r>
            <a:r>
              <a:rPr lang="ja-JP" altLang="en-US" sz="3048"/>
              <a:t>の適用例</a:t>
            </a:r>
            <a:endParaRPr lang="ja-JP" altLang="en-US" sz="3048">
              <a:solidFill>
                <a:srgbClr val="FF0000"/>
              </a:solidFill>
            </a:endParaRPr>
          </a:p>
        </p:txBody>
      </p:sp>
      <p:sp>
        <p:nvSpPr>
          <p:cNvPr id="8" name="テキスト ボックス 7">
            <a:extLst>
              <a:ext uri="{FF2B5EF4-FFF2-40B4-BE49-F238E27FC236}">
                <a16:creationId xmlns:a16="http://schemas.microsoft.com/office/drawing/2014/main" id="{D658D823-BCFB-C77B-D1C5-FBDC0FA8BC9A}"/>
              </a:ext>
            </a:extLst>
          </p:cNvPr>
          <p:cNvSpPr txBox="1"/>
          <p:nvPr/>
        </p:nvSpPr>
        <p:spPr>
          <a:xfrm>
            <a:off x="2224887" y="5440051"/>
            <a:ext cx="4606442" cy="390876"/>
          </a:xfrm>
          <a:prstGeom prst="rect">
            <a:avLst/>
          </a:prstGeom>
          <a:noFill/>
        </p:spPr>
        <p:txBody>
          <a:bodyPr wrap="square">
            <a:spAutoFit/>
          </a:bodyPr>
          <a:lstStyle/>
          <a:p>
            <a:r>
              <a:rPr lang="en" altLang="ja-JP" sz="1016" dirty="0">
                <a:effectLst/>
              </a:rPr>
              <a:t>F. Noé, S. Olsson, J. Köhler, and H. Wu, Boltzmann generators: Sampling equilibrium states of many-body systems with deep learning, Science </a:t>
            </a:r>
            <a:r>
              <a:rPr lang="en" altLang="ja-JP" sz="1016" b="1" dirty="0">
                <a:effectLst/>
              </a:rPr>
              <a:t>365</a:t>
            </a:r>
            <a:r>
              <a:rPr lang="en" altLang="ja-JP" sz="1016" dirty="0">
                <a:effectLst/>
              </a:rPr>
              <a:t>, eaaw1147 (2019).</a:t>
            </a:r>
          </a:p>
        </p:txBody>
      </p:sp>
      <p:pic>
        <p:nvPicPr>
          <p:cNvPr id="3" name="図 2">
            <a:extLst>
              <a:ext uri="{FF2B5EF4-FFF2-40B4-BE49-F238E27FC236}">
                <a16:creationId xmlns:a16="http://schemas.microsoft.com/office/drawing/2014/main" id="{C968F751-BD54-A405-4DB5-A82087AF1A17}"/>
              </a:ext>
            </a:extLst>
          </p:cNvPr>
          <p:cNvPicPr>
            <a:picLocks noChangeAspect="1"/>
          </p:cNvPicPr>
          <p:nvPr/>
        </p:nvPicPr>
        <p:blipFill>
          <a:blip r:embed="rId3"/>
          <a:stretch>
            <a:fillRect/>
          </a:stretch>
        </p:blipFill>
        <p:spPr>
          <a:xfrm>
            <a:off x="2400216" y="1287538"/>
            <a:ext cx="7391261" cy="3341089"/>
          </a:xfrm>
          <a:prstGeom prst="rect">
            <a:avLst/>
          </a:prstGeom>
        </p:spPr>
      </p:pic>
      <p:sp>
        <p:nvSpPr>
          <p:cNvPr id="9" name="TextBox 8"/>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潜在空間での補間は構造候補の経路を作れる。ただし物理的な遷移経路や時間を保証しない。Noé et al. (2019)。</a:t>
            </a:r>
          </a:p>
        </p:txBody>
      </p:sp>
      <p:sp>
        <p:nvSpPr>
          <p:cNvPr id="10" name="TextBox 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F0280951-E9CE-F52D-1EC6-294235D3CC95}"/>
              </a:ext>
            </a:extLst>
          </p:cNvPr>
          <p:cNvSpPr>
            <a:spLocks noGrp="1"/>
          </p:cNvSpPr>
          <p:nvPr>
            <p:ph type="title"/>
          </p:nvPr>
        </p:nvSpPr>
        <p:spPr>
          <a:xfrm>
            <a:off x="2224887" y="54864"/>
            <a:ext cx="7741920" cy="765589"/>
          </a:xfrm>
        </p:spPr>
        <p:txBody>
          <a:bodyPr>
            <a:noAutofit/>
          </a:bodyPr>
          <a:lstStyle/>
          <a:p>
            <a:r>
              <a:rPr lang="en-US" altLang="ja-JP" sz="3048" dirty="0"/>
              <a:t>Boltzmann generator</a:t>
            </a:r>
            <a:r>
              <a:rPr lang="ja-JP" altLang="en-US" sz="3048"/>
              <a:t>の適用例</a:t>
            </a:r>
            <a:endParaRPr lang="ja-JP" altLang="en-US" sz="3048">
              <a:solidFill>
                <a:srgbClr val="FF0000"/>
              </a:solidFill>
            </a:endParaRPr>
          </a:p>
        </p:txBody>
      </p:sp>
      <p:sp>
        <p:nvSpPr>
          <p:cNvPr id="8" name="テキスト ボックス 7">
            <a:extLst>
              <a:ext uri="{FF2B5EF4-FFF2-40B4-BE49-F238E27FC236}">
                <a16:creationId xmlns:a16="http://schemas.microsoft.com/office/drawing/2014/main" id="{FA3786DC-BEAC-6577-D5AA-1D98BF46836C}"/>
              </a:ext>
            </a:extLst>
          </p:cNvPr>
          <p:cNvSpPr txBox="1"/>
          <p:nvPr/>
        </p:nvSpPr>
        <p:spPr>
          <a:xfrm>
            <a:off x="2224887" y="5440051"/>
            <a:ext cx="4606442" cy="390876"/>
          </a:xfrm>
          <a:prstGeom prst="rect">
            <a:avLst/>
          </a:prstGeom>
          <a:noFill/>
        </p:spPr>
        <p:txBody>
          <a:bodyPr wrap="square">
            <a:spAutoFit/>
          </a:bodyPr>
          <a:lstStyle/>
          <a:p>
            <a:r>
              <a:rPr lang="en" altLang="ja-JP" sz="1016" dirty="0">
                <a:effectLst/>
              </a:rPr>
              <a:t>F. Noé, S. Olsson, J. Köhler, and H. Wu, Boltzmann generators: Sampling equilibrium states of many-body systems with deep learning, Science </a:t>
            </a:r>
            <a:r>
              <a:rPr lang="en" altLang="ja-JP" sz="1016" b="1" dirty="0">
                <a:effectLst/>
              </a:rPr>
              <a:t>365</a:t>
            </a:r>
            <a:r>
              <a:rPr lang="en" altLang="ja-JP" sz="1016" dirty="0">
                <a:effectLst/>
              </a:rPr>
              <a:t>, eaaw1147 (2019).</a:t>
            </a:r>
          </a:p>
        </p:txBody>
      </p:sp>
      <p:pic>
        <p:nvPicPr>
          <p:cNvPr id="5" name="図 4">
            <a:extLst>
              <a:ext uri="{FF2B5EF4-FFF2-40B4-BE49-F238E27FC236}">
                <a16:creationId xmlns:a16="http://schemas.microsoft.com/office/drawing/2014/main" id="{C66A9130-9E2D-D320-22E9-7D42BD48123A}"/>
              </a:ext>
            </a:extLst>
          </p:cNvPr>
          <p:cNvPicPr>
            <a:picLocks noChangeAspect="1"/>
          </p:cNvPicPr>
          <p:nvPr/>
        </p:nvPicPr>
        <p:blipFill>
          <a:blip r:embed="rId3"/>
          <a:stretch>
            <a:fillRect/>
          </a:stretch>
        </p:blipFill>
        <p:spPr>
          <a:xfrm>
            <a:off x="3584024" y="798022"/>
            <a:ext cx="5275591" cy="4657504"/>
          </a:xfrm>
          <a:prstGeom prst="rect">
            <a:avLst/>
          </a:prstGeom>
        </p:spPr>
      </p:pic>
      <p:sp>
        <p:nvSpPr>
          <p:cNvPr id="9" name="TextBox 8"/>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BPTIの構造集団の例。生成分布と参照分布の差を調べ、必要なら重みを補正する。Noé et al. (2019)。</a:t>
            </a:r>
          </a:p>
        </p:txBody>
      </p:sp>
      <p:sp>
        <p:nvSpPr>
          <p:cNvPr id="10" name="TextBox 9"/>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生成密度が分かれば、重要度で補正できる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ighted.png"/>
          <p:cNvPicPr>
            <a:picLocks noChangeAspect="1"/>
          </p:cNvPicPr>
          <p:nvPr/>
        </p:nvPicPr>
        <p:blipFill>
          <a:blip r:embed="rId3"/>
          <a:stretch>
            <a:fillRect/>
          </a:stretch>
        </p:blipFill>
        <p:spPr>
          <a:xfrm>
            <a:off x="6995160" y="1508760"/>
            <a:ext cx="4617720" cy="3610968"/>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qθから得た標本へ、目標の非正規化密度をqθで割った重みを与える。</a:t>
            </a:r>
          </a:p>
          <a:p>
            <a:pPr algn="l">
              <a:lnSpc>
                <a:spcPts val="2497"/>
              </a:lnSpc>
            </a:pPr>
            <a:r>
              <a:rPr sz="1850" b="0" lang="ja-JP" altLang="en-US">
                <a:solidFill>
                  <a:srgbClr val="333333"/>
                </a:solidFill>
                <a:latin typeface="Noto Sans JP"/>
                <a:ea typeface="Noto Sans JP"/>
              </a:rPr>
              <a:t>Zは分子・分母の比で消える。</a:t>
            </a:r>
          </a:p>
          <a:p>
            <a:pPr algn="l">
              <a:lnSpc>
                <a:spcPts val="2497"/>
              </a:lnSpc>
            </a:pPr>
            <a:r>
              <a:rPr sz="1850" b="0" lang="ja-JP" altLang="en-US">
                <a:solidFill>
                  <a:srgbClr val="333333"/>
                </a:solidFill>
                <a:latin typeface="Noto Sans JP"/>
                <a:ea typeface="Noto Sans JP"/>
              </a:rPr>
              <a:t>目標の重要な領域でqθが十分正であることが必要。生成していない谷は補正だけでは回復できない。</a:t>
            </a:r>
          </a:p>
        </p:txBody>
      </p:sp>
      <p:pic>
        <p:nvPicPr>
          <p:cNvPr id="8" name="Picture 7" descr="\langle A\rangle_p\approx\frac{\sum_n w_n A(x_n)}{\sum_n w_n},\quad w_n=\frac{e^{-\beta U(x_n)}}{q_\theta(x_n)}"/>
          <p:cNvPicPr>
            <a:picLocks noChangeAspect="1"/>
          </p:cNvPicPr>
          <p:nvPr/>
        </p:nvPicPr>
        <p:blipFill>
          <a:blip r:embed="rId4"/>
          <a:stretch>
            <a:fillRect/>
          </a:stretch>
        </p:blipFill>
        <p:spPr>
          <a:xfrm>
            <a:off x="658368" y="5513832"/>
            <a:ext cx="4678680" cy="853439"/>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重みの集中は、使える標本の減少として現れる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ess.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同じ数を生成しても、少数だけが大きな重みを持つと推定は不安定になる。</a:t>
            </a:r>
          </a:p>
          <a:p>
            <a:pPr algn="l">
              <a:lnSpc>
                <a:spcPts val="2497"/>
              </a:lnSpc>
            </a:pPr>
            <a:r>
              <a:rPr sz="1850" b="0" lang="ja-JP" altLang="en-US">
                <a:solidFill>
                  <a:srgbClr val="333333"/>
                </a:solidFill>
                <a:latin typeface="Noto Sans JP"/>
                <a:ea typeface="Noto Sans JP"/>
              </a:rPr>
              <a:t>正規化重みを使い、有効標本数を診断する。</a:t>
            </a:r>
          </a:p>
          <a:p>
            <a:pPr algn="l">
              <a:lnSpc>
                <a:spcPts val="2497"/>
              </a:lnSpc>
            </a:pPr>
            <a:r>
              <a:rPr sz="1850" b="0" lang="ja-JP" altLang="en-US">
                <a:solidFill>
                  <a:srgbClr val="333333"/>
                </a:solidFill>
                <a:latin typeface="Noto Sans JP"/>
                <a:ea typeface="Noto Sans JP"/>
              </a:rPr>
              <a:t>この指標は重みのばらつきを見るもので、未知の谷の見逃しを検出する万能な指標ではない。</a:t>
            </a:r>
          </a:p>
        </p:txBody>
      </p:sp>
      <p:pic>
        <p:nvPicPr>
          <p:cNvPr id="8" name="Picture 7" descr="N_{\rm eff}=\frac{(\sum_n w_n)^2}{\sum_n w_n^2}=\frac1{\sum_n\bar w_n^2}"/>
          <p:cNvPicPr>
            <a:picLocks noChangeAspect="1"/>
          </p:cNvPicPr>
          <p:nvPr/>
        </p:nvPicPr>
        <p:blipFill>
          <a:blip r:embed="rId4"/>
          <a:stretch>
            <a:fillRect/>
          </a:stretch>
        </p:blipFill>
        <p:spPr>
          <a:xfrm>
            <a:off x="658368" y="5513832"/>
            <a:ext cx="3310128" cy="88087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独立標本でも、学習誤差と有限標本誤差は残る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ighted.png"/>
          <p:cNvPicPr>
            <a:picLocks noChangeAspect="1"/>
          </p:cNvPicPr>
          <p:nvPr/>
        </p:nvPicPr>
        <p:blipFill>
          <a:blip r:embed="rId3"/>
          <a:stretch>
            <a:fillRect/>
          </a:stretch>
        </p:blipFill>
        <p:spPr>
          <a:xfrm>
            <a:off x="6995160" y="1508760"/>
            <a:ext cx="4617720" cy="3610968"/>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同じ学習済みモデルからの生成同士が独立であることと、モデルが正しいことは別。</a:t>
            </a:r>
          </a:p>
          <a:p>
            <a:pPr algn="l">
              <a:lnSpc>
                <a:spcPts val="2497"/>
              </a:lnSpc>
            </a:pPr>
            <a:r>
              <a:rPr sz="1850" b="0" lang="ja-JP" altLang="en-US">
                <a:solidFill>
                  <a:srgbClr val="333333"/>
                </a:solidFill>
                <a:latin typeface="Noto Sans JP"/>
                <a:ea typeface="Noto Sans JP"/>
              </a:rPr>
              <a:t>比較は、分布・状態の割合・エネルギー・独立な実験量で行う。</a:t>
            </a:r>
          </a:p>
          <a:p>
            <a:pPr algn="l">
              <a:lnSpc>
                <a:spcPts val="2497"/>
              </a:lnSpc>
            </a:pPr>
            <a:r>
              <a:rPr sz="1850" b="0" lang="ja-JP" altLang="en-US">
                <a:solidFill>
                  <a:srgbClr val="333333"/>
                </a:solidFill>
                <a:latin typeface="Noto Sans JP"/>
                <a:ea typeface="Noto Sans JP"/>
              </a:rPr>
              <a:t>標本数を増やせば有限標本誤差は減るが、学習モデルの偏りは自動では消えない。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AIで認識を予測し設計する</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BioEmuは構造の集まりを生成する</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ioemu_1_b.png"/>
          <p:cNvPicPr>
            <a:picLocks noChangeAspect="1"/>
          </p:cNvPicPr>
          <p:nvPr/>
        </p:nvPicPr>
        <p:blipFill>
          <a:blip r:embed="rId3"/>
          <a:stretch>
            <a:fillRect/>
          </a:stretch>
        </p:blipFill>
        <p:spPr>
          <a:xfrm>
            <a:off x="964418" y="1458346"/>
            <a:ext cx="6450787" cy="3561159"/>
          </a:xfrm>
          <a:prstGeom prst="rect">
            <a:avLst/>
          </a:prstGeom>
        </p:spPr>
      </p:pic>
      <p:sp>
        <p:nvSpPr>
          <p:cNvPr id="7" name="Rounded Rectangle 6"/>
          <p:cNvSpPr/>
          <p:nvPr/>
        </p:nvSpPr>
        <p:spPr>
          <a:xfrm>
            <a:off x="7589552" y="1458346"/>
            <a:ext cx="3635105" cy="1856780"/>
          </a:xfrm>
          <a:prstGeom prst="roundRect">
            <a:avLst>
              <a:gd name="adj" fmla="val 563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52" y="3463320"/>
            <a:ext cx="3635105" cy="1856780"/>
          </a:xfrm>
          <a:prstGeom prst="roundRect">
            <a:avLst>
              <a:gd name="adj" fmla="val 563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6463" y="1571670"/>
            <a:ext cx="3321283" cy="1708586"/>
          </a:xfrm>
          <a:prstGeom prst="rect">
            <a:avLst/>
          </a:prstGeom>
          <a:noFill/>
        </p:spPr>
        <p:txBody>
          <a:bodyPr wrap="square" lIns="0" rIns="0" tIns="0" bIns="0" anchor="t">
            <a:noAutofit/>
          </a:bodyPr>
          <a:lstStyle/>
          <a:p>
            <a:pPr algn="l">
              <a:lnSpc>
                <a:spcPts val="2700"/>
              </a:lnSpc>
            </a:pPr>
            <a:r>
              <a:rPr sz="1716" b="0" lang="ja-JP" altLang="en-US">
                <a:solidFill>
                  <a:srgbClr val="333333"/>
                </a:solidFill>
                <a:latin typeface="Noto Sans JP"/>
                <a:ea typeface="Noto Sans JP"/>
              </a:rPr>
              <a:t>入力は配列で、出力は複数の立体構造です。図の右側のように、構造分布から状態の集団や自由エネルギー差を考えます。</a:t>
            </a:r>
          </a:p>
        </p:txBody>
      </p:sp>
      <p:sp>
        <p:nvSpPr>
          <p:cNvPr id="10" name="TextBox 9"/>
          <p:cNvSpPr txBox="1"/>
          <p:nvPr/>
        </p:nvSpPr>
        <p:spPr>
          <a:xfrm>
            <a:off x="7746463" y="3576645"/>
            <a:ext cx="3321283" cy="1708586"/>
          </a:xfrm>
          <a:prstGeom prst="rect">
            <a:avLst/>
          </a:prstGeom>
          <a:noFill/>
        </p:spPr>
        <p:txBody>
          <a:bodyPr wrap="square" lIns="0" rIns="0" tIns="0" bIns="0" anchor="t">
            <a:noAutofit/>
          </a:bodyPr>
          <a:lstStyle/>
          <a:p>
            <a:pPr algn="l">
              <a:lnSpc>
                <a:spcPts val="2700"/>
              </a:lnSpc>
            </a:pPr>
            <a:r>
              <a:rPr sz="1716" b="0" lang="ja-JP" altLang="en-US">
                <a:solidFill>
                  <a:srgbClr val="333333"/>
                </a:solidFill>
                <a:latin typeface="Noto Sans JP"/>
                <a:ea typeface="Noto Sans JP"/>
              </a:rPr>
              <a:t>近似した平衡分布を生成するモデルです。特定のVHHや複合体に使う際は、実験や物理計算で分布の妥当性を確かめます。</a:t>
            </a:r>
          </a:p>
        </p:txBody>
      </p:sp>
      <p:sp>
        <p:nvSpPr>
          <p:cNvPr id="11" name="TextBox 10"/>
          <p:cNvSpPr txBox="1"/>
          <p:nvPr/>
        </p:nvSpPr>
        <p:spPr>
          <a:xfrm>
            <a:off x="1016723" y="5407273"/>
            <a:ext cx="10155631" cy="592775"/>
          </a:xfrm>
          <a:prstGeom prst="rect">
            <a:avLst/>
          </a:prstGeom>
          <a:noFill/>
        </p:spPr>
        <p:txBody>
          <a:bodyPr wrap="square" lIns="0" rIns="0" tIns="0" bIns="0" anchor="t">
            <a:noAutofit/>
          </a:bodyPr>
          <a:lstStyle/>
          <a:p>
            <a:pPr algn="l">
              <a:lnSpc>
                <a:spcPts val="2700"/>
              </a:lnSpc>
            </a:pPr>
            <a:r>
              <a:rPr sz="1716" b="1" lang="ja-JP" altLang="en-US">
                <a:solidFill>
                  <a:srgbClr val="0017C1"/>
                </a:solidFill>
                <a:latin typeface="Noto Sans JP"/>
                <a:ea typeface="Noto Sans JP"/>
              </a:rPr>
              <a:t>多様な構造が出ることと、割合が正しいことを分ける。</a:t>
            </a:r>
          </a:p>
        </p:txBody>
      </p:sp>
      <p:sp>
        <p:nvSpPr>
          <p:cNvPr id="12" name="TextBox 11"/>
          <p:cNvSpPr txBox="1"/>
          <p:nvPr/>
        </p:nvSpPr>
        <p:spPr>
          <a:xfrm>
            <a:off x="1016723" y="6043635"/>
            <a:ext cx="10155631" cy="217932"/>
          </a:xfrm>
          <a:prstGeom prst="rect">
            <a:avLst/>
          </a:prstGeom>
          <a:noFill/>
        </p:spPr>
        <p:txBody>
          <a:bodyPr wrap="square" lIns="0" rIns="0" tIns="0" bIns="0" anchor="t">
            <a:noAutofit/>
          </a:bodyPr>
          <a:lstStyle/>
          <a:p>
            <a:pPr algn="l">
              <a:lnSpc>
                <a:spcPts val="1500"/>
              </a:lnSpc>
            </a:pPr>
            <a:r>
              <a:rPr sz="953" b="0" lang="ja-JP" altLang="en-US">
                <a:solidFill>
                  <a:srgbClr val="666666"/>
                </a:solidFill>
                <a:latin typeface="Noto Sans JP"/>
                <a:ea typeface="Noto Sans JP"/>
                <a:hlinkClick r:id="rId4"/>
              </a:rPr>
              <a:t>Lewis et al., Science (2025), Fig. 1B（著者公開稿）</a:t>
            </a:r>
          </a:p>
        </p:txBody>
      </p:sp>
      <p:sp>
        <p:nvSpPr>
          <p:cNvPr id="13" name="TextBox 12"/>
          <p:cNvSpPr txBox="1"/>
          <p:nvPr/>
        </p:nvSpPr>
        <p:spPr>
          <a:xfrm>
            <a:off x="1016723" y="6261567"/>
            <a:ext cx="10155631" cy="191780"/>
          </a:xfrm>
          <a:prstGeom prst="rect">
            <a:avLst/>
          </a:prstGeom>
          <a:noFill/>
        </p:spPr>
        <p:txBody>
          <a:bodyPr wrap="square" lIns="0" rIns="0" tIns="0" bIns="0" anchor="t">
            <a:noAutofit/>
          </a:bodyPr>
          <a:lstStyle/>
          <a:p>
            <a:pPr algn="l">
              <a:lnSpc>
                <a:spcPts val="1350"/>
              </a:lnSpc>
            </a:pPr>
            <a:r>
              <a:rPr sz="858" b="0" lang="ja-JP" altLang="en-US">
                <a:solidFill>
                  <a:srgbClr val="666666"/>
                </a:solidFill>
                <a:latin typeface="Noto Sans JP"/>
                <a:ea typeface="Noto Sans JP"/>
                <a:hlinkClick r:id="rId5"/>
              </a:rPr>
              <a:t>原著図／公式公開図 ／ 著者公開稿：再利用ライセンス明記なし ／ パネルを抜粋。色・データ改変なし。</a:t>
            </a:r>
          </a:p>
        </p:txBody>
      </p:sp>
      <p:sp>
        <p:nvSpPr>
          <p:cNvPr id="14" name="TextBox 1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C60C6A67-AB38-5671-D315-0A41443ACBED}"/>
              </a:ext>
            </a:extLst>
          </p:cNvPr>
          <p:cNvSpPr>
            <a:spLocks noGrp="1"/>
          </p:cNvSpPr>
          <p:nvPr>
            <p:ph type="title"/>
          </p:nvPr>
        </p:nvSpPr>
        <p:spPr>
          <a:xfrm>
            <a:off x="2224887" y="235508"/>
            <a:ext cx="7741920" cy="765589"/>
          </a:xfrm>
        </p:spPr>
        <p:txBody>
          <a:bodyPr>
            <a:noAutofit/>
          </a:bodyPr>
          <a:lstStyle/>
          <a:p>
            <a:r>
              <a:rPr lang="en-US" altLang="ja-JP" sz="3048" dirty="0" err="1"/>
              <a:t>BioEmu</a:t>
            </a:r>
            <a:r>
              <a:rPr lang="en-US" altLang="ja-JP" sz="3048" dirty="0"/>
              <a:t> (AlphaFold2 + diffusion model)</a:t>
            </a:r>
            <a:endParaRPr lang="ja-JP" altLang="en-US" sz="3048">
              <a:solidFill>
                <a:srgbClr val="FF0000"/>
              </a:solidFill>
            </a:endParaRPr>
          </a:p>
        </p:txBody>
      </p:sp>
      <p:sp>
        <p:nvSpPr>
          <p:cNvPr id="5" name="テキスト ボックス 4">
            <a:extLst>
              <a:ext uri="{FF2B5EF4-FFF2-40B4-BE49-F238E27FC236}">
                <a16:creationId xmlns:a16="http://schemas.microsoft.com/office/drawing/2014/main" id="{B20A09FE-112B-A321-0E9C-F3AF0FB1DCCE}"/>
              </a:ext>
            </a:extLst>
          </p:cNvPr>
          <p:cNvSpPr txBox="1"/>
          <p:nvPr/>
        </p:nvSpPr>
        <p:spPr>
          <a:xfrm>
            <a:off x="2224887" y="5550366"/>
            <a:ext cx="6847298" cy="260584"/>
          </a:xfrm>
          <a:prstGeom prst="rect">
            <a:avLst/>
          </a:prstGeom>
          <a:noFill/>
        </p:spPr>
        <p:txBody>
          <a:bodyPr wrap="square">
            <a:spAutoFit/>
          </a:bodyPr>
          <a:lstStyle/>
          <a:p>
            <a:r>
              <a:rPr lang="en" altLang="ja-JP" sz="1185" dirty="0">
                <a:effectLst/>
              </a:rPr>
              <a:t>S. Lewis et al., </a:t>
            </a:r>
            <a:r>
              <a:rPr lang="en" altLang="ja-JP" sz="1185" i="1" dirty="0">
                <a:effectLst/>
              </a:rPr>
              <a:t>Scalable Emulation of Protein Equilibrium Ensembles with Generative Deep Learning</a:t>
            </a:r>
            <a:r>
              <a:rPr lang="en" altLang="ja-JP" sz="1185" dirty="0">
                <a:effectLst/>
              </a:rPr>
              <a:t>. </a:t>
            </a:r>
            <a:r>
              <a:rPr lang="en" altLang="ja-JP" sz="1185" dirty="0" err="1">
                <a:effectLst/>
              </a:rPr>
              <a:t>Science (2025)</a:t>
            </a:r>
            <a:endParaRPr lang="en" altLang="ja-JP" sz="1185" dirty="0">
              <a:effectLst/>
            </a:endParaRPr>
          </a:p>
        </p:txBody>
      </p:sp>
      <p:pic>
        <p:nvPicPr>
          <p:cNvPr id="6" name="図 5">
            <a:extLst>
              <a:ext uri="{FF2B5EF4-FFF2-40B4-BE49-F238E27FC236}">
                <a16:creationId xmlns:a16="http://schemas.microsoft.com/office/drawing/2014/main" id="{36EA0553-DCDB-3987-B30D-4CA640D06042}"/>
              </a:ext>
            </a:extLst>
          </p:cNvPr>
          <p:cNvPicPr>
            <a:picLocks noChangeAspect="1"/>
          </p:cNvPicPr>
          <p:nvPr/>
        </p:nvPicPr>
        <p:blipFill>
          <a:blip r:embed="rId3"/>
          <a:stretch>
            <a:fillRect/>
          </a:stretch>
        </p:blipFill>
        <p:spPr>
          <a:xfrm>
            <a:off x="2224887" y="1942067"/>
            <a:ext cx="7666106" cy="1846122"/>
          </a:xfrm>
          <a:prstGeom prst="rect">
            <a:avLst/>
          </a:prstGeom>
        </p:spPr>
      </p:pic>
      <p:sp>
        <p:nvSpPr>
          <p:cNvPr id="7" name="TextBox 6"/>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BioEmuは配列を条件とする近似平衡分布の生成モデル。生成順は実時間順ではない。Lewis et al., Science (2025)。</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ED3BC797-D09B-FFEB-ACCC-AA14628CA3DA}"/>
              </a:ext>
            </a:extLst>
          </p:cNvPr>
          <p:cNvSpPr>
            <a:spLocks noGrp="1"/>
          </p:cNvSpPr>
          <p:nvPr>
            <p:ph type="title"/>
          </p:nvPr>
        </p:nvSpPr>
        <p:spPr>
          <a:xfrm>
            <a:off x="2224887" y="235508"/>
            <a:ext cx="7741920" cy="765589"/>
          </a:xfrm>
        </p:spPr>
        <p:txBody>
          <a:bodyPr>
            <a:noAutofit/>
          </a:bodyPr>
          <a:lstStyle/>
          <a:p>
            <a:r>
              <a:rPr lang="en-US" altLang="ja-JP" sz="3048" dirty="0" err="1"/>
              <a:t>BioEmu</a:t>
            </a:r>
            <a:r>
              <a:rPr lang="ja-JP" altLang="en-US" sz="3048"/>
              <a:t>の学習</a:t>
            </a:r>
            <a:endParaRPr lang="ja-JP" altLang="en-US" sz="3048">
              <a:solidFill>
                <a:srgbClr val="FF0000"/>
              </a:solidFill>
            </a:endParaRPr>
          </a:p>
        </p:txBody>
      </p:sp>
      <p:sp>
        <p:nvSpPr>
          <p:cNvPr id="5" name="テキスト ボックス 4">
            <a:extLst>
              <a:ext uri="{FF2B5EF4-FFF2-40B4-BE49-F238E27FC236}">
                <a16:creationId xmlns:a16="http://schemas.microsoft.com/office/drawing/2014/main" id="{60B29ABF-F5F8-D698-60AD-FBC6F498F046}"/>
              </a:ext>
            </a:extLst>
          </p:cNvPr>
          <p:cNvSpPr txBox="1"/>
          <p:nvPr/>
        </p:nvSpPr>
        <p:spPr>
          <a:xfrm>
            <a:off x="2224887" y="5550366"/>
            <a:ext cx="6847298" cy="260584"/>
          </a:xfrm>
          <a:prstGeom prst="rect">
            <a:avLst/>
          </a:prstGeom>
          <a:noFill/>
        </p:spPr>
        <p:txBody>
          <a:bodyPr wrap="square">
            <a:spAutoFit/>
          </a:bodyPr>
          <a:lstStyle/>
          <a:p>
            <a:r>
              <a:rPr lang="en" altLang="ja-JP" sz="1185" dirty="0">
                <a:effectLst/>
              </a:rPr>
              <a:t>S. Lewis et al., </a:t>
            </a:r>
            <a:r>
              <a:rPr lang="en" altLang="ja-JP" sz="1185" i="1" dirty="0">
                <a:effectLst/>
              </a:rPr>
              <a:t>Scalable Emulation of Protein Equilibrium Ensembles with Generative Deep Learning</a:t>
            </a:r>
            <a:r>
              <a:rPr lang="en" altLang="ja-JP" sz="1185" dirty="0">
                <a:effectLst/>
              </a:rPr>
              <a:t>. </a:t>
            </a:r>
            <a:r>
              <a:rPr lang="en" altLang="ja-JP" sz="1185" dirty="0" err="1">
                <a:effectLst/>
              </a:rPr>
              <a:t>Science (2025)</a:t>
            </a:r>
            <a:endParaRPr lang="en" altLang="ja-JP" sz="1185" dirty="0">
              <a:effectLst/>
            </a:endParaRPr>
          </a:p>
        </p:txBody>
      </p:sp>
      <p:pic>
        <p:nvPicPr>
          <p:cNvPr id="3" name="図 2">
            <a:extLst>
              <a:ext uri="{FF2B5EF4-FFF2-40B4-BE49-F238E27FC236}">
                <a16:creationId xmlns:a16="http://schemas.microsoft.com/office/drawing/2014/main" id="{19A8367D-C293-3647-E3AE-787E974ABA4D}"/>
              </a:ext>
            </a:extLst>
          </p:cNvPr>
          <p:cNvPicPr>
            <a:picLocks noChangeAspect="1"/>
          </p:cNvPicPr>
          <p:nvPr/>
        </p:nvPicPr>
        <p:blipFill>
          <a:blip r:embed="rId3"/>
          <a:stretch>
            <a:fillRect/>
          </a:stretch>
        </p:blipFill>
        <p:spPr>
          <a:xfrm>
            <a:off x="2358219" y="1940399"/>
            <a:ext cx="7487502" cy="1803112"/>
          </a:xfrm>
          <a:prstGeom prst="rect">
            <a:avLst/>
          </a:prstGeom>
        </p:spPr>
      </p:pic>
      <p:sp>
        <p:nvSpPr>
          <p:cNvPr id="6" name="TextBox 5"/>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構造データ、MDの集団、実験の安定性情報を段階的に活用する。Lewis et al., Science (2025)。</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BioEmuは学習データの役割を分けて使う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iodata.png"/>
          <p:cNvPicPr>
            <a:picLocks noChangeAspect="1"/>
          </p:cNvPicPr>
          <p:nvPr/>
        </p:nvPicPr>
        <p:blipFill>
          <a:blip r:embed="rId3"/>
          <a:stretch>
            <a:fillRect/>
          </a:stretch>
        </p:blipFill>
        <p:spPr>
          <a:xfrm>
            <a:off x="7948999" y="1508760"/>
            <a:ext cx="2710040"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AFDBの構造は配列と構造の対応を、MDは一つの配列が取り得る集団を与える。</a:t>
            </a:r>
          </a:p>
          <a:p>
            <a:pPr algn="l">
              <a:lnSpc>
                <a:spcPts val="2497"/>
              </a:lnSpc>
            </a:pPr>
            <a:r>
              <a:rPr sz="1850" b="0" lang="ja-JP" altLang="en-US">
                <a:solidFill>
                  <a:srgbClr val="333333"/>
                </a:solidFill>
                <a:latin typeface="Noto Sans JP"/>
                <a:ea typeface="Noto Sans JP"/>
              </a:rPr>
              <a:t>実験の安定性情報も学習に使い、計算だけの偏りを補う。</a:t>
            </a:r>
          </a:p>
          <a:p>
            <a:pPr algn="l">
              <a:lnSpc>
                <a:spcPts val="2497"/>
              </a:lnSpc>
            </a:pPr>
            <a:r>
              <a:rPr sz="1850" b="0" lang="ja-JP" altLang="en-US">
                <a:solidFill>
                  <a:srgbClr val="333333"/>
                </a:solidFill>
                <a:latin typeface="Noto Sans JP"/>
                <a:ea typeface="Noto Sans JP"/>
              </a:rPr>
              <a:t>同じ「生成」でも、正規化flowと拡散モデルでは密度評価の仕組みが異なる。BGの重み式を、そのままBioEmuへ適用できるとは限らない。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F4DC3792-9B6A-561E-C079-82B5CFC7F877}"/>
              </a:ext>
            </a:extLst>
          </p:cNvPr>
          <p:cNvSpPr>
            <a:spLocks noGrp="1"/>
          </p:cNvSpPr>
          <p:nvPr>
            <p:ph type="title"/>
          </p:nvPr>
        </p:nvSpPr>
        <p:spPr>
          <a:xfrm>
            <a:off x="2224887" y="235508"/>
            <a:ext cx="7741920" cy="765589"/>
          </a:xfrm>
        </p:spPr>
        <p:txBody>
          <a:bodyPr>
            <a:noAutofit/>
          </a:bodyPr>
          <a:lstStyle/>
          <a:p>
            <a:r>
              <a:rPr lang="en-US" altLang="ja-JP" sz="3048" dirty="0" err="1"/>
              <a:t>BioEmu</a:t>
            </a:r>
            <a:r>
              <a:rPr lang="ja-JP" altLang="en-US" sz="3048"/>
              <a:t>の適用例</a:t>
            </a:r>
            <a:endParaRPr lang="ja-JP" altLang="en-US" sz="3048">
              <a:solidFill>
                <a:srgbClr val="FF0000"/>
              </a:solidFill>
            </a:endParaRPr>
          </a:p>
        </p:txBody>
      </p:sp>
      <p:sp>
        <p:nvSpPr>
          <p:cNvPr id="5" name="テキスト ボックス 4">
            <a:extLst>
              <a:ext uri="{FF2B5EF4-FFF2-40B4-BE49-F238E27FC236}">
                <a16:creationId xmlns:a16="http://schemas.microsoft.com/office/drawing/2014/main" id="{7BE91BFB-1D72-C3D4-8BEA-D8548DE4DB10}"/>
              </a:ext>
            </a:extLst>
          </p:cNvPr>
          <p:cNvSpPr txBox="1"/>
          <p:nvPr/>
        </p:nvSpPr>
        <p:spPr>
          <a:xfrm>
            <a:off x="2224887" y="5550366"/>
            <a:ext cx="6847298" cy="260584"/>
          </a:xfrm>
          <a:prstGeom prst="rect">
            <a:avLst/>
          </a:prstGeom>
          <a:noFill/>
        </p:spPr>
        <p:txBody>
          <a:bodyPr wrap="square">
            <a:spAutoFit/>
          </a:bodyPr>
          <a:lstStyle/>
          <a:p>
            <a:r>
              <a:rPr lang="en" altLang="ja-JP" sz="1185" dirty="0">
                <a:effectLst/>
              </a:rPr>
              <a:t>S. Lewis et al., </a:t>
            </a:r>
            <a:r>
              <a:rPr lang="en" altLang="ja-JP" sz="1185" i="1" dirty="0">
                <a:effectLst/>
              </a:rPr>
              <a:t>Scalable Emulation of Protein Equilibrium Ensembles with Generative Deep Learning</a:t>
            </a:r>
            <a:r>
              <a:rPr lang="en" altLang="ja-JP" sz="1185" dirty="0">
                <a:effectLst/>
              </a:rPr>
              <a:t>. </a:t>
            </a:r>
            <a:r>
              <a:rPr lang="en" altLang="ja-JP" sz="1185" dirty="0" err="1">
                <a:effectLst/>
              </a:rPr>
              <a:t>Science (2025)</a:t>
            </a:r>
            <a:endParaRPr lang="en" altLang="ja-JP" sz="1185" dirty="0">
              <a:effectLst/>
            </a:endParaRPr>
          </a:p>
        </p:txBody>
      </p:sp>
      <p:pic>
        <p:nvPicPr>
          <p:cNvPr id="6" name="図 5">
            <a:extLst>
              <a:ext uri="{FF2B5EF4-FFF2-40B4-BE49-F238E27FC236}">
                <a16:creationId xmlns:a16="http://schemas.microsoft.com/office/drawing/2014/main" id="{780DC92B-9535-7E2F-5D13-10E1FB270458}"/>
              </a:ext>
            </a:extLst>
          </p:cNvPr>
          <p:cNvPicPr>
            <a:picLocks noChangeAspect="1"/>
          </p:cNvPicPr>
          <p:nvPr/>
        </p:nvPicPr>
        <p:blipFill>
          <a:blip r:embed="rId3"/>
          <a:stretch>
            <a:fillRect/>
          </a:stretch>
        </p:blipFill>
        <p:spPr>
          <a:xfrm>
            <a:off x="2358220" y="1114891"/>
            <a:ext cx="7515148" cy="3585124"/>
          </a:xfrm>
          <a:prstGeom prst="rect">
            <a:avLst/>
          </a:prstGeom>
        </p:spPr>
      </p:pic>
      <p:sp>
        <p:nvSpPr>
          <p:cNvPr id="7" name="TextBox 6"/>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参照MDとBioEmuの構造分布の比較。分布が合う例であり、遷移速度を再現した図ではない。Lewis et al. (2025)。</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多様性と、正しい存在割合を分けて評価する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kl.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異なる形が出たことだけでは、自由エネルギー差は分からない。</a:t>
            </a:r>
          </a:p>
          <a:p>
            <a:pPr algn="l">
              <a:lnSpc>
                <a:spcPts val="2497"/>
              </a:lnSpc>
            </a:pPr>
            <a:r>
              <a:rPr sz="1850" b="0" lang="ja-JP" altLang="en-US">
                <a:solidFill>
                  <a:srgbClr val="333333"/>
                </a:solidFill>
                <a:latin typeface="Noto Sans JP"/>
                <a:ea typeface="Noto Sans JP"/>
              </a:rPr>
              <a:t>二つの状態A・Bの確率がpA・pBなら、その比から自由エネルギー差を求める。</a:t>
            </a:r>
          </a:p>
          <a:p>
            <a:pPr algn="l">
              <a:lnSpc>
                <a:spcPts val="2497"/>
              </a:lnSpc>
            </a:pPr>
            <a:r>
              <a:rPr sz="1850" b="0" lang="ja-JP" altLang="en-US">
                <a:solidFill>
                  <a:srgbClr val="333333"/>
                </a:solidFill>
                <a:latin typeface="Noto Sans JP"/>
                <a:ea typeface="Noto Sans JP"/>
              </a:rPr>
              <a:t>構造生成モデルの割合を用いるには、目的の条件で分布の妥当性を検証する必要がある。</a:t>
            </a:r>
          </a:p>
        </p:txBody>
      </p:sp>
      <p:pic>
        <p:nvPicPr>
          <p:cNvPr id="8" name="Picture 7" descr="F_B-F_A=-k_BT\log(p_B/p_A)"/>
          <p:cNvPicPr>
            <a:picLocks noChangeAspect="1"/>
          </p:cNvPicPr>
          <p:nvPr/>
        </p:nvPicPr>
        <p:blipFill>
          <a:blip r:embed="rId4"/>
          <a:stretch>
            <a:fillRect/>
          </a:stretch>
        </p:blipFill>
        <p:spPr>
          <a:xfrm>
            <a:off x="658368" y="5513832"/>
            <a:ext cx="3624072" cy="292608"/>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構造集団から、時間の順序は復元できない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distribution_time.png"/>
          <p:cNvPicPr>
            <a:picLocks noChangeAspect="1"/>
          </p:cNvPicPr>
          <p:nvPr/>
        </p:nvPicPr>
        <p:blipFill>
          <a:blip r:embed="rId3"/>
          <a:stretch>
            <a:fillRect/>
          </a:stretch>
        </p:blipFill>
        <p:spPr>
          <a:xfrm>
            <a:off x="6995160" y="1508760"/>
            <a:ext cx="4617720" cy="3622987"/>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右の二つの系列は同じ値の集合で、ヒストグラムも同じ。</a:t>
            </a:r>
          </a:p>
          <a:p>
            <a:pPr algn="l">
              <a:lnSpc>
                <a:spcPts val="2497"/>
              </a:lnSpc>
            </a:pPr>
            <a:r>
              <a:rPr sz="1850" b="0" lang="ja-JP" altLang="en-US">
                <a:solidFill>
                  <a:srgbClr val="333333"/>
                </a:solidFill>
                <a:latin typeface="Noto Sans JP"/>
                <a:ea typeface="Noto Sans JP"/>
              </a:rPr>
              <a:t>しかし隣り合う値の関係は異なる。</a:t>
            </a:r>
          </a:p>
          <a:p>
            <a:pPr algn="l">
              <a:lnSpc>
                <a:spcPts val="2497"/>
              </a:lnSpc>
            </a:pPr>
            <a:r>
              <a:rPr sz="1850" b="0" lang="ja-JP" altLang="en-US">
                <a:solidFill>
                  <a:srgbClr val="333333"/>
                </a:solidFill>
                <a:latin typeface="Noto Sans JP"/>
                <a:ea typeface="Noto Sans JP"/>
              </a:rPr>
              <a:t>平衡分布は存在割合を与えるが、遷移速度・経路・時間相関には動力学の情報が必要。</a:t>
            </a:r>
          </a:p>
          <a:p>
            <a:pPr algn="l">
              <a:lnSpc>
                <a:spcPts val="2497"/>
              </a:lnSpc>
            </a:pPr>
            <a:r>
              <a:rPr sz="1850" b="0" lang="ja-JP" altLang="en-US">
                <a:solidFill>
                  <a:srgbClr val="333333"/>
                </a:solidFill>
                <a:latin typeface="Noto Sans JP"/>
                <a:ea typeface="Noto Sans JP"/>
              </a:rPr>
              <a:t>拡散モデルの生成ステップも、物理時間ではない。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演習の模型は、一様乱数を単調な折れ線で変換する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xの区間[−2,2]を80個に分ける。各区間の確率piをsoftmaxで正に保つ。</a:t>
            </a:r>
          </a:p>
          <a:p>
            <a:pPr algn="l">
              <a:lnSpc>
                <a:spcPts val="2295"/>
              </a:lnSpc>
            </a:pPr>
            <a:r>
              <a:rPr sz="1700" b="0" lang="ja-JP" altLang="en-US">
                <a:solidFill>
                  <a:srgbClr val="333333"/>
                </a:solidFill>
                <a:latin typeface="Noto Sans JP"/>
                <a:ea typeface="Noto Sans JP"/>
              </a:rPr>
              <a:t>潜在区間の長さpiを、座標区間の幅Δxへ写す。傾きはΔx/pi、密度はpi/Δx。</a:t>
            </a:r>
          </a:p>
          <a:p>
            <a:pPr algn="l">
              <a:lnSpc>
                <a:spcPts val="2295"/>
              </a:lnSpc>
            </a:pPr>
            <a:r>
              <a:rPr sz="1700" b="0" lang="ja-JP" altLang="en-US">
                <a:solidFill>
                  <a:srgbClr val="333333"/>
                </a:solidFill>
                <a:latin typeface="Noto Sans JP"/>
                <a:ea typeface="Noto Sans JP"/>
              </a:rPr>
              <a:t>目標分布も同じ有限区間で正規化する。タンパク質モデルの再現ではなく、原理の実装例。</a:t>
            </a:r>
          </a:p>
        </p:txBody>
      </p:sp>
      <p:pic>
        <p:nvPicPr>
          <p:cNvPr id="7" name="Picture 6" descr="13_flow_training.png"/>
          <p:cNvPicPr>
            <a:picLocks noChangeAspect="1"/>
          </p:cNvPicPr>
          <p:nvPr/>
        </p:nvPicPr>
        <p:blipFill>
          <a:blip r:embed="rId3"/>
          <a:stretch>
            <a:fillRect/>
          </a:stretch>
        </p:blipFill>
        <p:spPr>
          <a:xfrm>
            <a:off x="1451609" y="2834640"/>
            <a:ext cx="9258300" cy="2468880"/>
          </a:xfrm>
          <a:prstGeom prst="rect">
            <a:avLst/>
          </a:prstGeom>
        </p:spPr>
      </p:pic>
      <p:pic>
        <p:nvPicPr>
          <p:cNvPr id="8" name="Picture 7" descr="x=x_i+(z-c_i)\frac{\Delta x}{p_i},\quad q(x)=\frac{p_i}{\Delta x}"/>
          <p:cNvPicPr>
            <a:picLocks noChangeAspect="1"/>
          </p:cNvPicPr>
          <p:nvPr/>
        </p:nvPicPr>
        <p:blipFill>
          <a:blip r:embed="rId4"/>
          <a:stretch>
            <a:fillRect/>
          </a:stretch>
        </p:blipFill>
        <p:spPr>
          <a:xfrm>
            <a:off x="658368" y="5513832"/>
            <a:ext cx="4267200" cy="658368"/>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学習前後の密度と、補正後の割合を比較する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学習前は座標区間で一様。学習後は二つの谷へ確率が集まる。</a:t>
            </a:r>
          </a:p>
          <a:p>
            <a:pPr algn="l">
              <a:lnSpc>
                <a:spcPts val="2295"/>
              </a:lnSpc>
            </a:pPr>
            <a:r>
              <a:rPr sz="1700" b="0" lang="ja-JP" altLang="en-US">
                <a:solidFill>
                  <a:srgbClr val="333333"/>
                </a:solidFill>
                <a:latin typeface="Noto Sans JP"/>
                <a:ea typeface="Noto Sans JP"/>
              </a:rPr>
              <a:t>有限個の区間を使うため、密度は階段状になる。</a:t>
            </a:r>
          </a:p>
          <a:p>
            <a:pPr algn="l">
              <a:lnSpc>
                <a:spcPts val="2295"/>
              </a:lnSpc>
            </a:pPr>
            <a:r>
              <a:rPr sz="1700" b="0" lang="ja-JP" altLang="en-US">
                <a:solidFill>
                  <a:srgbClr val="333333"/>
                </a:solidFill>
                <a:latin typeface="Noto Sans JP"/>
                <a:ea typeface="Noto Sans JP"/>
              </a:rPr>
              <a:t>生成密度とエネルギーから重みを計算し、右の谷の割合を理論積分と比べる。</a:t>
            </a:r>
          </a:p>
          <a:p>
            <a:pPr algn="l">
              <a:lnSpc>
                <a:spcPts val="2295"/>
              </a:lnSpc>
            </a:pPr>
            <a:r>
              <a:rPr sz="1700" b="0" lang="ja-JP" altLang="en-US">
                <a:solidFill>
                  <a:srgbClr val="333333"/>
                </a:solidFill>
                <a:latin typeface="Noto Sans JP"/>
                <a:ea typeface="Noto Sans JP"/>
              </a:rPr>
              <a:t>右図は今回のNotebookの実行結果。</a:t>
            </a:r>
          </a:p>
        </p:txBody>
      </p:sp>
      <p:pic>
        <p:nvPicPr>
          <p:cNvPr id="7" name="Picture 6" descr="13_comparison.png"/>
          <p:cNvPicPr>
            <a:picLocks noChangeAspect="1"/>
          </p:cNvPicPr>
          <p:nvPr/>
        </p:nvPicPr>
        <p:blipFill>
          <a:blip r:embed="rId3"/>
          <a:stretch>
            <a:fillRect/>
          </a:stretch>
        </p:blipFill>
        <p:spPr>
          <a:xfrm>
            <a:off x="2377439" y="2834640"/>
            <a:ext cx="7406640" cy="3291839"/>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計算を速くする代わりに、学習と検証へ仕事を移す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iodata.png"/>
          <p:cNvPicPr>
            <a:picLocks noChangeAspect="1"/>
          </p:cNvPicPr>
          <p:nvPr/>
        </p:nvPicPr>
        <p:blipFill>
          <a:blip r:embed="rId3"/>
          <a:stretch>
            <a:fillRect/>
          </a:stretch>
        </p:blipFill>
        <p:spPr>
          <a:xfrm>
            <a:off x="7948999" y="1508760"/>
            <a:ext cx="2710040"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MDは運動方程式をその都度解く。生成モデルは事前の学習を経て標本を作る。</a:t>
            </a:r>
          </a:p>
          <a:p>
            <a:pPr algn="l">
              <a:lnSpc>
                <a:spcPts val="2497"/>
              </a:lnSpc>
            </a:pPr>
            <a:r>
              <a:rPr sz="1850" b="0" lang="ja-JP" altLang="en-US">
                <a:solidFill>
                  <a:srgbClr val="333333"/>
                </a:solidFill>
                <a:latin typeface="Noto Sans JP"/>
                <a:ea typeface="Noto Sans JP"/>
              </a:rPr>
              <a:t>生成一回の速さだけでなく、学習データの作成・学習・補正・適用範囲の検証を含めて考える。</a:t>
            </a:r>
          </a:p>
          <a:p>
            <a:pPr algn="l">
              <a:lnSpc>
                <a:spcPts val="2497"/>
              </a:lnSpc>
            </a:pPr>
            <a:r>
              <a:rPr sz="1850" b="0" lang="ja-JP" altLang="en-US">
                <a:solidFill>
                  <a:srgbClr val="333333"/>
                </a:solidFill>
                <a:latin typeface="Noto Sans JP"/>
                <a:ea typeface="Noto Sans JP"/>
              </a:rPr>
              <a:t>新しい配列や条件へ使うときは、分布の誤差を再確認する。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まとめ：変換・密度・学習・補正をつなぐ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可逆変換では、ヤコビ行列式から生成密度を評価できる。</a:t>
            </a:r>
          </a:p>
          <a:p>
            <a:pPr algn="l">
              <a:lnSpc>
                <a:spcPts val="2497"/>
              </a:lnSpc>
            </a:pPr>
            <a:r>
              <a:rPr sz="1850" b="0" lang="ja-JP" altLang="en-US">
                <a:solidFill>
                  <a:srgbClr val="333333"/>
                </a:solidFill>
                <a:latin typeface="Noto Sans JP"/>
                <a:ea typeface="Noto Sans JP"/>
              </a:rPr>
              <a:t>BGはデータとエネルギーを使い、目標の平衡分布へ近づける。</a:t>
            </a:r>
          </a:p>
          <a:p>
            <a:pPr algn="l">
              <a:lnSpc>
                <a:spcPts val="2497"/>
              </a:lnSpc>
            </a:pPr>
            <a:r>
              <a:rPr sz="1850" b="0" lang="ja-JP" altLang="en-US">
                <a:solidFill>
                  <a:srgbClr val="333333"/>
                </a:solidFill>
                <a:latin typeface="Noto Sans JP"/>
                <a:ea typeface="Noto Sans JP"/>
              </a:rPr>
              <a:t>重みの補正は、十分に重なる分布の間で有効。</a:t>
            </a:r>
          </a:p>
          <a:p>
            <a:pPr algn="l">
              <a:lnSpc>
                <a:spcPts val="2497"/>
              </a:lnSpc>
            </a:pPr>
            <a:r>
              <a:rPr sz="1850" b="0" lang="ja-JP" altLang="en-US">
                <a:solidFill>
                  <a:srgbClr val="333333"/>
                </a:solidFill>
                <a:latin typeface="Noto Sans JP"/>
                <a:ea typeface="Noto Sans JP"/>
              </a:rPr>
              <a:t>BioEmuも構造集団を生成するが、生成順から物理時間は得られない。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演習：小さな生成モデルを学習する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20分・採点なし。13_演習.ipynbを使う。</a:t>
            </a:r>
          </a:p>
          <a:p>
            <a:pPr algn="l">
              <a:lnSpc>
                <a:spcPts val="2295"/>
              </a:lnSpc>
            </a:pPr>
            <a:r>
              <a:rPr sz="1700" b="0" lang="ja-JP" altLang="en-US">
                <a:solidFill>
                  <a:srgbClr val="333333"/>
                </a:solidFill>
                <a:latin typeface="Noto Sans JP"/>
                <a:ea typeface="Noto Sans JP"/>
              </a:rPr>
              <a:t>1　正の区間確率と、可逆な折れ線の関係を見る。</a:t>
            </a:r>
          </a:p>
          <a:p>
            <a:pPr algn="l">
              <a:lnSpc>
                <a:spcPts val="2295"/>
              </a:lnSpc>
            </a:pPr>
            <a:r>
              <a:rPr sz="1700" b="0" lang="ja-JP" altLang="en-US">
                <a:solidFill>
                  <a:srgbClr val="333333"/>
                </a:solidFill>
                <a:latin typeface="Noto Sans JP"/>
                <a:ea typeface="Noto Sans JP"/>
              </a:rPr>
              <a:t>2　エネルギーと密度の損失を学習し、前後の分布を比較。</a:t>
            </a:r>
          </a:p>
          <a:p>
            <a:pPr algn="l">
              <a:lnSpc>
                <a:spcPts val="2295"/>
              </a:lnSpc>
            </a:pPr>
            <a:r>
              <a:rPr sz="1700" b="0" lang="ja-JP" altLang="en-US">
                <a:solidFill>
                  <a:srgbClr val="333333"/>
                </a:solidFill>
                <a:latin typeface="Noto Sans JP"/>
                <a:ea typeface="Noto Sans JP"/>
              </a:rPr>
              <a:t>3　重み補正後の右の谷の割合を、理論・MCMCと比べる。</a:t>
            </a:r>
          </a:p>
          <a:p>
            <a:pPr algn="l">
              <a:lnSpc>
                <a:spcPts val="2295"/>
              </a:lnSpc>
            </a:pPr>
            <a:r>
              <a:rPr sz="1700" b="0" lang="ja-JP" altLang="en-US">
                <a:solidFill>
                  <a:srgbClr val="333333"/>
                </a:solidFill>
                <a:latin typeface="Noto Sans JP"/>
                <a:ea typeface="Noto Sans JP"/>
              </a:rPr>
              <a:t>4　区間数を変え、近似の細かさを観察して結果を保存する。</a:t>
            </a:r>
          </a:p>
        </p:txBody>
      </p:sp>
      <p:pic>
        <p:nvPicPr>
          <p:cNvPr id="7" name="Picture 6" descr="13_flow_training.png"/>
          <p:cNvPicPr>
            <a:picLocks noChangeAspect="1"/>
          </p:cNvPicPr>
          <p:nvPr/>
        </p:nvPicPr>
        <p:blipFill>
          <a:blip r:embed="rId3"/>
          <a:stretch>
            <a:fillRect/>
          </a:stretch>
        </p:blipFill>
        <p:spPr>
          <a:xfrm>
            <a:off x="731520" y="2834640"/>
            <a:ext cx="10698480" cy="2852928"/>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付録：導出と補足資料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463040"/>
            <a:ext cx="10881360" cy="4480560"/>
          </a:xfrm>
          <a:prstGeom prst="rect">
            <a:avLst/>
          </a:prstGeom>
          <a:noFill/>
        </p:spPr>
        <p:txBody>
          <a:bodyPr wrap="square" lIns="0" rIns="0" tIns="0" bIns="0" anchor="t">
            <a:noAutofit/>
          </a:bodyPr>
          <a:lstStyle/>
          <a:p>
            <a:pPr algn="l">
              <a:lnSpc>
                <a:spcPts val="3105"/>
              </a:lnSpc>
            </a:pPr>
            <a:r>
              <a:rPr sz="2300" b="0" lang="ja-JP" altLang="en-US">
                <a:solidFill>
                  <a:srgbClr val="333333"/>
                </a:solidFill>
                <a:latin typeface="Noto Sans JP"/>
                <a:ea typeface="Noto Sans JP"/>
              </a:rPr>
              <a:t>ここからは本編の補足です。</a:t>
            </a:r>
          </a:p>
          <a:p>
            <a:pPr algn="l">
              <a:lnSpc>
                <a:spcPts val="3105"/>
              </a:lnSpc>
            </a:pPr>
            <a:r>
              <a:rPr sz="2300" b="0" lang="ja-JP" altLang="en-US">
                <a:solidFill>
                  <a:srgbClr val="333333"/>
                </a:solidFill>
                <a:latin typeface="Noto Sans JP"/>
                <a:ea typeface="Noto Sans JP"/>
              </a:rPr>
              <a:t>導出の途中式、計算条件、研究例の詳細を示します。</a:t>
            </a:r>
          </a:p>
          <a:p>
            <a:pPr algn="l">
              <a:lnSpc>
                <a:spcPts val="3105"/>
              </a:lnSpc>
            </a:pPr>
            <a:r>
              <a:rPr sz="2300" b="0" lang="ja-JP" altLang="en-US">
                <a:solidFill>
                  <a:srgbClr val="333333"/>
                </a:solidFill>
                <a:latin typeface="Noto Sans JP"/>
                <a:ea typeface="Noto Sans JP"/>
              </a:rPr>
              <a:t>本編の各手法の前提と対応させて読んでください。</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変数変換の式を、微小領域の確率から導く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jacobian.png"/>
          <p:cNvPicPr>
            <a:picLocks noChangeAspect="1"/>
          </p:cNvPicPr>
          <p:nvPr/>
        </p:nvPicPr>
        <p:blipFill>
          <a:blip r:embed="rId3"/>
          <a:stretch>
            <a:fillRect/>
          </a:stretch>
        </p:blipFill>
        <p:spPr>
          <a:xfrm>
            <a:off x="6995160" y="1508760"/>
            <a:ext cx="4617720" cy="3623671"/>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微小領域dzを変換すると、体積は|det J|dzになる。</a:t>
            </a:r>
          </a:p>
          <a:p>
            <a:pPr algn="l">
              <a:lnSpc>
                <a:spcPts val="2497"/>
              </a:lnSpc>
            </a:pPr>
            <a:r>
              <a:rPr sz="1850" b="0" lang="ja-JP" altLang="en-US">
                <a:solidFill>
                  <a:srgbClr val="333333"/>
                </a:solidFill>
                <a:latin typeface="Noto Sans JP"/>
                <a:ea typeface="Noto Sans JP"/>
              </a:rPr>
              <a:t>その領域の確率が保存されることから、密度変換の式が得られる。</a:t>
            </a:r>
          </a:p>
          <a:p>
            <a:pPr algn="l">
              <a:lnSpc>
                <a:spcPts val="2497"/>
              </a:lnSpc>
            </a:pPr>
            <a:r>
              <a:rPr sz="1850" b="0" lang="ja-JP" altLang="en-US">
                <a:solidFill>
                  <a:srgbClr val="333333"/>
                </a:solidFill>
                <a:latin typeface="Noto Sans JP"/>
                <a:ea typeface="Noto Sans JP"/>
              </a:rPr>
              <a:t>可逆性があればxからzを一意に戻せる。</a:t>
            </a:r>
          </a:p>
          <a:p>
            <a:pPr algn="l">
              <a:lnSpc>
                <a:spcPts val="2497"/>
              </a:lnSpc>
            </a:pPr>
            <a:r>
              <a:rPr sz="1850" b="0" lang="ja-JP" altLang="en-US">
                <a:solidFill>
                  <a:srgbClr val="333333"/>
                </a:solidFill>
                <a:latin typeface="Noto Sans JP"/>
                <a:ea typeface="Noto Sans JP"/>
              </a:rPr>
              <a:t>向きに依存しない体積を扱うため絶対値を用いる。</a:t>
            </a:r>
          </a:p>
        </p:txBody>
      </p:sp>
      <p:pic>
        <p:nvPicPr>
          <p:cNvPr id="8" name="Picture 7" descr="p_Z(z)dz=q_X(f(z))|\det J|dz"/>
          <p:cNvPicPr>
            <a:picLocks noChangeAspect="1"/>
          </p:cNvPicPr>
          <p:nvPr/>
        </p:nvPicPr>
        <p:blipFill>
          <a:blip r:embed="rId4"/>
          <a:stretch>
            <a:fillRect/>
          </a:stretch>
        </p:blipFill>
        <p:spPr>
          <a:xfrm>
            <a:off x="658368" y="5513832"/>
            <a:ext cx="3691128" cy="28956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KLの二つの向きを、平均する分布から区別する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kl.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データからの学習はp側から標本を取る。</a:t>
            </a:r>
          </a:p>
          <a:p>
            <a:pPr algn="l">
              <a:lnSpc>
                <a:spcPts val="2497"/>
              </a:lnSpc>
            </a:pPr>
            <a:r>
              <a:rPr sz="1850" b="0" lang="ja-JP" altLang="en-US">
                <a:solidFill>
                  <a:srgbClr val="333333"/>
                </a:solidFill>
                <a:latin typeface="Noto Sans JP"/>
                <a:ea typeface="Noto Sans JP"/>
              </a:rPr>
              <a:t>エネルギー学習は生成q側から標本を取る。</a:t>
            </a:r>
          </a:p>
          <a:p>
            <a:pPr algn="l">
              <a:lnSpc>
                <a:spcPts val="2497"/>
              </a:lnSpc>
            </a:pPr>
            <a:r>
              <a:rPr sz="1850" b="0" lang="ja-JP" altLang="en-US">
                <a:solidFill>
                  <a:srgbClr val="333333"/>
                </a:solidFill>
                <a:latin typeface="Noto Sans JP"/>
                <a:ea typeface="Noto Sans JP"/>
              </a:rPr>
              <a:t>いずれもp=qで最小だが、有限なモデルや標本では学習中の挙動が違う。</a:t>
            </a:r>
          </a:p>
          <a:p>
            <a:pPr algn="l">
              <a:lnSpc>
                <a:spcPts val="2497"/>
              </a:lnSpc>
            </a:pPr>
            <a:r>
              <a:rPr sz="1850" b="0" lang="ja-JP" altLang="en-US">
                <a:solidFill>
                  <a:srgbClr val="333333"/>
                </a:solidFill>
                <a:latin typeface="Noto Sans JP"/>
                <a:ea typeface="Noto Sans JP"/>
              </a:rPr>
              <a:t>KLは距離のように使うが、対称ではない。</a:t>
            </a:r>
          </a:p>
        </p:txBody>
      </p:sp>
      <p:pic>
        <p:nvPicPr>
          <p:cNvPr id="8" name="Picture 7" descr="D_{\rm KL}(p\|q)=\mathbb E_p\log(p/q),\quad D_{\rm KL}(q\|p)=\mathbb E_q\log(q/p)"/>
          <p:cNvPicPr>
            <a:picLocks noChangeAspect="1"/>
          </p:cNvPicPr>
          <p:nvPr/>
        </p:nvPicPr>
        <p:blipFill>
          <a:blip r:embed="rId4"/>
          <a:stretch>
            <a:fillRect/>
          </a:stretch>
        </p:blipFill>
        <p:spPr>
          <a:xfrm>
            <a:off x="658368" y="5513832"/>
            <a:ext cx="6617208"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演習の区間損失は、区間内の積分で計算する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区間iではq=pi/Δxが一定。したがってlog qも一定。</a:t>
            </a:r>
          </a:p>
          <a:p>
            <a:pPr algn="l">
              <a:lnSpc>
                <a:spcPts val="2295"/>
              </a:lnSpc>
            </a:pPr>
            <a:r>
              <a:rPr sz="1700" b="0" lang="ja-JP" altLang="en-US">
                <a:solidFill>
                  <a:srgbClr val="333333"/>
                </a:solidFill>
                <a:latin typeface="Noto Sans JP"/>
                <a:ea typeface="Noto Sans JP"/>
              </a:rPr>
              <a:t>平均エネルギーŪiは区間内のUの積分を幅で割る。</a:t>
            </a:r>
          </a:p>
          <a:p>
            <a:pPr algn="l">
              <a:lnSpc>
                <a:spcPts val="2295"/>
              </a:lnSpc>
            </a:pPr>
            <a:r>
              <a:rPr sz="1700" b="0" lang="ja-JP" altLang="en-US">
                <a:solidFill>
                  <a:srgbClr val="333333"/>
                </a:solidFill>
                <a:latin typeface="Noto Sans JP"/>
                <a:ea typeface="Noto Sans JP"/>
              </a:rPr>
              <a:t>この模型では多項式を厳密に積分でき、学習中の標本誤差を避けられる。</a:t>
            </a:r>
          </a:p>
          <a:p>
            <a:pPr algn="l">
              <a:lnSpc>
                <a:spcPts val="2295"/>
              </a:lnSpc>
            </a:pPr>
            <a:r>
              <a:rPr sz="1700" b="0" lang="ja-JP" altLang="en-US">
                <a:solidFill>
                  <a:srgbClr val="333333"/>
                </a:solidFill>
                <a:latin typeface="Noto Sans JP"/>
                <a:ea typeface="Noto Sans JP"/>
              </a:rPr>
              <a:t>有限区間・区分一定密度による近似は残る。</a:t>
            </a:r>
          </a:p>
        </p:txBody>
      </p:sp>
      <p:pic>
        <p:nvPicPr>
          <p:cNvPr id="7" name="Picture 6" descr="13_flow_training.png"/>
          <p:cNvPicPr>
            <a:picLocks noChangeAspect="1"/>
          </p:cNvPicPr>
          <p:nvPr/>
        </p:nvPicPr>
        <p:blipFill>
          <a:blip r:embed="rId3"/>
          <a:stretch>
            <a:fillRect/>
          </a:stretch>
        </p:blipFill>
        <p:spPr>
          <a:xfrm>
            <a:off x="1451609" y="2834640"/>
            <a:ext cx="9258300" cy="2468880"/>
          </a:xfrm>
          <a:prstGeom prst="rect">
            <a:avLst/>
          </a:prstGeom>
        </p:spPr>
      </p:pic>
      <p:pic>
        <p:nvPicPr>
          <p:cNvPr id="8" name="Picture 7" descr="L=\sum_i p_i\!\left[\beta\bar U_i+\log\frac{p_i}{\Delta x}\right],\quad\bar U_i=\frac1{\Delta x}\int_{x_i}^{x_{i+1}}U(x)dx"/>
          <p:cNvPicPr>
            <a:picLocks noChangeAspect="1"/>
          </p:cNvPicPr>
          <p:nvPr/>
        </p:nvPicPr>
        <p:blipFill>
          <a:blip r:embed="rId4"/>
          <a:stretch>
            <a:fillRect/>
          </a:stretch>
        </p:blipFill>
        <p:spPr>
          <a:xfrm>
            <a:off x="658368" y="5513832"/>
            <a:ext cx="6495288" cy="847344"/>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_math_13_41.png"/>
          <p:cNvPicPr>
            <a:picLocks noChangeAspect="1"/>
          </p:cNvPicPr>
          <p:nvPr/>
        </p:nvPicPr>
        <p:blipFill>
          <a:blip r:embed="rId9"/>
          <a:stretch>
            <a:fillRect/>
          </a:stretch>
        </p:blipFill>
        <p:spPr>
          <a:xfrm>
            <a:off x="0" y="1684324"/>
            <a:ext cx="8046699" cy="3258921"/>
          </a:xfrm>
          <a:prstGeom prst="rect">
            <a:avLst/>
          </a:prstGeom>
        </p:spPr>
      </p:pic>
      <p:sp>
        <p:nvSpPr>
          <p:cNvPr id="3" name="TextBox 2"/>
          <p:cNvSpPr txBox="1"/>
          <p:nvPr/>
        </p:nvSpPr>
        <p:spPr>
          <a:xfrm>
            <a:off x="548640" y="411480"/>
            <a:ext cx="10972800" cy="640080"/>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再重み付けは、確率密度の比で導く</a:t>
            </a:r>
          </a:p>
        </p:txBody>
      </p:sp>
      <p:pic>
        <p:nvPicPr>
          <p:cNvPr id="4" name="Picture 3" descr="weighted.png"/>
          <p:cNvPicPr>
            <a:picLocks noChangeAspect="1"/>
          </p:cNvPicPr>
          <p:nvPr/>
        </p:nvPicPr>
        <p:blipFill>
          <a:blip r:embed="rId10"/>
          <a:stretch>
            <a:fillRect/>
          </a:stretch>
        </p:blipFill>
        <p:spPr>
          <a:xfrm>
            <a:off x="8092440" y="1280160"/>
            <a:ext cx="3657600" cy="2860172"/>
          </a:xfrm>
          <a:prstGeom prst="rect">
            <a:avLst/>
          </a:prstGeom>
        </p:spPr>
      </p:pic>
      <p:sp>
        <p:nvSpPr>
          <p:cNvPr id="5" name="TextBox 4"/>
          <p:cNvSpPr txBox="1"/>
          <p:nvPr/>
        </p:nvSpPr>
        <p:spPr>
          <a:xfrm>
            <a:off x="8183879" y="5961888"/>
            <a:ext cx="3474720" cy="457200"/>
          </a:xfrm>
          <a:prstGeom prst="rect">
            <a:avLst/>
          </a:prstGeom>
          <a:noFill/>
        </p:spPr>
        <p:txBody>
          <a:bodyPr wrap="square" lIns="0" rIns="0" tIns="0" bIns="0" anchor="t">
            <a:noAutofit/>
          </a:bodyPr>
          <a:lstStyle/>
          <a:p>
            <a:pPr algn="l">
              <a:lnSpc>
                <a:spcPts val="1620"/>
              </a:lnSpc>
            </a:pPr>
            <a:r>
              <a:rPr sz="1200" b="0" lang="ja-JP" altLang="en-US">
                <a:solidFill>
                  <a:srgbClr val="333333"/>
                </a:solidFill>
                <a:latin typeface="Noto Sans JP"/>
                <a:ea typeface="Noto Sans JP"/>
              </a:rPr>
              <a:t>式の意味を示す模式図・数値例</a:t>
            </a:r>
          </a:p>
        </p:txBody>
      </p:sp>
      <p:sp>
        <p:nvSpPr>
          <p:cNvPr id="6" name="TextBox 5"/>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C1DAD9EE-33E9-E4AF-6736-00C42937061F}"/>
              </a:ext>
            </a:extLst>
          </p:cNvPr>
          <p:cNvSpPr>
            <a:spLocks noGrp="1"/>
          </p:cNvSpPr>
          <p:nvPr>
            <p:ph type="title"/>
          </p:nvPr>
        </p:nvSpPr>
        <p:spPr>
          <a:xfrm>
            <a:off x="1737207" y="54864"/>
            <a:ext cx="8717280" cy="862042"/>
          </a:xfrm>
        </p:spPr>
        <p:txBody>
          <a:bodyPr>
            <a:noAutofit/>
          </a:bodyPr>
          <a:lstStyle/>
          <a:p>
            <a:r>
              <a:rPr lang="en-US" altLang="ja-JP" sz="3432" dirty="0"/>
              <a:t>Boltzmann generator</a:t>
            </a:r>
            <a:r>
              <a:rPr lang="ja-JP" altLang="en-US" sz="3432"/>
              <a:t>の適用例</a:t>
            </a:r>
            <a:endParaRPr lang="ja-JP" altLang="en-US" sz="3432">
              <a:solidFill>
                <a:srgbClr val="FF0000"/>
              </a:solidFill>
            </a:endParaRPr>
          </a:p>
        </p:txBody>
      </p:sp>
      <p:sp>
        <p:nvSpPr>
          <p:cNvPr id="8" name="テキスト ボックス 7">
            <a:extLst>
              <a:ext uri="{FF2B5EF4-FFF2-40B4-BE49-F238E27FC236}">
                <a16:creationId xmlns:a16="http://schemas.microsoft.com/office/drawing/2014/main" id="{D658D823-BCFB-C77B-D1C5-FBDC0FA8BC9A}"/>
              </a:ext>
            </a:extLst>
          </p:cNvPr>
          <p:cNvSpPr txBox="1"/>
          <p:nvPr/>
        </p:nvSpPr>
        <p:spPr>
          <a:xfrm>
            <a:off x="1737207" y="6118500"/>
            <a:ext cx="5186781" cy="440120"/>
          </a:xfrm>
          <a:prstGeom prst="rect">
            <a:avLst/>
          </a:prstGeom>
          <a:noFill/>
        </p:spPr>
        <p:txBody>
          <a:bodyPr wrap="square">
            <a:spAutoFit/>
          </a:bodyPr>
          <a:lstStyle/>
          <a:p>
            <a:r>
              <a:rPr lang="en" altLang="ja-JP" sz="1144" dirty="0">
                <a:effectLst/>
              </a:rPr>
              <a:t>F. Noé, S. Olsson, J. Köhler, and H. Wu, Boltzmann generators: Sampling equilibrium states of many-body systems with deep learning, Science </a:t>
            </a:r>
            <a:r>
              <a:rPr lang="en" altLang="ja-JP" sz="1144" b="1" dirty="0">
                <a:effectLst/>
              </a:rPr>
              <a:t>365</a:t>
            </a:r>
            <a:r>
              <a:rPr lang="en" altLang="ja-JP" sz="1144" dirty="0">
                <a:effectLst/>
              </a:rPr>
              <a:t>, eaaw1147 (2019).</a:t>
            </a:r>
          </a:p>
        </p:txBody>
      </p:sp>
      <p:pic>
        <p:nvPicPr>
          <p:cNvPr id="3" name="図 2">
            <a:extLst>
              <a:ext uri="{FF2B5EF4-FFF2-40B4-BE49-F238E27FC236}">
                <a16:creationId xmlns:a16="http://schemas.microsoft.com/office/drawing/2014/main" id="{C968F751-BD54-A405-4DB5-A82087AF1A17}"/>
              </a:ext>
            </a:extLst>
          </p:cNvPr>
          <p:cNvPicPr>
            <a:picLocks noChangeAspect="1"/>
          </p:cNvPicPr>
          <p:nvPr/>
        </p:nvPicPr>
        <p:blipFill>
          <a:blip r:embed="rId3"/>
          <a:stretch>
            <a:fillRect/>
          </a:stretch>
        </p:blipFill>
        <p:spPr>
          <a:xfrm>
            <a:off x="1934625" y="1442836"/>
            <a:ext cx="8322443" cy="3762014"/>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F0280951-E9CE-F52D-1EC6-294235D3CC95}"/>
              </a:ext>
            </a:extLst>
          </p:cNvPr>
          <p:cNvSpPr>
            <a:spLocks noGrp="1"/>
          </p:cNvSpPr>
          <p:nvPr>
            <p:ph type="title"/>
          </p:nvPr>
        </p:nvSpPr>
        <p:spPr>
          <a:xfrm>
            <a:off x="1737207" y="54864"/>
            <a:ext cx="8717280" cy="862042"/>
          </a:xfrm>
        </p:spPr>
        <p:txBody>
          <a:bodyPr>
            <a:noAutofit/>
          </a:bodyPr>
          <a:lstStyle/>
          <a:p>
            <a:r>
              <a:rPr lang="en-US" altLang="ja-JP" sz="3432" dirty="0"/>
              <a:t>Boltzmann generator</a:t>
            </a:r>
            <a:r>
              <a:rPr lang="ja-JP" altLang="en-US" sz="3432"/>
              <a:t>の適用例</a:t>
            </a:r>
            <a:endParaRPr lang="ja-JP" altLang="en-US" sz="3432">
              <a:solidFill>
                <a:srgbClr val="FF0000"/>
              </a:solidFill>
            </a:endParaRPr>
          </a:p>
        </p:txBody>
      </p:sp>
      <p:sp>
        <p:nvSpPr>
          <p:cNvPr id="8" name="テキスト ボックス 7">
            <a:extLst>
              <a:ext uri="{FF2B5EF4-FFF2-40B4-BE49-F238E27FC236}">
                <a16:creationId xmlns:a16="http://schemas.microsoft.com/office/drawing/2014/main" id="{FA3786DC-BEAC-6577-D5AA-1D98BF46836C}"/>
              </a:ext>
            </a:extLst>
          </p:cNvPr>
          <p:cNvSpPr txBox="1"/>
          <p:nvPr/>
        </p:nvSpPr>
        <p:spPr>
          <a:xfrm>
            <a:off x="1737207" y="6118500"/>
            <a:ext cx="5186781" cy="440120"/>
          </a:xfrm>
          <a:prstGeom prst="rect">
            <a:avLst/>
          </a:prstGeom>
          <a:noFill/>
        </p:spPr>
        <p:txBody>
          <a:bodyPr wrap="square">
            <a:spAutoFit/>
          </a:bodyPr>
          <a:lstStyle/>
          <a:p>
            <a:r>
              <a:rPr lang="en" altLang="ja-JP" sz="1144" dirty="0">
                <a:effectLst/>
              </a:rPr>
              <a:t>F. Noé, S. Olsson, J. Köhler, and H. Wu, Boltzmann generators: Sampling equilibrium states of many-body systems with deep learning, Science </a:t>
            </a:r>
            <a:r>
              <a:rPr lang="en" altLang="ja-JP" sz="1144" b="1" dirty="0">
                <a:effectLst/>
              </a:rPr>
              <a:t>365</a:t>
            </a:r>
            <a:r>
              <a:rPr lang="en" altLang="ja-JP" sz="1144" dirty="0">
                <a:effectLst/>
              </a:rPr>
              <a:t>, eaaw1147 (2019).</a:t>
            </a:r>
          </a:p>
        </p:txBody>
      </p:sp>
      <p:pic>
        <p:nvPicPr>
          <p:cNvPr id="5" name="図 4">
            <a:extLst>
              <a:ext uri="{FF2B5EF4-FFF2-40B4-BE49-F238E27FC236}">
                <a16:creationId xmlns:a16="http://schemas.microsoft.com/office/drawing/2014/main" id="{C66A9130-9E2D-D320-22E9-7D42BD48123A}"/>
              </a:ext>
            </a:extLst>
          </p:cNvPr>
          <p:cNvPicPr>
            <a:picLocks noChangeAspect="1"/>
          </p:cNvPicPr>
          <p:nvPr/>
        </p:nvPicPr>
        <p:blipFill>
          <a:blip r:embed="rId3"/>
          <a:stretch>
            <a:fillRect/>
          </a:stretch>
        </p:blipFill>
        <p:spPr>
          <a:xfrm>
            <a:off x="3267573" y="891648"/>
            <a:ext cx="5940233" cy="5244277"/>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原著・実装と、授業の模型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463040"/>
            <a:ext cx="10881360" cy="4480560"/>
          </a:xfrm>
          <a:prstGeom prst="rect">
            <a:avLst/>
          </a:prstGeom>
          <a:noFill/>
        </p:spPr>
        <p:txBody>
          <a:bodyPr wrap="square" lIns="0" rIns="0" tIns="0" bIns="0" anchor="t">
            <a:noAutofit/>
          </a:bodyPr>
          <a:lstStyle/>
          <a:p>
            <a:pPr algn="l">
              <a:lnSpc>
                <a:spcPts val="3105"/>
              </a:lnSpc>
            </a:pPr>
            <a:r>
              <a:rPr sz="2300" b="0" lang="ja-JP" altLang="en-US">
                <a:solidFill>
                  <a:srgbClr val="333333"/>
                </a:solidFill>
                <a:latin typeface="Noto Sans JP"/>
                <a:ea typeface="Noto Sans JP"/>
              </a:rPr>
              <a:t>Boltzmann generators：Noé, Olsson, Köhler &amp; Wu, Science 365, eaaw1147 (2019)。DOI:10.1126/science.aaw1147</a:t>
            </a:r>
          </a:p>
          <a:p>
            <a:pPr algn="l">
              <a:lnSpc>
                <a:spcPts val="3105"/>
              </a:lnSpc>
            </a:pPr>
            <a:r>
              <a:rPr sz="2300" b="0" lang="ja-JP" altLang="en-US">
                <a:solidFill>
                  <a:srgbClr val="333333"/>
                </a:solidFill>
                <a:latin typeface="Noto Sans JP"/>
                <a:ea typeface="Noto Sans JP"/>
              </a:rPr>
              <a:t>BioEmu：Lewis et al., Science (2025)。DOI:10.1126/science.adv9817</a:t>
            </a:r>
          </a:p>
          <a:p>
            <a:pPr algn="l">
              <a:lnSpc>
                <a:spcPts val="3105"/>
              </a:lnSpc>
            </a:pPr>
            <a:r>
              <a:rPr sz="2300" b="0" lang="ja-JP" altLang="en-US">
                <a:solidFill>
                  <a:srgbClr val="333333"/>
                </a:solidFill>
                <a:latin typeface="Noto Sans JP"/>
                <a:ea typeface="Noto Sans JP"/>
              </a:rPr>
              <a:t>公式実装：github.com/microsoft/bioemu</a:t>
            </a:r>
          </a:p>
          <a:p>
            <a:pPr algn="l">
              <a:lnSpc>
                <a:spcPts val="3105"/>
              </a:lnSpc>
            </a:pPr>
            <a:r>
              <a:rPr sz="2300" b="0" lang="ja-JP" altLang="en-US">
                <a:solidFill>
                  <a:srgbClr val="333333"/>
                </a:solidFill>
                <a:latin typeface="Noto Sans JP"/>
                <a:ea typeface="Noto Sans JP"/>
              </a:rPr>
              <a:t>授業の1次元折れ線モデルは、原著の考え方を単純化した実装。原著モデルの性能評価とは区別する。</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第13回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